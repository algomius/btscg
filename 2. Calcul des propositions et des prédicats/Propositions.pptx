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1" r:id="rId2"/>
    <p:sldMasterId id="2147483674" r:id="rId3"/>
  </p:sldMasterIdLst>
  <p:notesMasterIdLst>
    <p:notesMasterId r:id="rId29"/>
  </p:notesMasterIdLst>
  <p:sldIdLst>
    <p:sldId id="256" r:id="rId4"/>
    <p:sldId id="257" r:id="rId5"/>
    <p:sldId id="343" r:id="rId6"/>
    <p:sldId id="389" r:id="rId7"/>
    <p:sldId id="390" r:id="rId8"/>
    <p:sldId id="391" r:id="rId9"/>
    <p:sldId id="392" r:id="rId10"/>
    <p:sldId id="393" r:id="rId11"/>
    <p:sldId id="394" r:id="rId12"/>
    <p:sldId id="408" r:id="rId13"/>
    <p:sldId id="421" r:id="rId14"/>
    <p:sldId id="422" r:id="rId15"/>
    <p:sldId id="416" r:id="rId16"/>
    <p:sldId id="417" r:id="rId17"/>
    <p:sldId id="395" r:id="rId18"/>
    <p:sldId id="424" r:id="rId19"/>
    <p:sldId id="418" r:id="rId20"/>
    <p:sldId id="419" r:id="rId21"/>
    <p:sldId id="425" r:id="rId22"/>
    <p:sldId id="397" r:id="rId23"/>
    <p:sldId id="426" r:id="rId24"/>
    <p:sldId id="398" r:id="rId25"/>
    <p:sldId id="427" r:id="rId26"/>
    <p:sldId id="428" r:id="rId27"/>
    <p:sldId id="281" r:id="rId28"/>
  </p:sldIdLst>
  <p:sldSz cx="9144000" cy="6858000" type="screen4x3"/>
  <p:notesSz cx="7559675" cy="106918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Style moyen 4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1304" autoAdjust="0"/>
  </p:normalViewPr>
  <p:slideViewPr>
    <p:cSldViewPr snapToGrid="0">
      <p:cViewPr varScale="1">
        <p:scale>
          <a:sx n="102" d="100"/>
          <a:sy n="102" d="100"/>
        </p:scale>
        <p:origin x="1884" y="102"/>
      </p:cViewPr>
      <p:guideLst/>
    </p:cSldViewPr>
  </p:slideViewPr>
  <p:outlineViewPr>
    <p:cViewPr>
      <p:scale>
        <a:sx n="33" d="100"/>
        <a:sy n="33" d="100"/>
      </p:scale>
      <p:origin x="0" y="-396"/>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presProps" Target="presProps.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4D7BB345-1F45-4209-89C2-CEF6D1D81871}" type="datetimeFigureOut">
              <a:rPr lang="fr-FR" smtClean="0"/>
              <a:t>31/01/2025</a:t>
            </a:fld>
            <a:endParaRPr lang="fr-FR"/>
          </a:p>
        </p:txBody>
      </p:sp>
      <p:sp>
        <p:nvSpPr>
          <p:cNvPr id="4" name="Espace réservé de l'image des diapositives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16184EC8-970E-422B-BC5C-6A62245DC653}" type="slidenum">
              <a:rPr lang="fr-FR" smtClean="0"/>
              <a:t>‹N°›</a:t>
            </a:fld>
            <a:endParaRPr lang="fr-FR"/>
          </a:p>
        </p:txBody>
      </p:sp>
    </p:spTree>
    <p:extLst>
      <p:ext uri="{BB962C8B-B14F-4D97-AF65-F5344CB8AC3E}">
        <p14:creationId xmlns:p14="http://schemas.microsoft.com/office/powerpoint/2010/main" val="1169127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8"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9"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4"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5"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7"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8"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9"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1"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3"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5"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6"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8"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9"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0"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1"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33"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4"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5"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6"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7"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8"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6"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8"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0"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1"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3"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6"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7"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9"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0"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1"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4"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5"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7"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8"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0"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1"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2"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3"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5"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6"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7"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8"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9"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80"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98"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0"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2"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3"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5"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7"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8"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9"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1"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3"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6"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7"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9"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0"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2"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3"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4"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5"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7"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8"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9"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0"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1"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2"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18" Type="http://schemas.openxmlformats.org/officeDocument/2006/relationships/image" Target="../media/image3.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hyperlink" Target="http://www.showeet.com/terms-of-use/" TargetMode="External"/><Relationship Id="rId2" Type="http://schemas.openxmlformats.org/officeDocument/2006/relationships/slideLayout" Target="../slideLayouts/slideLayout26.xml"/><Relationship Id="rId16" Type="http://schemas.openxmlformats.org/officeDocument/2006/relationships/hyperlink" Target="http://www.showeet.com/" TargetMode="Externa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2.png"/><Relationship Id="rId10" Type="http://schemas.openxmlformats.org/officeDocument/2006/relationships/slideLayout" Target="../slideLayouts/slideLayout34.xml"/><Relationship Id="rId19" Type="http://schemas.openxmlformats.org/officeDocument/2006/relationships/image" Target="../media/image4.emf"/><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hyperlink" Target="http://creativecommons.org/licenses/by-nd/3.0/"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PlaceHolder 1"/>
          <p:cNvSpPr>
            <a:spLocks noGrp="1"/>
          </p:cNvSpPr>
          <p:nvPr>
            <p:ph type="title"/>
          </p:nvPr>
        </p:nvSpPr>
        <p:spPr>
          <a:xfrm>
            <a:off x="1043640" y="4149000"/>
            <a:ext cx="7772040" cy="1469520"/>
          </a:xfrm>
          <a:prstGeom prst="rect">
            <a:avLst/>
          </a:prstGeom>
        </p:spPr>
        <p:txBody>
          <a:bodyPr lIns="90000" tIns="45000" rIns="90000" bIns="45000">
            <a:noAutofit/>
          </a:bodyPr>
          <a:lstStyle/>
          <a:p>
            <a:pPr algn="ctr"/>
            <a:r>
              <a:rPr lang="en-US" sz="4400" b="0" strike="noStrike" spc="-1">
                <a:solidFill>
                  <a:srgbClr val="490A3D"/>
                </a:solidFill>
                <a:latin typeface="Arial"/>
                <a:ea typeface="Arial"/>
              </a:rPr>
              <a:t>Click to edit the title text format</a:t>
            </a:r>
            <a:endParaRPr lang="en-US" sz="4400" b="0" strike="noStrike" spc="-1">
              <a:solidFill>
                <a:srgbClr val="376092"/>
              </a:solidFill>
              <a:latin typeface="Arial"/>
            </a:endParaRPr>
          </a:p>
        </p:txBody>
      </p:sp>
      <p:sp>
        <p:nvSpPr>
          <p:cNvPr id="4" name="PlaceHolder 2"/>
          <p:cNvSpPr>
            <a:spLocks noGrp="1"/>
          </p:cNvSpPr>
          <p:nvPr>
            <p:ph type="body"/>
          </p:nvPr>
        </p:nvSpPr>
        <p:spPr>
          <a:xfrm>
            <a:off x="1043640" y="5733360"/>
            <a:ext cx="7772040" cy="923760"/>
          </a:xfrm>
          <a:prstGeom prst="rect">
            <a:avLst/>
          </a:prstGeom>
        </p:spPr>
        <p:txBody>
          <a:bodyPr lIns="90000" tIns="45000" rIns="90000" bIns="45000">
            <a:noAutofit/>
          </a:bodyPr>
          <a:lstStyle/>
          <a:p>
            <a:pPr marL="432000" indent="-324000" algn="r">
              <a:spcAft>
                <a:spcPts val="1060"/>
              </a:spcAft>
              <a:buClr>
                <a:srgbClr val="000000"/>
              </a:buClr>
              <a:buSzPct val="45000"/>
              <a:buFont typeface="Wingdings" charset="2"/>
              <a:buChar char=""/>
            </a:pPr>
            <a:r>
              <a:rPr lang="en-US" sz="2400" b="0" strike="noStrike" spc="-1">
                <a:solidFill>
                  <a:srgbClr val="808080"/>
                </a:solidFill>
                <a:latin typeface="Arial"/>
                <a:ea typeface="Arial"/>
              </a:rPr>
              <a:t>Click to edit the outline text format</a:t>
            </a:r>
            <a:endParaRPr lang="en-US" sz="2400" b="0" strike="noStrike" spc="-1">
              <a:solidFill>
                <a:srgbClr val="999999"/>
              </a:solidFill>
              <a:latin typeface="Arial"/>
            </a:endParaRPr>
          </a:p>
          <a:p>
            <a:pPr marL="864000" lvl="1" indent="-324000" algn="r">
              <a:spcAft>
                <a:spcPts val="1134"/>
              </a:spcAft>
              <a:buClr>
                <a:srgbClr val="000000"/>
              </a:buClr>
              <a:buSzPct val="45000"/>
              <a:buFont typeface="Wingdings" charset="2"/>
              <a:buChar char=""/>
            </a:pPr>
            <a:r>
              <a:rPr lang="en-US" sz="2400" b="0" strike="noStrike" spc="-1">
                <a:solidFill>
                  <a:srgbClr val="808080"/>
                </a:solidFill>
                <a:latin typeface="Arial"/>
                <a:ea typeface="Arial"/>
              </a:rPr>
              <a:t>Second Outline Level</a:t>
            </a:r>
            <a:endParaRPr lang="en-US" sz="2400" b="0" strike="noStrike" spc="-1">
              <a:solidFill>
                <a:srgbClr val="999999"/>
              </a:solidFill>
              <a:latin typeface="Calibri"/>
            </a:endParaRPr>
          </a:p>
          <a:p>
            <a:pPr marL="1296000" lvl="2" indent="-288000" algn="r">
              <a:spcAft>
                <a:spcPts val="850"/>
              </a:spcAft>
              <a:buClr>
                <a:srgbClr val="000000"/>
              </a:buClr>
              <a:buSzPct val="75000"/>
              <a:buFont typeface="Symbol" charset="2"/>
              <a:buChar char=""/>
            </a:pPr>
            <a:r>
              <a:rPr lang="en-US" sz="2400" b="0" strike="noStrike" spc="-1">
                <a:solidFill>
                  <a:srgbClr val="808080"/>
                </a:solidFill>
                <a:latin typeface="Arial"/>
                <a:ea typeface="Arial"/>
              </a:rPr>
              <a:t>Third Outline Level</a:t>
            </a:r>
            <a:endParaRPr lang="en-US" sz="2400" b="0" strike="noStrike" spc="-1">
              <a:solidFill>
                <a:srgbClr val="999999"/>
              </a:solidFill>
              <a:latin typeface="Calibri"/>
            </a:endParaRPr>
          </a:p>
          <a:p>
            <a:pPr marL="1728000" lvl="3" indent="-216000" algn="r">
              <a:spcAft>
                <a:spcPts val="567"/>
              </a:spcAft>
              <a:buClr>
                <a:srgbClr val="000000"/>
              </a:buClr>
              <a:buSzPct val="45000"/>
              <a:buFont typeface="Wingdings" charset="2"/>
              <a:buChar char=""/>
            </a:pPr>
            <a:r>
              <a:rPr lang="en-US" sz="2400" b="0" strike="noStrike" spc="-1">
                <a:solidFill>
                  <a:srgbClr val="808080"/>
                </a:solidFill>
                <a:latin typeface="Arial"/>
                <a:ea typeface="Arial"/>
              </a:rPr>
              <a:t>Fourth Outline Level</a:t>
            </a:r>
            <a:endParaRPr lang="en-US" sz="2400" b="0" strike="noStrike" spc="-1">
              <a:solidFill>
                <a:srgbClr val="999999"/>
              </a:solidFill>
              <a:latin typeface="Calibri"/>
            </a:endParaRPr>
          </a:p>
          <a:p>
            <a:pPr marL="2160000" lvl="4" indent="-216000" algn="r">
              <a:spcAft>
                <a:spcPts val="283"/>
              </a:spcAft>
              <a:buClr>
                <a:srgbClr val="000000"/>
              </a:buClr>
              <a:buSzPct val="75000"/>
              <a:buFont typeface="Symbol" charset="2"/>
              <a:buChar char=""/>
            </a:pPr>
            <a:r>
              <a:rPr lang="en-US" sz="2400" b="0" strike="noStrike" spc="-1">
                <a:solidFill>
                  <a:srgbClr val="808080"/>
                </a:solidFill>
                <a:latin typeface="Arial"/>
                <a:ea typeface="Arial"/>
              </a:rPr>
              <a:t>Fifth Outline Level</a:t>
            </a:r>
            <a:endParaRPr lang="en-US" sz="2400" b="0" strike="noStrike" spc="-1">
              <a:solidFill>
                <a:srgbClr val="999999"/>
              </a:solidFill>
              <a:latin typeface="Calibri"/>
            </a:endParaRPr>
          </a:p>
          <a:p>
            <a:pPr marL="2592000" lvl="5"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Sixth Outline Level</a:t>
            </a:r>
            <a:endParaRPr lang="en-US" sz="2400" b="0" strike="noStrike" spc="-1">
              <a:solidFill>
                <a:srgbClr val="999999"/>
              </a:solidFill>
              <a:latin typeface="Calibri"/>
            </a:endParaRPr>
          </a:p>
          <a:p>
            <a:pPr marL="3024000" lvl="6"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Seventh Outline Level</a:t>
            </a:r>
            <a:endParaRPr lang="en-US" sz="2400" b="0" strike="noStrike" spc="-1">
              <a:solidFill>
                <a:srgbClr val="999999"/>
              </a:solidFill>
              <a:latin typeface="Calibri"/>
            </a:endParaRPr>
          </a:p>
          <a:p>
            <a:pPr marL="3456000" lvl="7"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Eighth Outline Level</a:t>
            </a:r>
            <a:endParaRPr lang="en-US" sz="2400" b="0" strike="noStrike" spc="-1">
              <a:solidFill>
                <a:srgbClr val="999999"/>
              </a:solidFill>
              <a:latin typeface="Calibri"/>
            </a:endParaRPr>
          </a:p>
          <a:p>
            <a:pPr marL="3888000" lvl="8"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Ninth Outline LevelClick to edit Master subtitle style</a:t>
            </a:r>
            <a:endParaRPr lang="en-US" sz="2400" b="0" strike="noStrike" spc="-1">
              <a:solidFill>
                <a:srgbClr val="999999"/>
              </a:solidFill>
              <a:latin typeface="Calibri"/>
            </a:endParaRPr>
          </a:p>
        </p:txBody>
      </p:sp>
      <p:pic>
        <p:nvPicPr>
          <p:cNvPr id="2" name="Picture 2"/>
          <p:cNvPicPr/>
          <p:nvPr/>
        </p:nvPicPr>
        <p:blipFill>
          <a:blip r:embed="rId14"/>
          <a:stretch/>
        </p:blipFill>
        <p:spPr>
          <a:xfrm>
            <a:off x="-420840" y="-143640"/>
            <a:ext cx="9984960" cy="40539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680"/>
            <a:ext cx="8229240" cy="1142640"/>
          </a:xfrm>
          <a:prstGeom prst="rect">
            <a:avLst/>
          </a:prstGeom>
        </p:spPr>
        <p:txBody>
          <a:bodyPr lIns="90000" tIns="45000" rIns="90000" bIns="45000">
            <a:noAutofit/>
          </a:bodyPr>
          <a:lstStyle/>
          <a:p>
            <a:pPr algn="ctr"/>
            <a:r>
              <a:rPr lang="en-US" sz="3200" b="1" strike="noStrike" spc="-1">
                <a:solidFill>
                  <a:srgbClr val="490A3D"/>
                </a:solidFill>
                <a:latin typeface="Arial"/>
                <a:ea typeface="Arial"/>
              </a:rPr>
              <a:t>Click to edit the title text format</a:t>
            </a:r>
            <a:endParaRPr lang="en-US" sz="3200" b="0" strike="noStrike" spc="-1">
              <a:solidFill>
                <a:srgbClr val="376092"/>
              </a:solidFill>
              <a:latin typeface="Arial"/>
            </a:endParaRPr>
          </a:p>
        </p:txBody>
      </p:sp>
      <p:sp>
        <p:nvSpPr>
          <p:cNvPr id="40" name="PlaceHolder 2"/>
          <p:cNvSpPr>
            <a:spLocks noGrp="1"/>
          </p:cNvSpPr>
          <p:nvPr>
            <p:ph type="body"/>
          </p:nvPr>
        </p:nvSpPr>
        <p:spPr>
          <a:xfrm>
            <a:off x="457200" y="1600200"/>
            <a:ext cx="8229240" cy="4525560"/>
          </a:xfrm>
          <a:prstGeom prst="rect">
            <a:avLst/>
          </a:prstGeom>
        </p:spPr>
        <p:txBody>
          <a:bodyPr lIns="90000" tIns="45000" rIns="90000" bIns="45000">
            <a:noAutofit/>
          </a:bodyPr>
          <a:lstStyle/>
          <a:p>
            <a:pPr marL="432000" indent="-324000">
              <a:spcAft>
                <a:spcPts val="1060"/>
              </a:spcAft>
              <a:buClr>
                <a:srgbClr val="000000"/>
              </a:buClr>
              <a:buSzPct val="45000"/>
              <a:buFont typeface="Wingdings" charset="2"/>
              <a:buChar char=""/>
            </a:pPr>
            <a:r>
              <a:rPr lang="en-US" sz="2400" b="0" strike="noStrike" spc="-1">
                <a:solidFill>
                  <a:srgbClr val="490A3D"/>
                </a:solidFill>
                <a:latin typeface="Arial"/>
                <a:ea typeface="Arial"/>
              </a:rPr>
              <a:t>Click to edit the outline text format</a:t>
            </a:r>
            <a:endParaRPr lang="en-US" sz="2400" b="0" strike="noStrike" spc="-1">
              <a:solidFill>
                <a:srgbClr val="376092"/>
              </a:solidFill>
              <a:latin typeface="Arial"/>
            </a:endParaRPr>
          </a:p>
          <a:p>
            <a:pPr marL="864000" lvl="1" indent="-324000">
              <a:spcAft>
                <a:spcPts val="1134"/>
              </a:spcAft>
              <a:buClr>
                <a:srgbClr val="000000"/>
              </a:buClr>
              <a:buSzPct val="45000"/>
              <a:buFont typeface="Wingdings" charset="2"/>
              <a:buChar char=""/>
            </a:pPr>
            <a:r>
              <a:rPr lang="en-US" sz="2200" b="0" strike="noStrike" spc="-1">
                <a:solidFill>
                  <a:srgbClr val="490A3D"/>
                </a:solidFill>
                <a:latin typeface="Arial"/>
                <a:ea typeface="Arial"/>
              </a:rPr>
              <a:t>Second Outline Level</a:t>
            </a:r>
            <a:endParaRPr lang="en-US" sz="2200" b="0" strike="noStrike" spc="-1">
              <a:solidFill>
                <a:srgbClr val="376092"/>
              </a:solidFill>
              <a:latin typeface="Calibri"/>
            </a:endParaRPr>
          </a:p>
          <a:p>
            <a:pPr marL="1296000" lvl="2" indent="-288000">
              <a:spcAft>
                <a:spcPts val="850"/>
              </a:spcAft>
              <a:buClr>
                <a:srgbClr val="000000"/>
              </a:buClr>
              <a:buSzPct val="75000"/>
              <a:buFont typeface="Symbol" charset="2"/>
              <a:buChar char=""/>
            </a:pPr>
            <a:r>
              <a:rPr lang="en-US" sz="2000" b="0" strike="noStrike" spc="-1">
                <a:solidFill>
                  <a:srgbClr val="490A3D"/>
                </a:solidFill>
                <a:latin typeface="Arial"/>
                <a:ea typeface="Arial"/>
              </a:rPr>
              <a:t>Third Outline Level</a:t>
            </a:r>
            <a:endParaRPr lang="en-US" sz="2000" b="0" strike="noStrike" spc="-1">
              <a:solidFill>
                <a:srgbClr val="376092"/>
              </a:solidFill>
              <a:latin typeface="Calibri"/>
            </a:endParaRPr>
          </a:p>
          <a:p>
            <a:pPr marL="1728000" lvl="3" indent="-216000">
              <a:spcAft>
                <a:spcPts val="567"/>
              </a:spcAft>
              <a:buClr>
                <a:srgbClr val="000000"/>
              </a:buClr>
              <a:buSzPct val="45000"/>
              <a:buFont typeface="Wingdings" charset="2"/>
              <a:buChar char=""/>
            </a:pPr>
            <a:r>
              <a:rPr lang="en-US" sz="1800" b="0" strike="noStrike" spc="-1">
                <a:solidFill>
                  <a:srgbClr val="490A3D"/>
                </a:solidFill>
                <a:latin typeface="Arial"/>
                <a:ea typeface="Arial"/>
              </a:rPr>
              <a:t>Fourth Outline Level</a:t>
            </a:r>
            <a:endParaRPr lang="en-US" sz="1800" b="0" strike="noStrike" spc="-1">
              <a:solidFill>
                <a:srgbClr val="376092"/>
              </a:solidFill>
              <a:latin typeface="Calibri"/>
            </a:endParaRPr>
          </a:p>
          <a:p>
            <a:pPr marL="2160000" lvl="4" indent="-216000">
              <a:spcAft>
                <a:spcPts val="283"/>
              </a:spcAft>
              <a:buClr>
                <a:srgbClr val="000000"/>
              </a:buClr>
              <a:buSzPct val="75000"/>
              <a:buFont typeface="Symbol" charset="2"/>
              <a:buChar char=""/>
            </a:pPr>
            <a:r>
              <a:rPr lang="en-US" sz="1600" b="0" strike="noStrike" spc="-1">
                <a:solidFill>
                  <a:srgbClr val="490A3D"/>
                </a:solidFill>
                <a:latin typeface="Arial"/>
                <a:ea typeface="Arial"/>
              </a:rPr>
              <a:t>Fifth Outline Level</a:t>
            </a:r>
            <a:endParaRPr lang="en-US" sz="1600" b="0" strike="noStrike" spc="-1">
              <a:solidFill>
                <a:srgbClr val="376092"/>
              </a:solidFill>
              <a:latin typeface="Calibri"/>
            </a:endParaRPr>
          </a:p>
          <a:p>
            <a:pPr marL="2592000" lvl="5" indent="-216000">
              <a:spcAft>
                <a:spcPts val="283"/>
              </a:spcAft>
              <a:buClr>
                <a:srgbClr val="000000"/>
              </a:buClr>
              <a:buSzPct val="45000"/>
              <a:buFont typeface="Wingdings" charset="2"/>
              <a:buChar char=""/>
            </a:pPr>
            <a:r>
              <a:rPr lang="en-US" sz="1500" b="0" strike="noStrike" spc="-1">
                <a:solidFill>
                  <a:srgbClr val="490A3D"/>
                </a:solidFill>
                <a:latin typeface="Arial"/>
                <a:ea typeface="Arial"/>
              </a:rPr>
              <a:t>Sixth Outline Level</a:t>
            </a:r>
            <a:endParaRPr lang="en-US" sz="1500" b="0" strike="noStrike" spc="-1">
              <a:solidFill>
                <a:srgbClr val="376092"/>
              </a:solidFill>
              <a:latin typeface="Calibri"/>
            </a:endParaRPr>
          </a:p>
          <a:p>
            <a:pPr marL="3024000" lvl="6" indent="-216000">
              <a:spcAft>
                <a:spcPts val="283"/>
              </a:spcAft>
              <a:buClr>
                <a:srgbClr val="000000"/>
              </a:buClr>
              <a:buSzPct val="45000"/>
              <a:buFont typeface="Wingdings" charset="2"/>
              <a:buChar char=""/>
            </a:pPr>
            <a:r>
              <a:rPr lang="en-US" sz="1400" b="0" strike="noStrike" spc="-1">
                <a:solidFill>
                  <a:srgbClr val="490A3D"/>
                </a:solidFill>
                <a:latin typeface="Arial"/>
                <a:ea typeface="Arial"/>
              </a:rPr>
              <a:t>Seventh Outline Level</a:t>
            </a:r>
            <a:endParaRPr lang="en-US" sz="1400" b="0" strike="noStrike" spc="-1">
              <a:solidFill>
                <a:srgbClr val="376092"/>
              </a:solidFill>
              <a:latin typeface="Calibri"/>
            </a:endParaRPr>
          </a:p>
          <a:p>
            <a:pPr marL="3456000" lvl="7" indent="-216000">
              <a:spcAft>
                <a:spcPts val="283"/>
              </a:spcAft>
              <a:buClr>
                <a:srgbClr val="000000"/>
              </a:buClr>
              <a:buSzPct val="45000"/>
              <a:buFont typeface="Wingdings" charset="2"/>
              <a:buChar char=""/>
            </a:pPr>
            <a:r>
              <a:rPr lang="en-US" sz="1300" b="0" strike="noStrike" spc="-1">
                <a:solidFill>
                  <a:srgbClr val="490A3D"/>
                </a:solidFill>
                <a:latin typeface="Arial"/>
                <a:ea typeface="Arial"/>
              </a:rPr>
              <a:t>Eighth Outline Level</a:t>
            </a:r>
            <a:endParaRPr lang="en-US" sz="1300" b="0" strike="noStrike" spc="-1">
              <a:solidFill>
                <a:srgbClr val="376092"/>
              </a:solidFill>
              <a:latin typeface="Calibri"/>
            </a:endParaRPr>
          </a:p>
          <a:p>
            <a:pPr marL="3888000" lvl="8" indent="-216000">
              <a:spcAft>
                <a:spcPts val="283"/>
              </a:spcAft>
              <a:buClr>
                <a:srgbClr val="000000"/>
              </a:buClr>
              <a:buSzPct val="45000"/>
              <a:buFont typeface="Wingdings" charset="2"/>
              <a:buChar char=""/>
            </a:pPr>
            <a:r>
              <a:rPr lang="en-US" sz="1200" b="0" strike="noStrike" spc="-1">
                <a:solidFill>
                  <a:srgbClr val="490A3D"/>
                </a:solidFill>
                <a:latin typeface="Arial"/>
                <a:ea typeface="Arial"/>
              </a:rPr>
              <a:t>Ninth Outline Level</a:t>
            </a:r>
            <a:endParaRPr lang="en-US" sz="1200" b="0" strike="noStrike" spc="-1">
              <a:solidFill>
                <a:srgbClr val="376092"/>
              </a:solidFill>
              <a:latin typeface="Calibri"/>
            </a:endParaRPr>
          </a:p>
        </p:txBody>
      </p:sp>
      <p:sp>
        <p:nvSpPr>
          <p:cNvPr id="41" name="PlaceHolder 3"/>
          <p:cNvSpPr>
            <a:spLocks noGrp="1"/>
          </p:cNvSpPr>
          <p:nvPr>
            <p:ph type="dt"/>
          </p:nvPr>
        </p:nvSpPr>
        <p:spPr>
          <a:xfrm>
            <a:off x="457200" y="6356520"/>
            <a:ext cx="2133360" cy="364680"/>
          </a:xfrm>
          <a:prstGeom prst="rect">
            <a:avLst/>
          </a:prstGeom>
        </p:spPr>
        <p:txBody>
          <a:bodyPr lIns="90000" tIns="45000" rIns="90000" bIns="45000">
            <a:noAutofit/>
          </a:bodyPr>
          <a:lstStyle/>
          <a:p>
            <a:endParaRPr lang="fr-FR" sz="1200" b="0" strike="noStrike" spc="-1">
              <a:latin typeface="Times New Roman"/>
            </a:endParaRPr>
          </a:p>
        </p:txBody>
      </p:sp>
      <p:sp>
        <p:nvSpPr>
          <p:cNvPr id="42" name="PlaceHolder 4"/>
          <p:cNvSpPr>
            <a:spLocks noGrp="1"/>
          </p:cNvSpPr>
          <p:nvPr>
            <p:ph type="ftr"/>
          </p:nvPr>
        </p:nvSpPr>
        <p:spPr>
          <a:xfrm>
            <a:off x="3124080" y="6356520"/>
            <a:ext cx="2895120" cy="364680"/>
          </a:xfrm>
          <a:prstGeom prst="rect">
            <a:avLst/>
          </a:prstGeom>
        </p:spPr>
        <p:txBody>
          <a:bodyPr lIns="90000" tIns="45000" rIns="90000" bIns="45000">
            <a:noAutofit/>
          </a:bodyPr>
          <a:lstStyle/>
          <a:p>
            <a:pPr algn="ctr"/>
            <a:endParaRPr lang="fr-FR" sz="1200" b="0" strike="noStrike" spc="-1">
              <a:solidFill>
                <a:srgbClr val="B3B3B3"/>
              </a:solidFill>
              <a:latin typeface="Arial"/>
            </a:endParaRPr>
          </a:p>
        </p:txBody>
      </p:sp>
      <p:sp>
        <p:nvSpPr>
          <p:cNvPr id="43" name="PlaceHolder 5"/>
          <p:cNvSpPr>
            <a:spLocks noGrp="1"/>
          </p:cNvSpPr>
          <p:nvPr>
            <p:ph type="sldNum"/>
          </p:nvPr>
        </p:nvSpPr>
        <p:spPr>
          <a:xfrm>
            <a:off x="6553080" y="6356520"/>
            <a:ext cx="2133360" cy="364680"/>
          </a:xfrm>
          <a:prstGeom prst="rect">
            <a:avLst/>
          </a:prstGeom>
        </p:spPr>
        <p:txBody>
          <a:bodyPr lIns="90000" tIns="45000" rIns="90000" bIns="45000">
            <a:noAutofit/>
          </a:bodyPr>
          <a:lstStyle/>
          <a:p>
            <a:pPr algn="r"/>
            <a:fld id="{A5C73E94-B7FC-4C8D-BFA3-E33D91AB40A9}" type="slidenum">
              <a:rPr lang="fr-FR" sz="1200" b="0" strike="noStrike" spc="-1">
                <a:solidFill>
                  <a:srgbClr val="B3B3B3"/>
                </a:solidFill>
                <a:latin typeface="Arial"/>
                <a:ea typeface="Arial"/>
              </a:rPr>
              <a:t>‹N°›</a:t>
            </a:fld>
            <a:endParaRPr lang="fr-FR" sz="1200" b="0" strike="noStrike" spc="-1">
              <a:latin typeface="Times New Roman"/>
            </a:endParaRPr>
          </a:p>
        </p:txBody>
      </p:sp>
      <p:sp>
        <p:nvSpPr>
          <p:cNvPr id="44" name="Line 6"/>
          <p:cNvSpPr/>
          <p:nvPr/>
        </p:nvSpPr>
        <p:spPr>
          <a:xfrm>
            <a:off x="467280" y="6309000"/>
            <a:ext cx="8209080" cy="0"/>
          </a:xfrm>
          <a:prstGeom prst="line">
            <a:avLst/>
          </a:prstGeom>
          <a:ln w="9360">
            <a:solidFill>
              <a:srgbClr val="BFBFBF"/>
            </a:solidFill>
            <a:round/>
          </a:ln>
        </p:spPr>
        <p:style>
          <a:lnRef idx="0">
            <a:scrgbClr r="0" g="0" b="0"/>
          </a:lnRef>
          <a:fillRef idx="0">
            <a:scrgbClr r="0" g="0" b="0"/>
          </a:fillRef>
          <a:effectRef idx="0">
            <a:scrgbClr r="0" g="0" b="0"/>
          </a:effectRef>
          <a:fontRef idx="minor"/>
        </p:style>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 name="CustomShape 1"/>
          <p:cNvSpPr/>
          <p:nvPr/>
        </p:nvSpPr>
        <p:spPr>
          <a:xfrm>
            <a:off x="360" y="360"/>
            <a:ext cx="9143640" cy="6857640"/>
          </a:xfrm>
          <a:prstGeom prst="rect">
            <a:avLst/>
          </a:prstGeom>
          <a:gradFill rotWithShape="0">
            <a:gsLst>
              <a:gs pos="0">
                <a:srgbClr val="FFFFFF"/>
              </a:gs>
              <a:gs pos="100000">
                <a:srgbClr val="D9D9D9"/>
              </a:gs>
            </a:gsLst>
            <a:path path="circle">
              <a:fillToRect l="50000" t="30000" r="50000" b="70000"/>
            </a:path>
          </a:gradFill>
          <a:ln w="9360">
            <a:solidFill>
              <a:srgbClr val="FFFFFF"/>
            </a:solidFill>
            <a:miter/>
          </a:ln>
        </p:spPr>
        <p:style>
          <a:lnRef idx="0">
            <a:scrgbClr r="0" g="0" b="0"/>
          </a:lnRef>
          <a:fillRef idx="0">
            <a:scrgbClr r="0" g="0" b="0"/>
          </a:fillRef>
          <a:effectRef idx="0">
            <a:scrgbClr r="0" g="0" b="0"/>
          </a:effectRef>
          <a:fontRef idx="minor"/>
        </p:style>
      </p:sp>
      <p:sp>
        <p:nvSpPr>
          <p:cNvPr id="82" name="PlaceHolder 2"/>
          <p:cNvSpPr>
            <a:spLocks noGrp="1"/>
          </p:cNvSpPr>
          <p:nvPr>
            <p:ph type="title"/>
          </p:nvPr>
        </p:nvSpPr>
        <p:spPr>
          <a:xfrm>
            <a:off x="685800" y="2130120"/>
            <a:ext cx="7772400" cy="1470240"/>
          </a:xfrm>
          <a:prstGeom prst="rect">
            <a:avLst/>
          </a:prstGeom>
        </p:spPr>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fr-FR" sz="3600" b="0" strike="noStrike" spc="-1">
                <a:solidFill>
                  <a:srgbClr val="000000"/>
                </a:solidFill>
                <a:latin typeface="Arial"/>
              </a:rPr>
              <a:t>Cliquez pour éditer le format du texte-titre</a:t>
            </a:r>
          </a:p>
        </p:txBody>
      </p:sp>
      <p:sp>
        <p:nvSpPr>
          <p:cNvPr id="83" name="PlaceHolder 3"/>
          <p:cNvSpPr>
            <a:spLocks noGrp="1"/>
          </p:cNvSpPr>
          <p:nvPr>
            <p:ph type="body"/>
          </p:nvPr>
        </p:nvSpPr>
        <p:spPr>
          <a:xfrm>
            <a:off x="457200" y="1604520"/>
            <a:ext cx="8229240" cy="3977640"/>
          </a:xfrm>
          <a:prstGeom prst="rect">
            <a:avLst/>
          </a:prstGeom>
        </p:spPr>
        <p:txBody>
          <a:bodyPr lIns="0" tIns="0" rIns="0" bIns="0">
            <a:noAutofit/>
          </a:bodyPr>
          <a:lstStyle/>
          <a:p>
            <a:pPr marL="342720" indent="-342720">
              <a:spcBef>
                <a:spcPts val="598"/>
              </a:spcBef>
              <a:buClr>
                <a:srgbClr val="000000"/>
              </a:buClr>
              <a:buFont typeface="Arial"/>
              <a:buChar char="•"/>
              <a:tabLst>
                <a:tab pos="571320" algn="l"/>
                <a:tab pos="1485720" algn="l"/>
                <a:tab pos="2400120" algn="l"/>
                <a:tab pos="3314520" algn="l"/>
                <a:tab pos="4228920" algn="l"/>
                <a:tab pos="5143320" algn="l"/>
                <a:tab pos="6057720" algn="l"/>
                <a:tab pos="6972120" algn="l"/>
                <a:tab pos="7886520" algn="l"/>
                <a:tab pos="8800920" algn="l"/>
                <a:tab pos="9715320" algn="l"/>
              </a:tabLst>
            </a:pPr>
            <a:r>
              <a:rPr lang="fr-FR" sz="2400" b="0" strike="noStrike" spc="-1">
                <a:solidFill>
                  <a:srgbClr val="000000"/>
                </a:solidFill>
                <a:latin typeface="Arial"/>
              </a:rPr>
              <a:t>Cliquez pour éditer le format du plan de texte</a:t>
            </a:r>
          </a:p>
          <a:p>
            <a:pPr marL="742680" lvl="1" indent="-285480">
              <a:spcBef>
                <a:spcPts val="499"/>
              </a:spcBef>
              <a:buClr>
                <a:srgbClr val="000000"/>
              </a:buClr>
              <a:buFont typeface="Arial"/>
              <a:buChar char="–"/>
              <a:tabLst>
                <a:tab pos="171360" algn="l"/>
                <a:tab pos="1085760" algn="l"/>
                <a:tab pos="2000160" algn="l"/>
                <a:tab pos="2914560" algn="l"/>
                <a:tab pos="3828960" algn="l"/>
                <a:tab pos="4743360" algn="l"/>
                <a:tab pos="5657760" algn="l"/>
                <a:tab pos="6572160" algn="l"/>
                <a:tab pos="7486560" algn="l"/>
                <a:tab pos="8400960" algn="l"/>
                <a:tab pos="9315360" algn="l"/>
              </a:tabLst>
            </a:pPr>
            <a:r>
              <a:rPr lang="fr-FR" sz="2000" b="0" strike="noStrike" spc="-1">
                <a:solidFill>
                  <a:srgbClr val="000000"/>
                </a:solidFill>
                <a:latin typeface="Arial"/>
              </a:rPr>
              <a:t>Second niveau de plan</a:t>
            </a:r>
          </a:p>
          <a:p>
            <a:pPr marL="1143000" lvl="2" indent="-228600">
              <a:spcBef>
                <a:spcPts val="448"/>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 pos="8915400" algn="l"/>
              </a:tabLst>
            </a:pPr>
            <a:r>
              <a:rPr lang="fr-FR" sz="1800" b="0" strike="noStrike" spc="-1">
                <a:solidFill>
                  <a:srgbClr val="000000"/>
                </a:solidFill>
                <a:latin typeface="Arial"/>
              </a:rPr>
              <a:t>Troisième niveau de plan</a:t>
            </a:r>
          </a:p>
          <a:p>
            <a:pPr marL="1600200" lvl="3" indent="-228600">
              <a:spcBef>
                <a:spcPts val="400"/>
              </a:spcBef>
              <a:buClr>
                <a:srgbClr val="000000"/>
              </a:buClr>
              <a:buFont typeface="Arial"/>
              <a:buChar char="–"/>
              <a:tabLst>
                <a:tab pos="228600" algn="l"/>
                <a:tab pos="1143000" algn="l"/>
                <a:tab pos="2057400" algn="l"/>
                <a:tab pos="2971800" algn="l"/>
                <a:tab pos="3886200" algn="l"/>
                <a:tab pos="4800600" algn="l"/>
                <a:tab pos="5715000" algn="l"/>
                <a:tab pos="6629400" algn="l"/>
                <a:tab pos="7543800" algn="l"/>
                <a:tab pos="8458200" algn="l"/>
              </a:tabLst>
            </a:pPr>
            <a:r>
              <a:rPr lang="fr-FR" sz="1600" b="0" strike="noStrike" spc="-1">
                <a:solidFill>
                  <a:srgbClr val="000000"/>
                </a:solidFill>
                <a:latin typeface="Arial"/>
              </a:rPr>
              <a:t>Quatrième niveau de plan</a:t>
            </a:r>
          </a:p>
          <a:p>
            <a:pPr marL="2057400" lvl="4"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Cinquième niveau de plan</a:t>
            </a:r>
          </a:p>
          <a:p>
            <a:pPr marL="2057400" lvl="5"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Sixième niveau de plan</a:t>
            </a:r>
          </a:p>
          <a:p>
            <a:pPr marL="2057400" lvl="6"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Septième niveau de plan</a:t>
            </a:r>
          </a:p>
        </p:txBody>
      </p:sp>
      <p:sp>
        <p:nvSpPr>
          <p:cNvPr id="84" name="Line 4"/>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sp>
      <p:sp>
        <p:nvSpPr>
          <p:cNvPr id="85" name="CustomShape 5"/>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sp>
      <p:sp>
        <p:nvSpPr>
          <p:cNvPr id="86" name="CustomShape 6"/>
          <p:cNvSpPr/>
          <p:nvPr/>
        </p:nvSpPr>
        <p:spPr>
          <a:xfrm>
            <a:off x="3995640" y="6596280"/>
            <a:ext cx="5004000" cy="246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spAutoFit/>
          </a:bodyPr>
          <a:lstStyle/>
          <a:p>
            <a:pPr>
              <a:lnSpc>
                <a:spcPct val="100000"/>
              </a:lnSpc>
            </a:pPr>
            <a:r>
              <a:rPr lang="fr-FR" sz="1000" b="0" strike="noStrike" spc="-1">
                <a:solidFill>
                  <a:srgbClr val="009999"/>
                </a:solidFill>
                <a:latin typeface="Arial"/>
                <a:hlinkClick r:id="rId14"/>
              </a:rPr>
              <a:t>http://creativecommons.org/licenses/by-nd/3.0/</a:t>
            </a:r>
            <a:r>
              <a:rPr lang="fr-FR" sz="1000" b="0" strike="noStrike" spc="-1">
                <a:latin typeface="Arial"/>
              </a:rPr>
              <a:t> </a:t>
            </a:r>
          </a:p>
        </p:txBody>
      </p:sp>
      <p:sp>
        <p:nvSpPr>
          <p:cNvPr id="87" name="Line 7"/>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sp>
      <p:sp>
        <p:nvSpPr>
          <p:cNvPr id="88" name="CustomShape 8"/>
          <p:cNvSpPr/>
          <p:nvPr/>
        </p:nvSpPr>
        <p:spPr>
          <a:xfrm>
            <a:off x="299880" y="1700640"/>
            <a:ext cx="2832120" cy="17398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spAutoFit/>
          </a:bodyPr>
          <a:lstStyle/>
          <a:p>
            <a:pPr>
              <a:lnSpc>
                <a:spcPct val="100000"/>
              </a:lnSpc>
            </a:pPr>
            <a:r>
              <a:rPr lang="en-GB" sz="1800" b="1" strike="noStrike" spc="-1">
                <a:solidFill>
                  <a:srgbClr val="4E2169"/>
                </a:solidFill>
                <a:latin typeface="Arial"/>
              </a:rPr>
              <a:t>You can use this </a:t>
            </a:r>
            <a:r>
              <a:rPr lang="en-GB" sz="1800" b="1" strike="noStrike" spc="-1">
                <a:solidFill>
                  <a:srgbClr val="AD5B84"/>
                </a:solidFill>
                <a:latin typeface="Arial"/>
              </a:rPr>
              <a:t>OpenOffice Impress</a:t>
            </a:r>
            <a:r>
              <a:rPr lang="en-GB" sz="1800" b="1" strike="noStrike" spc="-1">
                <a:solidFill>
                  <a:srgbClr val="4E2169"/>
                </a:solidFill>
                <a:latin typeface="Arial"/>
              </a:rPr>
              <a:t> template for </a:t>
            </a:r>
            <a:endParaRPr lang="fr-FR" sz="1800" b="0" strike="noStrike" spc="-1">
              <a:latin typeface="Arial"/>
            </a:endParaRPr>
          </a:p>
          <a:p>
            <a:pPr>
              <a:lnSpc>
                <a:spcPct val="100000"/>
              </a:lnSpc>
            </a:pPr>
            <a:r>
              <a:rPr lang="en-GB" sz="1800" b="1" strike="noStrike" spc="-1">
                <a:solidFill>
                  <a:srgbClr val="4E2169"/>
                </a:solidFill>
                <a:latin typeface="Arial"/>
              </a:rPr>
              <a:t>your personal, educational and business presentations.</a:t>
            </a:r>
            <a:endParaRPr lang="fr-FR" sz="1800" b="0" strike="noStrike" spc="-1">
              <a:latin typeface="Arial"/>
            </a:endParaRPr>
          </a:p>
        </p:txBody>
      </p:sp>
      <p:sp>
        <p:nvSpPr>
          <p:cNvPr id="89" name="CustomShape 9"/>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pPr>
            <a:r>
              <a:rPr lang="en-US" sz="2800" b="1" strike="noStrike" spc="-1">
                <a:solidFill>
                  <a:srgbClr val="4E2169"/>
                </a:solidFill>
                <a:latin typeface="Arial"/>
              </a:rPr>
              <a:t>Conditions of use</a:t>
            </a:r>
            <a:endParaRPr lang="fr-FR" sz="2800" b="0" strike="noStrike" spc="-1">
              <a:latin typeface="Arial"/>
            </a:endParaRPr>
          </a:p>
        </p:txBody>
      </p:sp>
      <p:sp>
        <p:nvSpPr>
          <p:cNvPr id="90" name="CustomShape 10"/>
          <p:cNvSpPr/>
          <p:nvPr/>
        </p:nvSpPr>
        <p:spPr>
          <a:xfrm>
            <a:off x="250920" y="4617360"/>
            <a:ext cx="2736720" cy="423000"/>
          </a:xfrm>
          <a:prstGeom prst="rect">
            <a:avLst/>
          </a:prstGeom>
          <a:gradFill rotWithShape="0">
            <a:gsLst>
              <a:gs pos="0">
                <a:srgbClr val="FFA7A4"/>
              </a:gs>
              <a:gs pos="100000">
                <a:srgbClr val="FFE5E5"/>
              </a:gs>
            </a:gsLst>
            <a:lin ang="16200000"/>
          </a:gradFill>
          <a:ln w="9360">
            <a:solidFill>
              <a:srgbClr val="BE4B48"/>
            </a:solidFill>
            <a:round/>
          </a:ln>
        </p:spPr>
        <p:style>
          <a:lnRef idx="0">
            <a:scrgbClr r="0" g="0" b="0"/>
          </a:lnRef>
          <a:fillRef idx="0">
            <a:scrgbClr r="0" g="0" b="0"/>
          </a:fillRef>
          <a:effectRef idx="0">
            <a:scrgbClr r="0" g="0" b="0"/>
          </a:effectRef>
          <a:fontRef idx="minor"/>
        </p:style>
      </p:sp>
      <p:sp>
        <p:nvSpPr>
          <p:cNvPr id="91" name="CustomShape 11"/>
          <p:cNvSpPr/>
          <p:nvPr/>
        </p:nvSpPr>
        <p:spPr>
          <a:xfrm>
            <a:off x="299880" y="3644640"/>
            <a:ext cx="2831760" cy="1338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0" strike="noStrike" spc="-1">
                <a:solidFill>
                  <a:srgbClr val="000000"/>
                </a:solidFill>
                <a:latin typeface="Calibri"/>
              </a:rPr>
              <a:t>The copyright statement we require you to include when you use our material is:</a:t>
            </a:r>
            <a:endParaRPr lang="fr-FR" sz="1600" b="0" strike="noStrike" spc="-1">
              <a:latin typeface="Arial"/>
            </a:endParaRPr>
          </a:p>
          <a:p>
            <a:br/>
            <a:r>
              <a:rPr lang="fr-FR" sz="1800" b="0" strike="noStrike" spc="-1">
                <a:solidFill>
                  <a:srgbClr val="C00000"/>
                </a:solidFill>
                <a:latin typeface="Calibri"/>
              </a:rPr>
              <a:t>© Copyright Showeet.com</a:t>
            </a:r>
            <a:endParaRPr lang="fr-FR" sz="1800" b="0" strike="noStrike" spc="-1">
              <a:latin typeface="Arial"/>
            </a:endParaRPr>
          </a:p>
        </p:txBody>
      </p:sp>
      <p:pic>
        <p:nvPicPr>
          <p:cNvPr id="92" name="Image 1"/>
          <p:cNvPicPr/>
          <p:nvPr/>
        </p:nvPicPr>
        <p:blipFill>
          <a:blip r:embed="rId15"/>
          <a:stretch/>
        </p:blipFill>
        <p:spPr>
          <a:xfrm>
            <a:off x="335160" y="5410440"/>
            <a:ext cx="2323800" cy="961560"/>
          </a:xfrm>
          <a:prstGeom prst="rect">
            <a:avLst/>
          </a:prstGeom>
          <a:ln w="0">
            <a:noFill/>
          </a:ln>
        </p:spPr>
      </p:pic>
      <p:sp>
        <p:nvSpPr>
          <p:cNvPr id="93" name="CustomShape 12"/>
          <p:cNvSpPr/>
          <p:nvPr/>
        </p:nvSpPr>
        <p:spPr>
          <a:xfrm>
            <a:off x="625680" y="6157440"/>
            <a:ext cx="1759680" cy="547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r>
              <a:rPr lang="fr-FR" sz="1000" b="0" strike="noStrike" spc="-1">
                <a:solidFill>
                  <a:srgbClr val="000000"/>
                </a:solidFill>
                <a:latin typeface="Calibri"/>
                <a:hlinkClick r:id="rId16"/>
              </a:rPr>
              <a:t>http://www.showeet.com</a:t>
            </a:r>
            <a:endParaRPr lang="fr-FR" sz="1000" b="0" strike="noStrike" spc="-1">
              <a:latin typeface="Arial"/>
            </a:endParaRPr>
          </a:p>
          <a:p>
            <a:endParaRPr lang="fr-FR" sz="1000" b="0" strike="noStrike" spc="-1">
              <a:latin typeface="Arial"/>
            </a:endParaRPr>
          </a:p>
          <a:p>
            <a:r>
              <a:rPr lang="fr-FR" sz="1000" b="0" strike="noStrike" spc="-1">
                <a:solidFill>
                  <a:srgbClr val="000000"/>
                </a:solidFill>
                <a:latin typeface="Calibri"/>
              </a:rPr>
              <a:t>Contact: Showeet@ymail.com </a:t>
            </a:r>
            <a:endParaRPr lang="fr-FR" sz="1000" b="0" strike="noStrike" spc="-1">
              <a:latin typeface="Arial"/>
            </a:endParaRPr>
          </a:p>
        </p:txBody>
      </p:sp>
      <p:sp>
        <p:nvSpPr>
          <p:cNvPr id="94" name="CustomShape 13"/>
          <p:cNvSpPr/>
          <p:nvPr/>
        </p:nvSpPr>
        <p:spPr>
          <a:xfrm>
            <a:off x="3995640" y="1448280"/>
            <a:ext cx="4716000" cy="51346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1" strike="noStrike" spc="-1">
                <a:solidFill>
                  <a:srgbClr val="000000"/>
                </a:solidFill>
                <a:latin typeface="Calibri"/>
              </a:rPr>
              <a:t>With the use of this free </a:t>
            </a:r>
            <a:r>
              <a:rPr lang="en-US" sz="1600" b="1" strike="noStrike" spc="-1">
                <a:solidFill>
                  <a:srgbClr val="0070C0"/>
                </a:solidFill>
                <a:latin typeface="Calibri"/>
              </a:rPr>
              <a:t>template </a:t>
            </a:r>
            <a:r>
              <a:rPr lang="en-US" sz="1600" b="1" strike="noStrike" spc="-1">
                <a:solidFill>
                  <a:srgbClr val="000000"/>
                </a:solidFill>
                <a:latin typeface="Calibri"/>
              </a:rPr>
              <a:t>you accept the following use and license conditions.</a:t>
            </a:r>
            <a:endParaRPr lang="fr-FR" sz="1600" b="0" strike="noStrike" spc="-1">
              <a:latin typeface="Arial"/>
            </a:endParaRPr>
          </a:p>
          <a:p>
            <a:endParaRPr lang="fr-FR" sz="1600" b="0" strike="noStrike" spc="-1">
              <a:latin typeface="Arial"/>
            </a:endParaRPr>
          </a:p>
          <a:p>
            <a:r>
              <a:rPr lang="en-US" sz="1200" b="0" strike="noStrike" spc="-1">
                <a:solidFill>
                  <a:srgbClr val="000000"/>
                </a:solidFill>
                <a:latin typeface="Calibri"/>
              </a:rPr>
              <a:t>You</a:t>
            </a:r>
            <a:r>
              <a:rPr lang="fr-FR" sz="1200" b="0" strike="noStrike" spc="-1">
                <a:solidFill>
                  <a:srgbClr val="000000"/>
                </a:solidFill>
                <a:latin typeface="Calibri"/>
              </a:rPr>
              <a:t> are </a:t>
            </a:r>
            <a:r>
              <a:rPr lang="en-US" sz="1200" b="0" strike="noStrike" spc="-1">
                <a:solidFill>
                  <a:srgbClr val="000000"/>
                </a:solidFill>
                <a:latin typeface="Calibri"/>
              </a:rPr>
              <a:t>free</a:t>
            </a:r>
            <a:r>
              <a:rPr lang="fr-FR" sz="1200" b="0" strike="noStrike" spc="-1">
                <a:solidFill>
                  <a:srgbClr val="000000"/>
                </a:solidFill>
                <a:latin typeface="Calibri"/>
              </a:rPr>
              <a:t>:</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To Share</a:t>
            </a:r>
            <a:r>
              <a:rPr lang="en-US" sz="1200" b="0" strike="noStrike" spc="-1">
                <a:solidFill>
                  <a:srgbClr val="000000"/>
                </a:solidFill>
                <a:latin typeface="Calibri"/>
              </a:rPr>
              <a:t> — to copy, distribute and transmit the work</a:t>
            </a:r>
            <a:endParaRPr lang="fr-FR" sz="1200" b="0" strike="noStrike" spc="-1">
              <a:latin typeface="Arial"/>
            </a:endParaRPr>
          </a:p>
          <a:p>
            <a:r>
              <a:rPr lang="en-US" sz="1200" b="0" strike="noStrike" spc="-1">
                <a:solidFill>
                  <a:srgbClr val="000000"/>
                </a:solidFill>
                <a:latin typeface="Calibri"/>
              </a:rPr>
              <a:t>Under the following conditions:</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Attribution</a:t>
            </a:r>
            <a:r>
              <a:rPr lang="en-US" sz="1200" b="0" strike="noStrike" spc="-1">
                <a:solidFill>
                  <a:srgbClr val="000000"/>
                </a:solidFill>
                <a:latin typeface="Calibri"/>
              </a:rPr>
              <a:t> — You must attribute the work in the manner specified by the author or licensor (but not in any way that suggests that they endorse you or your use of the work).</a:t>
            </a:r>
            <a:endParaRPr lang="fr-FR" sz="1200" b="0" strike="noStrike" spc="-1">
              <a:latin typeface="Arial"/>
            </a:endParaRPr>
          </a:p>
          <a:p>
            <a:r>
              <a:rPr lang="en-US" sz="1400" b="1" strike="noStrike" spc="-1">
                <a:solidFill>
                  <a:srgbClr val="000000"/>
                </a:solidFill>
                <a:latin typeface="Calibri"/>
              </a:rPr>
              <a:t>No Derivative Works</a:t>
            </a:r>
            <a:r>
              <a:rPr lang="en-US" sz="1200" b="0" strike="noStrike" spc="-1">
                <a:solidFill>
                  <a:srgbClr val="000000"/>
                </a:solidFill>
                <a:latin typeface="Calibri"/>
              </a:rPr>
              <a:t> — You may not alter, transform, or build upon this work.</a:t>
            </a:r>
            <a:endParaRPr lang="fr-FR" sz="1200" b="0" strike="noStrike" spc="-1">
              <a:latin typeface="Arial"/>
            </a:endParaRPr>
          </a:p>
          <a:p>
            <a:endParaRPr lang="fr-FR" sz="1200" b="0" strike="noStrike" spc="-1">
              <a:latin typeface="Arial"/>
            </a:endParaRPr>
          </a:p>
          <a:p>
            <a:r>
              <a:rPr lang="en-US" sz="1050" b="0" strike="noStrike" spc="-1">
                <a:solidFill>
                  <a:srgbClr val="000000"/>
                </a:solidFill>
                <a:latin typeface="Calibri"/>
              </a:rPr>
              <a:t>For any  distribution, you must make clear to others the license terms of this work. The best way to do this is with a link to this web page: </a:t>
            </a:r>
            <a:r>
              <a:rPr lang="en-US" sz="1050" b="0" strike="noStrike" spc="-1">
                <a:solidFill>
                  <a:srgbClr val="000000"/>
                </a:solidFill>
                <a:latin typeface="Calibri"/>
                <a:hlinkClick r:id="rId17"/>
              </a:rPr>
              <a:t>http://www.showeet.com/terms-of-use/</a:t>
            </a:r>
            <a:r>
              <a:rPr lang="en-US" sz="1050" b="0" strike="noStrike" spc="-1">
                <a:solidFill>
                  <a:srgbClr val="000000"/>
                </a:solidFill>
                <a:latin typeface="Calibri"/>
              </a:rPr>
              <a:t> </a:t>
            </a:r>
            <a:br/>
            <a:br/>
            <a:r>
              <a:rPr lang="en-US" sz="1050" b="0" strike="noStrike" spc="-1">
                <a:solidFill>
                  <a:srgbClr val="000000"/>
                </a:solidFill>
                <a:latin typeface="Calibri"/>
              </a:rPr>
              <a:t>Any of the conditions can be waived if you get permission from showeet.com</a:t>
            </a:r>
            <a:endParaRPr lang="fr-FR" sz="1050" b="0" strike="noStrike" spc="-1">
              <a:latin typeface="Arial"/>
            </a:endParaRPr>
          </a:p>
          <a:p>
            <a:r>
              <a:rPr lang="en-US" sz="1050" b="0" strike="noStrike" spc="-1">
                <a:solidFill>
                  <a:srgbClr val="000000"/>
                </a:solidFill>
                <a:latin typeface="Calibri"/>
              </a:rPr>
              <a:t>In no event shall </a:t>
            </a:r>
            <a:r>
              <a:rPr lang="en-US" sz="1050" b="0" u="sng" strike="noStrike" spc="-1">
                <a:solidFill>
                  <a:srgbClr val="000000"/>
                </a:solidFill>
                <a:uFillTx/>
                <a:latin typeface="Calibri"/>
              </a:rPr>
              <a:t>Showeet.com</a:t>
            </a:r>
            <a:r>
              <a:rPr lang="en-US" sz="1050" b="0" strike="noStrike" spc="-1">
                <a:solidFill>
                  <a:srgbClr val="000000"/>
                </a:solidFill>
                <a:latin typeface="Calibri"/>
              </a:rPr>
              <a:t> be liable for any indirect, special or consequential damages arising out of or in connection with the use of the template, diagram or map.</a:t>
            </a:r>
            <a:endParaRPr lang="fr-FR" sz="1050" b="0" strike="noStrike" spc="-1">
              <a:latin typeface="Arial"/>
            </a:endParaRPr>
          </a:p>
        </p:txBody>
      </p:sp>
      <p:pic>
        <p:nvPicPr>
          <p:cNvPr id="95" name="Image 94"/>
          <p:cNvPicPr/>
          <p:nvPr/>
        </p:nvPicPr>
        <p:blipFill>
          <a:blip r:embed="rId18"/>
          <a:stretch/>
        </p:blipFill>
        <p:spPr>
          <a:xfrm>
            <a:off x="3732840" y="971640"/>
            <a:ext cx="1798200" cy="435960"/>
          </a:xfrm>
          <a:prstGeom prst="rect">
            <a:avLst/>
          </a:prstGeom>
          <a:ln w="0">
            <a:noFill/>
          </a:ln>
        </p:spPr>
      </p:pic>
      <p:pic>
        <p:nvPicPr>
          <p:cNvPr id="96" name="Image 95"/>
          <p:cNvPicPr/>
          <p:nvPr/>
        </p:nvPicPr>
        <p:blipFill>
          <a:blip r:embed="rId19"/>
          <a:stretch/>
        </p:blipFill>
        <p:spPr>
          <a:xfrm>
            <a:off x="3616560" y="3693960"/>
            <a:ext cx="303120" cy="9676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package" Target="../embeddings/Microsoft_Excel_Worksheet.xlsx"/><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TextShape 1"/>
          <p:cNvSpPr txBox="1"/>
          <p:nvPr/>
        </p:nvSpPr>
        <p:spPr>
          <a:xfrm>
            <a:off x="435006" y="4149000"/>
            <a:ext cx="8380674" cy="1469520"/>
          </a:xfrm>
          <a:prstGeom prst="rect">
            <a:avLst/>
          </a:prstGeom>
          <a:noFill/>
          <a:ln w="0">
            <a:noFill/>
          </a:ln>
        </p:spPr>
        <p:txBody>
          <a:bodyPr lIns="0" tIns="0" rIns="0" bIns="0" anchor="ctr">
            <a:noAutofit/>
          </a:bodyPr>
          <a:lstStyle/>
          <a:p>
            <a:pPr algn="r"/>
            <a:r>
              <a:rPr lang="fr-FR" sz="4400" spc="-1" dirty="0">
                <a:solidFill>
                  <a:srgbClr val="376092"/>
                </a:solidFill>
                <a:latin typeface="Arial"/>
              </a:rPr>
              <a:t>Propositions et prédicats</a:t>
            </a:r>
            <a:br>
              <a:rPr dirty="0"/>
            </a:br>
            <a:r>
              <a:rPr lang="fr-FR" sz="4400" b="0" strike="noStrike" spc="-1" dirty="0">
                <a:solidFill>
                  <a:srgbClr val="376092"/>
                </a:solidFill>
                <a:latin typeface="Arial"/>
              </a:rPr>
              <a:t> </a:t>
            </a:r>
            <a:endParaRPr lang="en-US" sz="4400" b="0" strike="noStrike" spc="-1" dirty="0">
              <a:solidFill>
                <a:srgbClr val="376092"/>
              </a:solidFill>
              <a:latin typeface="Arial"/>
            </a:endParaRPr>
          </a:p>
        </p:txBody>
      </p:sp>
      <p:sp>
        <p:nvSpPr>
          <p:cNvPr id="134" name="TextShape 2"/>
          <p:cNvSpPr txBox="1"/>
          <p:nvPr/>
        </p:nvSpPr>
        <p:spPr>
          <a:xfrm>
            <a:off x="1043640" y="5733360"/>
            <a:ext cx="7772040" cy="923760"/>
          </a:xfrm>
          <a:prstGeom prst="rect">
            <a:avLst/>
          </a:prstGeom>
          <a:noFill/>
          <a:ln w="0">
            <a:noFill/>
          </a:ln>
        </p:spPr>
        <p:txBody>
          <a:bodyPr lIns="0" tIns="0" rIns="0" bIns="0">
            <a:noAutofit/>
          </a:bodyPr>
          <a:lstStyle/>
          <a:p>
            <a:pPr marL="108000" algn="r">
              <a:spcAft>
                <a:spcPts val="1060"/>
              </a:spcAft>
              <a:buClr>
                <a:srgbClr val="000000"/>
              </a:buClr>
              <a:buSzPct val="45000"/>
            </a:pPr>
            <a:endParaRPr lang="en-US" sz="2400" b="0" strike="noStrike" spc="-1" dirty="0">
              <a:solidFill>
                <a:srgbClr val="999999"/>
              </a:solidFill>
              <a:latin typeface="Arial"/>
            </a:endParaRPr>
          </a:p>
          <a:p>
            <a:pPr marL="432000" indent="-324000" algn="r">
              <a:spcAft>
                <a:spcPts val="1060"/>
              </a:spcAft>
              <a:buClr>
                <a:srgbClr val="000000"/>
              </a:buClr>
              <a:buSzPct val="45000"/>
              <a:buFont typeface="Wingdings" charset="2"/>
              <a:buChar char=""/>
            </a:pPr>
            <a:r>
              <a:rPr lang="fr-FR" sz="2400" b="0" strike="noStrike" spc="-1" dirty="0">
                <a:solidFill>
                  <a:srgbClr val="999999"/>
                </a:solidFill>
                <a:latin typeface="Arial"/>
              </a:rPr>
              <a:t>Philippe Schlegel</a:t>
            </a:r>
            <a:endParaRPr lang="en-US" sz="2400" b="0" strike="noStrike" spc="-1" dirty="0">
              <a:solidFill>
                <a:srgbClr val="999999"/>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dirty="0">
                <a:solidFill>
                  <a:srgbClr val="376092"/>
                </a:solidFill>
                <a:latin typeface="Arial"/>
              </a:rPr>
              <a:t>Logique</a:t>
            </a:r>
            <a:endParaRPr lang="en-US" sz="3200" b="0" strike="noStrike" spc="-1" dirty="0">
              <a:solidFill>
                <a:srgbClr val="376092"/>
              </a:solidFill>
              <a:latin typeface="Arial"/>
            </a:endParaRPr>
          </a:p>
        </p:txBody>
      </p:sp>
      <p:sp>
        <p:nvSpPr>
          <p:cNvPr id="136" name="TextShape 2"/>
          <p:cNvSpPr txBox="1"/>
          <p:nvPr/>
        </p:nvSpPr>
        <p:spPr>
          <a:xfrm>
            <a:off x="457200" y="1600200"/>
            <a:ext cx="8229240" cy="4525560"/>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 des propositions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Opérateurs logiques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 des prédicats</a:t>
            </a:r>
            <a:endParaRPr lang="en-US" sz="2400" b="0" strike="noStrike"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Notion de quantificateurs</a:t>
            </a:r>
          </a:p>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Négation de propositions</a:t>
            </a:r>
          </a:p>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Cas concrets</a:t>
            </a:r>
            <a:endParaRPr lang="en-US" sz="2400" b="0" strike="noStrike" spc="-1" dirty="0">
              <a:solidFill>
                <a:srgbClr val="376092"/>
              </a:solidFill>
              <a:latin typeface="Calibri"/>
            </a:endParaRPr>
          </a:p>
          <a:p>
            <a:pPr marL="1008000" lvl="2">
              <a:spcAft>
                <a:spcPts val="850"/>
              </a:spcAft>
              <a:buClr>
                <a:srgbClr val="000000"/>
              </a:buClr>
              <a:buSzPct val="75000"/>
            </a:pPr>
            <a:endParaRPr lang="en-US" sz="2400" b="0" strike="noStrike" spc="-1" dirty="0">
              <a:solidFill>
                <a:srgbClr val="376092"/>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des propositions :</a:t>
            </a:r>
            <a:endParaRPr lang="en-US" sz="3200" b="0" strike="noStrike" spc="-1" dirty="0">
              <a:solidFill>
                <a:srgbClr val="376092"/>
              </a:solidFill>
              <a:latin typeface="Arial"/>
            </a:endParaRPr>
          </a:p>
        </p:txBody>
      </p:sp>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Une proposition est un énoncé qui peut être évalué.</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 résultat de son évaluation est appelé sa valeur de vérité.</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Cette valeur de vérité peut être soit vraie, soit fausse.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Exemples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 + 3 = 4 (évalué à vrai)</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1 + 3 = 5 (évalué à faux)</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Je vais peut-être regardé une série ce soir (évaluation impossible).</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Les propositions peuvent servir à formaliser des éléments de langage.</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131673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Opérateurs logiques – Conjonction : Et:</a:t>
            </a:r>
            <a:endParaRPr lang="en-US" sz="3200" b="0" strike="noStrike" spc="-1" dirty="0">
              <a:solidFill>
                <a:srgbClr val="376092"/>
              </a:solidFill>
              <a:latin typeface="Arial"/>
            </a:endParaRPr>
          </a:p>
        </p:txBody>
      </p:sp>
      <p:sp>
        <p:nvSpPr>
          <p:cNvPr id="140" name="TextShape 2"/>
          <p:cNvSpPr txBox="1"/>
          <p:nvPr/>
        </p:nvSpPr>
        <p:spPr>
          <a:xfrm>
            <a:off x="457200" y="1233996"/>
            <a:ext cx="8229240" cy="489176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Imaginons deux propositions :</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A : il fait beau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B : Il fait chaud</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L’opérateur « et » va me permettre de vérifier la validité simultanée de A et B :</a:t>
            </a:r>
          </a:p>
          <a:p>
            <a:pPr marL="108000">
              <a:spcAft>
                <a:spcPts val="1060"/>
              </a:spcAft>
              <a:buClr>
                <a:srgbClr val="000000"/>
              </a:buClr>
              <a:buSzPct val="45000"/>
            </a:pPr>
            <a:r>
              <a:rPr lang="fr-FR" sz="1400" spc="-1" dirty="0">
                <a:latin typeface="Arial"/>
              </a:rPr>
              <a:t>S’il fait beau et qu’il fait chaud alors</a:t>
            </a:r>
          </a:p>
          <a:p>
            <a:pPr marL="108000">
              <a:spcAft>
                <a:spcPts val="1060"/>
              </a:spcAft>
              <a:buClr>
                <a:srgbClr val="000000"/>
              </a:buClr>
              <a:buSzPct val="45000"/>
            </a:pPr>
            <a:r>
              <a:rPr lang="fr-FR" sz="1400" spc="-1" dirty="0">
                <a:latin typeface="Arial"/>
              </a:rPr>
              <a:t>	Je mets une casquette</a:t>
            </a:r>
          </a:p>
          <a:p>
            <a:pPr marL="108000">
              <a:spcAft>
                <a:spcPts val="1060"/>
              </a:spcAft>
              <a:buClr>
                <a:srgbClr val="000000"/>
              </a:buClr>
              <a:buSzPct val="45000"/>
            </a:pPr>
            <a:r>
              <a:rPr lang="fr-FR" sz="1400" spc="-1" dirty="0" err="1">
                <a:latin typeface="Arial"/>
              </a:rPr>
              <a:t>Fsi</a:t>
            </a:r>
            <a:endParaRPr lang="fr-FR" sz="1400" b="0" strike="noStrike" spc="-1" dirty="0">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L’opérateur « Et » respecte la table de vérité :</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2" name="Image 1">
            <a:extLst>
              <a:ext uri="{FF2B5EF4-FFF2-40B4-BE49-F238E27FC236}">
                <a16:creationId xmlns:a16="http://schemas.microsoft.com/office/drawing/2014/main" id="{CF136228-1751-44C6-9D05-286CE3941088}"/>
              </a:ext>
            </a:extLst>
          </p:cNvPr>
          <p:cNvPicPr>
            <a:picLocks noChangeAspect="1"/>
          </p:cNvPicPr>
          <p:nvPr/>
        </p:nvPicPr>
        <p:blipFill>
          <a:blip r:embed="rId2"/>
          <a:stretch>
            <a:fillRect/>
          </a:stretch>
        </p:blipFill>
        <p:spPr>
          <a:xfrm>
            <a:off x="3064369" y="5089540"/>
            <a:ext cx="2305050" cy="1685925"/>
          </a:xfrm>
          <a:prstGeom prst="rect">
            <a:avLst/>
          </a:prstGeom>
        </p:spPr>
      </p:pic>
    </p:spTree>
    <p:extLst>
      <p:ext uri="{BB962C8B-B14F-4D97-AF65-F5344CB8AC3E}">
        <p14:creationId xmlns:p14="http://schemas.microsoft.com/office/powerpoint/2010/main" val="933573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Opérateurs logiques – Disjonction : Ou:</a:t>
            </a:r>
            <a:endParaRPr lang="en-US" sz="3200" b="0" strike="noStrike" spc="-1" dirty="0">
              <a:solidFill>
                <a:srgbClr val="376092"/>
              </a:solidFill>
              <a:latin typeface="Arial"/>
            </a:endParaRPr>
          </a:p>
        </p:txBody>
      </p:sp>
      <p:sp>
        <p:nvSpPr>
          <p:cNvPr id="140" name="TextShape 2"/>
          <p:cNvSpPr txBox="1"/>
          <p:nvPr/>
        </p:nvSpPr>
        <p:spPr>
          <a:xfrm>
            <a:off x="457200" y="1233996"/>
            <a:ext cx="8229240" cy="489176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Imaginons deux propositions :</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A : il fait beau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B : Il fait chaud</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L’opérateur « ou » va me permettre de vérifier la validité d’une des deux conditions A ou B :</a:t>
            </a:r>
          </a:p>
          <a:p>
            <a:pPr marL="108000">
              <a:spcAft>
                <a:spcPts val="1060"/>
              </a:spcAft>
              <a:buClr>
                <a:srgbClr val="000000"/>
              </a:buClr>
              <a:buSzPct val="45000"/>
            </a:pPr>
            <a:r>
              <a:rPr lang="fr-FR" sz="1400" spc="-1" dirty="0">
                <a:latin typeface="Arial"/>
              </a:rPr>
              <a:t>S’il fait beau ou qu’il fait chaud alors</a:t>
            </a:r>
          </a:p>
          <a:p>
            <a:pPr marL="108000">
              <a:spcAft>
                <a:spcPts val="1060"/>
              </a:spcAft>
              <a:buClr>
                <a:srgbClr val="000000"/>
              </a:buClr>
              <a:buSzPct val="45000"/>
            </a:pPr>
            <a:r>
              <a:rPr lang="fr-FR" sz="1400" spc="-1" dirty="0">
                <a:latin typeface="Arial"/>
              </a:rPr>
              <a:t>	Je mets une casquette</a:t>
            </a:r>
          </a:p>
          <a:p>
            <a:pPr marL="108000">
              <a:spcAft>
                <a:spcPts val="1060"/>
              </a:spcAft>
              <a:buClr>
                <a:srgbClr val="000000"/>
              </a:buClr>
              <a:buSzPct val="45000"/>
            </a:pPr>
            <a:r>
              <a:rPr lang="fr-FR" sz="1400" spc="-1" dirty="0" err="1">
                <a:latin typeface="Arial"/>
              </a:rPr>
              <a:t>Fsi</a:t>
            </a:r>
            <a:endParaRPr lang="fr-FR" sz="1400" b="0" strike="noStrike" spc="-1" dirty="0">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L’opérateur « Ou » respecte la table de vérité :</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graphicFrame>
        <p:nvGraphicFramePr>
          <p:cNvPr id="5" name="Objet 4">
            <a:extLst>
              <a:ext uri="{FF2B5EF4-FFF2-40B4-BE49-F238E27FC236}">
                <a16:creationId xmlns:a16="http://schemas.microsoft.com/office/drawing/2014/main" id="{3255B612-B82B-421F-9BE1-DB9625776B02}"/>
              </a:ext>
            </a:extLst>
          </p:cNvPr>
          <p:cNvGraphicFramePr>
            <a:graphicFrameLocks noChangeAspect="1"/>
          </p:cNvGraphicFramePr>
          <p:nvPr>
            <p:extLst>
              <p:ext uri="{D42A27DB-BD31-4B8C-83A1-F6EECF244321}">
                <p14:modId xmlns:p14="http://schemas.microsoft.com/office/powerpoint/2010/main" val="919523003"/>
              </p:ext>
            </p:extLst>
          </p:nvPr>
        </p:nvGraphicFramePr>
        <p:xfrm>
          <a:off x="3271837" y="5076547"/>
          <a:ext cx="2295525" cy="1676400"/>
        </p:xfrm>
        <a:graphic>
          <a:graphicData uri="http://schemas.openxmlformats.org/presentationml/2006/ole">
            <mc:AlternateContent xmlns:mc="http://schemas.openxmlformats.org/markup-compatibility/2006">
              <mc:Choice xmlns:v="urn:schemas-microsoft-com:vml" Requires="v">
                <p:oleObj name="Worksheet" r:id="rId2" imgW="2295480" imgH="1676536" progId="Excel.Sheet.12">
                  <p:embed/>
                </p:oleObj>
              </mc:Choice>
              <mc:Fallback>
                <p:oleObj name="Worksheet" r:id="rId2" imgW="2295480" imgH="1676536" progId="Excel.Sheet.12">
                  <p:embed/>
                  <p:pic>
                    <p:nvPicPr>
                      <p:cNvPr id="0" name=""/>
                      <p:cNvPicPr/>
                      <p:nvPr/>
                    </p:nvPicPr>
                    <p:blipFill>
                      <a:blip r:embed="rId3"/>
                      <a:stretch>
                        <a:fillRect/>
                      </a:stretch>
                    </p:blipFill>
                    <p:spPr>
                      <a:xfrm>
                        <a:off x="3271837" y="5076547"/>
                        <a:ext cx="2295525" cy="1676400"/>
                      </a:xfrm>
                      <a:prstGeom prst="rect">
                        <a:avLst/>
                      </a:prstGeom>
                    </p:spPr>
                  </p:pic>
                </p:oleObj>
              </mc:Fallback>
            </mc:AlternateContent>
          </a:graphicData>
        </a:graphic>
      </p:graphicFrame>
    </p:spTree>
    <p:extLst>
      <p:ext uri="{BB962C8B-B14F-4D97-AF65-F5344CB8AC3E}">
        <p14:creationId xmlns:p14="http://schemas.microsoft.com/office/powerpoint/2010/main" val="2428448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Opérateurs logiques – Négation : Non:</a:t>
            </a:r>
            <a:endParaRPr lang="en-US" sz="3200" b="0" strike="noStrike" spc="-1" dirty="0">
              <a:solidFill>
                <a:srgbClr val="376092"/>
              </a:solidFill>
              <a:latin typeface="Arial"/>
            </a:endParaRPr>
          </a:p>
        </p:txBody>
      </p:sp>
      <p:sp>
        <p:nvSpPr>
          <p:cNvPr id="140" name="TextShape 2"/>
          <p:cNvSpPr txBox="1"/>
          <p:nvPr/>
        </p:nvSpPr>
        <p:spPr>
          <a:xfrm>
            <a:off x="457200" y="1233996"/>
            <a:ext cx="8229240" cy="489176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Imaginons la proposition suivante:</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A : il fait beau </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L’opérateur « non » va me permettre d’inverser l’évaluation de A :</a:t>
            </a:r>
          </a:p>
          <a:p>
            <a:pPr marL="108000">
              <a:spcAft>
                <a:spcPts val="1060"/>
              </a:spcAft>
              <a:buClr>
                <a:srgbClr val="000000"/>
              </a:buClr>
              <a:buSzPct val="45000"/>
            </a:pPr>
            <a:r>
              <a:rPr lang="fr-FR" sz="1400" spc="-1" dirty="0">
                <a:latin typeface="Arial"/>
              </a:rPr>
              <a:t>Si non(il fait beau) alors</a:t>
            </a:r>
          </a:p>
          <a:p>
            <a:pPr marL="108000">
              <a:spcAft>
                <a:spcPts val="1060"/>
              </a:spcAft>
              <a:buClr>
                <a:srgbClr val="000000"/>
              </a:buClr>
              <a:buSzPct val="45000"/>
            </a:pPr>
            <a:r>
              <a:rPr lang="fr-FR" sz="1400" spc="-1" dirty="0">
                <a:latin typeface="Arial"/>
              </a:rPr>
              <a:t>	Je prends un parapluie</a:t>
            </a:r>
          </a:p>
          <a:p>
            <a:pPr marL="108000">
              <a:spcAft>
                <a:spcPts val="1060"/>
              </a:spcAft>
              <a:buClr>
                <a:srgbClr val="000000"/>
              </a:buClr>
              <a:buSzPct val="45000"/>
            </a:pPr>
            <a:r>
              <a:rPr lang="fr-FR" sz="1400" spc="-1" dirty="0" err="1">
                <a:latin typeface="Arial"/>
              </a:rPr>
              <a:t>Fsi</a:t>
            </a:r>
            <a:endParaRPr lang="fr-FR" sz="1400" b="0" strike="noStrike" spc="-1" dirty="0">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Il est parfois plus simple d’utiliser la négation d’une proposition dans un programme.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L’opérateur « Non » respecte la table de vérité :</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7" name="Image 6">
            <a:extLst>
              <a:ext uri="{FF2B5EF4-FFF2-40B4-BE49-F238E27FC236}">
                <a16:creationId xmlns:a16="http://schemas.microsoft.com/office/drawing/2014/main" id="{1A56B4A1-B5E3-4F36-9388-43A1166345EE}"/>
              </a:ext>
            </a:extLst>
          </p:cNvPr>
          <p:cNvPicPr>
            <a:picLocks noChangeAspect="1"/>
          </p:cNvPicPr>
          <p:nvPr/>
        </p:nvPicPr>
        <p:blipFill>
          <a:blip r:embed="rId2"/>
          <a:stretch>
            <a:fillRect/>
          </a:stretch>
        </p:blipFill>
        <p:spPr>
          <a:xfrm>
            <a:off x="2780791" y="5616172"/>
            <a:ext cx="2943225" cy="1019175"/>
          </a:xfrm>
          <a:prstGeom prst="rect">
            <a:avLst/>
          </a:prstGeom>
        </p:spPr>
      </p:pic>
    </p:spTree>
    <p:extLst>
      <p:ext uri="{BB962C8B-B14F-4D97-AF65-F5344CB8AC3E}">
        <p14:creationId xmlns:p14="http://schemas.microsoft.com/office/powerpoint/2010/main" val="3573682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Opérateurs logiques – Equivalence :</a:t>
            </a:r>
            <a:r>
              <a:rPr lang="fr-FR" sz="3200" spc="-1" dirty="0">
                <a:solidFill>
                  <a:srgbClr val="376092"/>
                </a:solidFill>
                <a:latin typeface="Arial"/>
                <a:sym typeface="Wingdings" panose="05000000000000000000" pitchFamily="2" charset="2"/>
              </a:rPr>
              <a:t></a:t>
            </a:r>
            <a:r>
              <a:rPr lang="fr-FR" sz="3200" spc="-1" dirty="0">
                <a:solidFill>
                  <a:srgbClr val="376092"/>
                </a:solidFill>
                <a:latin typeface="Arial"/>
              </a:rPr>
              <a:t>:</a:t>
            </a:r>
            <a:endParaRPr lang="en-US" sz="3200" b="0" strike="noStrike" spc="-1" dirty="0">
              <a:solidFill>
                <a:srgbClr val="376092"/>
              </a:solidFill>
              <a:latin typeface="Arial"/>
            </a:endParaRPr>
          </a:p>
        </p:txBody>
      </p:sp>
      <p:sp>
        <p:nvSpPr>
          <p:cNvPr id="140" name="TextShape 2"/>
          <p:cNvSpPr txBox="1"/>
          <p:nvPr/>
        </p:nvSpPr>
        <p:spPr>
          <a:xfrm>
            <a:off x="457200" y="1233996"/>
            <a:ext cx="8229240" cy="489176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Imaginons les propositions suivantes :</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A : n est un multiple de 2</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B : n-2 est un multiple de 2</a:t>
            </a:r>
            <a:r>
              <a:rPr lang="fr-FR" sz="2400" b="0" strike="noStrike" spc="-1" dirty="0">
                <a:solidFill>
                  <a:srgbClr val="376092"/>
                </a:solidFill>
                <a:latin typeface="Arial"/>
              </a:rPr>
              <a:t> </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L’opérateur « </a:t>
            </a:r>
            <a:r>
              <a:rPr lang="fr-FR" sz="2400" b="0" strike="noStrike" spc="-1" dirty="0">
                <a:solidFill>
                  <a:srgbClr val="376092"/>
                </a:solidFill>
                <a:latin typeface="Arial"/>
                <a:sym typeface="Wingdings" panose="05000000000000000000" pitchFamily="2" charset="2"/>
              </a:rPr>
              <a:t></a:t>
            </a:r>
            <a:r>
              <a:rPr lang="fr-FR" sz="2400" b="0" strike="noStrike" spc="-1" dirty="0">
                <a:solidFill>
                  <a:srgbClr val="376092"/>
                </a:solidFill>
                <a:latin typeface="Arial"/>
              </a:rPr>
              <a:t> » va me permettre de montrer l’équivalence entre les 2 propositions :</a:t>
            </a:r>
          </a:p>
          <a:p>
            <a:pPr marL="108000">
              <a:spcAft>
                <a:spcPts val="1060"/>
              </a:spcAft>
              <a:buClr>
                <a:srgbClr val="000000"/>
              </a:buClr>
              <a:buSzPct val="45000"/>
            </a:pPr>
            <a:r>
              <a:rPr lang="fr-FR" sz="1400" spc="-1" dirty="0">
                <a:latin typeface="Arial"/>
              </a:rPr>
              <a:t>Si n % 2 = (n -2) % 2 alors</a:t>
            </a:r>
          </a:p>
          <a:p>
            <a:pPr marL="108000">
              <a:spcAft>
                <a:spcPts val="1060"/>
              </a:spcAft>
              <a:buClr>
                <a:srgbClr val="000000"/>
              </a:buClr>
              <a:buSzPct val="45000"/>
            </a:pPr>
            <a:r>
              <a:rPr lang="fr-FR" sz="1400" spc="-1" dirty="0">
                <a:latin typeface="Arial"/>
              </a:rPr>
              <a:t>	Les deux propositions sont équivalentes</a:t>
            </a:r>
          </a:p>
          <a:p>
            <a:pPr marL="108000">
              <a:spcAft>
                <a:spcPts val="1060"/>
              </a:spcAft>
              <a:buClr>
                <a:srgbClr val="000000"/>
              </a:buClr>
              <a:buSzPct val="45000"/>
            </a:pPr>
            <a:r>
              <a:rPr lang="fr-FR" sz="1400" spc="-1" dirty="0" err="1">
                <a:latin typeface="Arial"/>
              </a:rPr>
              <a:t>Fsi</a:t>
            </a:r>
            <a:endParaRPr lang="fr-FR" sz="1400" b="0" strike="noStrike" spc="-1" dirty="0">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L’opérateur « </a:t>
            </a:r>
            <a:r>
              <a:rPr lang="fr-FR" sz="2400" spc="-1" dirty="0">
                <a:solidFill>
                  <a:srgbClr val="376092"/>
                </a:solidFill>
                <a:latin typeface="Arial"/>
                <a:sym typeface="Wingdings" panose="05000000000000000000" pitchFamily="2" charset="2"/>
              </a:rPr>
              <a:t></a:t>
            </a:r>
            <a:r>
              <a:rPr lang="fr-FR" sz="2400" spc="-1" dirty="0">
                <a:solidFill>
                  <a:srgbClr val="376092"/>
                </a:solidFill>
                <a:latin typeface="Arial"/>
              </a:rPr>
              <a:t> » respecte la table de vérité :</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6" name="Image 5">
            <a:extLst>
              <a:ext uri="{FF2B5EF4-FFF2-40B4-BE49-F238E27FC236}">
                <a16:creationId xmlns:a16="http://schemas.microsoft.com/office/drawing/2014/main" id="{E1D58470-E596-4418-8F5C-EA9C98E34C4E}"/>
              </a:ext>
            </a:extLst>
          </p:cNvPr>
          <p:cNvPicPr>
            <a:picLocks noChangeAspect="1"/>
          </p:cNvPicPr>
          <p:nvPr/>
        </p:nvPicPr>
        <p:blipFill>
          <a:blip r:embed="rId2"/>
          <a:stretch>
            <a:fillRect/>
          </a:stretch>
        </p:blipFill>
        <p:spPr>
          <a:xfrm>
            <a:off x="3357382" y="5054029"/>
            <a:ext cx="2428875" cy="1685925"/>
          </a:xfrm>
          <a:prstGeom prst="rect">
            <a:avLst/>
          </a:prstGeom>
        </p:spPr>
      </p:pic>
    </p:spTree>
    <p:extLst>
      <p:ext uri="{BB962C8B-B14F-4D97-AF65-F5344CB8AC3E}">
        <p14:creationId xmlns:p14="http://schemas.microsoft.com/office/powerpoint/2010/main" val="1870770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Opérateurs logiques – Implication : </a:t>
            </a:r>
            <a:r>
              <a:rPr lang="fr-FR" sz="3200" spc="-1" dirty="0">
                <a:solidFill>
                  <a:srgbClr val="376092"/>
                </a:solidFill>
                <a:latin typeface="Arial"/>
                <a:sym typeface="Wingdings" panose="05000000000000000000" pitchFamily="2" charset="2"/>
              </a:rPr>
              <a:t>=&gt;</a:t>
            </a:r>
            <a:r>
              <a:rPr lang="fr-FR" sz="3200" spc="-1" dirty="0">
                <a:solidFill>
                  <a:srgbClr val="376092"/>
                </a:solidFill>
                <a:latin typeface="Arial"/>
              </a:rPr>
              <a:t>:</a:t>
            </a:r>
            <a:endParaRPr lang="en-US" sz="3200" b="0" strike="noStrike" spc="-1" dirty="0">
              <a:solidFill>
                <a:srgbClr val="376092"/>
              </a:solidFill>
              <a:latin typeface="Arial"/>
            </a:endParaRPr>
          </a:p>
        </p:txBody>
      </p:sp>
      <p:sp>
        <p:nvSpPr>
          <p:cNvPr id="140" name="TextShape 2"/>
          <p:cNvSpPr txBox="1"/>
          <p:nvPr/>
        </p:nvSpPr>
        <p:spPr>
          <a:xfrm>
            <a:off x="457200" y="1233996"/>
            <a:ext cx="8229240" cy="489176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Imaginons les propositions suivantes :</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A : n est une pomme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B : n est un fruit</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L’opérateur « </a:t>
            </a:r>
            <a:r>
              <a:rPr lang="fr-FR" sz="2400" spc="-1" dirty="0">
                <a:solidFill>
                  <a:srgbClr val="376092"/>
                </a:solidFill>
                <a:latin typeface="Arial"/>
                <a:sym typeface="Wingdings" panose="05000000000000000000" pitchFamily="2" charset="2"/>
              </a:rPr>
              <a:t>=&gt;</a:t>
            </a:r>
            <a:r>
              <a:rPr lang="fr-FR" sz="2400" b="0" strike="noStrike" spc="-1" dirty="0">
                <a:solidFill>
                  <a:srgbClr val="376092"/>
                </a:solidFill>
                <a:latin typeface="Arial"/>
              </a:rPr>
              <a:t> » va me permettre de montrer l’implication entre les 2 propositions :</a:t>
            </a:r>
          </a:p>
          <a:p>
            <a:pPr marL="108000">
              <a:spcAft>
                <a:spcPts val="1060"/>
              </a:spcAft>
              <a:buClr>
                <a:srgbClr val="000000"/>
              </a:buClr>
              <a:buSzPct val="45000"/>
            </a:pPr>
            <a:r>
              <a:rPr lang="fr-FR" sz="1400" spc="-1" dirty="0">
                <a:latin typeface="Arial"/>
              </a:rPr>
              <a:t>Si A =&gt; B alors</a:t>
            </a:r>
          </a:p>
          <a:p>
            <a:pPr marL="108000">
              <a:spcAft>
                <a:spcPts val="1060"/>
              </a:spcAft>
              <a:buClr>
                <a:srgbClr val="000000"/>
              </a:buClr>
              <a:buSzPct val="45000"/>
            </a:pPr>
            <a:r>
              <a:rPr lang="fr-FR" sz="1400" spc="-1" dirty="0">
                <a:latin typeface="Arial"/>
              </a:rPr>
              <a:t>	La proposition A implique la proposition B ou alors A est fausse.</a:t>
            </a:r>
          </a:p>
          <a:p>
            <a:pPr marL="108000">
              <a:spcAft>
                <a:spcPts val="1060"/>
              </a:spcAft>
              <a:buClr>
                <a:srgbClr val="000000"/>
              </a:buClr>
              <a:buSzPct val="45000"/>
            </a:pPr>
            <a:r>
              <a:rPr lang="fr-FR" sz="1400" spc="-1" dirty="0" err="1">
                <a:latin typeface="Arial"/>
              </a:rPr>
              <a:t>Fsi</a:t>
            </a:r>
            <a:endParaRPr lang="fr-FR" sz="1400" b="0" strike="noStrike" spc="-1" dirty="0">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L’opérateur « </a:t>
            </a:r>
            <a:r>
              <a:rPr lang="fr-FR" sz="2400" spc="-1" dirty="0">
                <a:solidFill>
                  <a:srgbClr val="376092"/>
                </a:solidFill>
                <a:latin typeface="Arial"/>
                <a:sym typeface="Wingdings" panose="05000000000000000000" pitchFamily="2" charset="2"/>
              </a:rPr>
              <a:t>=&gt;</a:t>
            </a:r>
            <a:r>
              <a:rPr lang="fr-FR" sz="2400" spc="-1" dirty="0">
                <a:solidFill>
                  <a:srgbClr val="376092"/>
                </a:solidFill>
                <a:latin typeface="Arial"/>
              </a:rPr>
              <a:t> » respecte la table de vérité :</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4" name="Image 3">
            <a:extLst>
              <a:ext uri="{FF2B5EF4-FFF2-40B4-BE49-F238E27FC236}">
                <a16:creationId xmlns:a16="http://schemas.microsoft.com/office/drawing/2014/main" id="{C7931A50-5AC0-4A4B-9880-C3391F3F346C}"/>
              </a:ext>
            </a:extLst>
          </p:cNvPr>
          <p:cNvPicPr>
            <a:picLocks noChangeAspect="1"/>
          </p:cNvPicPr>
          <p:nvPr/>
        </p:nvPicPr>
        <p:blipFill>
          <a:blip r:embed="rId2"/>
          <a:stretch>
            <a:fillRect/>
          </a:stretch>
        </p:blipFill>
        <p:spPr>
          <a:xfrm>
            <a:off x="3419295" y="5070618"/>
            <a:ext cx="2305050" cy="1685925"/>
          </a:xfrm>
          <a:prstGeom prst="rect">
            <a:avLst/>
          </a:prstGeom>
        </p:spPr>
      </p:pic>
    </p:spTree>
    <p:extLst>
      <p:ext uri="{BB962C8B-B14F-4D97-AF65-F5344CB8AC3E}">
        <p14:creationId xmlns:p14="http://schemas.microsoft.com/office/powerpoint/2010/main" val="2005745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Opérateurs logiques – propriétés :</a:t>
            </a:r>
            <a:endParaRPr lang="en-US" sz="3200" b="0" strike="noStrike" spc="-1" dirty="0">
              <a:solidFill>
                <a:srgbClr val="376092"/>
              </a:solidFill>
              <a:latin typeface="Arial"/>
            </a:endParaRPr>
          </a:p>
        </p:txBody>
      </p:sp>
      <p:sp>
        <p:nvSpPr>
          <p:cNvPr id="140" name="TextShape 2"/>
          <p:cNvSpPr txBox="1"/>
          <p:nvPr/>
        </p:nvSpPr>
        <p:spPr>
          <a:xfrm>
            <a:off x="457200" y="1233996"/>
            <a:ext cx="8229240" cy="489176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Imaginons trois propositions A, B et C et Comparons les tables de vérité (avec Excel) de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«A et B» et «B et A»</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ou B» et «B ou A»</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(A et B) et C » et « A et (B et C)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(A ou B) ou C » et « A ou (B ou C)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A ou (B et C) » et « (A ou B) et (A ou C)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A et (B ou C) » et « (A et B) ou (A et C)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A ou (B et C) » et « (A ou B) et C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non (A ou B) » et « non(A) et non(B)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non (A et B) » et « non(A) ou non (B) »</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997723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Opérateurs logiques – propriétés :</a:t>
            </a:r>
            <a:endParaRPr lang="en-US" sz="3200" b="0" strike="noStrike" spc="-1" dirty="0">
              <a:solidFill>
                <a:srgbClr val="376092"/>
              </a:solidFill>
              <a:latin typeface="Arial"/>
            </a:endParaRPr>
          </a:p>
        </p:txBody>
      </p:sp>
      <p:sp>
        <p:nvSpPr>
          <p:cNvPr id="140" name="TextShape 2"/>
          <p:cNvSpPr txBox="1"/>
          <p:nvPr/>
        </p:nvSpPr>
        <p:spPr>
          <a:xfrm>
            <a:off x="457200" y="1233996"/>
            <a:ext cx="8229240" cy="489176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En montrant l’équivalence de ces relations nous avons montré que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L’opérateur « ou » et l’opérateur « et » sont commutatifs et associatifs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ou » et « et » sont distributifs l’un par rapport à l’autre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Il faut des parenthèses pour préciser des priorités opératoires lorsque l’on mélange « ou » et « et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Les lois de De Morgan s’appliquent.</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545341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Opérateurs logiques – Traductions logiques :</a:t>
            </a:r>
            <a:endParaRPr lang="en-US" sz="3200" b="0" strike="noStrike" spc="-1" dirty="0">
              <a:solidFill>
                <a:srgbClr val="376092"/>
              </a:solidFill>
              <a:latin typeface="Arial"/>
            </a:endParaRPr>
          </a:p>
        </p:txBody>
      </p:sp>
      <p:sp>
        <p:nvSpPr>
          <p:cNvPr id="140" name="TextShape 2"/>
          <p:cNvSpPr txBox="1"/>
          <p:nvPr/>
        </p:nvSpPr>
        <p:spPr>
          <a:xfrm>
            <a:off x="457200" y="1233996"/>
            <a:ext cx="8229240" cy="489176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On note les affirmations suivantes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 Un élève aime la comptabilité</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B : Un élève aime la gestion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Comment écrire avec les opérateurs logiques que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Un élève aime la comptabilité mais pas la gestion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Un élève n'aime ni la comptabilité, ni la gestion</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Un élève aime la comptabilité ou il n'aime pas la comptabilité mais aime la gestion</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Un élève aime la comptabilité mais pas la gestion ou il </a:t>
            </a:r>
            <a:r>
              <a:rPr lang="fr-FR" sz="2400" spc="-1">
                <a:solidFill>
                  <a:srgbClr val="376092"/>
                </a:solidFill>
                <a:latin typeface="Arial"/>
              </a:rPr>
              <a:t>aime la gestion </a:t>
            </a:r>
            <a:r>
              <a:rPr lang="fr-FR" sz="2400" spc="-1" dirty="0">
                <a:solidFill>
                  <a:srgbClr val="376092"/>
                </a:solidFill>
                <a:latin typeface="Arial"/>
              </a:rPr>
              <a:t>mais pas la comptabilité.</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9762702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Opérateurs logiques – Evaluation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p:cNvSpPr txBox="1"/>
              <p:nvPr/>
            </p:nvSpPr>
            <p:spPr>
              <a:xfrm>
                <a:off x="457200" y="1233996"/>
                <a:ext cx="8229240" cy="489176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Evaluons </a:t>
                </a:r>
                <a:r>
                  <a:rPr lang="fr-FR" sz="2400" spc="-1">
                    <a:solidFill>
                      <a:srgbClr val="376092"/>
                    </a:solidFill>
                    <a:latin typeface="Arial"/>
                  </a:rPr>
                  <a:t>les propositions </a:t>
                </a:r>
                <a:r>
                  <a:rPr lang="fr-FR" sz="2400" spc="-1" dirty="0">
                    <a:solidFill>
                      <a:srgbClr val="376092"/>
                    </a:solidFill>
                    <a:latin typeface="Arial"/>
                  </a:rPr>
                  <a:t>suivantes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2+3 = 5 et 3 + 5 = 11</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2+3 = 5 ou  3 + 5 = 11</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2+3= 5 </a:t>
                </a:r>
                <a:r>
                  <a:rPr lang="fr-FR" sz="2400" spc="-1" dirty="0">
                    <a:solidFill>
                      <a:srgbClr val="376092"/>
                    </a:solidFill>
                    <a:latin typeface="Arial"/>
                    <a:sym typeface="Wingdings" panose="05000000000000000000" pitchFamily="2" charset="2"/>
                  </a:rPr>
                  <a:t>=&gt; 6 + 5 = 11</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3+3= 11 </a:t>
                </a:r>
                <a:r>
                  <a:rPr lang="fr-FR" sz="2400" spc="-1" dirty="0">
                    <a:solidFill>
                      <a:srgbClr val="376092"/>
                    </a:solidFill>
                    <a:latin typeface="Arial"/>
                    <a:sym typeface="Wingdings" panose="05000000000000000000" pitchFamily="2" charset="2"/>
                  </a:rPr>
                  <a:t>=&gt; 6 + 5 = 11</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sym typeface="Wingdings" panose="05000000000000000000" pitchFamily="2" charset="2"/>
                  </a:rPr>
                  <a:t>5+5=10  3+3 = 11</a:t>
                </a:r>
              </a:p>
              <a:p>
                <a:pPr marL="432000" indent="-324000">
                  <a:spcAft>
                    <a:spcPts val="1060"/>
                  </a:spcAft>
                  <a:buClr>
                    <a:srgbClr val="000000"/>
                  </a:buClr>
                  <a:buSzPct val="45000"/>
                  <a:buFont typeface="Wingdings" charset="2"/>
                  <a:buChar char=""/>
                </a:pPr>
                <a:r>
                  <a:rPr lang="fr-FR" sz="2400" spc="-1" dirty="0">
                    <a:solidFill>
                      <a:srgbClr val="376092"/>
                    </a:solidFill>
                    <a:latin typeface="Arial"/>
                    <a:sym typeface="Wingdings" panose="05000000000000000000" pitchFamily="2" charset="2"/>
                  </a:rPr>
                  <a:t>Donner la table de vérité du ou exclusif (XOR </a:t>
                </a:r>
                <a14:m>
                  <m:oMath xmlns:m="http://schemas.openxmlformats.org/officeDocument/2006/math">
                    <m:r>
                      <a:rPr lang="fr-FR" sz="2400" spc="-1" smtClean="0">
                        <a:solidFill>
                          <a:srgbClr val="376092"/>
                        </a:solidFill>
                        <a:latin typeface="Cambria Math" panose="02040503050406030204" pitchFamily="18" charset="0"/>
                        <a:sym typeface="Wingdings" panose="05000000000000000000" pitchFamily="2" charset="2"/>
                      </a:rPr>
                      <m:t>⊕</m:t>
                    </m:r>
                  </m:oMath>
                </a14:m>
                <a:r>
                  <a:rPr lang="fr-FR" sz="2400" spc="-1" dirty="0">
                    <a:solidFill>
                      <a:srgbClr val="376092"/>
                    </a:solidFill>
                    <a:latin typeface="Arial"/>
                    <a:sym typeface="Wingdings" panose="05000000000000000000" pitchFamily="2" charset="2"/>
                  </a:rPr>
                  <a:t>).</a:t>
                </a:r>
              </a:p>
              <a:p>
                <a:pPr marL="432000" indent="-324000">
                  <a:spcAft>
                    <a:spcPts val="1060"/>
                  </a:spcAft>
                  <a:buClr>
                    <a:srgbClr val="000000"/>
                  </a:buClr>
                  <a:buSzPct val="45000"/>
                  <a:buFont typeface="Wingdings" charset="2"/>
                  <a:buChar char=""/>
                </a:pPr>
                <a:r>
                  <a:rPr lang="fr-FR" sz="2400" spc="-1" dirty="0">
                    <a:solidFill>
                      <a:srgbClr val="376092"/>
                    </a:solidFill>
                    <a:latin typeface="Arial"/>
                    <a:sym typeface="Wingdings" panose="05000000000000000000" pitchFamily="2" charset="2"/>
                  </a:rPr>
                  <a:t>Utiliser une proposition pour définir le ou exclusif à l'aide des opérateurs classiques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sym typeface="Wingdings" panose="05000000000000000000" pitchFamily="2" charset="2"/>
                  </a:rPr>
                  <a:t>A </a:t>
                </a:r>
                <a14:m>
                  <m:oMath xmlns:m="http://schemas.openxmlformats.org/officeDocument/2006/math">
                    <m:r>
                      <a:rPr lang="fr-FR" sz="2400" spc="-1" smtClean="0">
                        <a:solidFill>
                          <a:srgbClr val="376092"/>
                        </a:solidFill>
                        <a:latin typeface="Cambria Math" panose="02040503050406030204" pitchFamily="18" charset="0"/>
                        <a:sym typeface="Wingdings" panose="05000000000000000000" pitchFamily="2" charset="2"/>
                      </a:rPr>
                      <m:t>⊕</m:t>
                    </m:r>
                  </m:oMath>
                </a14:m>
                <a:r>
                  <a:rPr lang="fr-FR" sz="2400" spc="-1" dirty="0">
                    <a:solidFill>
                      <a:srgbClr val="376092"/>
                    </a:solidFill>
                    <a:latin typeface="Arial"/>
                    <a:sym typeface="Wingdings" panose="05000000000000000000" pitchFamily="2" charset="2"/>
                  </a:rPr>
                  <a:t> B = ?</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sym typeface="Wingdings" panose="05000000000000000000" pitchFamily="2" charset="2"/>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p:cNvSpPr txBox="1">
                <a:spLocks noRot="1" noChangeAspect="1" noMove="1" noResize="1" noEditPoints="1" noAdjustHandles="1" noChangeArrowheads="1" noChangeShapeType="1" noTextEdit="1"/>
              </p:cNvSpPr>
              <p:nvPr/>
            </p:nvSpPr>
            <p:spPr>
              <a:xfrm>
                <a:off x="457200" y="1233996"/>
                <a:ext cx="8229240" cy="4891764"/>
              </a:xfrm>
              <a:prstGeom prst="rect">
                <a:avLst/>
              </a:prstGeom>
              <a:blipFill>
                <a:blip r:embed="rId2"/>
                <a:stretch>
                  <a:fillRect t="-1743" r="-815" b="-1494"/>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2975097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des prédicats :</a:t>
            </a:r>
            <a:endParaRPr lang="en-US" sz="3200" b="0" strike="noStrike" spc="-1" dirty="0">
              <a:solidFill>
                <a:srgbClr val="376092"/>
              </a:solidFill>
              <a:latin typeface="Arial"/>
            </a:endParaRPr>
          </a:p>
        </p:txBody>
      </p:sp>
      <p:sp>
        <p:nvSpPr>
          <p:cNvPr id="140" name="TextShape 2"/>
          <p:cNvSpPr txBox="1"/>
          <p:nvPr/>
        </p:nvSpPr>
        <p:spPr>
          <a:xfrm>
            <a:off x="457200" y="1233996"/>
            <a:ext cx="8229240" cy="489176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Nous pouvons nous retrouver devant des règles impossibles à évaluer.</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Par exemple x &lt; 9 : nous n’avons pas d’information sur la valeur de x et il est donc impossible d’affecter une valeur vrai ou faux au prédicat x &lt; 9.</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Si x = 3 alors x &lt; 9 est VRAI</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Si x = 17 alors x &lt; 9 est FAUX</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La valeur de vérité dépend de la connaissance de x</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Pour pouvoir déterminer sans ambiguïté une valeur de vérité, il faut qualifier x</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341508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des prédicats :</a:t>
            </a:r>
            <a:endParaRPr lang="en-US" sz="3200" b="0" strike="noStrike" spc="-1" dirty="0">
              <a:solidFill>
                <a:srgbClr val="376092"/>
              </a:solidFill>
              <a:latin typeface="Arial"/>
            </a:endParaRPr>
          </a:p>
        </p:txBody>
      </p:sp>
      <p:sp>
        <p:nvSpPr>
          <p:cNvPr id="140" name="TextShape 2"/>
          <p:cNvSpPr txBox="1"/>
          <p:nvPr/>
        </p:nvSpPr>
        <p:spPr>
          <a:xfrm>
            <a:off x="457200" y="1233996"/>
            <a:ext cx="8229240" cy="489176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Nous avons donc vu qu’il y a des valeurs de x qui font que x &lt; 9 est vrai et des valeurs de x qui font que x &lt; 9 est faux.</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Ce qu’il nous manque pour transformer x &lt; 9 en proposition, c’est de pouvoir définir de quel x nous parlons.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Est-ce que x est n’importe quel réel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Est-ce que x est n’importe quel entier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Est-ce que x appartient à un intervalle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Est-ce que c’est vrai pour tout x ou seulement pour l’un d’entre eux ?   </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4766215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des prédicats – les quantificateurs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Pour les calculs de prédicat, il existe un quantificateur universel ∀ et un quantificateur existentiel ∃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x² &gt;=0 : Pour tout x réel, x² &gt;=0</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N, x² = x : Il existe x entier tel que x² = x</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]-∞;9[, x &lt; 9 : Pour tout x appartenant à l’intervalle ]-∞;9[ , x &lt; 9</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Il est possible d’évaluer ces énoncés et de leur attribuer une valeur VRAI ou une valeur FAUX.</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6409271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des prédicats – les quantificateurs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Donner pour chacune des expressions suivantes une valeur VRAI ou FAUX, trouver également un cas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x² = x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x/3 = (1/3) * x</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(x+1)² = x² + 2x + 1</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x² + 1 &lt; 101</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Pour prouver qu'un quantificateur existentiel soit vérifié, il faut juste trouver un cas qui fonctionne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Pour prouver qu'un quantificateur universel ne soit pas vérifié, il faut juste trouver un cas qui ne fonctionne pas.</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9729912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des prédicats – les quantificateurs et la négation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Il est possible d’exprimer les propositions par la négative: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t>
            </a:r>
            <a:r>
              <a:rPr lang="fr-FR" sz="2400" b="1" i="0" dirty="0">
                <a:solidFill>
                  <a:srgbClr val="202122"/>
                </a:solidFill>
                <a:effectLst/>
                <a:latin typeface="Arial" panose="020B0604020202020204" pitchFamily="34" charset="0"/>
              </a:rPr>
              <a:t> </a:t>
            </a:r>
            <a:r>
              <a:rPr lang="fr-FR" sz="2400" spc="-1" dirty="0">
                <a:solidFill>
                  <a:srgbClr val="376092"/>
                </a:solidFill>
                <a:latin typeface="Arial"/>
              </a:rPr>
              <a:t>∃ x ∈ R , x² &lt; 0 =&gt; ∀ x ∈ R, ¬ (x² &lt; 0)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t>
            </a:r>
            <a:r>
              <a:rPr lang="fr-FR" sz="2400" b="1" i="0" dirty="0">
                <a:solidFill>
                  <a:srgbClr val="202122"/>
                </a:solidFill>
                <a:effectLst/>
                <a:latin typeface="Arial" panose="020B0604020202020204" pitchFamily="34" charset="0"/>
              </a:rPr>
              <a:t> </a:t>
            </a:r>
            <a:r>
              <a:rPr lang="fr-FR" sz="2400" spc="-1" dirty="0">
                <a:solidFill>
                  <a:srgbClr val="376092"/>
                </a:solidFill>
                <a:latin typeface="Arial"/>
              </a:rPr>
              <a:t>∀ x ∈ N, x² &lt;&gt; x =&gt; ∃ x ∈ N, ¬ (x² &lt;&gt; x )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 négation est très intéressante pour déterminer la valeur d’une proposition. Pour cela nous partons du principe que soit une proposition est vraie, soit c’est sa négation qui est vraie.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 quantificateur ∀ demanderait de vérifier toutes les possibilités alors que le quantificateur ∃ ne demande qu’un seul exemple.</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0186437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des prédicats – les quantificateurs et la négation - Exemple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Prenons l’exemple suivant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N, x</a:t>
            </a:r>
            <a:r>
              <a:rPr lang="fr-FR" sz="2400" spc="-1" baseline="30000" dirty="0">
                <a:solidFill>
                  <a:srgbClr val="376092"/>
                </a:solidFill>
                <a:latin typeface="Arial"/>
              </a:rPr>
              <a:t>3</a:t>
            </a:r>
            <a:r>
              <a:rPr lang="fr-FR" sz="2400" spc="-1" dirty="0">
                <a:solidFill>
                  <a:srgbClr val="376092"/>
                </a:solidFill>
                <a:latin typeface="Arial"/>
              </a:rPr>
              <a:t> &lt;&gt; 27</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 négation de cet exemple est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 x ∈ N, x</a:t>
            </a:r>
            <a:r>
              <a:rPr lang="fr-FR" sz="2400" spc="-1" baseline="30000" dirty="0">
                <a:solidFill>
                  <a:srgbClr val="376092"/>
                </a:solidFill>
                <a:latin typeface="Arial"/>
              </a:rPr>
              <a:t>3</a:t>
            </a:r>
            <a:r>
              <a:rPr lang="fr-FR" sz="2400" spc="-1" dirty="0">
                <a:solidFill>
                  <a:srgbClr val="376092"/>
                </a:solidFill>
                <a:latin typeface="Arial"/>
              </a:rPr>
              <a:t> &lt;&gt; 27)</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N , ¬ ( x</a:t>
            </a:r>
            <a:r>
              <a:rPr lang="fr-FR" sz="2400" spc="-1" baseline="30000" dirty="0">
                <a:solidFill>
                  <a:srgbClr val="376092"/>
                </a:solidFill>
                <a:latin typeface="Arial"/>
              </a:rPr>
              <a:t>3</a:t>
            </a:r>
            <a:r>
              <a:rPr lang="fr-FR" sz="2400" spc="-1" dirty="0">
                <a:solidFill>
                  <a:srgbClr val="376092"/>
                </a:solidFill>
                <a:latin typeface="Arial"/>
              </a:rPr>
              <a:t> &lt;&gt; 27)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N , x</a:t>
            </a:r>
            <a:r>
              <a:rPr lang="fr-FR" sz="2400" spc="-1" baseline="30000" dirty="0">
                <a:solidFill>
                  <a:srgbClr val="376092"/>
                </a:solidFill>
                <a:latin typeface="Arial"/>
              </a:rPr>
              <a:t>3</a:t>
            </a:r>
            <a:r>
              <a:rPr lang="fr-FR" sz="2400" spc="-1" dirty="0">
                <a:solidFill>
                  <a:srgbClr val="376092"/>
                </a:solidFill>
                <a:latin typeface="Arial"/>
              </a:rPr>
              <a:t> = 27</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s’aperçoit qu’il existe bien x tel que x</a:t>
            </a:r>
            <a:r>
              <a:rPr lang="fr-FR" sz="2400" spc="-1" baseline="30000" dirty="0">
                <a:solidFill>
                  <a:srgbClr val="376092"/>
                </a:solidFill>
                <a:latin typeface="Arial"/>
              </a:rPr>
              <a:t>3</a:t>
            </a:r>
            <a:r>
              <a:rPr lang="fr-FR" sz="2400" spc="-1" dirty="0">
                <a:solidFill>
                  <a:srgbClr val="376092"/>
                </a:solidFill>
                <a:latin typeface="Arial"/>
              </a:rPr>
              <a:t> = 27 avec x = 3.</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Ceci nous confirme que la négation est vraie et que donc la première affirmation est fausse.</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9132745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des prédicats – les quantificateurs et la négation - Exemple :</a:t>
            </a:r>
            <a:endParaRPr lang="en-US" sz="3200" b="0" strike="noStrike" spc="-1" dirty="0">
              <a:solidFill>
                <a:srgbClr val="376092"/>
              </a:solidFill>
              <a:latin typeface="Arial"/>
            </a:endParaRPr>
          </a:p>
        </p:txBody>
      </p:sp>
      <p:sp>
        <p:nvSpPr>
          <p:cNvPr id="140" name="TextShape 2"/>
          <p:cNvSpPr txBox="1"/>
          <p:nvPr/>
        </p:nvSpPr>
        <p:spPr>
          <a:xfrm>
            <a:off x="457200" y="1588654"/>
            <a:ext cx="8229240" cy="4537105"/>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Donnons la négation des prédicats suivants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x² = x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x/3 = (1/3) * x</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(x+1)² = x² + 2x + 1</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x² + 1 &lt; 101</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 négation d'un prédicat est à la fois la négation du quantificateur et la négation de la proposition.</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929192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des prédicats – quantificateurs multiples :</a:t>
            </a:r>
            <a:endParaRPr lang="en-US" sz="3200" b="0" strike="noStrike" spc="-1" dirty="0">
              <a:solidFill>
                <a:srgbClr val="376092"/>
              </a:solidFill>
              <a:latin typeface="Arial"/>
            </a:endParaRPr>
          </a:p>
        </p:txBody>
      </p:sp>
      <p:sp>
        <p:nvSpPr>
          <p:cNvPr id="140" name="TextShape 2"/>
          <p:cNvSpPr txBox="1"/>
          <p:nvPr/>
        </p:nvSpPr>
        <p:spPr>
          <a:xfrm>
            <a:off x="457200" y="1491448"/>
            <a:ext cx="8229240" cy="4634311"/>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Il est possible de bâtir une proposition en utilisant plusieurs quantificateurs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 y ∈ R, x + 1 = y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Cette proposition se lit « pour tout x réel, il existe un y réel tel que x+1 = y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Attention l’ordre des quantificateurs est important quand ils ne sont pas de même nature. Voyons ce que donne la même proposition en inversant les quantificateurs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y ∈ R, ∀ x ∈ R, x + 1 = y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Si la proposition ne comporte que des ∃ ou que des ∀ alors l’ordre de ces quantificateurs n’a pas d’importance.</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8170175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des prédicats – quantificateurs multiples :</a:t>
            </a:r>
            <a:endParaRPr lang="en-US" sz="3200" b="0" strike="noStrike" spc="-1" dirty="0">
              <a:solidFill>
                <a:srgbClr val="376092"/>
              </a:solidFill>
              <a:latin typeface="Arial"/>
            </a:endParaRPr>
          </a:p>
        </p:txBody>
      </p:sp>
      <p:sp>
        <p:nvSpPr>
          <p:cNvPr id="140" name="TextShape 2"/>
          <p:cNvSpPr txBox="1"/>
          <p:nvPr/>
        </p:nvSpPr>
        <p:spPr>
          <a:xfrm>
            <a:off x="457200" y="1491448"/>
            <a:ext cx="8229240" cy="4634311"/>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Evaluons les expressions ci-dessous et donnons leur une valeur VRAI ou FAUX et un cas: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 y ∈ R, y = x-1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 y ∈ R, y = x-1</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 n ∈ N, x + </a:t>
            </a:r>
            <a:r>
              <a:rPr lang="fr-FR" sz="2400" spc="-1" dirty="0" err="1">
                <a:solidFill>
                  <a:srgbClr val="376092"/>
                </a:solidFill>
                <a:latin typeface="Arial"/>
              </a:rPr>
              <a:t>n.x</a:t>
            </a:r>
            <a:r>
              <a:rPr lang="fr-FR" sz="2400" spc="-1" dirty="0">
                <a:solidFill>
                  <a:srgbClr val="376092"/>
                </a:solidFill>
                <a:latin typeface="Arial"/>
              </a:rPr>
              <a:t> = (n + 1) . x</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 n ∈ N, x + </a:t>
            </a:r>
            <a:r>
              <a:rPr lang="fr-FR" sz="2400" spc="-1" dirty="0" err="1">
                <a:solidFill>
                  <a:srgbClr val="376092"/>
                </a:solidFill>
                <a:latin typeface="Arial"/>
              </a:rPr>
              <a:t>n.x</a:t>
            </a:r>
            <a:r>
              <a:rPr lang="fr-FR" sz="2400" spc="-1" dirty="0">
                <a:solidFill>
                  <a:srgbClr val="376092"/>
                </a:solidFill>
                <a:latin typeface="Arial"/>
              </a:rPr>
              <a:t> = (n + 1) . X</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n ∈ N, ∃ p ∈ N, (p – n) % 2 = 0</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n ∈ N, ∀ p ∈ N, (p – n) % 2 = 0</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Exprimer les quantificateurs en français pour vous aider. </a:t>
            </a: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2568364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des prédicats – négation et quantificateurs multiples :</a:t>
            </a:r>
            <a:endParaRPr lang="en-US" sz="3200" b="0" strike="noStrike" spc="-1" dirty="0">
              <a:solidFill>
                <a:srgbClr val="376092"/>
              </a:solidFill>
              <a:latin typeface="Arial"/>
            </a:endParaRPr>
          </a:p>
        </p:txBody>
      </p:sp>
      <p:sp>
        <p:nvSpPr>
          <p:cNvPr id="140" name="TextShape 2"/>
          <p:cNvSpPr txBox="1"/>
          <p:nvPr/>
        </p:nvSpPr>
        <p:spPr>
          <a:xfrm>
            <a:off x="457200" y="1491448"/>
            <a:ext cx="8229240" cy="4634311"/>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Pour obtenir la négation d’un prédicat avec des quantificateurs multiples on peut repousser la négation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N, ∃ y ∈ N, y = √x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Ce prédicat n’est pas vrai, ce qui veut dire que sa négation l’est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N, ∃ y ∈ N, y = √x)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N, ¬(∃ y ∈ N, y = √x)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N, ∀ y ∈ N, ¬(y = √x)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Pour inverser la proposition, il faut donc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Remplacer les ∃ par ∀ et inversement</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Remplacer le prédicat par sa négation</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7373644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des prédicats – quantificateurs multiples :</a:t>
            </a:r>
            <a:endParaRPr lang="en-US" sz="3200" b="0" strike="noStrike" spc="-1" dirty="0">
              <a:solidFill>
                <a:srgbClr val="376092"/>
              </a:solidFill>
              <a:latin typeface="Arial"/>
            </a:endParaRPr>
          </a:p>
        </p:txBody>
      </p:sp>
      <p:sp>
        <p:nvSpPr>
          <p:cNvPr id="140" name="TextShape 2"/>
          <p:cNvSpPr txBox="1"/>
          <p:nvPr/>
        </p:nvSpPr>
        <p:spPr>
          <a:xfrm>
            <a:off x="457200" y="1491448"/>
            <a:ext cx="8229240" cy="4634311"/>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Donnons la négation des prédicats suivants et donnons a cette négation une valeur VRAI ou FAUX et un cas: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 y ∈ R, y = x-1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 y ∈ R, y = x-1</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 n ∈ N, x + </a:t>
            </a:r>
            <a:r>
              <a:rPr lang="fr-FR" sz="2400" spc="-1" dirty="0" err="1">
                <a:solidFill>
                  <a:srgbClr val="376092"/>
                </a:solidFill>
                <a:latin typeface="Arial"/>
              </a:rPr>
              <a:t>n.x</a:t>
            </a:r>
            <a:r>
              <a:rPr lang="fr-FR" sz="2400" spc="-1" dirty="0">
                <a:solidFill>
                  <a:srgbClr val="376092"/>
                </a:solidFill>
                <a:latin typeface="Arial"/>
              </a:rPr>
              <a:t> = (n + 1) . x</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 n ∈ N, x + </a:t>
            </a:r>
            <a:r>
              <a:rPr lang="fr-FR" sz="2400" spc="-1" dirty="0" err="1">
                <a:solidFill>
                  <a:srgbClr val="376092"/>
                </a:solidFill>
                <a:latin typeface="Arial"/>
              </a:rPr>
              <a:t>n.x</a:t>
            </a:r>
            <a:r>
              <a:rPr lang="fr-FR" sz="2400" spc="-1" dirty="0">
                <a:solidFill>
                  <a:srgbClr val="376092"/>
                </a:solidFill>
                <a:latin typeface="Arial"/>
              </a:rPr>
              <a:t> = (n + 1) . X</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n ∈ N, ∃ p ∈ N, (p – n) % 2 = 0</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n ∈ N, ∀ p ∈ N, (p – n) % 2 = 0</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Exprimer les quantificateurs en français pour vous aider. </a:t>
            </a: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01491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9B631-CAFC-C7E4-417C-8DCEF8811B1C}"/>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EFA4D443-18DE-81ED-5107-9C0ADA6B9590}"/>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des prédicats – traduction :</a:t>
            </a:r>
            <a:endParaRPr lang="en-US" sz="3200" b="0" strike="noStrike" spc="-1" dirty="0">
              <a:solidFill>
                <a:srgbClr val="376092"/>
              </a:solidFill>
              <a:latin typeface="Arial"/>
            </a:endParaRPr>
          </a:p>
        </p:txBody>
      </p:sp>
      <p:sp>
        <p:nvSpPr>
          <p:cNvPr id="140" name="TextShape 2">
            <a:extLst>
              <a:ext uri="{FF2B5EF4-FFF2-40B4-BE49-F238E27FC236}">
                <a16:creationId xmlns:a16="http://schemas.microsoft.com/office/drawing/2014/main" id="{6B56AC93-2260-4857-846B-43A37C4631FC}"/>
              </a:ext>
            </a:extLst>
          </p:cNvPr>
          <p:cNvSpPr txBox="1"/>
          <p:nvPr/>
        </p:nvSpPr>
        <p:spPr>
          <a:xfrm>
            <a:off x="457200" y="1491448"/>
            <a:ext cx="8229240" cy="4634311"/>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Traduire sous forme de prédicats les phrases suivantes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Il existe un entier naturel inférieur ou égal à tout entier naturel</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Il existe un entier naturel supérieur ou égal à tout entier naturel</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Toute somme de deux nombres réels a pour carré la somme des carrés de ces deux nombres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Il existe un entier naturel qui est diviseur de tous les entiers naturels</a:t>
            </a: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61935F00-3BE0-D077-2C27-83EC72A7FD81}"/>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01313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TextShape 1"/>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a:solidFill>
                  <a:srgbClr val="376092"/>
                </a:solidFill>
                <a:latin typeface="Arial"/>
              </a:rPr>
              <a:t>Bilan de la journée</a:t>
            </a:r>
            <a:endParaRPr lang="en-US" sz="3200" b="0" strike="noStrike" spc="-1">
              <a:solidFill>
                <a:srgbClr val="376092"/>
              </a:solidFill>
              <a:latin typeface="Arial"/>
            </a:endParaRPr>
          </a:p>
        </p:txBody>
      </p:sp>
      <p:sp>
        <p:nvSpPr>
          <p:cNvPr id="186" name="TextShape 2"/>
          <p:cNvSpPr txBox="1"/>
          <p:nvPr/>
        </p:nvSpPr>
        <p:spPr>
          <a:xfrm>
            <a:off x="457200" y="1600200"/>
            <a:ext cx="8229240" cy="52538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Résumé des notions abordées.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Questions.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Difficultés particulières ?</a:t>
            </a:r>
            <a:endParaRPr lang="en-US" sz="2400" b="0" strike="noStrike" spc="-1" dirty="0">
              <a:solidFill>
                <a:srgbClr val="376092"/>
              </a:solidFill>
              <a:latin typeface="Arial"/>
            </a:endParaRPr>
          </a:p>
          <a:p>
            <a:pPr marL="1022400" lvl="2">
              <a:spcAft>
                <a:spcPts val="1060"/>
              </a:spcAft>
              <a:buClr>
                <a:srgbClr val="000000"/>
              </a:buClr>
              <a:buSzPct val="45000"/>
            </a:pPr>
            <a:r>
              <a:rPr lang="fr-FR" sz="2400" spc="-1" dirty="0">
                <a:solidFill>
                  <a:srgbClr val="376092"/>
                </a:solidFill>
                <a:latin typeface="Arial"/>
              </a:rPr>
              <a:t>				</a:t>
            </a:r>
            <a:endParaRPr lang="en-US" sz="2400" b="0" strike="noStrike" spc="-1" dirty="0">
              <a:solidFill>
                <a:srgbClr val="376092"/>
              </a:solidFill>
              <a:latin typeface="Arial"/>
            </a:endParaRPr>
          </a:p>
          <a:p>
            <a:pPr marL="1296000" lvl="2"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6972</TotalTime>
  <Words>2185</Words>
  <Application>Microsoft Office PowerPoint</Application>
  <PresentationFormat>Affichage à l'écran (4:3)</PresentationFormat>
  <Paragraphs>408</Paragraphs>
  <Slides>25</Slides>
  <Notes>0</Notes>
  <HiddenSlides>0</HiddenSlides>
  <MMClips>0</MMClips>
  <ScaleCrop>false</ScaleCrop>
  <HeadingPairs>
    <vt:vector size="8" baseType="variant">
      <vt:variant>
        <vt:lpstr>Polices utilisées</vt:lpstr>
      </vt:variant>
      <vt:variant>
        <vt:i4>6</vt:i4>
      </vt:variant>
      <vt:variant>
        <vt:lpstr>Thème</vt:lpstr>
      </vt:variant>
      <vt:variant>
        <vt:i4>3</vt:i4>
      </vt:variant>
      <vt:variant>
        <vt:lpstr>Serveurs OLE incorporés</vt:lpstr>
      </vt:variant>
      <vt:variant>
        <vt:i4>1</vt:i4>
      </vt:variant>
      <vt:variant>
        <vt:lpstr>Titres des diapositives</vt:lpstr>
      </vt:variant>
      <vt:variant>
        <vt:i4>25</vt:i4>
      </vt:variant>
    </vt:vector>
  </HeadingPairs>
  <TitlesOfParts>
    <vt:vector size="35" baseType="lpstr">
      <vt:lpstr>Arial</vt:lpstr>
      <vt:lpstr>Calibri</vt:lpstr>
      <vt:lpstr>Cambria Math</vt:lpstr>
      <vt:lpstr>Symbol</vt:lpstr>
      <vt:lpstr>Times New Roman</vt:lpstr>
      <vt:lpstr>Wingdings</vt:lpstr>
      <vt:lpstr>Office Theme</vt:lpstr>
      <vt:lpstr>Office Theme</vt:lpstr>
      <vt:lpstr>Office Theme</vt:lpstr>
      <vt:lpstr>Worksheet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1-0020 - Template - Clean Wavy (blue)</dc:title>
  <dc:subject/>
  <dc:creator/>
  <dc:description>Free template released by Showeet.</dc:description>
  <cp:lastModifiedBy>SCHLEGEL Philippe</cp:lastModifiedBy>
  <cp:revision>290</cp:revision>
  <dcterms:created xsi:type="dcterms:W3CDTF">2012-01-17T22:15:29Z</dcterms:created>
  <dcterms:modified xsi:type="dcterms:W3CDTF">2025-01-31T14:43:32Z</dcterms:modified>
  <dc:language>fr-FR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ategory">
    <vt:lpwstr>Templates</vt:lpwstr>
  </property>
  <property fmtid="{D5CDD505-2E9C-101B-9397-08002B2CF9AE}" pid="3" name="Conditions of use">
    <vt:lpwstr>http://creativecommons.org/licenses/by-nd/3.0/</vt:lpwstr>
  </property>
  <property fmtid="{D5CDD505-2E9C-101B-9397-08002B2CF9AE}" pid="4" name="Copyright">
    <vt:lpwstr>© Copyright Showeet.com</vt:lpwstr>
  </property>
  <property fmtid="{D5CDD505-2E9C-101B-9397-08002B2CF9AE}" pid="5" name="ID">
    <vt:lpwstr>#1-0020</vt:lpwstr>
  </property>
  <property fmtid="{D5CDD505-2E9C-101B-9397-08002B2CF9AE}" pid="6" name="Source">
    <vt:lpwstr>http://www.showeet.com</vt:lpwstr>
  </property>
</Properties>
</file>