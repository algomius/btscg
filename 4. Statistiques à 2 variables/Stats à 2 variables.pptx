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30"/>
  </p:notesMasterIdLst>
  <p:sldIdLst>
    <p:sldId id="256" r:id="rId4"/>
    <p:sldId id="343" r:id="rId5"/>
    <p:sldId id="421" r:id="rId6"/>
    <p:sldId id="410" r:id="rId7"/>
    <p:sldId id="412" r:id="rId8"/>
    <p:sldId id="422" r:id="rId9"/>
    <p:sldId id="423" r:id="rId10"/>
    <p:sldId id="424" r:id="rId11"/>
    <p:sldId id="436" r:id="rId12"/>
    <p:sldId id="425" r:id="rId13"/>
    <p:sldId id="426" r:id="rId14"/>
    <p:sldId id="427" r:id="rId15"/>
    <p:sldId id="428" r:id="rId16"/>
    <p:sldId id="429" r:id="rId17"/>
    <p:sldId id="414" r:id="rId18"/>
    <p:sldId id="415" r:id="rId19"/>
    <p:sldId id="430" r:id="rId20"/>
    <p:sldId id="416" r:id="rId21"/>
    <p:sldId id="417" r:id="rId22"/>
    <p:sldId id="431" r:id="rId23"/>
    <p:sldId id="418" r:id="rId24"/>
    <p:sldId id="432" r:id="rId25"/>
    <p:sldId id="433" r:id="rId26"/>
    <p:sldId id="434" r:id="rId27"/>
    <p:sldId id="435" r:id="rId28"/>
    <p:sldId id="281" r:id="rId29"/>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2" autoAdjust="0"/>
  </p:normalViewPr>
  <p:slideViewPr>
    <p:cSldViewPr snapToGrid="0">
      <p:cViewPr varScale="1">
        <p:scale>
          <a:sx n="106" d="100"/>
          <a:sy n="106" d="100"/>
        </p:scale>
        <p:origin x="1764" y="96"/>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8"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Classeur1"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Répartition des notes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strRef>
              <c:f>Feuil1!$A$3</c:f>
              <c:strCache>
                <c:ptCount val="1"/>
                <c:pt idx="0">
                  <c:v>Gestion </c:v>
                </c:pt>
              </c:strCache>
            </c:strRef>
          </c:tx>
          <c:spPr>
            <a:ln w="38100" cap="rnd">
              <a:noFill/>
              <a:round/>
            </a:ln>
            <a:effectLst/>
          </c:spPr>
          <c:marker>
            <c:symbol val="circle"/>
            <c:size val="5"/>
            <c:spPr>
              <a:solidFill>
                <a:schemeClr val="accent1"/>
              </a:solidFill>
              <a:ln w="9525">
                <a:solidFill>
                  <a:schemeClr val="accent1"/>
                </a:solidFill>
              </a:ln>
              <a:effectLst/>
            </c:spPr>
          </c:marker>
          <c:xVal>
            <c:numRef>
              <c:f>Feuil1!$B$2:$G$2</c:f>
              <c:numCache>
                <c:formatCode>General</c:formatCode>
                <c:ptCount val="6"/>
                <c:pt idx="0">
                  <c:v>15</c:v>
                </c:pt>
                <c:pt idx="1">
                  <c:v>13</c:v>
                </c:pt>
                <c:pt idx="2">
                  <c:v>17</c:v>
                </c:pt>
                <c:pt idx="3">
                  <c:v>3</c:v>
                </c:pt>
                <c:pt idx="4">
                  <c:v>5</c:v>
                </c:pt>
                <c:pt idx="5">
                  <c:v>10</c:v>
                </c:pt>
              </c:numCache>
            </c:numRef>
          </c:xVal>
          <c:yVal>
            <c:numRef>
              <c:f>Feuil1!$B$3:$G$3</c:f>
              <c:numCache>
                <c:formatCode>General</c:formatCode>
                <c:ptCount val="6"/>
                <c:pt idx="0">
                  <c:v>7</c:v>
                </c:pt>
                <c:pt idx="1">
                  <c:v>14</c:v>
                </c:pt>
                <c:pt idx="2">
                  <c:v>16</c:v>
                </c:pt>
                <c:pt idx="3">
                  <c:v>17</c:v>
                </c:pt>
                <c:pt idx="4">
                  <c:v>8</c:v>
                </c:pt>
                <c:pt idx="5">
                  <c:v>11</c:v>
                </c:pt>
              </c:numCache>
            </c:numRef>
          </c:yVal>
          <c:smooth val="0"/>
          <c:extLst>
            <c:ext xmlns:c16="http://schemas.microsoft.com/office/drawing/2014/chart" uri="{C3380CC4-5D6E-409C-BE32-E72D297353CC}">
              <c16:uniqueId val="{00000000-7DA1-49E7-8CF3-7269475757F0}"/>
            </c:ext>
          </c:extLst>
        </c:ser>
        <c:dLbls>
          <c:showLegendKey val="0"/>
          <c:showVal val="0"/>
          <c:showCatName val="0"/>
          <c:showSerName val="0"/>
          <c:showPercent val="0"/>
          <c:showBubbleSize val="0"/>
        </c:dLbls>
        <c:axId val="1138872576"/>
        <c:axId val="1138894176"/>
      </c:scatterChart>
      <c:valAx>
        <c:axId val="113887257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138894176"/>
        <c:crosses val="autoZero"/>
        <c:crossBetween val="midCat"/>
      </c:valAx>
      <c:valAx>
        <c:axId val="11388941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138872576"/>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Note au final/note sur l'année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strRef>
              <c:f>Feuil1!$B$58</c:f>
              <c:strCache>
                <c:ptCount val="1"/>
                <c:pt idx="0">
                  <c:v>Note au final</c:v>
                </c:pt>
              </c:strCache>
            </c:strRef>
          </c:tx>
          <c:spPr>
            <a:ln w="19050" cap="rnd">
              <a:noFill/>
              <a:round/>
            </a:ln>
            <a:effectLst/>
          </c:spPr>
          <c:marker>
            <c:symbol val="circle"/>
            <c:size val="5"/>
            <c:spPr>
              <a:solidFill>
                <a:schemeClr val="accent1"/>
              </a:solidFill>
              <a:ln w="9525">
                <a:solidFill>
                  <a:schemeClr val="accent1"/>
                </a:solidFill>
              </a:ln>
              <a:effectLst/>
            </c:spPr>
          </c:marker>
          <c:xVal>
            <c:numRef>
              <c:f>Feuil1!$C$57:$L$57</c:f>
              <c:numCache>
                <c:formatCode>General</c:formatCode>
                <c:ptCount val="10"/>
                <c:pt idx="0">
                  <c:v>13</c:v>
                </c:pt>
                <c:pt idx="1">
                  <c:v>14</c:v>
                </c:pt>
                <c:pt idx="2">
                  <c:v>12</c:v>
                </c:pt>
                <c:pt idx="3">
                  <c:v>18</c:v>
                </c:pt>
                <c:pt idx="4">
                  <c:v>5</c:v>
                </c:pt>
                <c:pt idx="5">
                  <c:v>10</c:v>
                </c:pt>
                <c:pt idx="6">
                  <c:v>14</c:v>
                </c:pt>
                <c:pt idx="7">
                  <c:v>8</c:v>
                </c:pt>
                <c:pt idx="8">
                  <c:v>13</c:v>
                </c:pt>
                <c:pt idx="9">
                  <c:v>3</c:v>
                </c:pt>
              </c:numCache>
            </c:numRef>
          </c:xVal>
          <c:yVal>
            <c:numRef>
              <c:f>Feuil1!$C$58:$L$58</c:f>
              <c:numCache>
                <c:formatCode>General</c:formatCode>
                <c:ptCount val="10"/>
                <c:pt idx="0">
                  <c:v>14</c:v>
                </c:pt>
                <c:pt idx="1">
                  <c:v>13</c:v>
                </c:pt>
                <c:pt idx="2">
                  <c:v>11</c:v>
                </c:pt>
                <c:pt idx="3">
                  <c:v>17</c:v>
                </c:pt>
                <c:pt idx="4">
                  <c:v>3</c:v>
                </c:pt>
                <c:pt idx="5">
                  <c:v>11</c:v>
                </c:pt>
                <c:pt idx="6">
                  <c:v>16</c:v>
                </c:pt>
                <c:pt idx="7">
                  <c:v>7</c:v>
                </c:pt>
                <c:pt idx="8">
                  <c:v>13</c:v>
                </c:pt>
                <c:pt idx="9">
                  <c:v>2</c:v>
                </c:pt>
              </c:numCache>
            </c:numRef>
          </c:yVal>
          <c:smooth val="0"/>
          <c:extLst>
            <c:ext xmlns:c16="http://schemas.microsoft.com/office/drawing/2014/chart" uri="{C3380CC4-5D6E-409C-BE32-E72D297353CC}">
              <c16:uniqueId val="{00000000-2014-4B46-AD6F-8CFDB37D084F}"/>
            </c:ext>
          </c:extLst>
        </c:ser>
        <c:dLbls>
          <c:showLegendKey val="0"/>
          <c:showVal val="0"/>
          <c:showCatName val="0"/>
          <c:showSerName val="0"/>
          <c:showPercent val="0"/>
          <c:showBubbleSize val="0"/>
        </c:dLbls>
        <c:axId val="1399554352"/>
        <c:axId val="1399557264"/>
      </c:scatterChart>
      <c:valAx>
        <c:axId val="13995543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99557264"/>
        <c:crosses val="autoZero"/>
        <c:crossBetween val="midCat"/>
      </c:valAx>
      <c:valAx>
        <c:axId val="1399557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9955435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strRef>
              <c:f>'Changement de variable'!$A$2</c:f>
              <c:strCache>
                <c:ptCount val="1"/>
                <c:pt idx="0">
                  <c:v>Nombre de salariés (y)</c:v>
                </c:pt>
              </c:strCache>
            </c:strRef>
          </c:tx>
          <c:spPr>
            <a:ln w="38100" cap="rnd">
              <a:noFill/>
              <a:round/>
            </a:ln>
            <a:effectLst/>
          </c:spPr>
          <c:marker>
            <c:symbol val="circle"/>
            <c:size val="5"/>
            <c:spPr>
              <a:solidFill>
                <a:schemeClr val="accent1"/>
              </a:solidFill>
              <a:ln w="9525">
                <a:solidFill>
                  <a:schemeClr val="accent1"/>
                </a:solidFill>
              </a:ln>
              <a:effectLst/>
            </c:spPr>
          </c:marker>
          <c:xVal>
            <c:numRef>
              <c:f>'Changement de variable'!$B$1:$K$1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'Changement de variable'!$B$2:$K$2</c:f>
              <c:numCache>
                <c:formatCode>General</c:formatCode>
                <c:ptCount val="10"/>
                <c:pt idx="0">
                  <c:v>18</c:v>
                </c:pt>
                <c:pt idx="1">
                  <c:v>30</c:v>
                </c:pt>
                <c:pt idx="2">
                  <c:v>45</c:v>
                </c:pt>
                <c:pt idx="3">
                  <c:v>73</c:v>
                </c:pt>
                <c:pt idx="4">
                  <c:v>115</c:v>
                </c:pt>
                <c:pt idx="5">
                  <c:v>180</c:v>
                </c:pt>
                <c:pt idx="6">
                  <c:v>280.03277497131251</c:v>
                </c:pt>
                <c:pt idx="7">
                  <c:v>440</c:v>
                </c:pt>
                <c:pt idx="8">
                  <c:v>680</c:v>
                </c:pt>
                <c:pt idx="9">
                  <c:v>1080.2055756062618</c:v>
                </c:pt>
              </c:numCache>
            </c:numRef>
          </c:yVal>
          <c:smooth val="0"/>
          <c:extLst>
            <c:ext xmlns:c16="http://schemas.microsoft.com/office/drawing/2014/chart" uri="{C3380CC4-5D6E-409C-BE32-E72D297353CC}">
              <c16:uniqueId val="{00000000-83BE-4D2C-AB73-35CC9A56A135}"/>
            </c:ext>
          </c:extLst>
        </c:ser>
        <c:dLbls>
          <c:showLegendKey val="0"/>
          <c:showVal val="0"/>
          <c:showCatName val="0"/>
          <c:showSerName val="0"/>
          <c:showPercent val="0"/>
          <c:showBubbleSize val="0"/>
        </c:dLbls>
        <c:axId val="641236847"/>
        <c:axId val="641239727"/>
      </c:scatterChart>
      <c:valAx>
        <c:axId val="64123684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641239727"/>
        <c:crosses val="autoZero"/>
        <c:crossBetween val="midCat"/>
      </c:valAx>
      <c:valAx>
        <c:axId val="6412397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641236847"/>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layout>
        <c:manualLayout>
          <c:xMode val="edge"/>
          <c:yMode val="edge"/>
          <c:x val="0.36580555555555555"/>
          <c:y val="3.703703703703703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strRef>
              <c:f>'Changement de variable'!$A$3</c:f>
              <c:strCache>
                <c:ptCount val="1"/>
                <c:pt idx="0">
                  <c:v>Changement (z)</c:v>
                </c:pt>
              </c:strCache>
            </c:strRef>
          </c:tx>
          <c:spPr>
            <a:ln w="38100" cap="rnd">
              <a:noFill/>
              <a:round/>
            </a:ln>
            <a:effectLst/>
          </c:spPr>
          <c:marker>
            <c:symbol val="circle"/>
            <c:size val="5"/>
            <c:spPr>
              <a:solidFill>
                <a:schemeClr val="accent1"/>
              </a:solidFill>
              <a:ln w="9525">
                <a:solidFill>
                  <a:schemeClr val="accent1"/>
                </a:solidFill>
              </a:ln>
              <a:effectLst/>
            </c:spPr>
          </c:marker>
          <c:xVal>
            <c:numRef>
              <c:f>'Changement de variable'!$B$1:$K$1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'Changement de variable'!$B$3:$K$3</c:f>
              <c:numCache>
                <c:formatCode>General</c:formatCode>
                <c:ptCount val="10"/>
                <c:pt idx="0">
                  <c:v>2.8903717578961645</c:v>
                </c:pt>
                <c:pt idx="1">
                  <c:v>3.4011973816621555</c:v>
                </c:pt>
                <c:pt idx="2">
                  <c:v>3.8066624897703196</c:v>
                </c:pt>
                <c:pt idx="3">
                  <c:v>4.290459441148391</c:v>
                </c:pt>
                <c:pt idx="4">
                  <c:v>4.7449321283632502</c:v>
                </c:pt>
                <c:pt idx="5">
                  <c:v>5.1929568508902104</c:v>
                </c:pt>
                <c:pt idx="6">
                  <c:v>5.6349066497880003</c:v>
                </c:pt>
                <c:pt idx="7">
                  <c:v>6.0867747269123065</c:v>
                </c:pt>
                <c:pt idx="8">
                  <c:v>6.522092798170152</c:v>
                </c:pt>
                <c:pt idx="9">
                  <c:v>6.9849066497880008</c:v>
                </c:pt>
              </c:numCache>
            </c:numRef>
          </c:yVal>
          <c:smooth val="0"/>
          <c:extLst>
            <c:ext xmlns:c16="http://schemas.microsoft.com/office/drawing/2014/chart" uri="{C3380CC4-5D6E-409C-BE32-E72D297353CC}">
              <c16:uniqueId val="{00000000-F5DC-452F-8164-C7F0D25DFC2E}"/>
            </c:ext>
          </c:extLst>
        </c:ser>
        <c:dLbls>
          <c:showLegendKey val="0"/>
          <c:showVal val="0"/>
          <c:showCatName val="0"/>
          <c:showSerName val="0"/>
          <c:showPercent val="0"/>
          <c:showBubbleSize val="0"/>
        </c:dLbls>
        <c:axId val="521277503"/>
        <c:axId val="521274143"/>
      </c:scatterChart>
      <c:valAx>
        <c:axId val="52127750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21274143"/>
        <c:crosses val="autoZero"/>
        <c:crossBetween val="midCat"/>
      </c:valAx>
      <c:valAx>
        <c:axId val="5212741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2127750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10/03/2025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xlsx"/><Relationship Id="rId1" Type="http://schemas.openxmlformats.org/officeDocument/2006/relationships/slideLayout" Target="../slideLayouts/slideLayout15.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xlsx"/><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6.png"/><Relationship Id="rId1" Type="http://schemas.openxmlformats.org/officeDocument/2006/relationships/slideLayout" Target="../slideLayouts/slideLayout15.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5.png"/><Relationship Id="rId1" Type="http://schemas.openxmlformats.org/officeDocument/2006/relationships/slideLayout" Target="../slideLayouts/slideLayout15.xml"/><Relationship Id="rId4" Type="http://schemas.openxmlformats.org/officeDocument/2006/relationships/image" Target="../media/image14.emf"/></Relationships>
</file>

<file path=ppt/slides/_rels/slide1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package" Target="../embeddings/Microsoft_Excel_Worksheet2.xlsx"/><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7.emf"/><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Statistiques</a:t>
            </a:r>
            <a:br>
              <a:rPr dirty="0"/>
            </a:br>
            <a:r>
              <a:rPr lang="fr-FR" sz="4400" spc="-1" dirty="0">
                <a:solidFill>
                  <a:srgbClr val="376092"/>
                </a:solidFill>
                <a:latin typeface="Arial"/>
              </a:rPr>
              <a:t>Statistiques à 2 variables</a:t>
            </a:r>
            <a:endParaRPr lang="en-US" sz="4400"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Statistiques à 2 variables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Qu'est-ce qu'une </a:t>
            </a:r>
            <a:r>
              <a:rPr lang="fr-FR" sz="2400" spc="-1" dirty="0">
                <a:solidFill>
                  <a:srgbClr val="376092"/>
                </a:solidFill>
                <a:latin typeface="Arial"/>
              </a:rPr>
              <a:t>s</a:t>
            </a:r>
            <a:r>
              <a:rPr lang="fr-FR" sz="2400" b="0" strike="noStrike" spc="-1" dirty="0">
                <a:solidFill>
                  <a:srgbClr val="376092"/>
                </a:solidFill>
                <a:latin typeface="Arial"/>
              </a:rPr>
              <a:t>érie statistique à 2 variables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Représenter </a:t>
            </a:r>
            <a:r>
              <a:rPr lang="fr-FR" sz="2400" b="0" strike="noStrike" spc="-1" dirty="0">
                <a:solidFill>
                  <a:srgbClr val="376092"/>
                </a:solidFill>
                <a:latin typeface="Arial"/>
              </a:rPr>
              <a:t>une </a:t>
            </a:r>
            <a:r>
              <a:rPr lang="fr-FR" sz="2400" spc="-1" dirty="0">
                <a:solidFill>
                  <a:srgbClr val="376092"/>
                </a:solidFill>
                <a:latin typeface="Arial"/>
              </a:rPr>
              <a:t>s</a:t>
            </a:r>
            <a:r>
              <a:rPr lang="fr-FR" sz="2400" b="0" strike="noStrike" spc="-1" dirty="0">
                <a:solidFill>
                  <a:srgbClr val="376092"/>
                </a:solidFill>
                <a:latin typeface="Arial"/>
              </a:rPr>
              <a:t>érie statistique à 2 variables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un point moyen</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Ajustement affine graphique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Méthode des moindres carrés</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Coefficient de corrélation linéaire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Droite d'ajustement par changement de variable</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Cas concrets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Questions</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0EE95-04D5-7277-A138-375D0365C69C}"/>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773D14D0-9666-8216-ECAB-82131A70AD18}"/>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Qu'est-ce qu'une </a:t>
            </a:r>
            <a:r>
              <a:rPr lang="fr-FR" sz="3200" spc="-1" dirty="0">
                <a:solidFill>
                  <a:srgbClr val="376092"/>
                </a:solidFill>
                <a:latin typeface="Arial"/>
              </a:rPr>
              <a:t>s</a:t>
            </a:r>
            <a:r>
              <a:rPr lang="fr-FR" sz="3200" b="0" strike="noStrike" spc="-1" dirty="0">
                <a:solidFill>
                  <a:srgbClr val="376092"/>
                </a:solidFill>
                <a:latin typeface="Arial"/>
              </a:rPr>
              <a:t>érie statistique à 2 variables ?</a:t>
            </a:r>
          </a:p>
          <a:p>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08F7FE33-D1EA-CD85-89F8-C6ED1A9E3411}"/>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Il arrive que l'on veuille observer conjointement deux caractères statistiques pour déterminer s'il existe une corrélation.</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Prix au m² dans l'immobilier</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Prix d'une pièce par rapport à sa longévité</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Rapport entre la taille et l'âge des enfants de moins de 20 ans.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chaque individu on relève la valeur de deux caractères et on obtient donc des couples que l'on peut présenter sous forme de tableau et de graphique en nuage de points.</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spTree>
    <p:extLst>
      <p:ext uri="{BB962C8B-B14F-4D97-AF65-F5344CB8AC3E}">
        <p14:creationId xmlns:p14="http://schemas.microsoft.com/office/powerpoint/2010/main" val="1280126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Représenter une </a:t>
            </a:r>
            <a:r>
              <a:rPr lang="fr-FR" sz="3200" spc="-1" dirty="0">
                <a:solidFill>
                  <a:srgbClr val="376092"/>
                </a:solidFill>
                <a:latin typeface="Arial"/>
              </a:rPr>
              <a:t>s</a:t>
            </a:r>
            <a:r>
              <a:rPr lang="fr-FR" sz="3200" b="0" strike="noStrike" spc="-1" dirty="0">
                <a:solidFill>
                  <a:srgbClr val="376092"/>
                </a:solidFill>
                <a:latin typeface="Arial"/>
              </a:rPr>
              <a:t>érie statistique à 2 variables ?</a:t>
            </a:r>
          </a:p>
          <a:p>
            <a:endParaRPr lang="en-US" sz="3200" b="0" strike="noStrike" spc="-1" dirty="0">
              <a:solidFill>
                <a:srgbClr val="376092"/>
              </a:solidFill>
              <a:latin typeface="Arial"/>
            </a:endParaRPr>
          </a:p>
        </p:txBody>
      </p:sp>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Imaginons les notes en comptabilité et en gestion des étudiants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Représentons ces deux séries dans un repère orthonormé</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Utilisons Excel pour avoir une représentation graphique de ces données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graphicFrame>
        <p:nvGraphicFramePr>
          <p:cNvPr id="2" name="Objet 1">
            <a:extLst>
              <a:ext uri="{FF2B5EF4-FFF2-40B4-BE49-F238E27FC236}">
                <a16:creationId xmlns:a16="http://schemas.microsoft.com/office/drawing/2014/main" id="{EA10D45F-C2C0-A86F-F2C7-F0D25E65F033}"/>
              </a:ext>
            </a:extLst>
          </p:cNvPr>
          <p:cNvGraphicFramePr>
            <a:graphicFrameLocks noChangeAspect="1"/>
          </p:cNvGraphicFramePr>
          <p:nvPr>
            <p:extLst>
              <p:ext uri="{D42A27DB-BD31-4B8C-83A1-F6EECF244321}">
                <p14:modId xmlns:p14="http://schemas.microsoft.com/office/powerpoint/2010/main" val="3934783494"/>
              </p:ext>
            </p:extLst>
          </p:nvPr>
        </p:nvGraphicFramePr>
        <p:xfrm>
          <a:off x="1240775" y="2144787"/>
          <a:ext cx="5876925" cy="1009650"/>
        </p:xfrm>
        <a:graphic>
          <a:graphicData uri="http://schemas.openxmlformats.org/presentationml/2006/ole">
            <mc:AlternateContent xmlns:mc="http://schemas.openxmlformats.org/markup-compatibility/2006">
              <mc:Choice xmlns:v="urn:schemas-microsoft-com:vml" Requires="v">
                <p:oleObj name="Worksheet" r:id="rId2" imgW="5877082" imgH="1009741" progId="Excel.Sheet.12">
                  <p:embed/>
                </p:oleObj>
              </mc:Choice>
              <mc:Fallback>
                <p:oleObj name="Worksheet" r:id="rId2" imgW="5877082" imgH="1009741" progId="Excel.Sheet.12">
                  <p:embed/>
                  <p:pic>
                    <p:nvPicPr>
                      <p:cNvPr id="0" name=""/>
                      <p:cNvPicPr/>
                      <p:nvPr/>
                    </p:nvPicPr>
                    <p:blipFill>
                      <a:blip r:embed="rId3"/>
                      <a:stretch>
                        <a:fillRect/>
                      </a:stretch>
                    </p:blipFill>
                    <p:spPr>
                      <a:xfrm>
                        <a:off x="1240775" y="2144787"/>
                        <a:ext cx="5876925" cy="1009650"/>
                      </a:xfrm>
                      <a:prstGeom prst="rect">
                        <a:avLst/>
                      </a:prstGeom>
                    </p:spPr>
                  </p:pic>
                </p:oleObj>
              </mc:Fallback>
            </mc:AlternateContent>
          </a:graphicData>
        </a:graphic>
      </p:graphicFrame>
      <p:graphicFrame>
        <p:nvGraphicFramePr>
          <p:cNvPr id="3" name="Graphique 2">
            <a:extLst>
              <a:ext uri="{FF2B5EF4-FFF2-40B4-BE49-F238E27FC236}">
                <a16:creationId xmlns:a16="http://schemas.microsoft.com/office/drawing/2014/main" id="{F3C3C645-C4D4-3F26-2C18-E4F4C85E1138}"/>
              </a:ext>
            </a:extLst>
          </p:cNvPr>
          <p:cNvGraphicFramePr>
            <a:graphicFrameLocks/>
          </p:cNvGraphicFramePr>
          <p:nvPr>
            <p:extLst>
              <p:ext uri="{D42A27DB-BD31-4B8C-83A1-F6EECF244321}">
                <p14:modId xmlns:p14="http://schemas.microsoft.com/office/powerpoint/2010/main" val="2583171753"/>
              </p:ext>
            </p:extLst>
          </p:nvPr>
        </p:nvGraphicFramePr>
        <p:xfrm>
          <a:off x="3468214" y="4093321"/>
          <a:ext cx="2207211" cy="212944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9969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Calculer un point moyen </a:t>
            </a:r>
          </a:p>
          <a:p>
            <a:endParaRPr lang="en-US" sz="3200" b="0" strike="noStrike" spc="-1" dirty="0">
              <a:solidFill>
                <a:srgbClr val="376092"/>
              </a:solidFill>
              <a:latin typeface="Arial"/>
            </a:endParaRPr>
          </a:p>
        </p:txBody>
      </p:sp>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chacune des lignes nous pouvons calculer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moyenne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médiane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variance et l'écart type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 point moyen permet de déterminer un point représentatif de la moyenne sur les deux variables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s'agit d'un point de coordonnée (x, y) avec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x = moyenne de la série sur l'axe des abscisses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y = moyenne de la série sur l'axe des ordonnées</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graphicFrame>
        <p:nvGraphicFramePr>
          <p:cNvPr id="3" name="Objet 2">
            <a:extLst>
              <a:ext uri="{FF2B5EF4-FFF2-40B4-BE49-F238E27FC236}">
                <a16:creationId xmlns:a16="http://schemas.microsoft.com/office/drawing/2014/main" id="{44F851A3-92A6-6262-87A3-6CBCFC6AD599}"/>
              </a:ext>
            </a:extLst>
          </p:cNvPr>
          <p:cNvGraphicFramePr>
            <a:graphicFrameLocks noChangeAspect="1"/>
          </p:cNvGraphicFramePr>
          <p:nvPr>
            <p:extLst>
              <p:ext uri="{D42A27DB-BD31-4B8C-83A1-F6EECF244321}">
                <p14:modId xmlns:p14="http://schemas.microsoft.com/office/powerpoint/2010/main" val="200525504"/>
              </p:ext>
            </p:extLst>
          </p:nvPr>
        </p:nvGraphicFramePr>
        <p:xfrm>
          <a:off x="1142585" y="1269506"/>
          <a:ext cx="5876925" cy="1009650"/>
        </p:xfrm>
        <a:graphic>
          <a:graphicData uri="http://schemas.openxmlformats.org/presentationml/2006/ole">
            <mc:AlternateContent xmlns:mc="http://schemas.openxmlformats.org/markup-compatibility/2006">
              <mc:Choice xmlns:v="urn:schemas-microsoft-com:vml" Requires="v">
                <p:oleObj name="Worksheet" r:id="rId2" imgW="5877082" imgH="1009741" progId="Excel.Sheet.12">
                  <p:embed/>
                </p:oleObj>
              </mc:Choice>
              <mc:Fallback>
                <p:oleObj name="Worksheet" r:id="rId2" imgW="5877082" imgH="1009741" progId="Excel.Sheet.12">
                  <p:embed/>
                  <p:pic>
                    <p:nvPicPr>
                      <p:cNvPr id="2" name="Objet 1">
                        <a:extLst>
                          <a:ext uri="{FF2B5EF4-FFF2-40B4-BE49-F238E27FC236}">
                            <a16:creationId xmlns:a16="http://schemas.microsoft.com/office/drawing/2014/main" id="{EA10D45F-C2C0-A86F-F2C7-F0D25E65F033}"/>
                          </a:ext>
                        </a:extLst>
                      </p:cNvPr>
                      <p:cNvPicPr/>
                      <p:nvPr/>
                    </p:nvPicPr>
                    <p:blipFill>
                      <a:blip r:embed="rId3"/>
                      <a:stretch>
                        <a:fillRect/>
                      </a:stretch>
                    </p:blipFill>
                    <p:spPr>
                      <a:xfrm>
                        <a:off x="1142585" y="1269506"/>
                        <a:ext cx="5876925" cy="1009650"/>
                      </a:xfrm>
                      <a:prstGeom prst="rect">
                        <a:avLst/>
                      </a:prstGeom>
                    </p:spPr>
                  </p:pic>
                </p:oleObj>
              </mc:Fallback>
            </mc:AlternateContent>
          </a:graphicData>
        </a:graphic>
      </p:graphicFrame>
    </p:spTree>
    <p:extLst>
      <p:ext uri="{BB962C8B-B14F-4D97-AF65-F5344CB8AC3E}">
        <p14:creationId xmlns:p14="http://schemas.microsoft.com/office/powerpoint/2010/main" val="1030590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21B48-CB3E-9FF7-E541-18FF73B7B429}"/>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C23EA8AD-86C1-B8D2-8F4A-893C90CCADDA}"/>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Calculer un point moyen </a:t>
            </a:r>
          </a:p>
          <a:p>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3AC67705-C77A-4C38-992B-34D6A43A7143}"/>
                  </a:ext>
                </a:extLst>
              </p:cNvPr>
              <p:cNvSpPr txBox="1"/>
              <p:nvPr/>
            </p:nvSpPr>
            <p:spPr>
              <a:xfrm>
                <a:off x="457200" y="1269506"/>
                <a:ext cx="8229240" cy="4856253"/>
              </a:xfrm>
              <a:prstGeom prst="rect">
                <a:avLst/>
              </a:prstGeom>
              <a:noFill/>
              <a:ln w="0">
                <a:noFill/>
              </a:ln>
            </p:spPr>
            <p:txBody>
              <a:bodyPr lIns="0" tIns="0" rIns="0" bIns="0">
                <a:noAutofit/>
              </a:bodyPr>
              <a:lstStyle/>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Commençons par calculer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note moyenne </a:t>
                </a:r>
                <a14:m>
                  <m:oMath xmlns:m="http://schemas.openxmlformats.org/officeDocument/2006/math">
                    <m:acc>
                      <m:accPr>
                        <m:chr m:val="̅"/>
                        <m:ctrlPr>
                          <a:rPr lang="fr-FR" sz="2400" i="1" spc="-1" smtClean="0">
                            <a:solidFill>
                              <a:srgbClr val="376092"/>
                            </a:solidFill>
                            <a:latin typeface="Cambria Math" panose="02040503050406030204" pitchFamily="18" charset="0"/>
                          </a:rPr>
                        </m:ctrlPr>
                      </m:accPr>
                      <m:e>
                        <m:r>
                          <a:rPr lang="fr-FR" sz="2400" i="1" spc="-1" smtClean="0">
                            <a:solidFill>
                              <a:srgbClr val="376092"/>
                            </a:solidFill>
                            <a:latin typeface="Cambria Math" panose="02040503050406030204" pitchFamily="18" charset="0"/>
                          </a:rPr>
                          <m:t>𝑥</m:t>
                        </m:r>
                      </m:e>
                    </m:acc>
                  </m:oMath>
                </a14:m>
                <a:r>
                  <a:rPr lang="fr-FR" sz="2400" spc="-1" dirty="0">
                    <a:solidFill>
                      <a:srgbClr val="376092"/>
                    </a:solidFill>
                    <a:latin typeface="Calibri"/>
                  </a:rPr>
                  <a:t> en Comptabilité</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note moyenne </a:t>
                </a:r>
                <a14:m>
                  <m:oMath xmlns:m="http://schemas.openxmlformats.org/officeDocument/2006/math">
                    <m:acc>
                      <m:accPr>
                        <m:chr m:val="̅"/>
                        <m:ctrlPr>
                          <a:rPr lang="fr-FR" sz="2400" i="1" spc="-1" smtClean="0">
                            <a:solidFill>
                              <a:srgbClr val="376092"/>
                            </a:solidFill>
                            <a:latin typeface="Cambria Math" panose="02040503050406030204" pitchFamily="18" charset="0"/>
                          </a:rPr>
                        </m:ctrlPr>
                      </m:accPr>
                      <m:e>
                        <m:r>
                          <a:rPr lang="fr-FR" sz="2400" b="0" i="1" spc="-1" smtClean="0">
                            <a:solidFill>
                              <a:srgbClr val="376092"/>
                            </a:solidFill>
                            <a:latin typeface="Cambria Math" panose="02040503050406030204" pitchFamily="18" charset="0"/>
                          </a:rPr>
                          <m:t>𝑦</m:t>
                        </m:r>
                      </m:e>
                    </m:acc>
                  </m:oMath>
                </a14:m>
                <a:r>
                  <a:rPr lang="fr-FR" sz="2400" spc="-1" dirty="0">
                    <a:solidFill>
                      <a:srgbClr val="376092"/>
                    </a:solidFill>
                    <a:latin typeface="Calibri"/>
                  </a:rPr>
                  <a:t> en Gestion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allons ajouter le point moyen au graphique existant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Clique droit sur le graphique -&gt; Sélectionner des données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Bouton ajouter</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Donner un nom, la valeur de x et celle de y</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Valider</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3AC67705-C77A-4C38-992B-34D6A43A7143}"/>
                  </a:ext>
                </a:extLst>
              </p:cNvPr>
              <p:cNvSpPr txBox="1">
                <a:spLocks noRot="1" noChangeAspect="1" noMove="1" noResize="1" noEditPoints="1" noAdjustHandles="1" noChangeArrowheads="1" noChangeShapeType="1" noTextEdit="1"/>
              </p:cNvSpPr>
              <p:nvPr/>
            </p:nvSpPr>
            <p:spPr>
              <a:xfrm>
                <a:off x="457200" y="1269506"/>
                <a:ext cx="8229240" cy="4856253"/>
              </a:xfrm>
              <a:prstGeom prst="rect">
                <a:avLst/>
              </a:prstGeom>
              <a:blipFill>
                <a:blip r:embed="rId2"/>
                <a:stretch>
                  <a:fillRect b="-5019"/>
                </a:stretch>
              </a:blipFill>
              <a:ln w="0">
                <a:noFill/>
              </a:ln>
            </p:spPr>
            <p:txBody>
              <a:bodyPr/>
              <a:lstStyle/>
              <a:p>
                <a:r>
                  <a:rPr lang="fr-FR">
                    <a:noFill/>
                  </a:rPr>
                  <a:t> </a:t>
                </a:r>
              </a:p>
            </p:txBody>
          </p:sp>
        </mc:Fallback>
      </mc:AlternateContent>
      <p:graphicFrame>
        <p:nvGraphicFramePr>
          <p:cNvPr id="3" name="Objet 2">
            <a:extLst>
              <a:ext uri="{FF2B5EF4-FFF2-40B4-BE49-F238E27FC236}">
                <a16:creationId xmlns:a16="http://schemas.microsoft.com/office/drawing/2014/main" id="{27ADEE7B-A1A5-7B07-941E-C7ABC4A78B11}"/>
              </a:ext>
            </a:extLst>
          </p:cNvPr>
          <p:cNvGraphicFramePr>
            <a:graphicFrameLocks noChangeAspect="1"/>
          </p:cNvGraphicFramePr>
          <p:nvPr/>
        </p:nvGraphicFramePr>
        <p:xfrm>
          <a:off x="1142585" y="1269506"/>
          <a:ext cx="5876925" cy="1009650"/>
        </p:xfrm>
        <a:graphic>
          <a:graphicData uri="http://schemas.openxmlformats.org/presentationml/2006/ole">
            <mc:AlternateContent xmlns:mc="http://schemas.openxmlformats.org/markup-compatibility/2006">
              <mc:Choice xmlns:v="urn:schemas-microsoft-com:vml" Requires="v">
                <p:oleObj name="Worksheet" r:id="rId3" imgW="5877082" imgH="1009741" progId="Excel.Sheet.12">
                  <p:embed/>
                </p:oleObj>
              </mc:Choice>
              <mc:Fallback>
                <p:oleObj name="Worksheet" r:id="rId3" imgW="5877082" imgH="1009741" progId="Excel.Sheet.12">
                  <p:embed/>
                  <p:pic>
                    <p:nvPicPr>
                      <p:cNvPr id="3" name="Objet 2">
                        <a:extLst>
                          <a:ext uri="{FF2B5EF4-FFF2-40B4-BE49-F238E27FC236}">
                            <a16:creationId xmlns:a16="http://schemas.microsoft.com/office/drawing/2014/main" id="{44F851A3-92A6-6262-87A3-6CBCFC6AD599}"/>
                          </a:ext>
                        </a:extLst>
                      </p:cNvPr>
                      <p:cNvPicPr/>
                      <p:nvPr/>
                    </p:nvPicPr>
                    <p:blipFill>
                      <a:blip r:embed="rId4"/>
                      <a:stretch>
                        <a:fillRect/>
                      </a:stretch>
                    </p:blipFill>
                    <p:spPr>
                      <a:xfrm>
                        <a:off x="1142585" y="1269506"/>
                        <a:ext cx="5876925" cy="1009650"/>
                      </a:xfrm>
                      <a:prstGeom prst="rect">
                        <a:avLst/>
                      </a:prstGeom>
                    </p:spPr>
                  </p:pic>
                </p:oleObj>
              </mc:Fallback>
            </mc:AlternateContent>
          </a:graphicData>
        </a:graphic>
      </p:graphicFrame>
    </p:spTree>
    <p:extLst>
      <p:ext uri="{BB962C8B-B14F-4D97-AF65-F5344CB8AC3E}">
        <p14:creationId xmlns:p14="http://schemas.microsoft.com/office/powerpoint/2010/main" val="4215565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19C99-526F-0059-FA69-C4D59088E1BA}"/>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97CC9C6B-BA1C-302A-2CA4-860313E0714B}"/>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Calculer un point moyen - Exercice </a:t>
            </a:r>
          </a:p>
          <a:p>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60A25B54-CD12-A445-0F76-1157C9B1C204}"/>
                  </a:ext>
                </a:extLst>
              </p:cNvPr>
              <p:cNvSpPr txBox="1"/>
              <p:nvPr/>
            </p:nvSpPr>
            <p:spPr>
              <a:xfrm>
                <a:off x="457200" y="1269506"/>
                <a:ext cx="8229240" cy="4856253"/>
              </a:xfrm>
              <a:prstGeom prst="rect">
                <a:avLst/>
              </a:prstGeom>
              <a:noFill/>
              <a:ln w="0">
                <a:noFill/>
              </a:ln>
            </p:spPr>
            <p:txBody>
              <a:bodyPr lIns="0" tIns="0" rIns="0" bIns="0">
                <a:noAutofit/>
              </a:bodyPr>
              <a:lstStyle/>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Représentons graphiquement notre série statistique à 2 variables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Le prix moyen </a:t>
                </a:r>
                <a14:m>
                  <m:oMath xmlns:m="http://schemas.openxmlformats.org/officeDocument/2006/math">
                    <m:acc>
                      <m:accPr>
                        <m:chr m:val="̅"/>
                        <m:ctrlPr>
                          <a:rPr lang="fr-FR" sz="2400" i="1" spc="-1" smtClean="0">
                            <a:solidFill>
                              <a:srgbClr val="376092"/>
                            </a:solidFill>
                            <a:latin typeface="Cambria Math" panose="02040503050406030204" pitchFamily="18" charset="0"/>
                          </a:rPr>
                        </m:ctrlPr>
                      </m:accPr>
                      <m:e>
                        <m:r>
                          <a:rPr lang="fr-FR" sz="2400" i="1" spc="-1" smtClean="0">
                            <a:solidFill>
                              <a:srgbClr val="376092"/>
                            </a:solidFill>
                            <a:latin typeface="Cambria Math" panose="02040503050406030204" pitchFamily="18" charset="0"/>
                          </a:rPr>
                          <m:t>𝑥</m:t>
                        </m:r>
                      </m:e>
                    </m:acc>
                  </m:oMath>
                </a14:m>
                <a:r>
                  <a:rPr lang="fr-FR" sz="2400" spc="-1" dirty="0">
                    <a:solidFill>
                      <a:srgbClr val="376092"/>
                    </a:solidFill>
                    <a:latin typeface="Calibri"/>
                  </a:rPr>
                  <a:t> des appartements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Le nombre moyen </a:t>
                </a:r>
                <a14:m>
                  <m:oMath xmlns:m="http://schemas.openxmlformats.org/officeDocument/2006/math">
                    <m:acc>
                      <m:accPr>
                        <m:chr m:val="̅"/>
                        <m:ctrlPr>
                          <a:rPr lang="fr-FR" sz="2400" i="1" spc="-1" smtClean="0">
                            <a:solidFill>
                              <a:srgbClr val="376092"/>
                            </a:solidFill>
                            <a:latin typeface="Cambria Math" panose="02040503050406030204" pitchFamily="18" charset="0"/>
                          </a:rPr>
                        </m:ctrlPr>
                      </m:accPr>
                      <m:e>
                        <m:r>
                          <a:rPr lang="fr-FR" sz="2400" b="0" i="1" spc="-1" smtClean="0">
                            <a:solidFill>
                              <a:srgbClr val="376092"/>
                            </a:solidFill>
                            <a:latin typeface="Cambria Math" panose="02040503050406030204" pitchFamily="18" charset="0"/>
                          </a:rPr>
                          <m:t>𝑦</m:t>
                        </m:r>
                      </m:e>
                    </m:acc>
                  </m:oMath>
                </a14:m>
                <a:r>
                  <a:rPr lang="fr-FR" sz="2400" spc="-1" dirty="0">
                    <a:solidFill>
                      <a:srgbClr val="376092"/>
                    </a:solidFill>
                    <a:latin typeface="Calibri"/>
                  </a:rPr>
                  <a:t> des m²</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Ajoutons le point moyen au graphique existant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Contextualisons ce que nous venons de calculer</a:t>
                </a: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60A25B54-CD12-A445-0F76-1157C9B1C204}"/>
                  </a:ext>
                </a:extLst>
              </p:cNvPr>
              <p:cNvSpPr txBox="1">
                <a:spLocks noRot="1" noChangeAspect="1" noMove="1" noResize="1" noEditPoints="1" noAdjustHandles="1" noChangeArrowheads="1" noChangeShapeType="1" noTextEdit="1"/>
              </p:cNvSpPr>
              <p:nvPr/>
            </p:nvSpPr>
            <p:spPr>
              <a:xfrm>
                <a:off x="457200" y="1269506"/>
                <a:ext cx="8229240" cy="4856253"/>
              </a:xfrm>
              <a:prstGeom prst="rect">
                <a:avLst/>
              </a:prstGeom>
              <a:blipFill>
                <a:blip r:embed="rId2"/>
                <a:stretch>
                  <a:fillRect/>
                </a:stretch>
              </a:blipFill>
              <a:ln w="0">
                <a:noFill/>
              </a:ln>
            </p:spPr>
            <p:txBody>
              <a:bodyPr/>
              <a:lstStyle/>
              <a:p>
                <a:r>
                  <a:rPr lang="fr-FR">
                    <a:noFill/>
                  </a:rPr>
                  <a:t> </a:t>
                </a:r>
              </a:p>
            </p:txBody>
          </p:sp>
        </mc:Fallback>
      </mc:AlternateContent>
      <p:graphicFrame>
        <p:nvGraphicFramePr>
          <p:cNvPr id="2" name="Tableau 1">
            <a:extLst>
              <a:ext uri="{FF2B5EF4-FFF2-40B4-BE49-F238E27FC236}">
                <a16:creationId xmlns:a16="http://schemas.microsoft.com/office/drawing/2014/main" id="{ABBF4E4F-A235-B788-833E-938C6A9C16FC}"/>
              </a:ext>
            </a:extLst>
          </p:cNvPr>
          <p:cNvGraphicFramePr>
            <a:graphicFrameLocks noGrp="1"/>
          </p:cNvGraphicFramePr>
          <p:nvPr>
            <p:extLst>
              <p:ext uri="{D42A27DB-BD31-4B8C-83A1-F6EECF244321}">
                <p14:modId xmlns:p14="http://schemas.microsoft.com/office/powerpoint/2010/main" val="2941485772"/>
              </p:ext>
            </p:extLst>
          </p:nvPr>
        </p:nvGraphicFramePr>
        <p:xfrm>
          <a:off x="456840" y="1333817"/>
          <a:ext cx="8229600" cy="664698"/>
        </p:xfrm>
        <a:graphic>
          <a:graphicData uri="http://schemas.openxmlformats.org/drawingml/2006/table">
            <a:tbl>
              <a:tblPr/>
              <a:tblGrid>
                <a:gridCol w="2829516">
                  <a:extLst>
                    <a:ext uri="{9D8B030D-6E8A-4147-A177-3AD203B41FA5}">
                      <a16:colId xmlns:a16="http://schemas.microsoft.com/office/drawing/2014/main" val="1127582952"/>
                    </a:ext>
                  </a:extLst>
                </a:gridCol>
                <a:gridCol w="900014">
                  <a:extLst>
                    <a:ext uri="{9D8B030D-6E8A-4147-A177-3AD203B41FA5}">
                      <a16:colId xmlns:a16="http://schemas.microsoft.com/office/drawing/2014/main" val="3442636268"/>
                    </a:ext>
                  </a:extLst>
                </a:gridCol>
                <a:gridCol w="900014">
                  <a:extLst>
                    <a:ext uri="{9D8B030D-6E8A-4147-A177-3AD203B41FA5}">
                      <a16:colId xmlns:a16="http://schemas.microsoft.com/office/drawing/2014/main" val="831772890"/>
                    </a:ext>
                  </a:extLst>
                </a:gridCol>
                <a:gridCol w="900014">
                  <a:extLst>
                    <a:ext uri="{9D8B030D-6E8A-4147-A177-3AD203B41FA5}">
                      <a16:colId xmlns:a16="http://schemas.microsoft.com/office/drawing/2014/main" val="2664245850"/>
                    </a:ext>
                  </a:extLst>
                </a:gridCol>
                <a:gridCol w="900014">
                  <a:extLst>
                    <a:ext uri="{9D8B030D-6E8A-4147-A177-3AD203B41FA5}">
                      <a16:colId xmlns:a16="http://schemas.microsoft.com/office/drawing/2014/main" val="2810058264"/>
                    </a:ext>
                  </a:extLst>
                </a:gridCol>
                <a:gridCol w="900014">
                  <a:extLst>
                    <a:ext uri="{9D8B030D-6E8A-4147-A177-3AD203B41FA5}">
                      <a16:colId xmlns:a16="http://schemas.microsoft.com/office/drawing/2014/main" val="1442815725"/>
                    </a:ext>
                  </a:extLst>
                </a:gridCol>
                <a:gridCol w="900014">
                  <a:extLst>
                    <a:ext uri="{9D8B030D-6E8A-4147-A177-3AD203B41FA5}">
                      <a16:colId xmlns:a16="http://schemas.microsoft.com/office/drawing/2014/main" val="2805784833"/>
                    </a:ext>
                  </a:extLst>
                </a:gridCol>
              </a:tblGrid>
              <a:tr h="332349">
                <a:tc>
                  <a:txBody>
                    <a:bodyPr/>
                    <a:lstStyle/>
                    <a:p>
                      <a:pPr algn="ctr" fontAlgn="b"/>
                      <a:r>
                        <a:rPr lang="fr-FR" sz="2000" b="0" i="0" u="none" strike="noStrike">
                          <a:solidFill>
                            <a:srgbClr val="FFFFFF"/>
                          </a:solidFill>
                          <a:effectLst/>
                          <a:latin typeface="Aptos Narrow" panose="020B0004020202020204" pitchFamily="34" charset="0"/>
                        </a:rPr>
                        <a:t>Prix appartement en euros</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138000</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131000</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250000</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340000</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120000</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98000</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925983"/>
                  </a:ext>
                </a:extLst>
              </a:tr>
              <a:tr h="332349">
                <a:tc>
                  <a:txBody>
                    <a:bodyPr/>
                    <a:lstStyle/>
                    <a:p>
                      <a:pPr algn="ctr" fontAlgn="b"/>
                      <a:r>
                        <a:rPr lang="fr-FR" sz="2000" b="0" i="0" u="none" strike="noStrike">
                          <a:solidFill>
                            <a:srgbClr val="FFFFFF"/>
                          </a:solidFill>
                          <a:effectLst/>
                          <a:latin typeface="Aptos Narrow" panose="020B0004020202020204" pitchFamily="34" charset="0"/>
                        </a:rPr>
                        <a:t>Nombre de m²</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42</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35</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72</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84</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42</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dirty="0">
                          <a:solidFill>
                            <a:srgbClr val="000000"/>
                          </a:solidFill>
                          <a:effectLst/>
                          <a:latin typeface="Aptos Narrow" panose="020B0004020202020204" pitchFamily="34" charset="0"/>
                        </a:rPr>
                        <a:t>28</a:t>
                      </a:r>
                    </a:p>
                  </a:txBody>
                  <a:tcPr marL="9496" marR="9496" marT="949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2963574"/>
                  </a:ext>
                </a:extLst>
              </a:tr>
            </a:tbl>
          </a:graphicData>
        </a:graphic>
      </p:graphicFrame>
    </p:spTree>
    <p:extLst>
      <p:ext uri="{BB962C8B-B14F-4D97-AF65-F5344CB8AC3E}">
        <p14:creationId xmlns:p14="http://schemas.microsoft.com/office/powerpoint/2010/main" val="3914048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8A472-65BF-762A-92D5-0F2BE426EDB5}"/>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BE3732CB-8556-7CDD-C9FC-6855CC3B2A72}"/>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Ajustement affine graphique</a:t>
            </a:r>
          </a:p>
          <a:p>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8D16903F-1110-C3AB-4A7D-63E528CE73E7}"/>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Si les points de mon nuage de point sont quasiment alignés, on peut dire qu'il y a une liaison affine entre les deux variables de la série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C'est le cas pour l'exemple sur l'immobilier qui pourrait se traduire par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"Plus c'est grand, plus c'est cher"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parle d'ajustement affine lorsque l'ajustement prend la forme d'une droite d'équation y = </a:t>
            </a:r>
            <a:r>
              <a:rPr lang="fr-FR" sz="2400" spc="-1" dirty="0" err="1">
                <a:solidFill>
                  <a:srgbClr val="376092"/>
                </a:solidFill>
                <a:latin typeface="Calibri"/>
              </a:rPr>
              <a:t>a.x</a:t>
            </a:r>
            <a:r>
              <a:rPr lang="fr-FR" sz="2400" spc="-1" dirty="0">
                <a:solidFill>
                  <a:srgbClr val="376092"/>
                </a:solidFill>
                <a:latin typeface="Calibri"/>
              </a:rPr>
              <a:t> + b avec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a le coefficient directeur</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b l'ordonnée à l'origine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existe bien d'autre ajustements (puissance, exponentiel, logarithmique, parabolique, cubique….)</a:t>
            </a: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spTree>
    <p:extLst>
      <p:ext uri="{BB962C8B-B14F-4D97-AF65-F5344CB8AC3E}">
        <p14:creationId xmlns:p14="http://schemas.microsoft.com/office/powerpoint/2010/main" val="1455531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F4800-4632-CF83-82B9-4328355E78F2}"/>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5F0626EA-92B4-0C51-D3B2-6EEBBA10DB95}"/>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Ajustement affine graphique</a:t>
            </a:r>
          </a:p>
          <a:p>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AE0B76AC-3D02-0159-9FBC-54E8D891185C}"/>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 coefficient directeur est lié à la notion de pente :</a:t>
            </a:r>
          </a:p>
          <a:p>
            <a:pPr marL="82800">
              <a:spcAft>
                <a:spcPts val="1134"/>
              </a:spcAft>
              <a:buClr>
                <a:srgbClr val="000000"/>
              </a:buClr>
              <a:buSzPct val="45000"/>
            </a:pPr>
            <a:r>
              <a:rPr lang="fr-FR" sz="2400" spc="-1" dirty="0">
                <a:solidFill>
                  <a:srgbClr val="376092"/>
                </a:solidFill>
                <a:latin typeface="Calibri"/>
              </a:rPr>
              <a:t>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descente de 10 %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Pour 100m parcouru, on descend de 10m : 10/100 = 10%</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montée de 7 %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Pour 100m parcouru, on monte de 7m : 7/100 = 7%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Un coefficient directeur est négatif en cas de descente et positif en cas de montée			</a:t>
            </a: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pic>
        <p:nvPicPr>
          <p:cNvPr id="1026" name="Picture 2" descr="Panneau de signalisation de descente dangereuse en France ...">
            <a:extLst>
              <a:ext uri="{FF2B5EF4-FFF2-40B4-BE49-F238E27FC236}">
                <a16:creationId xmlns:a16="http://schemas.microsoft.com/office/drawing/2014/main" id="{FE0841B0-1835-1519-004A-BBAD56E2D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091" y="1785842"/>
            <a:ext cx="1705407" cy="150354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chetez un panneau routier G2000 A5 Montée à forte inclinaison ?">
            <a:extLst>
              <a:ext uri="{FF2B5EF4-FFF2-40B4-BE49-F238E27FC236}">
                <a16:creationId xmlns:a16="http://schemas.microsoft.com/office/drawing/2014/main" id="{12C4C86A-D7EC-1115-B507-D69F31754D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8149" y="1616585"/>
            <a:ext cx="1800480" cy="180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104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B3F9B-1478-379D-D48B-1847CCBBE67E}"/>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3AAC29EA-B95B-8F1C-3CE7-8A5117747F39}"/>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Ajustement affine graphique</a:t>
            </a:r>
          </a:p>
          <a:p>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11CE01C8-C6D2-8477-3F60-10E1B6FB6F1A}"/>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Reprenons notre exemple immobilier et calculons l'équation de la droite d'ajustement de la forme y = </a:t>
                </a:r>
                <a:r>
                  <a:rPr lang="fr-FR" sz="2400" spc="-1" dirty="0" err="1">
                    <a:solidFill>
                      <a:srgbClr val="376092"/>
                    </a:solidFill>
                    <a:latin typeface="Calibri"/>
                  </a:rPr>
                  <a:t>a.x</a:t>
                </a:r>
                <a:r>
                  <a:rPr lang="fr-FR" sz="2400" spc="-1" dirty="0">
                    <a:solidFill>
                      <a:srgbClr val="376092"/>
                    </a:solidFill>
                    <a:latin typeface="Calibri"/>
                  </a:rPr>
                  <a:t> + b</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 coefficient directeur a de la droite donne la pente de la droite Il peut être calculé à l'aide de deux points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a = </a:t>
                </a:r>
                <a14:m>
                  <m:oMath xmlns:m="http://schemas.openxmlformats.org/officeDocument/2006/math">
                    <m:f>
                      <m:fPr>
                        <m:ctrlPr>
                          <a:rPr lang="fr-FR" sz="2400" i="1" spc="-1" smtClean="0">
                            <a:solidFill>
                              <a:srgbClr val="376092"/>
                            </a:solidFill>
                            <a:latin typeface="Cambria Math" panose="02040503050406030204" pitchFamily="18" charset="0"/>
                          </a:rPr>
                        </m:ctrlPr>
                      </m:fPr>
                      <m:num>
                        <m:sSub>
                          <m:sSubPr>
                            <m:ctrlPr>
                              <a:rPr lang="fr-FR" sz="2400" i="1" spc="-1" smtClean="0">
                                <a:solidFill>
                                  <a:srgbClr val="376092"/>
                                </a:solidFill>
                                <a:latin typeface="Cambria Math" panose="02040503050406030204" pitchFamily="18" charset="0"/>
                              </a:rPr>
                            </m:ctrlPr>
                          </m:sSubPr>
                          <m:e>
                            <m:r>
                              <a:rPr lang="fr-FR" sz="2400" b="0" i="1" spc="-1" smtClean="0">
                                <a:solidFill>
                                  <a:srgbClr val="376092"/>
                                </a:solidFill>
                                <a:latin typeface="Cambria Math" panose="02040503050406030204" pitchFamily="18" charset="0"/>
                              </a:rPr>
                              <m:t>𝑣𝑎𝑟𝑖𝑎𝑡𝑖𝑜𝑛</m:t>
                            </m:r>
                          </m:e>
                          <m:sub>
                            <m:r>
                              <a:rPr lang="fr-FR" sz="2400" b="0" i="1" spc="-1" smtClean="0">
                                <a:solidFill>
                                  <a:srgbClr val="376092"/>
                                </a:solidFill>
                                <a:latin typeface="Cambria Math" panose="02040503050406030204" pitchFamily="18" charset="0"/>
                              </a:rPr>
                              <m:t> </m:t>
                            </m:r>
                            <m:r>
                              <a:rPr lang="fr-FR" sz="2400" i="1" spc="-1" smtClean="0">
                                <a:solidFill>
                                  <a:srgbClr val="376092"/>
                                </a:solidFill>
                                <a:latin typeface="Cambria Math" panose="02040503050406030204" pitchFamily="18" charset="0"/>
                              </a:rPr>
                              <m:t>𝑦</m:t>
                            </m:r>
                          </m:sub>
                        </m:sSub>
                      </m:num>
                      <m:den>
                        <m:sSub>
                          <m:sSubPr>
                            <m:ctrlPr>
                              <a:rPr lang="fr-FR" sz="2400" i="1" spc="-1" smtClean="0">
                                <a:solidFill>
                                  <a:srgbClr val="376092"/>
                                </a:solidFill>
                                <a:latin typeface="Cambria Math" panose="02040503050406030204" pitchFamily="18" charset="0"/>
                              </a:rPr>
                            </m:ctrlPr>
                          </m:sSubPr>
                          <m:e>
                            <m:r>
                              <a:rPr lang="fr-FR" sz="2400" i="1" spc="-1" smtClean="0">
                                <a:solidFill>
                                  <a:srgbClr val="376092"/>
                                </a:solidFill>
                                <a:latin typeface="Cambria Math" panose="02040503050406030204" pitchFamily="18" charset="0"/>
                              </a:rPr>
                              <m:t>𝑣</m:t>
                            </m:r>
                            <m:r>
                              <a:rPr lang="fr-FR" sz="2400" b="0" i="1" spc="-1" smtClean="0">
                                <a:solidFill>
                                  <a:srgbClr val="376092"/>
                                </a:solidFill>
                                <a:latin typeface="Cambria Math" panose="02040503050406030204" pitchFamily="18" charset="0"/>
                              </a:rPr>
                              <m:t>𝑎𝑟𝑖𝑎𝑡𝑖𝑜𝑛</m:t>
                            </m:r>
                            <m:r>
                              <a:rPr lang="fr-FR" sz="2400" b="0" i="1" spc="-1" smtClean="0">
                                <a:solidFill>
                                  <a:srgbClr val="376092"/>
                                </a:solidFill>
                                <a:latin typeface="Cambria Math" panose="02040503050406030204" pitchFamily="18" charset="0"/>
                              </a:rPr>
                              <m:t> </m:t>
                            </m:r>
                          </m:e>
                          <m:sub>
                            <m:r>
                              <a:rPr lang="fr-FR" sz="2400" i="1" spc="-1" smtClean="0">
                                <a:solidFill>
                                  <a:srgbClr val="376092"/>
                                </a:solidFill>
                                <a:latin typeface="Cambria Math" panose="02040503050406030204" pitchFamily="18" charset="0"/>
                              </a:rPr>
                              <m:t>𝑥</m:t>
                            </m:r>
                          </m:sub>
                        </m:sSub>
                      </m:den>
                    </m:f>
                  </m:oMath>
                </a14:m>
                <a:r>
                  <a:rPr lang="fr-FR" sz="2400" spc="-1" dirty="0">
                    <a:solidFill>
                      <a:srgbClr val="376092"/>
                    </a:solidFill>
                    <a:latin typeface="Calibri"/>
                  </a:rPr>
                  <a:t>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fois le coefficient directeur obtenu il suffit de résoudre l'équation y = </a:t>
                </a:r>
                <a:r>
                  <a:rPr lang="fr-FR" sz="2400" spc="-1" dirty="0" err="1">
                    <a:solidFill>
                      <a:srgbClr val="376092"/>
                    </a:solidFill>
                    <a:latin typeface="Calibri"/>
                  </a:rPr>
                  <a:t>a.x</a:t>
                </a:r>
                <a:r>
                  <a:rPr lang="fr-FR" sz="2400" spc="-1" dirty="0">
                    <a:solidFill>
                      <a:srgbClr val="376092"/>
                    </a:solidFill>
                    <a:latin typeface="Calibri"/>
                  </a:rPr>
                  <a:t> + b en utilisant les coordonnées d'un des points pour les valeurs de x et y</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Ajoutons la droite calculée sur notre graphique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fois la droite d'ajustement obtenue, elle peut servir à déterminer le prix d'un nouvel appartement en fonction de ses m². 					</a:t>
                </a: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11CE01C8-C6D2-8477-3F60-10E1B6FB6F1A}"/>
                  </a:ext>
                </a:extLst>
              </p:cNvPr>
              <p:cNvSpPr txBox="1">
                <a:spLocks noRot="1" noChangeAspect="1" noMove="1" noResize="1" noEditPoints="1" noAdjustHandles="1" noChangeArrowheads="1" noChangeShapeType="1" noTextEdit="1"/>
              </p:cNvSpPr>
              <p:nvPr/>
            </p:nvSpPr>
            <p:spPr>
              <a:xfrm>
                <a:off x="457200" y="1269506"/>
                <a:ext cx="8229240" cy="4856253"/>
              </a:xfrm>
              <a:prstGeom prst="rect">
                <a:avLst/>
              </a:prstGeom>
              <a:blipFill>
                <a:blip r:embed="rId2"/>
                <a:stretch>
                  <a:fillRect t="-1882" r="-3037" b="-13425"/>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648098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F6253-A9D2-90FB-4983-0C97AB3506A2}"/>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096003C8-CAC1-DA25-2319-EC8AAD78EBFA}"/>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Ajustement affine – méthode des moindres carrés</a:t>
            </a:r>
          </a:p>
          <a:p>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EFE1C6ED-FC17-6971-3866-2B520F22CAEA}"/>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méthode des moindres carrés détermine un ajustement affine en minimisant la distance au carré de chaque point avec la droite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utilise le carré pour 2 choses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Se débarrasser des valeurs négatives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Donner une forte pondération aux points éloignés				</a:t>
            </a: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pic>
        <p:nvPicPr>
          <p:cNvPr id="3" name="Image 2">
            <a:extLst>
              <a:ext uri="{FF2B5EF4-FFF2-40B4-BE49-F238E27FC236}">
                <a16:creationId xmlns:a16="http://schemas.microsoft.com/office/drawing/2014/main" id="{00DBE344-2464-5944-66BE-8D94DFA65E75}"/>
              </a:ext>
            </a:extLst>
          </p:cNvPr>
          <p:cNvPicPr>
            <a:picLocks noChangeAspect="1"/>
          </p:cNvPicPr>
          <p:nvPr/>
        </p:nvPicPr>
        <p:blipFill>
          <a:blip r:embed="rId2"/>
          <a:stretch>
            <a:fillRect/>
          </a:stretch>
        </p:blipFill>
        <p:spPr>
          <a:xfrm>
            <a:off x="2098824" y="1993662"/>
            <a:ext cx="4498357" cy="2967954"/>
          </a:xfrm>
          <a:prstGeom prst="rect">
            <a:avLst/>
          </a:prstGeom>
        </p:spPr>
      </p:pic>
    </p:spTree>
    <p:extLst>
      <p:ext uri="{BB962C8B-B14F-4D97-AF65-F5344CB8AC3E}">
        <p14:creationId xmlns:p14="http://schemas.microsoft.com/office/powerpoint/2010/main" val="2236568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8109-7B4D-63A8-49BE-789F13165E52}"/>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A153AC68-61C7-2F68-E4BB-CF3C86D69D53}"/>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Ajustement affine – méthode des moindres carrés</a:t>
            </a:r>
          </a:p>
          <a:p>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000D5B3B-F164-FC4C-D27B-73B238EAEAE1}"/>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L'ajustement affine est de la forme y = </a:t>
            </a:r>
            <a:r>
              <a:rPr lang="fr-FR" sz="2400" spc="-1" dirty="0" err="1">
                <a:solidFill>
                  <a:srgbClr val="376092"/>
                </a:solidFill>
                <a:latin typeface="Calibri"/>
              </a:rPr>
              <a:t>a.x</a:t>
            </a:r>
            <a:r>
              <a:rPr lang="fr-FR" sz="2400" spc="-1" dirty="0">
                <a:solidFill>
                  <a:srgbClr val="376092"/>
                </a:solidFill>
                <a:latin typeface="Calibri"/>
              </a:rPr>
              <a:t> + b</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Les coefficients a et b peuvent être retrouvés grâce à un tableur ou une calculatrice (Menu stat)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Graphiquement sous </a:t>
            </a:r>
            <a:r>
              <a:rPr lang="fr-FR" sz="2400" spc="-1" dirty="0" err="1">
                <a:solidFill>
                  <a:srgbClr val="376092"/>
                </a:solidFill>
                <a:latin typeface="Calibri"/>
              </a:rPr>
              <a:t>excel</a:t>
            </a:r>
            <a:r>
              <a:rPr lang="fr-FR" sz="2400" spc="-1" dirty="0">
                <a:solidFill>
                  <a:srgbClr val="376092"/>
                </a:solidFill>
                <a:latin typeface="Calibri"/>
              </a:rPr>
              <a:t>, sélectionner un point du nuage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Clique droit -&gt; Ajouter une courbe de tendance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Choisir une courbe de tendance linéaire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Afficher l'équation sur le graphique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existe aussi des formules Excel pour calculer les coefficients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a : =pente(plage des y, plage des x)</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b : = </a:t>
            </a:r>
            <a:r>
              <a:rPr lang="fr-FR" sz="2400" spc="-1" dirty="0" err="1">
                <a:solidFill>
                  <a:srgbClr val="376092"/>
                </a:solidFill>
                <a:latin typeface="Calibri"/>
              </a:rPr>
              <a:t>ordonnee.origine</a:t>
            </a:r>
            <a:r>
              <a:rPr lang="fr-FR" sz="2400" spc="-1" dirty="0">
                <a:solidFill>
                  <a:srgbClr val="376092"/>
                </a:solidFill>
                <a:latin typeface="Calibri"/>
              </a:rPr>
              <a:t>(plage des y, plage des x)</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les deux : =</a:t>
            </a:r>
            <a:r>
              <a:rPr lang="fr-FR" sz="2400" spc="-1" dirty="0" err="1">
                <a:solidFill>
                  <a:srgbClr val="376092"/>
                </a:solidFill>
                <a:latin typeface="Calibri"/>
              </a:rPr>
              <a:t>droitereg</a:t>
            </a:r>
            <a:r>
              <a:rPr lang="fr-FR" sz="2400" spc="-1" dirty="0">
                <a:solidFill>
                  <a:srgbClr val="376092"/>
                </a:solidFill>
                <a:latin typeface="Calibri"/>
              </a:rPr>
              <a:t>(plage des y, plage des x)</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spTree>
    <p:extLst>
      <p:ext uri="{BB962C8B-B14F-4D97-AF65-F5344CB8AC3E}">
        <p14:creationId xmlns:p14="http://schemas.microsoft.com/office/powerpoint/2010/main" val="2730408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B2380-FE36-3C00-C482-3A3500A903E6}"/>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CAC19660-63CB-E27F-97F3-81967A1111E5}"/>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Coefficient de corrélation linéaire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5337282D-5600-3AAA-884A-72319D7D2414}"/>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toutes les séries statistiques on peut trouver un ajustement. Cependant, ce n'est pas toujours pertinent car il pourrait n'y avoir aucun lien entre les 2 paramètres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Mon niveau de maitrise en guitare en mon temps au 400m</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Avant de calculer un ajustement il est donc judicieux de savoir s'il y a effectivement corrélation entre les paramètres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cela nous allons calculer un coefficient de corrélation linéaire r dont le résultat est compris entre -1 et 1</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considère qu'il y a corrélation si on se trouve dans un des cas suivants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0,85 &lt;= r &lt;= 1</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-1 &lt;= r &lt;= -0,85</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spTree>
    <p:extLst>
      <p:ext uri="{BB962C8B-B14F-4D97-AF65-F5344CB8AC3E}">
        <p14:creationId xmlns:p14="http://schemas.microsoft.com/office/powerpoint/2010/main" val="2386672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B4481-0E4E-07ED-453D-771BDEE1F57C}"/>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4CCD61F6-538D-7AD4-320A-8F919334B119}"/>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Coefficient de corrélation linéaire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EF8EEC9F-2852-4CBF-FF2D-41222A052815}"/>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Ce coefficient peut encore une fois être calculé simplement avec une calculatrice (menu Stat) ou avec Excel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 </a:t>
                </a:r>
                <a:r>
                  <a:rPr lang="fr-FR" sz="2400" spc="-1" dirty="0" err="1">
                    <a:solidFill>
                      <a:srgbClr val="376092"/>
                    </a:solidFill>
                    <a:latin typeface="Calibri"/>
                  </a:rPr>
                  <a:t>coefficient.correlation</a:t>
                </a:r>
                <a:r>
                  <a:rPr lang="fr-FR" sz="2400" spc="-1" dirty="0">
                    <a:solidFill>
                      <a:srgbClr val="376092"/>
                    </a:solidFill>
                    <a:latin typeface="Calibri"/>
                  </a:rPr>
                  <a:t>(plage des y, plage des x)</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 coefficient de corrélation linéaire r se calcule de la manière suivante :</a:t>
                </a:r>
              </a:p>
              <a:p>
                <a:pPr marL="997200" lvl="2">
                  <a:spcAft>
                    <a:spcPts val="1134"/>
                  </a:spcAft>
                  <a:buClr>
                    <a:srgbClr val="000000"/>
                  </a:buClr>
                  <a:buSzPct val="45000"/>
                </a:pPr>
                <a:r>
                  <a:rPr lang="fr-FR" sz="2400" spc="-1" dirty="0">
                    <a:solidFill>
                      <a:srgbClr val="376092"/>
                    </a:solidFill>
                    <a:latin typeface="Calibri"/>
                  </a:rPr>
                  <a:t>r </a:t>
                </a:r>
                <a14:m>
                  <m:oMath xmlns:m="http://schemas.openxmlformats.org/officeDocument/2006/math">
                    <m:r>
                      <a:rPr lang="en-US" sz="2400" i="1" spc="-1" smtClean="0">
                        <a:solidFill>
                          <a:srgbClr val="376092"/>
                        </a:solidFill>
                        <a:latin typeface="Cambria Math" panose="02040503050406030204" pitchFamily="18" charset="0"/>
                      </a:rPr>
                      <m:t>=</m:t>
                    </m:r>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𝑐𝑜𝑣</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𝑥</m:t>
                        </m:r>
                        <m:r>
                          <a:rPr lang="fr-FR" sz="2400" b="0" i="1" spc="-1" smtClean="0">
                            <a:solidFill>
                              <a:srgbClr val="376092"/>
                            </a:solidFill>
                            <a:latin typeface="Cambria Math" panose="02040503050406030204" pitchFamily="18" charset="0"/>
                          </a:rPr>
                          <m:t>, </m:t>
                        </m:r>
                        <m:r>
                          <a:rPr lang="fr-FR" sz="2400" b="0" i="1" spc="-1" smtClean="0">
                            <a:solidFill>
                              <a:srgbClr val="376092"/>
                            </a:solidFill>
                            <a:latin typeface="Cambria Math" panose="02040503050406030204" pitchFamily="18" charset="0"/>
                          </a:rPr>
                          <m:t>𝑦</m:t>
                        </m:r>
                        <m:r>
                          <a:rPr lang="fr-FR" sz="2400" b="0" i="1" spc="-1" smtClean="0">
                            <a:solidFill>
                              <a:srgbClr val="376092"/>
                            </a:solidFill>
                            <a:latin typeface="Cambria Math" panose="02040503050406030204" pitchFamily="18" charset="0"/>
                          </a:rPr>
                          <m:t>)</m:t>
                        </m:r>
                      </m:num>
                      <m:den>
                        <m:r>
                          <a:rPr lang="fr-FR" sz="2400" i="1" spc="-1">
                            <a:solidFill>
                              <a:srgbClr val="376092"/>
                            </a:solidFill>
                            <a:latin typeface="Cambria Math" panose="02040503050406030204" pitchFamily="18" charset="0"/>
                            <a:ea typeface="Cambria Math" panose="02040503050406030204" pitchFamily="18" charset="0"/>
                          </a:rPr>
                          <m:t>𝜎</m:t>
                        </m:r>
                        <m:r>
                          <a:rPr lang="fr-FR" sz="2400" b="0" i="1" spc="-1" baseline="-25000" smtClean="0">
                            <a:solidFill>
                              <a:srgbClr val="376092"/>
                            </a:solidFill>
                            <a:latin typeface="Cambria Math" panose="02040503050406030204" pitchFamily="18" charset="0"/>
                            <a:ea typeface="Cambria Math" panose="02040503050406030204" pitchFamily="18" charset="0"/>
                          </a:rPr>
                          <m:t>𝑥</m:t>
                        </m:r>
                        <m:r>
                          <a:rPr lang="fr-FR" sz="2400" b="0" i="1" spc="-1" smtClean="0">
                            <a:solidFill>
                              <a:srgbClr val="376092"/>
                            </a:solidFill>
                            <a:latin typeface="Cambria Math" panose="02040503050406030204" pitchFamily="18" charset="0"/>
                            <a:ea typeface="Cambria Math" panose="02040503050406030204" pitchFamily="18" charset="0"/>
                          </a:rPr>
                          <m:t>.</m:t>
                        </m:r>
                        <m:r>
                          <a:rPr lang="fr-FR" sz="2400" i="1" spc="-1">
                            <a:solidFill>
                              <a:srgbClr val="376092"/>
                            </a:solidFill>
                            <a:latin typeface="Cambria Math" panose="02040503050406030204" pitchFamily="18" charset="0"/>
                            <a:ea typeface="Cambria Math" panose="02040503050406030204" pitchFamily="18" charset="0"/>
                          </a:rPr>
                          <m:t>𝜎</m:t>
                        </m:r>
                        <m:r>
                          <a:rPr lang="fr-FR" sz="2400" b="0" i="1" spc="-1" baseline="-25000" smtClean="0">
                            <a:solidFill>
                              <a:srgbClr val="376092"/>
                            </a:solidFill>
                            <a:latin typeface="Cambria Math" panose="02040503050406030204" pitchFamily="18" charset="0"/>
                            <a:ea typeface="Cambria Math" panose="02040503050406030204" pitchFamily="18" charset="0"/>
                          </a:rPr>
                          <m:t>𝑦</m:t>
                        </m:r>
                      </m:den>
                    </m:f>
                  </m:oMath>
                </a14:m>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14:m>
                  <m:oMath xmlns:m="http://schemas.openxmlformats.org/officeDocument/2006/math">
                    <m:r>
                      <a:rPr lang="fr-FR" sz="2400" b="0" i="1" spc="-1" smtClean="0">
                        <a:solidFill>
                          <a:srgbClr val="376092"/>
                        </a:solidFill>
                        <a:latin typeface="Cambria Math" panose="02040503050406030204" pitchFamily="18" charset="0"/>
                      </a:rPr>
                      <m:t>𝑐𝑜𝑣</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𝑥</m:t>
                    </m:r>
                    <m:r>
                      <a:rPr lang="fr-FR" sz="2400" b="0" i="1" spc="-1" smtClean="0">
                        <a:solidFill>
                          <a:srgbClr val="376092"/>
                        </a:solidFill>
                        <a:latin typeface="Cambria Math" panose="02040503050406030204" pitchFamily="18" charset="0"/>
                      </a:rPr>
                      <m:t>, </m:t>
                    </m:r>
                    <m:r>
                      <a:rPr lang="fr-FR" sz="2400" b="0" i="1" spc="-1" smtClean="0">
                        <a:solidFill>
                          <a:srgbClr val="376092"/>
                        </a:solidFill>
                        <a:latin typeface="Cambria Math" panose="02040503050406030204" pitchFamily="18" charset="0"/>
                      </a:rPr>
                      <m:t>𝑦</m:t>
                    </m:r>
                    <m:r>
                      <a:rPr lang="fr-FR" sz="2400" b="0" i="1" spc="-1" smtClean="0">
                        <a:solidFill>
                          <a:srgbClr val="376092"/>
                        </a:solidFill>
                        <a:latin typeface="Cambria Math" panose="02040503050406030204" pitchFamily="18" charset="0"/>
                      </a:rPr>
                      <m:t>)</m:t>
                    </m:r>
                  </m:oMath>
                </a14:m>
                <a:r>
                  <a:rPr lang="fr-FR" sz="2400" spc="-1" dirty="0">
                    <a:solidFill>
                      <a:srgbClr val="376092"/>
                    </a:solidFill>
                    <a:latin typeface="Calibri"/>
                  </a:rPr>
                  <a:t> : Covariance des variables x et y. La covariance donne aussi une idée de la dispersion</a:t>
                </a:r>
              </a:p>
              <a:p>
                <a:pPr marL="864000" lvl="1" indent="-324000">
                  <a:spcAft>
                    <a:spcPts val="1134"/>
                  </a:spcAft>
                  <a:buClr>
                    <a:srgbClr val="000000"/>
                  </a:buClr>
                  <a:buSzPct val="45000"/>
                  <a:buFont typeface="Wingdings" charset="2"/>
                  <a:buChar char=""/>
                </a:pP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𝜎</m:t>
                    </m:r>
                    <m:r>
                      <a:rPr lang="fr-FR" sz="2400" b="0" i="1" spc="-1" baseline="-25000" smtClean="0">
                        <a:solidFill>
                          <a:srgbClr val="376092"/>
                        </a:solidFill>
                        <a:latin typeface="Cambria Math" panose="02040503050406030204" pitchFamily="18" charset="0"/>
                        <a:ea typeface="Cambria Math" panose="02040503050406030204" pitchFamily="18" charset="0"/>
                      </a:rPr>
                      <m:t>𝑥</m:t>
                    </m:r>
                  </m:oMath>
                </a14:m>
                <a:r>
                  <a:rPr lang="fr-FR" sz="2400" spc="-1" dirty="0">
                    <a:solidFill>
                      <a:srgbClr val="376092"/>
                    </a:solidFill>
                    <a:latin typeface="Calibri"/>
                  </a:rPr>
                  <a:t> : Ecart type sur la variable x</a:t>
                </a:r>
              </a:p>
              <a:p>
                <a:pPr marL="864000" lvl="1" indent="-324000">
                  <a:spcAft>
                    <a:spcPts val="1134"/>
                  </a:spcAft>
                  <a:buClr>
                    <a:srgbClr val="000000"/>
                  </a:buClr>
                  <a:buSzPct val="45000"/>
                  <a:buFont typeface="Wingdings" charset="2"/>
                  <a:buChar char=""/>
                </a:pP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𝜎</m:t>
                    </m:r>
                    <m:r>
                      <a:rPr lang="fr-FR" sz="2400" b="0" i="1" spc="-1" baseline="-25000" smtClean="0">
                        <a:solidFill>
                          <a:srgbClr val="376092"/>
                        </a:solidFill>
                        <a:latin typeface="Cambria Math" panose="02040503050406030204" pitchFamily="18" charset="0"/>
                        <a:ea typeface="Cambria Math" panose="02040503050406030204" pitchFamily="18" charset="0"/>
                      </a:rPr>
                      <m:t>𝑦</m:t>
                    </m:r>
                  </m:oMath>
                </a14:m>
                <a:r>
                  <a:rPr lang="fr-FR" sz="2400" spc="-1" dirty="0">
                    <a:solidFill>
                      <a:srgbClr val="376092"/>
                    </a:solidFill>
                    <a:latin typeface="Calibri"/>
                  </a:rPr>
                  <a:t> : Ecart type sur la variable y</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EF8EEC9F-2852-4CBF-FF2D-41222A052815}"/>
                  </a:ext>
                </a:extLst>
              </p:cNvPr>
              <p:cNvSpPr txBox="1">
                <a:spLocks noRot="1" noChangeAspect="1" noMove="1" noResize="1" noEditPoints="1" noAdjustHandles="1" noChangeArrowheads="1" noChangeShapeType="1" noTextEdit="1"/>
              </p:cNvSpPr>
              <p:nvPr/>
            </p:nvSpPr>
            <p:spPr>
              <a:xfrm>
                <a:off x="457200" y="1269506"/>
                <a:ext cx="8229240" cy="4856253"/>
              </a:xfrm>
              <a:prstGeom prst="rect">
                <a:avLst/>
              </a:prstGeom>
              <a:blipFill>
                <a:blip r:embed="rId2"/>
                <a:stretch>
                  <a:fillRect t="-1882" r="-741" b="-502"/>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540603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Coefficient de corrélation linéaire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avoir une idée de la dispersion. Ici la formule est un peu différente et nous parlons de covariance:</a:t>
                </a:r>
              </a:p>
              <a:p>
                <a:pPr marL="864000" lvl="1" indent="-324000">
                  <a:spcAft>
                    <a:spcPts val="1134"/>
                  </a:spcAft>
                  <a:buClr>
                    <a:srgbClr val="000000"/>
                  </a:buClr>
                  <a:buSzPct val="45000"/>
                  <a:buFont typeface="Wingdings" charset="2"/>
                  <a:buChar char=""/>
                </a:pPr>
                <a:r>
                  <a:rPr lang="fr-FR" sz="2400" spc="-1" dirty="0" err="1">
                    <a:solidFill>
                      <a:srgbClr val="376092"/>
                    </a:solidFill>
                    <a:latin typeface="Calibri"/>
                  </a:rPr>
                  <a:t>Cov</a:t>
                </a:r>
                <a:r>
                  <a:rPr lang="fr-FR" sz="2400" spc="-1" dirty="0">
                    <a:solidFill>
                      <a:srgbClr val="376092"/>
                    </a:solidFill>
                    <a:latin typeface="Calibri"/>
                  </a:rPr>
                  <a:t>(x, y) = </a:t>
                </a:r>
                <a14:m>
                  <m:oMath xmlns:m="http://schemas.openxmlformats.org/officeDocument/2006/math">
                    <m:f>
                      <m:fPr>
                        <m:ctrlPr>
                          <a:rPr lang="fr-FR" sz="2400" b="0" i="1" spc="-1" smtClean="0">
                            <a:solidFill>
                              <a:srgbClr val="376092"/>
                            </a:solidFill>
                            <a:latin typeface="Cambria Math" panose="02040503050406030204" pitchFamily="18" charset="0"/>
                          </a:rPr>
                        </m:ctrlPr>
                      </m:fPr>
                      <m:num>
                        <m:r>
                          <a:rPr lang="fr-FR" sz="2400" b="0" i="0" spc="-1" smtClean="0">
                            <a:solidFill>
                              <a:srgbClr val="376092"/>
                            </a:solidFill>
                            <a:latin typeface="Cambria Math" panose="02040503050406030204" pitchFamily="18" charset="0"/>
                          </a:rPr>
                          <m:t>1</m:t>
                        </m:r>
                      </m:num>
                      <m:den>
                        <m:r>
                          <m:rPr>
                            <m:sty m:val="p"/>
                          </m:rPr>
                          <a:rPr lang="fr-FR" sz="2400" b="0" i="0" spc="-1" smtClean="0">
                            <a:solidFill>
                              <a:srgbClr val="376092"/>
                            </a:solidFill>
                            <a:latin typeface="Cambria Math" panose="02040503050406030204" pitchFamily="18" charset="0"/>
                          </a:rPr>
                          <m:t>n</m:t>
                        </m:r>
                      </m:den>
                    </m:f>
                    <m:nary>
                      <m:naryPr>
                        <m:chr m:val="∑"/>
                        <m:ctrlPr>
                          <a:rPr lang="pt-BR" sz="2400" i="1" spc="-1" smtClean="0">
                            <a:solidFill>
                              <a:srgbClr val="376092"/>
                            </a:solidFill>
                            <a:latin typeface="Cambria Math" panose="02040503050406030204" pitchFamily="18" charset="0"/>
                          </a:rPr>
                        </m:ctrlPr>
                      </m:naryPr>
                      <m:sub>
                        <m:r>
                          <m:rPr>
                            <m:brk m:alnAt="23"/>
                          </m:rPr>
                          <a:rPr lang="fr-FR" sz="2400" b="0" i="1" spc="-1" smtClean="0">
                            <a:solidFill>
                              <a:srgbClr val="376092"/>
                            </a:solidFill>
                            <a:latin typeface="Cambria Math" panose="02040503050406030204" pitchFamily="18" charset="0"/>
                          </a:rPr>
                          <m:t>𝑖</m:t>
                        </m:r>
                        <m:r>
                          <a:rPr lang="pt-BR" sz="240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1</m:t>
                        </m:r>
                      </m:sub>
                      <m:sup>
                        <m:r>
                          <a:rPr lang="pt-BR" sz="2400" i="1" spc="-1" smtClean="0">
                            <a:solidFill>
                              <a:srgbClr val="376092"/>
                            </a:solidFill>
                            <a:latin typeface="Cambria Math" panose="02040503050406030204" pitchFamily="18" charset="0"/>
                          </a:rPr>
                          <m:t>𝑛</m:t>
                        </m:r>
                      </m:sup>
                      <m:e>
                        <m:d>
                          <m:dPr>
                            <m:ctrlPr>
                              <a:rPr lang="pt-BR" sz="240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r>
                              <a:rPr lang="fr-FR" sz="2400" b="0" i="1" spc="-1" baseline="-25000" smtClean="0">
                                <a:solidFill>
                                  <a:srgbClr val="376092"/>
                                </a:solidFill>
                                <a:latin typeface="Cambria Math" panose="02040503050406030204" pitchFamily="18" charset="0"/>
                              </a:rPr>
                              <m:t>𝑖</m:t>
                            </m:r>
                            <m:r>
                              <a:rPr lang="fr-FR" sz="2400" b="0" i="1" spc="-1" smtClean="0">
                                <a:solidFill>
                                  <a:srgbClr val="376092"/>
                                </a:solidFill>
                                <a:latin typeface="Cambria Math" panose="02040503050406030204" pitchFamily="18" charset="0"/>
                              </a:rPr>
                              <m:t> −</m:t>
                            </m:r>
                            <m:r>
                              <a:rPr lang="fr-FR" sz="2400" b="0" i="1" spc="-1" smtClean="0">
                                <a:solidFill>
                                  <a:srgbClr val="376092"/>
                                </a:solidFill>
                                <a:latin typeface="Cambria Math" panose="02040503050406030204" pitchFamily="18" charset="0"/>
                              </a:rPr>
                              <m:t>𝑚𝑜𝑦</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e>
                            </m:d>
                          </m:e>
                        </m:d>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𝑦𝑖</m:t>
                        </m:r>
                        <m:r>
                          <a:rPr lang="fr-FR" sz="2400" b="0" i="1" spc="-1" smtClean="0">
                            <a:solidFill>
                              <a:srgbClr val="376092"/>
                            </a:solidFill>
                            <a:latin typeface="Cambria Math" panose="02040503050406030204" pitchFamily="18" charset="0"/>
                          </a:rPr>
                          <m:t> −</m:t>
                        </m:r>
                        <m:r>
                          <a:rPr lang="fr-FR" sz="2400" b="0" i="1" spc="-1" smtClean="0">
                            <a:solidFill>
                              <a:srgbClr val="376092"/>
                            </a:solidFill>
                            <a:latin typeface="Cambria Math" panose="02040503050406030204" pitchFamily="18" charset="0"/>
                          </a:rPr>
                          <m:t>𝑚𝑜𝑦</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𝑦</m:t>
                            </m:r>
                          </m:e>
                        </m:d>
                        <m:r>
                          <a:rPr lang="fr-FR" sz="2400" b="0" i="1" spc="-1" smtClean="0">
                            <a:solidFill>
                              <a:srgbClr val="376092"/>
                            </a:solidFill>
                            <a:latin typeface="Cambria Math" panose="02040503050406030204" pitchFamily="18" charset="0"/>
                          </a:rPr>
                          <m:t>)</m:t>
                        </m:r>
                      </m:e>
                    </m:nary>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dispersion est facilement compréhensible, pour chaque point on multiplie l'écart par rapport à la moyenne en x par l'écart par rapport à la moyenne en y.</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covariance devient plus positive si l'écart est dans le même sens et plus négative si les écarts sont de sens différents.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la covariance de la série suivante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69506"/>
                <a:ext cx="8229240" cy="4856253"/>
              </a:xfrm>
              <a:prstGeom prst="rect">
                <a:avLst/>
              </a:prstGeom>
              <a:blipFill>
                <a:blip r:embed="rId2"/>
                <a:stretch>
                  <a:fillRect t="-1882" r="-519"/>
                </a:stretch>
              </a:blipFill>
              <a:ln w="0">
                <a:noFill/>
              </a:ln>
            </p:spPr>
            <p:txBody>
              <a:bodyPr/>
              <a:lstStyle/>
              <a:p>
                <a:r>
                  <a:rPr lang="fr-FR">
                    <a:noFill/>
                  </a:rPr>
                  <a:t> </a:t>
                </a:r>
              </a:p>
            </p:txBody>
          </p:sp>
        </mc:Fallback>
      </mc:AlternateContent>
      <p:pic>
        <p:nvPicPr>
          <p:cNvPr id="2" name="Image 1">
            <a:extLst>
              <a:ext uri="{FF2B5EF4-FFF2-40B4-BE49-F238E27FC236}">
                <a16:creationId xmlns:a16="http://schemas.microsoft.com/office/drawing/2014/main" id="{52ABE096-5245-E543-635F-583ACA45553C}"/>
              </a:ext>
            </a:extLst>
          </p:cNvPr>
          <p:cNvPicPr>
            <a:picLocks noChangeAspect="1"/>
          </p:cNvPicPr>
          <p:nvPr/>
        </p:nvPicPr>
        <p:blipFill>
          <a:blip r:embed="rId3"/>
          <a:stretch>
            <a:fillRect/>
          </a:stretch>
        </p:blipFill>
        <p:spPr>
          <a:xfrm>
            <a:off x="228043" y="5467990"/>
            <a:ext cx="8687553" cy="463336"/>
          </a:xfrm>
          <a:prstGeom prst="rect">
            <a:avLst/>
          </a:prstGeom>
        </p:spPr>
      </p:pic>
    </p:spTree>
    <p:extLst>
      <p:ext uri="{BB962C8B-B14F-4D97-AF65-F5344CB8AC3E}">
        <p14:creationId xmlns:p14="http://schemas.microsoft.com/office/powerpoint/2010/main" val="3456967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Coefficient de corrélation linéaire :</a:t>
            </a:r>
            <a:endParaRPr lang="en-US" sz="3200" b="0" strike="noStrike" spc="-1" dirty="0">
              <a:solidFill>
                <a:srgbClr val="376092"/>
              </a:solidFill>
              <a:latin typeface="Arial"/>
            </a:endParaRPr>
          </a:p>
        </p:txBody>
      </p:sp>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 de la covariance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Plus la covariance est positive, plus cela témoigne que les valeurs supérieures à la moyenne de la série 1 sont en relation avec les valeurs supérieures à la moyenne dans la série 2.</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Inversement, une valeur de covariance négative indique que les valeurs supérieures à la moyenne de la série 1 sont en relation avec des valeurs inférieures à la moyenne dans la série 2.</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pic>
        <p:nvPicPr>
          <p:cNvPr id="3" name="Image 2">
            <a:extLst>
              <a:ext uri="{FF2B5EF4-FFF2-40B4-BE49-F238E27FC236}">
                <a16:creationId xmlns:a16="http://schemas.microsoft.com/office/drawing/2014/main" id="{297BBF36-824C-4D3D-8E75-6C32EB82622D}"/>
              </a:ext>
            </a:extLst>
          </p:cNvPr>
          <p:cNvPicPr>
            <a:picLocks noChangeAspect="1"/>
          </p:cNvPicPr>
          <p:nvPr/>
        </p:nvPicPr>
        <p:blipFill>
          <a:blip r:embed="rId2"/>
          <a:stretch>
            <a:fillRect/>
          </a:stretch>
        </p:blipFill>
        <p:spPr>
          <a:xfrm>
            <a:off x="457200" y="1777699"/>
            <a:ext cx="8522563" cy="1993840"/>
          </a:xfrm>
          <a:prstGeom prst="rect">
            <a:avLst/>
          </a:prstGeom>
        </p:spPr>
      </p:pic>
    </p:spTree>
    <p:extLst>
      <p:ext uri="{BB962C8B-B14F-4D97-AF65-F5344CB8AC3E}">
        <p14:creationId xmlns:p14="http://schemas.microsoft.com/office/powerpoint/2010/main" val="2427386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AE9FC-C6E4-B476-2A62-B91455CB9D53}"/>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9AFA4AEE-77D3-50DC-9339-F3A6747F9959}"/>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Coefficient de corrélation linéaire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D4F55529-3EF8-AD01-845C-9815FF2DA811}"/>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Maintenant que nous avons la covariance, il ne reste plus qu'à calculer les écart types de chaque série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r </a:t>
                </a:r>
                <a14:m>
                  <m:oMath xmlns:m="http://schemas.openxmlformats.org/officeDocument/2006/math">
                    <m:r>
                      <a:rPr lang="en-US" sz="2400" i="1" spc="-1" smtClean="0">
                        <a:solidFill>
                          <a:srgbClr val="376092"/>
                        </a:solidFill>
                        <a:latin typeface="Cambria Math" panose="02040503050406030204" pitchFamily="18" charset="0"/>
                      </a:rPr>
                      <m:t>=</m:t>
                    </m:r>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𝑐𝑜𝑣</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𝑥</m:t>
                        </m:r>
                        <m:r>
                          <a:rPr lang="fr-FR" sz="2400" b="0" i="1" spc="-1" smtClean="0">
                            <a:solidFill>
                              <a:srgbClr val="376092"/>
                            </a:solidFill>
                            <a:latin typeface="Cambria Math" panose="02040503050406030204" pitchFamily="18" charset="0"/>
                          </a:rPr>
                          <m:t>, </m:t>
                        </m:r>
                        <m:r>
                          <a:rPr lang="fr-FR" sz="2400" b="0" i="1" spc="-1" smtClean="0">
                            <a:solidFill>
                              <a:srgbClr val="376092"/>
                            </a:solidFill>
                            <a:latin typeface="Cambria Math" panose="02040503050406030204" pitchFamily="18" charset="0"/>
                          </a:rPr>
                          <m:t>𝑦</m:t>
                        </m:r>
                        <m:r>
                          <a:rPr lang="fr-FR" sz="2400" b="0" i="1" spc="-1" smtClean="0">
                            <a:solidFill>
                              <a:srgbClr val="376092"/>
                            </a:solidFill>
                            <a:latin typeface="Cambria Math" panose="02040503050406030204" pitchFamily="18" charset="0"/>
                          </a:rPr>
                          <m:t>)</m:t>
                        </m:r>
                      </m:num>
                      <m:den>
                        <m:r>
                          <a:rPr lang="fr-FR" sz="2400" i="1" spc="-1">
                            <a:solidFill>
                              <a:srgbClr val="376092"/>
                            </a:solidFill>
                            <a:latin typeface="Cambria Math" panose="02040503050406030204" pitchFamily="18" charset="0"/>
                            <a:ea typeface="Cambria Math" panose="02040503050406030204" pitchFamily="18" charset="0"/>
                          </a:rPr>
                          <m:t>𝜎</m:t>
                        </m:r>
                        <m:r>
                          <a:rPr lang="fr-FR" sz="2400" b="0" i="1" spc="-1" baseline="-25000" smtClean="0">
                            <a:solidFill>
                              <a:srgbClr val="376092"/>
                            </a:solidFill>
                            <a:latin typeface="Cambria Math" panose="02040503050406030204" pitchFamily="18" charset="0"/>
                            <a:ea typeface="Cambria Math" panose="02040503050406030204" pitchFamily="18" charset="0"/>
                          </a:rPr>
                          <m:t>𝑥</m:t>
                        </m:r>
                        <m:r>
                          <a:rPr lang="fr-FR" sz="2400" b="0" i="1" spc="-1" smtClean="0">
                            <a:solidFill>
                              <a:srgbClr val="376092"/>
                            </a:solidFill>
                            <a:latin typeface="Cambria Math" panose="02040503050406030204" pitchFamily="18" charset="0"/>
                            <a:ea typeface="Cambria Math" panose="02040503050406030204" pitchFamily="18" charset="0"/>
                          </a:rPr>
                          <m:t>.</m:t>
                        </m:r>
                        <m:r>
                          <a:rPr lang="fr-FR" sz="2400" i="1" spc="-1">
                            <a:solidFill>
                              <a:srgbClr val="376092"/>
                            </a:solidFill>
                            <a:latin typeface="Cambria Math" panose="02040503050406030204" pitchFamily="18" charset="0"/>
                            <a:ea typeface="Cambria Math" panose="02040503050406030204" pitchFamily="18" charset="0"/>
                          </a:rPr>
                          <m:t>𝜎</m:t>
                        </m:r>
                        <m:r>
                          <a:rPr lang="fr-FR" sz="2400" b="0" i="1" spc="-1" baseline="-25000" smtClean="0">
                            <a:solidFill>
                              <a:srgbClr val="376092"/>
                            </a:solidFill>
                            <a:latin typeface="Cambria Math" panose="02040503050406030204" pitchFamily="18" charset="0"/>
                            <a:ea typeface="Cambria Math" panose="02040503050406030204" pitchFamily="18" charset="0"/>
                          </a:rPr>
                          <m:t>𝑦</m:t>
                        </m:r>
                      </m:den>
                    </m:f>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Rappelons que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Ecart-type :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𝜎</m:t>
                    </m:r>
                  </m:oMath>
                </a14:m>
                <a:r>
                  <a:rPr lang="fr-FR" sz="2400" spc="-1" dirty="0">
                    <a:solidFill>
                      <a:srgbClr val="376092"/>
                    </a:solidFill>
                    <a:latin typeface="Calibri"/>
                  </a:rPr>
                  <a:t> = </a:t>
                </a:r>
                <a14:m>
                  <m:oMath xmlns:m="http://schemas.openxmlformats.org/officeDocument/2006/math">
                    <m:rad>
                      <m:radPr>
                        <m:degHide m:val="on"/>
                        <m:ctrlPr>
                          <a:rPr lang="fr-FR" sz="2400" i="1" spc="-1" dirty="0" smtClean="0">
                            <a:solidFill>
                              <a:srgbClr val="376092"/>
                            </a:solidFill>
                            <a:latin typeface="Cambria Math" panose="02040503050406030204" pitchFamily="18" charset="0"/>
                          </a:rPr>
                        </m:ctrlPr>
                      </m:radPr>
                      <m:deg/>
                      <m:e>
                        <m:r>
                          <a:rPr lang="fr-FR" sz="2400" i="1" spc="-1" dirty="0">
                            <a:solidFill>
                              <a:srgbClr val="376092"/>
                            </a:solidFill>
                            <a:latin typeface="Cambria Math" panose="02040503050406030204" pitchFamily="18" charset="0"/>
                          </a:rPr>
                          <m:t>𝑣</m:t>
                        </m:r>
                        <m:r>
                          <a:rPr lang="fr-FR" sz="2400" b="0" i="1" spc="-1" dirty="0" smtClean="0">
                            <a:solidFill>
                              <a:srgbClr val="376092"/>
                            </a:solidFill>
                            <a:latin typeface="Cambria Math" panose="02040503050406030204" pitchFamily="18" charset="0"/>
                          </a:rPr>
                          <m:t>𝑎𝑟𝑖𝑎𝑛𝑐𝑒</m:t>
                        </m:r>
                      </m:e>
                    </m:rad>
                  </m:oMath>
                </a14:m>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Variance = </a:t>
                </a:r>
                <a14:m>
                  <m:oMath xmlns:m="http://schemas.openxmlformats.org/officeDocument/2006/math">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𝑛</m:t>
                        </m:r>
                        <m:r>
                          <a:rPr lang="fr-FR" sz="2400" b="0" i="1" spc="-1" smtClean="0">
                            <a:solidFill>
                              <a:srgbClr val="376092"/>
                            </a:solidFill>
                            <a:latin typeface="Cambria Math" panose="02040503050406030204" pitchFamily="18" charset="0"/>
                          </a:rPr>
                          <m:t>1∗</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r>
                              <a:rPr lang="fr-FR" sz="2400" b="0" i="1" spc="-1" smtClean="0">
                                <a:solidFill>
                                  <a:srgbClr val="376092"/>
                                </a:solidFill>
                                <a:latin typeface="Cambria Math" panose="02040503050406030204" pitchFamily="18" charset="0"/>
                              </a:rPr>
                              <m:t>1−</m:t>
                            </m:r>
                            <m:r>
                              <a:rPr lang="fr-FR" sz="2400" b="0" i="1" spc="-1" smtClean="0">
                                <a:solidFill>
                                  <a:srgbClr val="376092"/>
                                </a:solidFill>
                                <a:latin typeface="Cambria Math" panose="02040503050406030204" pitchFamily="18" charset="0"/>
                              </a:rPr>
                              <m:t>𝑚𝑜𝑦𝑒𝑛𝑛𝑒</m:t>
                            </m:r>
                          </m:e>
                        </m:d>
                        <m:r>
                          <a:rPr lang="fr-FR" sz="2400" b="0" i="1" spc="-1" smtClean="0">
                            <a:solidFill>
                              <a:srgbClr val="376092"/>
                            </a:solidFill>
                            <a:latin typeface="Cambria Math" panose="02040503050406030204" pitchFamily="18" charset="0"/>
                          </a:rPr>
                          <m:t>²+ …</m:t>
                        </m:r>
                        <m:r>
                          <a:rPr lang="fr-FR" sz="2400" b="0" i="1" spc="-1" smtClean="0">
                            <a:solidFill>
                              <a:srgbClr val="376092"/>
                            </a:solidFill>
                            <a:latin typeface="Cambria Math" panose="02040503050406030204" pitchFamily="18" charset="0"/>
                          </a:rPr>
                          <m:t>𝑛𝑘</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𝑥𝑘</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𝑚𝑜𝑦𝑒𝑛𝑛𝑒</m:t>
                        </m:r>
                        <m:r>
                          <a:rPr lang="fr-FR" sz="2400" b="0" i="1" spc="-1" smtClean="0">
                            <a:solidFill>
                              <a:srgbClr val="376092"/>
                            </a:solidFill>
                            <a:latin typeface="Cambria Math" panose="02040503050406030204" pitchFamily="18" charset="0"/>
                          </a:rPr>
                          <m:t>)²</m:t>
                        </m:r>
                      </m:num>
                      <m:den>
                        <m:r>
                          <a:rPr lang="fr-FR" sz="2400" b="0" i="1" spc="-1" smtClean="0">
                            <a:solidFill>
                              <a:srgbClr val="376092"/>
                            </a:solidFill>
                            <a:latin typeface="Cambria Math" panose="02040503050406030204" pitchFamily="18" charset="0"/>
                          </a:rPr>
                          <m:t>𝑛</m:t>
                        </m:r>
                        <m:r>
                          <a:rPr lang="fr-FR" sz="2400" b="0" i="1" spc="-1" smtClean="0">
                            <a:solidFill>
                              <a:srgbClr val="376092"/>
                            </a:solidFill>
                            <a:latin typeface="Cambria Math" panose="02040503050406030204" pitchFamily="18" charset="0"/>
                          </a:rPr>
                          <m:t>1+ …+</m:t>
                        </m:r>
                        <m:r>
                          <a:rPr lang="fr-FR" sz="2400" b="0" i="1" spc="-1" smtClean="0">
                            <a:solidFill>
                              <a:srgbClr val="376092"/>
                            </a:solidFill>
                            <a:latin typeface="Cambria Math" panose="02040503050406030204" pitchFamily="18" charset="0"/>
                          </a:rPr>
                          <m:t>𝑛𝑘</m:t>
                        </m:r>
                      </m:den>
                    </m:f>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possible de calculer un écart type sous </a:t>
                </a:r>
                <a:r>
                  <a:rPr lang="fr-FR" sz="2400" spc="-1" dirty="0" err="1">
                    <a:solidFill>
                      <a:srgbClr val="376092"/>
                    </a:solidFill>
                    <a:latin typeface="Calibri"/>
                  </a:rPr>
                  <a:t>excel</a:t>
                </a:r>
                <a:r>
                  <a:rPr lang="fr-FR" sz="2400" spc="-1" dirty="0">
                    <a:solidFill>
                      <a:srgbClr val="376092"/>
                    </a:solidFill>
                    <a:latin typeface="Calibri"/>
                  </a:rPr>
                  <a:t> avec une fonction :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=ECARTYPE.PEARSON(série statistique)</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D4F55529-3EF8-AD01-845C-9815FF2DA811}"/>
                  </a:ext>
                </a:extLst>
              </p:cNvPr>
              <p:cNvSpPr txBox="1">
                <a:spLocks noRot="1" noChangeAspect="1" noMove="1" noResize="1" noEditPoints="1" noAdjustHandles="1" noChangeArrowheads="1" noChangeShapeType="1" noTextEdit="1"/>
              </p:cNvSpPr>
              <p:nvPr/>
            </p:nvSpPr>
            <p:spPr>
              <a:xfrm>
                <a:off x="457200" y="1269506"/>
                <a:ext cx="8229240" cy="4856253"/>
              </a:xfrm>
              <a:prstGeom prst="rect">
                <a:avLst/>
              </a:prstGeom>
              <a:blipFill>
                <a:blip r:embed="rId2"/>
                <a:stretch>
                  <a:fillRect t="-1882" r="-963"/>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116039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Droite d'ajustement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Si les points semblent alignés, on détermine la droite d'ajustement : y = </a:t>
                </a:r>
                <a14:m>
                  <m:oMath xmlns:m="http://schemas.openxmlformats.org/officeDocument/2006/math">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𝑐𝑜𝑣</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r>
                              <a:rPr lang="fr-FR" sz="2400" b="0" i="1" spc="-1" smtClean="0">
                                <a:solidFill>
                                  <a:srgbClr val="376092"/>
                                </a:solidFill>
                                <a:latin typeface="Cambria Math" panose="02040503050406030204" pitchFamily="18" charset="0"/>
                              </a:rPr>
                              <m:t>, </m:t>
                            </m:r>
                            <m:r>
                              <a:rPr lang="fr-FR" sz="2400" b="0" i="1" spc="-1" smtClean="0">
                                <a:solidFill>
                                  <a:srgbClr val="376092"/>
                                </a:solidFill>
                                <a:latin typeface="Cambria Math" panose="02040503050406030204" pitchFamily="18" charset="0"/>
                              </a:rPr>
                              <m:t>𝑦</m:t>
                            </m:r>
                          </m:e>
                        </m:d>
                      </m:num>
                      <m:den>
                        <m:r>
                          <a:rPr lang="fr-FR" sz="2400" b="0" i="1" spc="-1" smtClean="0">
                            <a:solidFill>
                              <a:srgbClr val="376092"/>
                            </a:solidFill>
                            <a:latin typeface="Cambria Math" panose="02040503050406030204" pitchFamily="18" charset="0"/>
                          </a:rPr>
                          <m:t>𝑣𝑎𝑟𝑖𝑎𝑛𝑐𝑒</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e>
                        </m:d>
                      </m:den>
                    </m:f>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r>
                          <a:rPr lang="fr-FR" sz="2400" b="0" i="1" spc="-1" smtClean="0">
                            <a:solidFill>
                              <a:srgbClr val="376092"/>
                            </a:solidFill>
                            <a:latin typeface="Cambria Math" panose="02040503050406030204" pitchFamily="18" charset="0"/>
                          </a:rPr>
                          <m:t> −</m:t>
                        </m:r>
                        <m:r>
                          <a:rPr lang="fr-FR" sz="2400" b="0" i="1" spc="-1" smtClean="0">
                            <a:solidFill>
                              <a:srgbClr val="376092"/>
                            </a:solidFill>
                            <a:latin typeface="Cambria Math" panose="02040503050406030204" pitchFamily="18" charset="0"/>
                          </a:rPr>
                          <m:t>𝑚𝑜𝑦</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e>
                        </m:d>
                      </m:e>
                    </m:d>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𝑚𝑜𝑦</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𝑦</m:t>
                    </m:r>
                    <m:r>
                      <a:rPr lang="fr-FR" sz="2400" b="0" i="1" spc="-1" smtClean="0">
                        <a:solidFill>
                          <a:srgbClr val="376092"/>
                        </a:solidFill>
                        <a:latin typeface="Cambria Math" panose="02040503050406030204" pitchFamily="18" charset="0"/>
                      </a:rPr>
                      <m:t>)</m:t>
                    </m:r>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 graphique reprend la série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l'équation de droite pour cette série.</a:t>
                </a: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69506"/>
                <a:ext cx="8229240" cy="4856253"/>
              </a:xfrm>
              <a:prstGeom prst="rect">
                <a:avLst/>
              </a:prstGeom>
              <a:blipFill>
                <a:blip r:embed="rId2"/>
                <a:stretch>
                  <a:fillRect t="-1882" b="-6650"/>
                </a:stretch>
              </a:blipFill>
              <a:ln w="0">
                <a:noFill/>
              </a:ln>
            </p:spPr>
            <p:txBody>
              <a:bodyPr/>
              <a:lstStyle/>
              <a:p>
                <a:r>
                  <a:rPr lang="fr-FR">
                    <a:noFill/>
                  </a:rPr>
                  <a:t> </a:t>
                </a:r>
              </a:p>
            </p:txBody>
          </p:sp>
        </mc:Fallback>
      </mc:AlternateContent>
      <p:graphicFrame>
        <p:nvGraphicFramePr>
          <p:cNvPr id="6" name="Graphique 5">
            <a:extLst>
              <a:ext uri="{FF2B5EF4-FFF2-40B4-BE49-F238E27FC236}">
                <a16:creationId xmlns:a16="http://schemas.microsoft.com/office/drawing/2014/main" id="{E03694F3-1C0D-46BE-9352-BC3240161866}"/>
              </a:ext>
            </a:extLst>
          </p:cNvPr>
          <p:cNvGraphicFramePr>
            <a:graphicFrameLocks/>
          </p:cNvGraphicFramePr>
          <p:nvPr>
            <p:extLst>
              <p:ext uri="{D42A27DB-BD31-4B8C-83A1-F6EECF244321}">
                <p14:modId xmlns:p14="http://schemas.microsoft.com/office/powerpoint/2010/main" val="3998910355"/>
              </p:ext>
            </p:extLst>
          </p:nvPr>
        </p:nvGraphicFramePr>
        <p:xfrm>
          <a:off x="2561208" y="2181303"/>
          <a:ext cx="4572000" cy="2743200"/>
        </p:xfrm>
        <a:graphic>
          <a:graphicData uri="http://schemas.openxmlformats.org/drawingml/2006/chart">
            <c:chart xmlns:c="http://schemas.openxmlformats.org/drawingml/2006/chart" xmlns:r="http://schemas.openxmlformats.org/officeDocument/2006/relationships" r:id="rId3"/>
          </a:graphicData>
        </a:graphic>
      </p:graphicFrame>
      <p:pic>
        <p:nvPicPr>
          <p:cNvPr id="3" name="Image 2">
            <a:extLst>
              <a:ext uri="{FF2B5EF4-FFF2-40B4-BE49-F238E27FC236}">
                <a16:creationId xmlns:a16="http://schemas.microsoft.com/office/drawing/2014/main" id="{C139C931-429D-472E-8B33-4FE5DF9A7105}"/>
              </a:ext>
            </a:extLst>
          </p:cNvPr>
          <p:cNvPicPr>
            <a:picLocks noChangeAspect="1"/>
          </p:cNvPicPr>
          <p:nvPr/>
        </p:nvPicPr>
        <p:blipFill>
          <a:blip r:embed="rId4"/>
          <a:stretch>
            <a:fillRect/>
          </a:stretch>
        </p:blipFill>
        <p:spPr>
          <a:xfrm>
            <a:off x="537099" y="5369857"/>
            <a:ext cx="8229240" cy="437273"/>
          </a:xfrm>
          <a:prstGeom prst="rect">
            <a:avLst/>
          </a:prstGeom>
        </p:spPr>
      </p:pic>
    </p:spTree>
    <p:extLst>
      <p:ext uri="{BB962C8B-B14F-4D97-AF65-F5344CB8AC3E}">
        <p14:creationId xmlns:p14="http://schemas.microsoft.com/office/powerpoint/2010/main" val="1482321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Droite d'ajustement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Arrondissons à 1 pour simplifier nos calculs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y = </a:t>
                </a:r>
                <a14:m>
                  <m:oMath xmlns:m="http://schemas.openxmlformats.org/officeDocument/2006/math">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𝑐𝑜𝑣</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r>
                              <a:rPr lang="fr-FR" sz="2400" b="0" i="1" spc="-1" smtClean="0">
                                <a:solidFill>
                                  <a:srgbClr val="376092"/>
                                </a:solidFill>
                                <a:latin typeface="Cambria Math" panose="02040503050406030204" pitchFamily="18" charset="0"/>
                              </a:rPr>
                              <m:t>, </m:t>
                            </m:r>
                            <m:r>
                              <a:rPr lang="fr-FR" sz="2400" b="0" i="1" spc="-1" smtClean="0">
                                <a:solidFill>
                                  <a:srgbClr val="376092"/>
                                </a:solidFill>
                                <a:latin typeface="Cambria Math" panose="02040503050406030204" pitchFamily="18" charset="0"/>
                              </a:rPr>
                              <m:t>𝑦</m:t>
                            </m:r>
                          </m:e>
                        </m:d>
                      </m:num>
                      <m:den>
                        <m:r>
                          <a:rPr lang="fr-FR" sz="2400" b="0" i="1" spc="-1" smtClean="0">
                            <a:solidFill>
                              <a:srgbClr val="376092"/>
                            </a:solidFill>
                            <a:latin typeface="Cambria Math" panose="02040503050406030204" pitchFamily="18" charset="0"/>
                          </a:rPr>
                          <m:t>𝑣𝑎𝑟𝑖𝑎𝑛𝑐𝑒</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e>
                        </m:d>
                      </m:den>
                    </m:f>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r>
                          <a:rPr lang="fr-FR" sz="2400" b="0" i="1" spc="-1" smtClean="0">
                            <a:solidFill>
                              <a:srgbClr val="376092"/>
                            </a:solidFill>
                            <a:latin typeface="Cambria Math" panose="02040503050406030204" pitchFamily="18" charset="0"/>
                          </a:rPr>
                          <m:t> −</m:t>
                        </m:r>
                        <m:r>
                          <a:rPr lang="fr-FR" sz="2400" b="0" i="1" spc="-1" smtClean="0">
                            <a:solidFill>
                              <a:srgbClr val="376092"/>
                            </a:solidFill>
                            <a:latin typeface="Cambria Math" panose="02040503050406030204" pitchFamily="18" charset="0"/>
                          </a:rPr>
                          <m:t>𝑚𝑜𝑦</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𝑥</m:t>
                            </m:r>
                          </m:e>
                        </m:d>
                      </m:e>
                    </m:d>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𝑚𝑜𝑦</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𝑦</m:t>
                        </m:r>
                      </m:e>
                    </m:d>
                  </m:oMath>
                </a14:m>
                <a:endParaRPr lang="fr-FR" sz="2400" b="0" spc="-1"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Y = x – 11 + 10,7 = x - 0,3</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notons que la droite d'ajustement passe par le point moyen.</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69506"/>
                <a:ext cx="8229240" cy="4856253"/>
              </a:xfrm>
              <a:prstGeom prst="rect">
                <a:avLst/>
              </a:prstGeom>
              <a:blipFill>
                <a:blip r:embed="rId2"/>
                <a:stretch>
                  <a:fillRect b="-6650"/>
                </a:stretch>
              </a:blipFill>
              <a:ln w="0">
                <a:noFill/>
              </a:ln>
            </p:spPr>
            <p:txBody>
              <a:bodyPr/>
              <a:lstStyle/>
              <a:p>
                <a:r>
                  <a:rPr lang="fr-FR">
                    <a:noFill/>
                  </a:rPr>
                  <a:t> </a:t>
                </a:r>
              </a:p>
            </p:txBody>
          </p:sp>
        </mc:Fallback>
      </mc:AlternateContent>
      <p:pic>
        <p:nvPicPr>
          <p:cNvPr id="2" name="Image 1">
            <a:extLst>
              <a:ext uri="{FF2B5EF4-FFF2-40B4-BE49-F238E27FC236}">
                <a16:creationId xmlns:a16="http://schemas.microsoft.com/office/drawing/2014/main" id="{ACCA108B-52D2-4F97-9FE2-29B433E55A27}"/>
              </a:ext>
            </a:extLst>
          </p:cNvPr>
          <p:cNvPicPr>
            <a:picLocks noChangeAspect="1"/>
          </p:cNvPicPr>
          <p:nvPr/>
        </p:nvPicPr>
        <p:blipFill>
          <a:blip r:embed="rId3"/>
          <a:stretch>
            <a:fillRect/>
          </a:stretch>
        </p:blipFill>
        <p:spPr>
          <a:xfrm>
            <a:off x="457200" y="1093311"/>
            <a:ext cx="8469297" cy="2637670"/>
          </a:xfrm>
          <a:prstGeom prst="rect">
            <a:avLst/>
          </a:prstGeom>
        </p:spPr>
      </p:pic>
    </p:spTree>
    <p:extLst>
      <p:ext uri="{BB962C8B-B14F-4D97-AF65-F5344CB8AC3E}">
        <p14:creationId xmlns:p14="http://schemas.microsoft.com/office/powerpoint/2010/main" val="3663676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E9759-7DDD-C944-D8E2-6AAE0EB43952}"/>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559533B3-0D92-0E57-F415-C0AE021E9388}"/>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Droite d'ajustement et estimation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CDFF3579-9079-D317-BB51-E03B77D08685}"/>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avons maintenant une équation de droite :</a:t>
            </a:r>
            <a:endParaRPr lang="fr-FR" sz="2400" b="0" spc="-1"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Y = x - 0,3</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Cette équation va nous permettre de faire des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interpolations : Estimation d'une valeur contenue dans les bornes de l'échantillon</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Estimons la note au final d'une personne ayant eu 12 toute l'année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extrapolations : Estimation d'une valeur en dehors des bornes de l'échantillon</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Estimons la note au final d'une personne ayant eu 20 toute l'année</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spTree>
    <p:extLst>
      <p:ext uri="{BB962C8B-B14F-4D97-AF65-F5344CB8AC3E}">
        <p14:creationId xmlns:p14="http://schemas.microsoft.com/office/powerpoint/2010/main" val="383803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Ajustement par changement de variable :</a:t>
            </a:r>
            <a:endParaRPr lang="en-US" sz="3200" b="0" strike="noStrike" spc="-1" dirty="0">
              <a:solidFill>
                <a:srgbClr val="376092"/>
              </a:solidFill>
              <a:latin typeface="Arial"/>
            </a:endParaRPr>
          </a:p>
        </p:txBody>
      </p:sp>
      <p:sp>
        <p:nvSpPr>
          <p:cNvPr id="136" name="TextShape 2"/>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 nuage de point peut être également approximer avec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Un ajustement exponentiel</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Un ajustement sous forme de puissance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 tableur nous propose habituellement ce genre de fonctionnalité</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pouvons également nous ramener à une droite d'ajustement avec un changement de variable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Commençons par représenter graphiquement l'évolution des salariés d'une entreprise par année</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graphicFrame>
        <p:nvGraphicFramePr>
          <p:cNvPr id="5" name="Objet 4">
            <a:extLst>
              <a:ext uri="{FF2B5EF4-FFF2-40B4-BE49-F238E27FC236}">
                <a16:creationId xmlns:a16="http://schemas.microsoft.com/office/drawing/2014/main" id="{F15D117E-A766-40DD-CB06-0DE968A3342C}"/>
              </a:ext>
            </a:extLst>
          </p:cNvPr>
          <p:cNvGraphicFramePr>
            <a:graphicFrameLocks noChangeAspect="1"/>
          </p:cNvGraphicFramePr>
          <p:nvPr>
            <p:extLst>
              <p:ext uri="{D42A27DB-BD31-4B8C-83A1-F6EECF244321}">
                <p14:modId xmlns:p14="http://schemas.microsoft.com/office/powerpoint/2010/main" val="195068727"/>
              </p:ext>
            </p:extLst>
          </p:nvPr>
        </p:nvGraphicFramePr>
        <p:xfrm>
          <a:off x="1922899" y="5383706"/>
          <a:ext cx="6096000" cy="409575"/>
        </p:xfrm>
        <a:graphic>
          <a:graphicData uri="http://schemas.openxmlformats.org/presentationml/2006/ole">
            <mc:AlternateContent xmlns:mc="http://schemas.openxmlformats.org/markup-compatibility/2006">
              <mc:Choice xmlns:v="urn:schemas-microsoft-com:vml" Requires="v">
                <p:oleObj name="Worksheet" r:id="rId2" imgW="10058400" imgH="676203" progId="Excel.Sheet.12">
                  <p:embed/>
                </p:oleObj>
              </mc:Choice>
              <mc:Fallback>
                <p:oleObj name="Worksheet" r:id="rId2" imgW="10058400" imgH="676203" progId="Excel.Sheet.12">
                  <p:embed/>
                  <p:pic>
                    <p:nvPicPr>
                      <p:cNvPr id="0" name=""/>
                      <p:cNvPicPr/>
                      <p:nvPr/>
                    </p:nvPicPr>
                    <p:blipFill>
                      <a:blip r:embed="rId3"/>
                      <a:stretch>
                        <a:fillRect/>
                      </a:stretch>
                    </p:blipFill>
                    <p:spPr>
                      <a:xfrm>
                        <a:off x="1922899" y="5383706"/>
                        <a:ext cx="6096000" cy="409575"/>
                      </a:xfrm>
                      <a:prstGeom prst="rect">
                        <a:avLst/>
                      </a:prstGeom>
                    </p:spPr>
                  </p:pic>
                </p:oleObj>
              </mc:Fallback>
            </mc:AlternateContent>
          </a:graphicData>
        </a:graphic>
      </p:graphicFrame>
    </p:spTree>
    <p:extLst>
      <p:ext uri="{BB962C8B-B14F-4D97-AF65-F5344CB8AC3E}">
        <p14:creationId xmlns:p14="http://schemas.microsoft.com/office/powerpoint/2010/main" val="2787462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E5D9-1938-9218-3FE4-393E22C58F2E}"/>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751E22B1-5477-2D83-31D8-AA03169513C1}"/>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Ajustement par changement de variable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DFA36FDD-C630-3B01-6053-4CE04C8EEBA8}"/>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Cette représentation semble indiquer que la courbe de tendance n'est pas une droite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L'allure de la courbe est plutôt exponentielle : y = e</a:t>
            </a:r>
            <a:r>
              <a:rPr lang="fr-FR" sz="2400" spc="-1" baseline="30000" dirty="0">
                <a:solidFill>
                  <a:srgbClr val="376092"/>
                </a:solidFill>
                <a:latin typeface="Calibri"/>
              </a:rPr>
              <a:t>x</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x : </a:t>
            </a:r>
            <a:r>
              <a:rPr lang="fr-FR" sz="2400" spc="-1">
                <a:solidFill>
                  <a:srgbClr val="376092"/>
                </a:solidFill>
                <a:latin typeface="Calibri"/>
              </a:rPr>
              <a:t>les années</a:t>
            </a: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y : le nombre de salariés</a:t>
            </a: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graphicFrame>
        <p:nvGraphicFramePr>
          <p:cNvPr id="5" name="Graphique 4">
            <a:extLst>
              <a:ext uri="{FF2B5EF4-FFF2-40B4-BE49-F238E27FC236}">
                <a16:creationId xmlns:a16="http://schemas.microsoft.com/office/drawing/2014/main" id="{67E2141E-8668-ED8B-C0C9-476A8341AD37}"/>
              </a:ext>
            </a:extLst>
          </p:cNvPr>
          <p:cNvGraphicFramePr>
            <a:graphicFrameLocks/>
          </p:cNvGraphicFramePr>
          <p:nvPr/>
        </p:nvGraphicFramePr>
        <p:xfrm>
          <a:off x="2286000" y="205740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3219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5BBFD-8E46-E1F3-AAD3-8B95786F08EC}"/>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D90166D2-8A73-344C-2CE2-319C9C12B8C8}"/>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Ajustement par changement de variable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7ED9EE75-DC9C-BF17-39B8-4A05139CEC44}"/>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fonction inverse de l'exponentielle est le logarithme népérien:</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ln (e</a:t>
            </a:r>
            <a:r>
              <a:rPr lang="fr-FR" sz="2400" spc="-1" baseline="30000" dirty="0">
                <a:solidFill>
                  <a:srgbClr val="376092"/>
                </a:solidFill>
                <a:latin typeface="Calibri"/>
              </a:rPr>
              <a:t>x</a:t>
            </a:r>
            <a:r>
              <a:rPr lang="fr-FR" sz="2400" spc="-1" dirty="0">
                <a:solidFill>
                  <a:srgbClr val="376092"/>
                </a:solidFill>
                <a:latin typeface="Calibri"/>
              </a:rPr>
              <a:t>) = </a:t>
            </a:r>
            <a:r>
              <a:rPr lang="fr-FR" sz="2400" spc="-1" dirty="0" err="1">
                <a:solidFill>
                  <a:srgbClr val="376092"/>
                </a:solidFill>
                <a:latin typeface="Calibri"/>
              </a:rPr>
              <a:t>e</a:t>
            </a:r>
            <a:r>
              <a:rPr lang="fr-FR" sz="2400" spc="-1" baseline="30000" dirty="0" err="1">
                <a:solidFill>
                  <a:srgbClr val="376092"/>
                </a:solidFill>
                <a:latin typeface="Calibri"/>
              </a:rPr>
              <a:t>ln</a:t>
            </a:r>
            <a:r>
              <a:rPr lang="fr-FR" sz="2400" spc="-1" baseline="30000" dirty="0">
                <a:solidFill>
                  <a:srgbClr val="376092"/>
                </a:solidFill>
                <a:latin typeface="Calibri"/>
              </a:rPr>
              <a:t>(x)</a:t>
            </a:r>
            <a:r>
              <a:rPr lang="fr-FR" sz="2400" spc="-1" dirty="0">
                <a:solidFill>
                  <a:srgbClr val="376092"/>
                </a:solidFill>
                <a:latin typeface="Calibri"/>
              </a:rPr>
              <a:t> = x</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Posons z = ln(y)</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Représentons graphiquement z en fonction de x :</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pic>
        <p:nvPicPr>
          <p:cNvPr id="2" name="Image 1">
            <a:extLst>
              <a:ext uri="{FF2B5EF4-FFF2-40B4-BE49-F238E27FC236}">
                <a16:creationId xmlns:a16="http://schemas.microsoft.com/office/drawing/2014/main" id="{B9DAC5E5-C1B4-0192-2B99-C7AD572383FF}"/>
              </a:ext>
            </a:extLst>
          </p:cNvPr>
          <p:cNvPicPr>
            <a:picLocks noChangeAspect="1"/>
          </p:cNvPicPr>
          <p:nvPr/>
        </p:nvPicPr>
        <p:blipFill>
          <a:blip r:embed="rId2"/>
          <a:stretch>
            <a:fillRect/>
          </a:stretch>
        </p:blipFill>
        <p:spPr>
          <a:xfrm>
            <a:off x="318939" y="3147386"/>
            <a:ext cx="8505761" cy="861037"/>
          </a:xfrm>
          <a:prstGeom prst="rect">
            <a:avLst/>
          </a:prstGeom>
        </p:spPr>
      </p:pic>
      <p:graphicFrame>
        <p:nvGraphicFramePr>
          <p:cNvPr id="4" name="Graphique 3">
            <a:extLst>
              <a:ext uri="{FF2B5EF4-FFF2-40B4-BE49-F238E27FC236}">
                <a16:creationId xmlns:a16="http://schemas.microsoft.com/office/drawing/2014/main" id="{F62D44E2-DB00-BDC0-F7A7-5A447D4C7149}"/>
              </a:ext>
            </a:extLst>
          </p:cNvPr>
          <p:cNvGraphicFramePr>
            <a:graphicFrameLocks/>
          </p:cNvGraphicFramePr>
          <p:nvPr>
            <p:extLst>
              <p:ext uri="{D42A27DB-BD31-4B8C-83A1-F6EECF244321}">
                <p14:modId xmlns:p14="http://schemas.microsoft.com/office/powerpoint/2010/main" val="1474418622"/>
              </p:ext>
            </p:extLst>
          </p:nvPr>
        </p:nvGraphicFramePr>
        <p:xfrm>
          <a:off x="2804569" y="4381756"/>
          <a:ext cx="3350754" cy="220156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63295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B9D0C-CF30-C7EB-BC1A-D366E2D1EE5F}"/>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B54FD9A9-D187-9E22-695F-2FC30096FC40}"/>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Ajustement par changement de variable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AE5673A0-38A5-D403-4942-3C3F2549A70A}"/>
              </a:ext>
            </a:extLst>
          </p:cNvPr>
          <p:cNvSpPr txBox="1"/>
          <p:nvPr/>
        </p:nvSpPr>
        <p:spPr>
          <a:xfrm>
            <a:off x="457200" y="1269506"/>
            <a:ext cx="8229240" cy="485625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 changement de variable permet un alignement des points et il est maintenant pertinent de calculer une droite de tendance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Avec la calculatrice ou avec le tableur, donner l'équation de la droite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z = 0,452x + 2,4696</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Problème, nous avons z en fonction de x mais nous avons complètement fait disparaitre y (Nombre de salariés)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Cependant, nous savons que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z = ln(y)</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Et donc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ln(y) = 0,452x + 2,4696</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spTree>
    <p:extLst>
      <p:ext uri="{BB962C8B-B14F-4D97-AF65-F5344CB8AC3E}">
        <p14:creationId xmlns:p14="http://schemas.microsoft.com/office/powerpoint/2010/main" val="93824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3CA21-CFBB-328B-76A5-1F5D4320D7DE}"/>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7040D689-B24C-7403-0612-9F5AA118698A}"/>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Ajustement par changement de variable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099C4FEE-C93F-A08C-6275-2B170D9155B7}"/>
              </a:ext>
            </a:extLst>
          </p:cNvPr>
          <p:cNvSpPr txBox="1"/>
          <p:nvPr/>
        </p:nvSpPr>
        <p:spPr>
          <a:xfrm>
            <a:off x="457200" y="1098508"/>
            <a:ext cx="8229240" cy="5027252"/>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Il reste uniquement à isoler y pour avoir une courbe de tendance de y en fonction de x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ln(y) = 0,452x + 2,4696</a:t>
            </a:r>
          </a:p>
          <a:p>
            <a:pPr marL="864000" lvl="1" indent="-324000">
              <a:spcAft>
                <a:spcPts val="1134"/>
              </a:spcAft>
              <a:buClr>
                <a:srgbClr val="000000"/>
              </a:buClr>
              <a:buSzPct val="45000"/>
              <a:buFont typeface="Wingdings" charset="2"/>
              <a:buChar char=""/>
            </a:pPr>
            <a:r>
              <a:rPr lang="fr-FR" sz="2400" spc="-1" dirty="0" err="1">
                <a:solidFill>
                  <a:srgbClr val="376092"/>
                </a:solidFill>
                <a:latin typeface="Calibri"/>
              </a:rPr>
              <a:t>e</a:t>
            </a:r>
            <a:r>
              <a:rPr lang="fr-FR" sz="2400" spc="-1" baseline="30000" dirty="0" err="1">
                <a:solidFill>
                  <a:srgbClr val="376092"/>
                </a:solidFill>
                <a:latin typeface="Calibri"/>
              </a:rPr>
              <a:t>ln</a:t>
            </a:r>
            <a:r>
              <a:rPr lang="fr-FR" sz="2400" spc="-1" baseline="30000" dirty="0">
                <a:solidFill>
                  <a:srgbClr val="376092"/>
                </a:solidFill>
                <a:latin typeface="Calibri"/>
              </a:rPr>
              <a:t>(y) </a:t>
            </a:r>
            <a:r>
              <a:rPr lang="fr-FR" sz="2400" spc="-1" dirty="0">
                <a:solidFill>
                  <a:srgbClr val="376092"/>
                </a:solidFill>
                <a:latin typeface="Calibri"/>
              </a:rPr>
              <a:t>= e</a:t>
            </a:r>
            <a:r>
              <a:rPr lang="fr-FR" sz="2400" spc="-1" baseline="30000" dirty="0">
                <a:solidFill>
                  <a:srgbClr val="376092"/>
                </a:solidFill>
                <a:latin typeface="Calibri"/>
              </a:rPr>
              <a:t>0,452x + 2,4696</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y = e</a:t>
            </a:r>
            <a:r>
              <a:rPr lang="fr-FR" sz="2400" spc="-1" baseline="30000" dirty="0">
                <a:solidFill>
                  <a:srgbClr val="376092"/>
                </a:solidFill>
                <a:latin typeface="Calibri"/>
              </a:rPr>
              <a:t>0,452x + 2,4696</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Or e </a:t>
            </a:r>
            <a:r>
              <a:rPr lang="fr-FR" sz="2400" spc="-1" baseline="30000" dirty="0">
                <a:solidFill>
                  <a:srgbClr val="376092"/>
                </a:solidFill>
                <a:latin typeface="Calibri"/>
              </a:rPr>
              <a:t>a + b </a:t>
            </a:r>
            <a:r>
              <a:rPr lang="fr-FR" sz="2400" spc="-1" dirty="0">
                <a:solidFill>
                  <a:srgbClr val="376092"/>
                </a:solidFill>
                <a:latin typeface="Calibri"/>
              </a:rPr>
              <a:t>= </a:t>
            </a:r>
            <a:r>
              <a:rPr lang="fr-FR" sz="2400" spc="-1" dirty="0" err="1">
                <a:solidFill>
                  <a:srgbClr val="376092"/>
                </a:solidFill>
                <a:latin typeface="Calibri"/>
              </a:rPr>
              <a:t>e</a:t>
            </a:r>
            <a:r>
              <a:rPr lang="fr-FR" sz="2400" spc="-1" baseline="30000" dirty="0" err="1">
                <a:solidFill>
                  <a:srgbClr val="376092"/>
                </a:solidFill>
                <a:latin typeface="Calibri"/>
              </a:rPr>
              <a:t>a</a:t>
            </a:r>
            <a:r>
              <a:rPr lang="fr-FR" sz="2400" spc="-1" dirty="0">
                <a:solidFill>
                  <a:srgbClr val="376092"/>
                </a:solidFill>
                <a:latin typeface="Calibri"/>
              </a:rPr>
              <a:t> * </a:t>
            </a:r>
            <a:r>
              <a:rPr lang="fr-FR" sz="2400" spc="-1" dirty="0" err="1">
                <a:solidFill>
                  <a:srgbClr val="376092"/>
                </a:solidFill>
                <a:latin typeface="Calibri"/>
              </a:rPr>
              <a:t>e</a:t>
            </a:r>
            <a:r>
              <a:rPr lang="fr-FR" sz="2400" spc="-1" baseline="30000" dirty="0" err="1">
                <a:solidFill>
                  <a:srgbClr val="376092"/>
                </a:solidFill>
                <a:latin typeface="Calibri"/>
              </a:rPr>
              <a:t>b</a:t>
            </a:r>
            <a:r>
              <a:rPr lang="fr-FR" sz="2400" spc="-1" baseline="30000" dirty="0">
                <a:solidFill>
                  <a:srgbClr val="376092"/>
                </a:solidFill>
                <a:latin typeface="Calibri"/>
              </a:rPr>
              <a:t>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y = e</a:t>
            </a:r>
            <a:r>
              <a:rPr lang="fr-FR" sz="2400" spc="-1" baseline="30000" dirty="0">
                <a:solidFill>
                  <a:srgbClr val="376092"/>
                </a:solidFill>
                <a:latin typeface="Calibri"/>
              </a:rPr>
              <a:t>0,452x </a:t>
            </a:r>
            <a:r>
              <a:rPr lang="fr-FR" sz="2400" spc="-1" dirty="0">
                <a:solidFill>
                  <a:srgbClr val="376092"/>
                </a:solidFill>
                <a:latin typeface="Calibri"/>
              </a:rPr>
              <a:t>*e</a:t>
            </a:r>
            <a:r>
              <a:rPr lang="fr-FR" sz="2400" spc="-1" baseline="30000" dirty="0">
                <a:solidFill>
                  <a:srgbClr val="376092"/>
                </a:solidFill>
                <a:latin typeface="Calibri"/>
              </a:rPr>
              <a:t> 2,4696</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y = 11,82 * e</a:t>
            </a:r>
            <a:r>
              <a:rPr lang="fr-FR" sz="2400" spc="-1" baseline="30000" dirty="0">
                <a:solidFill>
                  <a:srgbClr val="376092"/>
                </a:solidFill>
                <a:latin typeface="Calibri"/>
              </a:rPr>
              <a:t>0,452x</a:t>
            </a: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Traçons cette courbe de tendance pour voir si elle correspond bien à notre nuage de point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l'entreprise suis la même tendance, combien de salariés comptera t'elle dans 15 ans ? dans 20 ans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spTree>
    <p:extLst>
      <p:ext uri="{BB962C8B-B14F-4D97-AF65-F5344CB8AC3E}">
        <p14:creationId xmlns:p14="http://schemas.microsoft.com/office/powerpoint/2010/main" val="1526211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Bilan</a:t>
            </a:r>
            <a:endParaRPr lang="en-US" sz="3200" b="0" strike="noStrike" spc="-1" dirty="0">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348</TotalTime>
  <Words>1781</Words>
  <Application>Microsoft Office PowerPoint</Application>
  <PresentationFormat>Affichage à l'écran (4:3)</PresentationFormat>
  <Paragraphs>751</Paragraphs>
  <Slides>26</Slides>
  <Notes>0</Notes>
  <HiddenSlides>0</HiddenSlides>
  <MMClips>0</MMClips>
  <ScaleCrop>false</ScaleCrop>
  <HeadingPairs>
    <vt:vector size="8" baseType="variant">
      <vt:variant>
        <vt:lpstr>Polices utilisées</vt:lpstr>
      </vt:variant>
      <vt:variant>
        <vt:i4>7</vt:i4>
      </vt:variant>
      <vt:variant>
        <vt:lpstr>Thème</vt:lpstr>
      </vt:variant>
      <vt:variant>
        <vt:i4>3</vt:i4>
      </vt:variant>
      <vt:variant>
        <vt:lpstr>Serveurs OLE incorporés</vt:lpstr>
      </vt:variant>
      <vt:variant>
        <vt:i4>1</vt:i4>
      </vt:variant>
      <vt:variant>
        <vt:lpstr>Titres des diapositives</vt:lpstr>
      </vt:variant>
      <vt:variant>
        <vt:i4>26</vt:i4>
      </vt:variant>
    </vt:vector>
  </HeadingPairs>
  <TitlesOfParts>
    <vt:vector size="37" baseType="lpstr">
      <vt:lpstr>Aptos Narrow</vt:lpstr>
      <vt:lpstr>Arial</vt:lpstr>
      <vt:lpstr>Calibri</vt:lpstr>
      <vt:lpstr>Cambria Math</vt:lpstr>
      <vt:lpstr>Symbol</vt:lpstr>
      <vt:lpstr>Times New Roman</vt:lpstr>
      <vt:lpstr>Wingdings</vt:lpstr>
      <vt:lpstr>Office Theme</vt:lpstr>
      <vt:lpstr>Office Theme</vt:lpstr>
      <vt:lpstr>Office Theme</vt:lpstr>
      <vt:lpstr>Worksheet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323</cp:revision>
  <dcterms:created xsi:type="dcterms:W3CDTF">2012-01-17T22:15:29Z</dcterms:created>
  <dcterms:modified xsi:type="dcterms:W3CDTF">2025-03-10T07:55:10Z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