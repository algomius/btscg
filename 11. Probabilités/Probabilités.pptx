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27"/>
  </p:notesMasterIdLst>
  <p:sldIdLst>
    <p:sldId id="256" r:id="rId4"/>
    <p:sldId id="343" r:id="rId5"/>
    <p:sldId id="377" r:id="rId6"/>
    <p:sldId id="400" r:id="rId7"/>
    <p:sldId id="401" r:id="rId8"/>
    <p:sldId id="402" r:id="rId9"/>
    <p:sldId id="403" r:id="rId10"/>
    <p:sldId id="379" r:id="rId11"/>
    <p:sldId id="397" r:id="rId12"/>
    <p:sldId id="398" r:id="rId13"/>
    <p:sldId id="399" r:id="rId14"/>
    <p:sldId id="410" r:id="rId15"/>
    <p:sldId id="378" r:id="rId16"/>
    <p:sldId id="404" r:id="rId17"/>
    <p:sldId id="405" r:id="rId18"/>
    <p:sldId id="406" r:id="rId19"/>
    <p:sldId id="407" r:id="rId20"/>
    <p:sldId id="408" r:id="rId21"/>
    <p:sldId id="380" r:id="rId22"/>
    <p:sldId id="381" r:id="rId23"/>
    <p:sldId id="409" r:id="rId24"/>
    <p:sldId id="411" r:id="rId25"/>
    <p:sldId id="281" r:id="rId26"/>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712" autoAdjust="0"/>
  </p:normalViewPr>
  <p:slideViewPr>
    <p:cSldViewPr snapToGrid="0">
      <p:cViewPr varScale="1">
        <p:scale>
          <a:sx n="156" d="100"/>
          <a:sy n="156" d="100"/>
        </p:scale>
        <p:origin x="1944" y="252"/>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29/08/2025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Probabilités</a:t>
            </a:r>
            <a:br>
              <a:rPr dirty="0"/>
            </a:br>
            <a:endParaRPr lang="en-US" sz="4400"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Probabilités</a:t>
            </a:r>
          </a:p>
          <a:p>
            <a:pPr marL="432000" indent="-324000">
              <a:spcAft>
                <a:spcPts val="1060"/>
              </a:spcAft>
              <a:buClr>
                <a:srgbClr val="000000"/>
              </a:buClr>
              <a:buSzPct val="45000"/>
              <a:buFont typeface="Wingdings" charset="2"/>
              <a:buChar char=""/>
            </a:pPr>
            <a:r>
              <a:rPr lang="fr-FR" sz="2400" spc="-1" dirty="0">
                <a:solidFill>
                  <a:srgbClr val="376092"/>
                </a:solidFill>
              </a:rPr>
              <a:t>Union et réunion</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Arbres de probabilités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Probabilités conditionnelles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Indépendance de deux événements</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Cas concrets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Questions</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012054"/>
                <a:ext cx="8229240" cy="5113706"/>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Le résultat d’une expérience aléatoire est appelé un événement.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Une probabilité est la quantification de la chance qu’un événement a de se réaliser. Il est donc nécessaire de recenser tous les résultats possibles : l’univers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Exemple : Lorsque je lance un dé 6. L’univers comporte 6 possibilités : </a:t>
                </a:r>
                <a14:m>
                  <m:oMath xmlns:m="http://schemas.openxmlformats.org/officeDocument/2006/math">
                    <m:r>
                      <a:rPr lang="fr-FR" sz="2400" i="1" spc="-1" smtClean="0">
                        <a:solidFill>
                          <a:srgbClr val="376092"/>
                        </a:solidFill>
                        <a:latin typeface="Cambria Math" panose="02040503050406030204" pitchFamily="18" charset="0"/>
                      </a:rPr>
                      <m:t>𝛺</m:t>
                    </m:r>
                    <m:r>
                      <a:rPr lang="fr-FR" sz="2400" b="0" i="1" spc="-1" smtClean="0">
                        <a:solidFill>
                          <a:srgbClr val="376092"/>
                        </a:solidFill>
                        <a:latin typeface="Cambria Math" panose="02040503050406030204" pitchFamily="18" charset="0"/>
                      </a:rPr>
                      <m:t>= </m:t>
                    </m:r>
                  </m:oMath>
                </a14:m>
                <a:r>
                  <a:rPr lang="fr-FR" sz="2400" spc="-1" dirty="0">
                    <a:solidFill>
                      <a:srgbClr val="376092"/>
                    </a:solidFill>
                    <a:latin typeface="Calibri"/>
                  </a:rPr>
                  <a:t>{1, 2, 3, 4, 5, 6}</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Si le dé est équilibré, alors chacun de ces résultats a la même probabilité de se produire (les issues sont équiprobables )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P(1) = 1/6</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P(2) = 1/6</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a:t>
                </a: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012054"/>
                <a:ext cx="8229240" cy="5113706"/>
              </a:xfrm>
              <a:prstGeom prst="rect">
                <a:avLst/>
              </a:prstGeom>
              <a:blipFill>
                <a:blip r:embed="rId2"/>
                <a:stretch>
                  <a:fillRect t="-1788" r="-222" b="-12992"/>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333268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Intersection et réunion</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Considérons deux événements A et B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est l'intersection et contient tous les éléments de A et de B</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 U B est la réunion et contient tous les éléments de A ou de B</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2889" b="-1370"/>
                </a:stretch>
              </a:blipFill>
              <a:ln w="0">
                <a:noFill/>
              </a:ln>
            </p:spPr>
            <p:txBody>
              <a:bodyPr/>
              <a:lstStyle/>
              <a:p>
                <a:r>
                  <a:rPr lang="fr-FR">
                    <a:noFill/>
                  </a:rPr>
                  <a:t> </a:t>
                </a:r>
              </a:p>
            </p:txBody>
          </p:sp>
        </mc:Fallback>
      </mc:AlternateContent>
      <p:pic>
        <p:nvPicPr>
          <p:cNvPr id="4" name="Image 3">
            <a:extLst>
              <a:ext uri="{FF2B5EF4-FFF2-40B4-BE49-F238E27FC236}">
                <a16:creationId xmlns:a16="http://schemas.microsoft.com/office/drawing/2014/main" id="{AD6DBEF4-39F2-4EDA-B340-F8517CBB8479}"/>
              </a:ext>
            </a:extLst>
          </p:cNvPr>
          <p:cNvPicPr>
            <a:picLocks noChangeAspect="1"/>
          </p:cNvPicPr>
          <p:nvPr/>
        </p:nvPicPr>
        <p:blipFill>
          <a:blip r:embed="rId3"/>
          <a:stretch>
            <a:fillRect/>
          </a:stretch>
        </p:blipFill>
        <p:spPr>
          <a:xfrm>
            <a:off x="2280154" y="1596953"/>
            <a:ext cx="5151863" cy="3166946"/>
          </a:xfrm>
          <a:prstGeom prst="rect">
            <a:avLst/>
          </a:prstGeom>
        </p:spPr>
      </p:pic>
    </p:spTree>
    <p:extLst>
      <p:ext uri="{BB962C8B-B14F-4D97-AF65-F5344CB8AC3E}">
        <p14:creationId xmlns:p14="http://schemas.microsoft.com/office/powerpoint/2010/main" val="1015846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Intersection et réunion</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Imaginons que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soit l'ensemble des personnes de plus de 40 ans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B soit l'ensemble des personnes qui font du sport 3 fois par semaine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Alors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Non(A) est l'ensemble des personnes de moins de 40 ans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est l'ensemble des personnes de plus de 40 ans qui font du sport 3 fois par semaine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A U B est l'ensemble des personnes qui ont soit plus de 40 ans soit qui font 3 fois du sport par semaine</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214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411635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Intersection et réunion</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La théorie des ensembles dit également que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 U B) = P(A)  + P(B) – P(A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est une partie de A mais aussi de B. Donc si on cumule A et B, on ajoute 2 fois A </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m:t>
                    </m:r>
                    <m:r>
                      <a:rPr lang="fr-FR" sz="2400" i="1" spc="-1">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c'est pour cela qu'il faut soustraire une fois A </a:t>
                </a:r>
                <a14:m>
                  <m:oMath xmlns:m="http://schemas.openxmlformats.org/officeDocument/2006/math">
                    <m:r>
                      <a:rPr lang="fr-FR" sz="2400" spc="-1">
                        <a:solidFill>
                          <a:srgbClr val="376092"/>
                        </a:solidFill>
                        <a:latin typeface="Cambria Math" panose="02040503050406030204" pitchFamily="18" charset="0"/>
                      </a:rPr>
                      <m:t>∩</m:t>
                    </m:r>
                    <m:r>
                      <a:rPr lang="fr-FR" sz="2400" spc="-1">
                        <a:solidFill>
                          <a:srgbClr val="376092"/>
                        </a:solidFill>
                        <a:latin typeface="Cambria Math" panose="02040503050406030204" pitchFamily="18" charset="0"/>
                      </a:rPr>
                      <m:t>𝐵</m:t>
                    </m:r>
                    <m:r>
                      <a:rPr lang="fr-FR" sz="2400" spc="-1">
                        <a:solidFill>
                          <a:srgbClr val="376092"/>
                        </a:solidFill>
                        <a:latin typeface="Cambria Math" panose="02040503050406030204" pitchFamily="18" charset="0"/>
                      </a:rPr>
                      <m:t>, </m:t>
                    </m:r>
                    <m:r>
                      <m:rPr>
                        <m:sty m:val="p"/>
                      </m:rPr>
                      <a:rPr lang="fr-FR" sz="2400" spc="-1">
                        <a:solidFill>
                          <a:srgbClr val="376092"/>
                        </a:solidFill>
                        <a:latin typeface="Cambria Math" panose="02040503050406030204" pitchFamily="18" charset="0"/>
                      </a:rPr>
                      <m:t>pour</m:t>
                    </m:r>
                    <m:r>
                      <a:rPr lang="fr-FR" sz="2400" spc="-1">
                        <a:solidFill>
                          <a:srgbClr val="376092"/>
                        </a:solidFill>
                        <a:latin typeface="Cambria Math" panose="02040503050406030204" pitchFamily="18" charset="0"/>
                      </a:rPr>
                      <m:t> é</m:t>
                    </m:r>
                    <m:r>
                      <m:rPr>
                        <m:sty m:val="p"/>
                      </m:rPr>
                      <a:rPr lang="fr-FR" sz="2400" spc="-1">
                        <a:solidFill>
                          <a:srgbClr val="376092"/>
                        </a:solidFill>
                        <a:latin typeface="Cambria Math" panose="02040503050406030204" pitchFamily="18" charset="0"/>
                      </a:rPr>
                      <m:t>viter</m:t>
                    </m:r>
                    <m:r>
                      <a:rPr lang="fr-FR" sz="2400" spc="-1">
                        <a:solidFill>
                          <a:srgbClr val="376092"/>
                        </a:solidFill>
                        <a:latin typeface="Cambria Math" panose="02040503050406030204" pitchFamily="18" charset="0"/>
                      </a:rPr>
                      <m:t> </m:t>
                    </m:r>
                    <m:r>
                      <m:rPr>
                        <m:sty m:val="p"/>
                      </m:rPr>
                      <a:rPr lang="fr-FR" sz="2400" spc="-1">
                        <a:solidFill>
                          <a:srgbClr val="376092"/>
                        </a:solidFill>
                        <a:latin typeface="Cambria Math" panose="02040503050406030204" pitchFamily="18" charset="0"/>
                      </a:rPr>
                      <m:t>les</m:t>
                    </m:r>
                    <m:r>
                      <a:rPr lang="fr-FR" sz="2400" spc="-1">
                        <a:solidFill>
                          <a:srgbClr val="376092"/>
                        </a:solidFill>
                        <a:latin typeface="Cambria Math" panose="02040503050406030204" pitchFamily="18" charset="0"/>
                      </a:rPr>
                      <m:t> </m:t>
                    </m:r>
                    <m:r>
                      <m:rPr>
                        <m:sty m:val="p"/>
                      </m:rPr>
                      <a:rPr lang="fr-FR" sz="2400" spc="-1">
                        <a:solidFill>
                          <a:srgbClr val="376092"/>
                        </a:solidFill>
                        <a:latin typeface="Cambria Math" panose="02040503050406030204" pitchFamily="18" charset="0"/>
                      </a:rPr>
                      <m:t>doublons</m:t>
                    </m:r>
                  </m:oMath>
                </a14:m>
                <a:r>
                  <a:rPr lang="fr-FR" sz="2400" spc="-1" dirty="0">
                    <a:solidFill>
                      <a:srgbClr val="376092"/>
                    </a:solidFill>
                    <a:latin typeface="Calibri"/>
                  </a:rPr>
                  <a:t>.</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Imaginons le cas concrètement pour l'explication.</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r="-1852" b="-8842"/>
                </a:stretch>
              </a:blipFill>
              <a:ln w="0">
                <a:noFill/>
              </a:ln>
            </p:spPr>
            <p:txBody>
              <a:bodyPr/>
              <a:lstStyle/>
              <a:p>
                <a:r>
                  <a:rPr lang="fr-FR">
                    <a:noFill/>
                  </a:rPr>
                  <a:t> </a:t>
                </a:r>
              </a:p>
            </p:txBody>
          </p:sp>
        </mc:Fallback>
      </mc:AlternateContent>
      <p:pic>
        <p:nvPicPr>
          <p:cNvPr id="2" name="Image 1">
            <a:extLst>
              <a:ext uri="{FF2B5EF4-FFF2-40B4-BE49-F238E27FC236}">
                <a16:creationId xmlns:a16="http://schemas.microsoft.com/office/drawing/2014/main" id="{39373D72-5D17-4EC8-BED9-6062D2AC5D13}"/>
              </a:ext>
            </a:extLst>
          </p:cNvPr>
          <p:cNvPicPr>
            <a:picLocks noChangeAspect="1"/>
          </p:cNvPicPr>
          <p:nvPr/>
        </p:nvPicPr>
        <p:blipFill>
          <a:blip r:embed="rId3"/>
          <a:stretch>
            <a:fillRect/>
          </a:stretch>
        </p:blipFill>
        <p:spPr>
          <a:xfrm>
            <a:off x="2147137" y="2115303"/>
            <a:ext cx="4277742" cy="2627394"/>
          </a:xfrm>
          <a:prstGeom prst="rect">
            <a:avLst/>
          </a:prstGeom>
        </p:spPr>
      </p:pic>
    </p:spTree>
    <p:extLst>
      <p:ext uri="{BB962C8B-B14F-4D97-AF65-F5344CB8AC3E}">
        <p14:creationId xmlns:p14="http://schemas.microsoft.com/office/powerpoint/2010/main" val="1569698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Intersection et réunion</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On dit que les événements A et B sont incompatibles lorsque que A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est vide et donc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 U B) = P(A)  + P(B)</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a:stretch>
              </a:blipFill>
              <a:ln w="0">
                <a:noFill/>
              </a:ln>
            </p:spPr>
            <p:txBody>
              <a:bodyPr/>
              <a:lstStyle/>
              <a:p>
                <a:r>
                  <a:rPr lang="fr-FR">
                    <a:noFill/>
                  </a:rPr>
                  <a:t> </a:t>
                </a:r>
              </a:p>
            </p:txBody>
          </p:sp>
        </mc:Fallback>
      </mc:AlternateContent>
      <p:pic>
        <p:nvPicPr>
          <p:cNvPr id="4" name="Image 3">
            <a:extLst>
              <a:ext uri="{FF2B5EF4-FFF2-40B4-BE49-F238E27FC236}">
                <a16:creationId xmlns:a16="http://schemas.microsoft.com/office/drawing/2014/main" id="{974EA376-4B15-4B4F-8E8A-0ABD54C5A589}"/>
              </a:ext>
            </a:extLst>
          </p:cNvPr>
          <p:cNvPicPr>
            <a:picLocks noChangeAspect="1"/>
          </p:cNvPicPr>
          <p:nvPr/>
        </p:nvPicPr>
        <p:blipFill>
          <a:blip r:embed="rId3"/>
          <a:stretch>
            <a:fillRect/>
          </a:stretch>
        </p:blipFill>
        <p:spPr>
          <a:xfrm>
            <a:off x="2272033" y="3098848"/>
            <a:ext cx="3925229" cy="2062976"/>
          </a:xfrm>
          <a:prstGeom prst="rect">
            <a:avLst/>
          </a:prstGeom>
        </p:spPr>
      </p:pic>
    </p:spTree>
    <p:extLst>
      <p:ext uri="{BB962C8B-B14F-4D97-AF65-F5344CB8AC3E}">
        <p14:creationId xmlns:p14="http://schemas.microsoft.com/office/powerpoint/2010/main" val="4230517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Arbres de probabilité :</a:t>
            </a:r>
            <a:endParaRPr lang="en-US" sz="3200" b="0" strike="noStrike" spc="-1" dirty="0">
              <a:solidFill>
                <a:srgbClr val="376092"/>
              </a:solidFill>
              <a:latin typeface="Arial"/>
            </a:endParaRPr>
          </a:p>
        </p:txBody>
      </p:sp>
      <p:sp>
        <p:nvSpPr>
          <p:cNvPr id="136" name="TextShape 2"/>
          <p:cNvSpPr txBox="1"/>
          <p:nvPr/>
        </p:nvSpPr>
        <p:spPr>
          <a:xfrm>
            <a:off x="457200" y="949911"/>
            <a:ext cx="8229240" cy="5175849"/>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également possible de représenter les probabilités sous forme d’arbre (loi de probabilité)  :</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 genre d'exemple respecte la loi des grands nombres : Les fréquences obtenues d'un événement E se rapprochent d'une valeur théorique lorsque le nombre d'expérience augmente.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Cette fréquence est la probabilité de E.</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2" name="Image 1">
            <a:extLst>
              <a:ext uri="{FF2B5EF4-FFF2-40B4-BE49-F238E27FC236}">
                <a16:creationId xmlns:a16="http://schemas.microsoft.com/office/drawing/2014/main" id="{C90B393B-6613-46DB-9C5D-8D6FF37DF712}"/>
              </a:ext>
            </a:extLst>
          </p:cNvPr>
          <p:cNvPicPr>
            <a:picLocks noChangeAspect="1"/>
          </p:cNvPicPr>
          <p:nvPr/>
        </p:nvPicPr>
        <p:blipFill>
          <a:blip r:embed="rId2"/>
          <a:stretch>
            <a:fillRect/>
          </a:stretch>
        </p:blipFill>
        <p:spPr>
          <a:xfrm>
            <a:off x="3018316" y="1857560"/>
            <a:ext cx="4705350" cy="2876550"/>
          </a:xfrm>
          <a:prstGeom prst="rect">
            <a:avLst/>
          </a:prstGeom>
        </p:spPr>
      </p:pic>
    </p:spTree>
    <p:extLst>
      <p:ext uri="{BB962C8B-B14F-4D97-AF65-F5344CB8AC3E}">
        <p14:creationId xmlns:p14="http://schemas.microsoft.com/office/powerpoint/2010/main" val="2803412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Arbres de probabilité :</a:t>
            </a:r>
            <a:endParaRPr lang="en-US" sz="3200" spc="-1" dirty="0">
              <a:solidFill>
                <a:srgbClr val="376092"/>
              </a:solidFil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Sur ces exemples simples, la probabilité de chaque événement est facilement observable.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Sur des cas plus compliqués, il va falloir passer par des calculs de probabilités.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nous devions calculer la probabilité de jeter un dé et d'obtenir un 6, nous pourrions partir du fait que nous voulons un événement précis parmi les 6 éléments dans l'univers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1/6 = 0,1666667 ou 16,7 %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probabilité pour obtenir un 5 est la même si le dé n'est pas truqué. </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1235228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Arbres de probabilité :</a:t>
            </a:r>
            <a:endParaRPr lang="en-US" sz="3200" spc="-1" dirty="0">
              <a:solidFill>
                <a:srgbClr val="376092"/>
              </a:solidFil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Un événement n'est pas limité aux valeurs de l'univers, nous pouvons avoir des événements plus complexes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Probabilité d'avoir un nombre pair</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Probabilité d'avoir un nombre &gt;= 5</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Probabilité d'avoir un nombre premier.</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On distingue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Evénements élémentaires qui sont réduits à une unique issu de l'expérience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Evénements qui sont constitué de plusieurs issues d'une même expérience aléatoire.</a:t>
            </a: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98908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Arbres de probabilité :</a:t>
            </a:r>
            <a:endParaRPr lang="en-US" sz="3200" spc="-1" dirty="0">
              <a:solidFill>
                <a:srgbClr val="376092"/>
              </a:solidFil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Si nous reprenons le cas de notre dé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Probabilité d'avoir un nombre pair </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p(2) + p(4) + p(5) = 1/6 + 1/6 + 1/6 = 1/2 =0,5 (50%)</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Probabilité d'avoir un nombre &gt;= 5</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P(5) + p(6) = 1/6 + 1/6 = 1/3 = 0,3333 (33,3%)</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Probabilité d'avoir un nombre premier.</a:t>
            </a:r>
          </a:p>
          <a:p>
            <a:pPr marL="1321200" lvl="2" indent="-324000">
              <a:spcAft>
                <a:spcPts val="1134"/>
              </a:spcAft>
              <a:buClr>
                <a:srgbClr val="000000"/>
              </a:buClr>
              <a:buSzPct val="45000"/>
              <a:buFont typeface="Wingdings" charset="2"/>
              <a:buChar char=""/>
            </a:pPr>
            <a:r>
              <a:rPr lang="fr-FR" sz="2400" spc="-1" dirty="0">
                <a:solidFill>
                  <a:srgbClr val="376092"/>
                </a:solidFill>
                <a:latin typeface="Calibri"/>
              </a:rPr>
              <a:t>P(1) + p(2) + p(3) + p(5) = 2/3 = 0,666667 (66,7%)</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2195619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3DF18-57FE-D399-7268-A8C18A15A7C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D4162EA8-7AF9-853D-581B-770CBF83F921}"/>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rPr>
              <a:t>Arbres de probabilité - Exercices :</a:t>
            </a:r>
            <a:endParaRPr lang="en-US" sz="3200" spc="-1" dirty="0">
              <a:solidFill>
                <a:srgbClr val="376092"/>
              </a:solidFill>
            </a:endParaRPr>
          </a:p>
        </p:txBody>
      </p:sp>
      <p:sp>
        <p:nvSpPr>
          <p:cNvPr id="136" name="TextShape 2">
            <a:extLst>
              <a:ext uri="{FF2B5EF4-FFF2-40B4-BE49-F238E27FC236}">
                <a16:creationId xmlns:a16="http://schemas.microsoft.com/office/drawing/2014/main" id="{DB239D55-9FEB-C702-4B73-3FC7E28A0E4E}"/>
              </a:ext>
            </a:extLst>
          </p:cNvPr>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allons maintenant jeté 2 dés. Nous estimons que les dés ne sont pas truqués.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Représenter l'arbre de probabilité associé.</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Grâce à cet arbre, calculer la probabilité d'avoir 2 valeurs identiques.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Toujours Grâce à cet arbre, calculer la probabilité d'avoir la seconde valeur strictement supérieure à la première.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utilisons maintenant un dé truqué dont les probabilités sont les suivantes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1 : 0,1 ; 2 : 0,1 ; 3 : 0,1 ; 4 : 0,2 ; 5 : 0,2 ; 6 : 0,3</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Reprenez les questions de la partie 1 avec ce nouvel arbre.   </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3750923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Quelques notions de probabilités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Quelque soit l'événement E : 0 &lt;= P(E) &lt;= 1</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La somme des probabilités des événements élémentaires = 1</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Il est possible également d’exprimer la négation d’une probabilité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La probabilité que l’événement A ne se produise pas est P(non(A)) = 1 – P(A). Cela se comprend bien avec un schéma :</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3" name="Image 2">
            <a:extLst>
              <a:ext uri="{FF2B5EF4-FFF2-40B4-BE49-F238E27FC236}">
                <a16:creationId xmlns:a16="http://schemas.microsoft.com/office/drawing/2014/main" id="{B415AD84-4C81-42C9-B5CE-475A22ABD124}"/>
              </a:ext>
            </a:extLst>
          </p:cNvPr>
          <p:cNvPicPr>
            <a:picLocks noChangeAspect="1"/>
          </p:cNvPicPr>
          <p:nvPr/>
        </p:nvPicPr>
        <p:blipFill>
          <a:blip r:embed="rId2"/>
          <a:stretch>
            <a:fillRect/>
          </a:stretch>
        </p:blipFill>
        <p:spPr>
          <a:xfrm>
            <a:off x="3304620" y="3908394"/>
            <a:ext cx="2925700" cy="2674926"/>
          </a:xfrm>
          <a:prstGeom prst="rect">
            <a:avLst/>
          </a:prstGeom>
        </p:spPr>
      </p:pic>
    </p:spTree>
    <p:extLst>
      <p:ext uri="{BB962C8B-B14F-4D97-AF65-F5344CB8AC3E}">
        <p14:creationId xmlns:p14="http://schemas.microsoft.com/office/powerpoint/2010/main" val="561653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Probabilité conditionnelle</a:t>
            </a:r>
            <a:endParaRPr lang="en-US" sz="3200" b="0" strike="noStrike" spc="-1" dirty="0">
              <a:solidFill>
                <a:srgbClr val="376092"/>
              </a:solidFill>
              <a:latin typeface="Arial"/>
            </a:endParaRPr>
          </a:p>
        </p:txBody>
      </p:sp>
      <p:sp>
        <p:nvSpPr>
          <p:cNvPr id="136" name="TextShape 2"/>
          <p:cNvSpPr txBox="1"/>
          <p:nvPr/>
        </p:nvSpPr>
        <p:spPr>
          <a:xfrm>
            <a:off x="457200" y="1065320"/>
            <a:ext cx="8229240" cy="5060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Reprenons notre exemple: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Soit A l'ensemble des personnes de plus de 40 ans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Soit B l'ensemble des personnes qui font du sport 3 fois par semaine</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P(A) est donc la probabilité qu'un individu ait plus de 40 ans parmi la population générale.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Je considère uniquement les personnes de plus de 40 ans. Quelle est la probabilité que ces personnes fassent du sport ?</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pic>
        <p:nvPicPr>
          <p:cNvPr id="2" name="Image 1">
            <a:extLst>
              <a:ext uri="{FF2B5EF4-FFF2-40B4-BE49-F238E27FC236}">
                <a16:creationId xmlns:a16="http://schemas.microsoft.com/office/drawing/2014/main" id="{C0229F6A-74B8-4520-84FB-6BC9BA343367}"/>
              </a:ext>
            </a:extLst>
          </p:cNvPr>
          <p:cNvPicPr>
            <a:picLocks noChangeAspect="1"/>
          </p:cNvPicPr>
          <p:nvPr/>
        </p:nvPicPr>
        <p:blipFill>
          <a:blip r:embed="rId2"/>
          <a:stretch>
            <a:fillRect/>
          </a:stretch>
        </p:blipFill>
        <p:spPr>
          <a:xfrm>
            <a:off x="2769470" y="2381527"/>
            <a:ext cx="4279763" cy="2627604"/>
          </a:xfrm>
          <a:prstGeom prst="rect">
            <a:avLst/>
          </a:prstGeom>
        </p:spPr>
      </p:pic>
    </p:spTree>
    <p:extLst>
      <p:ext uri="{BB962C8B-B14F-4D97-AF65-F5344CB8AC3E}">
        <p14:creationId xmlns:p14="http://schemas.microsoft.com/office/powerpoint/2010/main" val="1560891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Probabilité conditionnelle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065320"/>
                <a:ext cx="8229240" cy="5060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Il s'agit là d'un problème de probabilité conditionnel qui se note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t>
                </a:r>
                <a:r>
                  <a:rPr lang="fr-FR" sz="2400" spc="-1" baseline="-25000" dirty="0">
                    <a:solidFill>
                      <a:srgbClr val="376092"/>
                    </a:solidFill>
                    <a:latin typeface="Calibri"/>
                  </a:rPr>
                  <a:t>A</a:t>
                </a:r>
                <a:r>
                  <a:rPr lang="fr-FR" sz="2400" spc="-1" dirty="0">
                    <a:solidFill>
                      <a:srgbClr val="376092"/>
                    </a:solidFill>
                    <a:latin typeface="Calibri"/>
                  </a:rPr>
                  <a:t>(B) : Probabilité de B sachant A.</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Dans notre exemple : Quelle est la probabilité que la personne fasse du sport 3 fois par semaine, sachant que la personne a plus de 40 ans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Soient A et B deux événements avec P(A) &gt; 0. On appelle probabilité conditionnelle de B sachant A, la probabilité que l'événement B se réalise sachant que l'événement A est réalisé.</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t>
                </a:r>
                <a:r>
                  <a:rPr lang="fr-FR" sz="2400" spc="-1" baseline="-25000" dirty="0">
                    <a:solidFill>
                      <a:srgbClr val="376092"/>
                    </a:solidFill>
                    <a:latin typeface="Calibri"/>
                  </a:rPr>
                  <a:t>A</a:t>
                </a:r>
                <a:r>
                  <a:rPr lang="fr-FR" sz="2400" spc="-1" dirty="0">
                    <a:solidFill>
                      <a:srgbClr val="376092"/>
                    </a:solidFill>
                    <a:latin typeface="Calibri"/>
                  </a:rPr>
                  <a:t>(B) </a:t>
                </a:r>
                <a14:m>
                  <m:oMath xmlns:m="http://schemas.openxmlformats.org/officeDocument/2006/math">
                    <m:r>
                      <a:rPr lang="en-US" sz="2400" i="1" spc="-1" smtClean="0">
                        <a:solidFill>
                          <a:srgbClr val="376092"/>
                        </a:solidFill>
                        <a:latin typeface="Cambria Math" panose="02040503050406030204" pitchFamily="18" charset="0"/>
                      </a:rPr>
                      <m:t>=</m:t>
                    </m:r>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 ∩ </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num>
                      <m:den>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065320"/>
                <a:ext cx="8229240" cy="5060440"/>
              </a:xfrm>
              <a:prstGeom prst="rect">
                <a:avLst/>
              </a:prstGeom>
              <a:blipFill>
                <a:blip r:embed="rId2"/>
                <a:stretch>
                  <a:fillRect t="-1928" r="-2000"/>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3302168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Probabilité conditionnelle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065320"/>
                <a:ext cx="8229240" cy="5060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P</a:t>
                </a:r>
                <a:r>
                  <a:rPr lang="fr-FR" sz="2400" spc="-1" baseline="-25000" dirty="0">
                    <a:solidFill>
                      <a:srgbClr val="376092"/>
                    </a:solidFill>
                    <a:latin typeface="Calibri"/>
                  </a:rPr>
                  <a:t>A</a:t>
                </a:r>
                <a:r>
                  <a:rPr lang="fr-FR" sz="2400" spc="-1" dirty="0">
                    <a:solidFill>
                      <a:srgbClr val="376092"/>
                    </a:solidFill>
                    <a:latin typeface="Calibri"/>
                  </a:rPr>
                  <a:t>(B) pour notre exemple sachant que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35 477 539 personnes ont plus de 40 ans en France sur une population de 67 407 241 personnes.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22 446 611 personnes font du sport 3 fois par semaine toujours sur une population de 67 407 241 personnes.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8 869 384 personnes ont plus de 40 ans et font du sport 3 fois par semaine.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Quelle est donc la probabilité qu'en ne considérant que les personnes de plus de 40 ans je tombe sur une personne qui fait du sport 3 fois par semaine.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t>
                </a:r>
                <a:r>
                  <a:rPr lang="fr-FR" sz="2400" spc="-1" baseline="-25000" dirty="0">
                    <a:solidFill>
                      <a:srgbClr val="376092"/>
                    </a:solidFill>
                    <a:latin typeface="Calibri"/>
                  </a:rPr>
                  <a:t>A</a:t>
                </a:r>
                <a:r>
                  <a:rPr lang="fr-FR" sz="2400" spc="-1" dirty="0">
                    <a:solidFill>
                      <a:srgbClr val="376092"/>
                    </a:solidFill>
                    <a:latin typeface="Calibri"/>
                  </a:rPr>
                  <a:t>(B) </a:t>
                </a:r>
                <a14:m>
                  <m:oMath xmlns:m="http://schemas.openxmlformats.org/officeDocument/2006/math">
                    <m:r>
                      <a:rPr lang="en-US" sz="2400" i="1" spc="-1" smtClean="0">
                        <a:solidFill>
                          <a:srgbClr val="376092"/>
                        </a:solidFill>
                        <a:latin typeface="Cambria Math" panose="02040503050406030204" pitchFamily="18" charset="0"/>
                      </a:rPr>
                      <m:t>=</m:t>
                    </m:r>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 ∩ </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num>
                      <m:den>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065320"/>
                <a:ext cx="8229240" cy="5060440"/>
              </a:xfrm>
              <a:prstGeom prst="rect">
                <a:avLst/>
              </a:prstGeom>
              <a:blipFill>
                <a:blip r:embed="rId2"/>
                <a:stretch>
                  <a:fillRect t="-1928" r="-2296"/>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543495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Probabilité conditionnelle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065320"/>
                <a:ext cx="8229240" cy="5060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Commençons par calculer la proportion des gens de plus de 40 ans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 = 35 477 539 / 67 407 241 = 0,5263 (52,63%)</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la proportion des gens de plus de 40 ans qui font du sport 3 fois par semaine :</a:t>
                </a:r>
              </a:p>
              <a:p>
                <a:pPr marL="864000" lvl="1" indent="-324000">
                  <a:spcAft>
                    <a:spcPts val="1134"/>
                  </a:spcAft>
                  <a:buClr>
                    <a:srgbClr val="000000"/>
                  </a:buClr>
                  <a:buSzPct val="45000"/>
                  <a:buFont typeface="Wingdings" charset="2"/>
                  <a:buChar char=""/>
                </a:pPr>
                <a14:m>
                  <m:oMath xmlns:m="http://schemas.openxmlformats.org/officeDocument/2006/math">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 ∩ </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 </m:t>
                    </m:r>
                  </m:oMath>
                </a14:m>
                <a:r>
                  <a:rPr lang="fr-FR" sz="2400" spc="-1" dirty="0">
                    <a:solidFill>
                      <a:srgbClr val="376092"/>
                    </a:solidFill>
                    <a:latin typeface="Calibri"/>
                  </a:rPr>
                  <a:t>= 8 869 384 / 67 407 241 = 0,1316 (13,16%)</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Calculons la probabilité qu'en ne considérant que les personnes de plus de 40 ans je tombe sur une personne qui fait du sport 3 fois par semaine.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t>
                </a:r>
                <a:r>
                  <a:rPr lang="fr-FR" sz="2400" spc="-1" baseline="-25000" dirty="0">
                    <a:solidFill>
                      <a:srgbClr val="376092"/>
                    </a:solidFill>
                    <a:latin typeface="Calibri"/>
                  </a:rPr>
                  <a:t>A</a:t>
                </a:r>
                <a:r>
                  <a:rPr lang="fr-FR" sz="2400" spc="-1" dirty="0">
                    <a:solidFill>
                      <a:srgbClr val="376092"/>
                    </a:solidFill>
                    <a:latin typeface="Calibri"/>
                  </a:rPr>
                  <a:t>(B) </a:t>
                </a:r>
                <a14:m>
                  <m:oMath xmlns:m="http://schemas.openxmlformats.org/officeDocument/2006/math">
                    <m:r>
                      <a:rPr lang="en-US" sz="2400" i="1" spc="-1" smtClean="0">
                        <a:solidFill>
                          <a:srgbClr val="376092"/>
                        </a:solidFill>
                        <a:latin typeface="Cambria Math" panose="02040503050406030204" pitchFamily="18" charset="0"/>
                      </a:rPr>
                      <m:t>=</m:t>
                    </m:r>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 ∩ </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num>
                      <m:den>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m:t>
                        </m:r>
                      </m:den>
                    </m:f>
                  </m:oMath>
                </a14:m>
                <a:r>
                  <a:rPr lang="fr-FR" sz="2400" spc="-1" dirty="0">
                    <a:solidFill>
                      <a:srgbClr val="376092"/>
                    </a:solidFill>
                    <a:latin typeface="Calibri"/>
                  </a:rPr>
                  <a:t> = 0,1316/0,5263 = 0,25 (25%)</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25% des personnes de plus de 40 ans font du sport 3 fois par semaine.</a:t>
                </a: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065320"/>
                <a:ext cx="8229240" cy="5060440"/>
              </a:xfrm>
              <a:prstGeom prst="rect">
                <a:avLst/>
              </a:prstGeom>
              <a:blipFill>
                <a:blip r:embed="rId2"/>
                <a:stretch>
                  <a:fillRect t="-1928" r="-2074" b="-11205"/>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49886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Probabilités : Probabilité conditionnelle</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065320"/>
                <a:ext cx="8229240" cy="506044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Nous pouvons mettre en avant quelques propriétés pour les probabilités conditionnelles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0 &lt;= P</a:t>
                </a:r>
                <a:r>
                  <a:rPr lang="fr-FR" sz="2400" spc="-1" baseline="-25000" dirty="0">
                    <a:solidFill>
                      <a:srgbClr val="376092"/>
                    </a:solidFill>
                    <a:latin typeface="Calibri"/>
                  </a:rPr>
                  <a:t>A</a:t>
                </a:r>
                <a:r>
                  <a:rPr lang="fr-FR" sz="2400" spc="-1" dirty="0">
                    <a:solidFill>
                      <a:srgbClr val="376092"/>
                    </a:solidFill>
                    <a:latin typeface="Calibri"/>
                  </a:rPr>
                  <a:t>(B) &lt; = 1 (comme pour toute les probabilités)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t>
                </a:r>
                <a:r>
                  <a:rPr lang="fr-FR" sz="2400" spc="-1" baseline="-25000" dirty="0">
                    <a:solidFill>
                      <a:srgbClr val="376092"/>
                    </a:solidFill>
                    <a:latin typeface="Calibri"/>
                  </a:rPr>
                  <a:t>A</a:t>
                </a:r>
                <a:r>
                  <a:rPr lang="fr-FR" sz="2400" spc="-1" dirty="0">
                    <a:solidFill>
                      <a:srgbClr val="376092"/>
                    </a:solidFill>
                    <a:latin typeface="Calibri"/>
                  </a:rPr>
                  <a:t>(non(B)) = 1 – P</a:t>
                </a:r>
                <a:r>
                  <a:rPr lang="fr-FR" sz="2400" spc="-1" baseline="-25000" dirty="0">
                    <a:solidFill>
                      <a:srgbClr val="376092"/>
                    </a:solidFill>
                    <a:latin typeface="Calibri"/>
                  </a:rPr>
                  <a:t>A</a:t>
                </a:r>
                <a:r>
                  <a:rPr lang="fr-FR" sz="2400" spc="-1" dirty="0">
                    <a:solidFill>
                      <a:srgbClr val="376092"/>
                    </a:solidFill>
                    <a:latin typeface="Calibri"/>
                  </a:rPr>
                  <a:t>(B) : La probabilité des personnes qui ne font pas de sport parmi la population de plus de 40 ans est égale à l'ensemble </a:t>
                </a:r>
                <a:r>
                  <a:rPr lang="fr-FR" sz="2400" spc="-1">
                    <a:solidFill>
                      <a:srgbClr val="376092"/>
                    </a:solidFill>
                    <a:latin typeface="Calibri"/>
                  </a:rPr>
                  <a:t>des individus– </a:t>
                </a:r>
                <a:r>
                  <a:rPr lang="fr-FR" sz="2400" spc="-1" dirty="0">
                    <a:solidFill>
                      <a:srgbClr val="376092"/>
                    </a:solidFill>
                    <a:latin typeface="Calibri"/>
                  </a:rPr>
                  <a:t>les gens de plus de 40 ans qui font du sport.</a:t>
                </a:r>
              </a:p>
              <a:p>
                <a:pPr marL="864000" lvl="1" indent="-324000">
                  <a:spcAft>
                    <a:spcPts val="1134"/>
                  </a:spcAft>
                  <a:buClr>
                    <a:srgbClr val="000000"/>
                  </a:buClr>
                  <a:buSzPct val="45000"/>
                  <a:buFont typeface="Wingdings" charset="2"/>
                  <a:buChar char=""/>
                </a:pPr>
                <a14:m>
                  <m:oMath xmlns:m="http://schemas.openxmlformats.org/officeDocument/2006/math">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 ∩ </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 </m:t>
                    </m:r>
                  </m:oMath>
                </a14:m>
                <a:r>
                  <a:rPr lang="fr-FR" sz="2400" spc="-1" dirty="0">
                    <a:solidFill>
                      <a:srgbClr val="376092"/>
                    </a:solidFill>
                    <a:latin typeface="Calibri"/>
                  </a:rPr>
                  <a:t>= P(A) x P</a:t>
                </a:r>
                <a:r>
                  <a:rPr lang="fr-FR" sz="2400" spc="-1" baseline="-25000" dirty="0">
                    <a:solidFill>
                      <a:srgbClr val="376092"/>
                    </a:solidFill>
                    <a:latin typeface="Calibri"/>
                  </a:rPr>
                  <a:t>A</a:t>
                </a:r>
                <a:r>
                  <a:rPr lang="fr-FR" sz="2400" spc="-1" dirty="0">
                    <a:solidFill>
                      <a:srgbClr val="376092"/>
                    </a:solidFill>
                    <a:latin typeface="Calibri"/>
                  </a:rPr>
                  <a:t>(B) qui vient de la formule donnée plus tôt : P</a:t>
                </a:r>
                <a:r>
                  <a:rPr lang="fr-FR" sz="2400" spc="-1" baseline="-25000" dirty="0">
                    <a:solidFill>
                      <a:srgbClr val="376092"/>
                    </a:solidFill>
                    <a:latin typeface="Calibri"/>
                  </a:rPr>
                  <a:t>A</a:t>
                </a:r>
                <a:r>
                  <a:rPr lang="fr-FR" sz="2400" spc="-1" dirty="0">
                    <a:solidFill>
                      <a:srgbClr val="376092"/>
                    </a:solidFill>
                    <a:latin typeface="Calibri"/>
                  </a:rPr>
                  <a:t>(B) </a:t>
                </a:r>
                <a14:m>
                  <m:oMath xmlns:m="http://schemas.openxmlformats.org/officeDocument/2006/math">
                    <m:r>
                      <a:rPr lang="en-US" sz="2400" i="1" spc="-1" smtClean="0">
                        <a:solidFill>
                          <a:srgbClr val="376092"/>
                        </a:solidFill>
                        <a:latin typeface="Cambria Math" panose="02040503050406030204" pitchFamily="18" charset="0"/>
                      </a:rPr>
                      <m:t>=</m:t>
                    </m:r>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 ∩ </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num>
                      <m:den>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m:t>
                        </m:r>
                      </m:den>
                    </m:f>
                  </m:oMath>
                </a14:m>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406800"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065320"/>
                <a:ext cx="8229240" cy="5060440"/>
              </a:xfrm>
              <a:prstGeom prst="rect">
                <a:avLst/>
              </a:prstGeom>
              <a:blipFill>
                <a:blip r:embed="rId2"/>
                <a:stretch>
                  <a:fillRect t="-1928" r="-1407"/>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052038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Indépendance de deux événements :</a:t>
            </a:r>
            <a:endParaRPr lang="en-US" sz="3200" b="0" strike="noStrike" spc="-1" dirty="0">
              <a:solidFill>
                <a:srgbClr val="376092"/>
              </a:solidFill>
              <a:latin typeface="Arial"/>
            </a:endParaRPr>
          </a:p>
        </p:txBody>
      </p:sp>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On dit que deux événements sont indépendants si la réalisation du premier événement n’a pas d’incidence sur la probabilité du second.</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Exemple : Considérons que la population mondiale soit composée à 50% de femmes et 50% d’hommes. Considérons que c’est également le cas de la France.</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Un individu pris au hasard dans le monde aura une chance sur deux (50%) d’être une femme (P(femme) = 0,5).</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Un individu pris au hasard en France aura une chance sur deux (50%) d’être une femme (P</a:t>
            </a:r>
            <a:r>
              <a:rPr lang="fr-FR" sz="2400" spc="-1" baseline="-25000" dirty="0">
                <a:solidFill>
                  <a:srgbClr val="376092"/>
                </a:solidFill>
                <a:latin typeface="Calibri"/>
              </a:rPr>
              <a:t>F</a:t>
            </a:r>
            <a:r>
              <a:rPr lang="fr-FR" sz="2400" spc="-1" dirty="0">
                <a:solidFill>
                  <a:srgbClr val="376092"/>
                </a:solidFill>
                <a:latin typeface="Calibri"/>
              </a:rPr>
              <a:t>(femme) = 0,5).</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Le fait de choisir un individu en France ne semble donc pas influencer la probabilité de sélectionner une femme.</a:t>
            </a: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632203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Indépendance de deux événements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1233996"/>
                <a:ext cx="8229240" cy="4891764"/>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Vérifions par calcul notre intuition.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Deux événements A et B sont indépendants si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 P(A) * P(B)</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Posons P(A) : probabilité dans le monde d’être une femme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Posons P(B) : probabilité dans le monde d’être français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Alors P (A </a:t>
                </a:r>
                <a14:m>
                  <m:oMath xmlns:m="http://schemas.openxmlformats.org/officeDocument/2006/math">
                    <m:r>
                      <a:rPr lang="fr-FR" sz="2400" i="1" spc="-1" smtClean="0">
                        <a:solidFill>
                          <a:srgbClr val="376092"/>
                        </a:solidFill>
                        <a:latin typeface="Cambria Math" panose="02040503050406030204" pitchFamily="18" charset="0"/>
                        <a:ea typeface="Cambria Math" panose="02040503050406030204" pitchFamily="18" charset="0"/>
                      </a:rPr>
                      <m:t>∩</m:t>
                    </m:r>
                    <m:r>
                      <a:rPr lang="fr-FR" sz="2400" b="0" i="1" spc="-1" smtClean="0">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est la probabilité d’être une femme française.</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l’égalité ci-dessus est respectée, cela veut dire qu’il y a la même proportion de femme en France que dans le monde et que le fait d’être français n’est pas déterminant dans la répartition des sexes.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Si A et B sont indépendants alors non(A) et B le sont aussi.</a:t>
                </a: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868" b="-597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4083761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Indépendance de deux événements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36" name="TextShape 2"/>
              <p:cNvSpPr txBox="1"/>
              <p:nvPr/>
            </p:nvSpPr>
            <p:spPr>
              <a:xfrm>
                <a:off x="457200" y="958788"/>
                <a:ext cx="8229240" cy="5166972"/>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Si A et B sont indépendants, alors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t>
                </a:r>
                <a:r>
                  <a:rPr lang="fr-FR" sz="2400" spc="-1" baseline="-25000" dirty="0">
                    <a:solidFill>
                      <a:srgbClr val="376092"/>
                    </a:solidFill>
                    <a:latin typeface="Calibri"/>
                  </a:rPr>
                  <a:t>A</a:t>
                </a:r>
                <a:r>
                  <a:rPr lang="fr-FR" sz="2400" spc="-1" dirty="0">
                    <a:solidFill>
                      <a:srgbClr val="376092"/>
                    </a:solidFill>
                    <a:latin typeface="Calibri"/>
                  </a:rPr>
                  <a:t>(B) = P(B)</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t>
                </a:r>
                <a:r>
                  <a:rPr lang="fr-FR" sz="2400" spc="-1" baseline="-25000" dirty="0">
                    <a:solidFill>
                      <a:srgbClr val="376092"/>
                    </a:solidFill>
                    <a:latin typeface="Calibri"/>
                  </a:rPr>
                  <a:t>B</a:t>
                </a:r>
                <a:r>
                  <a:rPr lang="fr-FR" sz="2400" spc="-1" dirty="0">
                    <a:solidFill>
                      <a:srgbClr val="376092"/>
                    </a:solidFill>
                    <a:latin typeface="Calibri"/>
                  </a:rPr>
                  <a:t>(A) = P(A)</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En effet, si je reprends ma formule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P</a:t>
                </a:r>
                <a:r>
                  <a:rPr lang="fr-FR" sz="2400" spc="-1" baseline="-25000" dirty="0">
                    <a:solidFill>
                      <a:srgbClr val="376092"/>
                    </a:solidFill>
                    <a:latin typeface="Calibri"/>
                  </a:rPr>
                  <a:t>A</a:t>
                </a:r>
                <a:r>
                  <a:rPr lang="fr-FR" sz="2400" spc="-1" dirty="0">
                    <a:solidFill>
                      <a:srgbClr val="376092"/>
                    </a:solidFill>
                    <a:latin typeface="Calibri"/>
                  </a:rPr>
                  <a:t>(B) </a:t>
                </a:r>
                <a14:m>
                  <m:oMath xmlns:m="http://schemas.openxmlformats.org/officeDocument/2006/math">
                    <m:r>
                      <a:rPr lang="en-US" sz="2400" i="1" spc="-1" smtClean="0">
                        <a:solidFill>
                          <a:srgbClr val="376092"/>
                        </a:solidFill>
                        <a:latin typeface="Cambria Math" panose="02040503050406030204" pitchFamily="18" charset="0"/>
                      </a:rPr>
                      <m:t>=</m:t>
                    </m:r>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 ∩ </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num>
                      <m:den>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m:t>
                        </m:r>
                      </m:den>
                    </m:f>
                  </m:oMath>
                </a14:m>
                <a:r>
                  <a:rPr lang="fr-FR" sz="2400" spc="-1" dirty="0">
                    <a:solidFill>
                      <a:srgbClr val="376092"/>
                    </a:solidFill>
                    <a:latin typeface="Calibri"/>
                  </a:rPr>
                  <a:t>  avec A et B indépendants donc P(A </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m:t>
                    </m:r>
                    <m:r>
                      <a:rPr lang="fr-FR" sz="2400" i="1" spc="-1">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 P(A) * P(B) alors P</a:t>
                </a:r>
                <a:r>
                  <a:rPr lang="fr-FR" sz="2400" spc="-1" baseline="-25000" dirty="0">
                    <a:solidFill>
                      <a:srgbClr val="376092"/>
                    </a:solidFill>
                    <a:latin typeface="Calibri"/>
                  </a:rPr>
                  <a:t>A</a:t>
                </a:r>
                <a:r>
                  <a:rPr lang="fr-FR" sz="2400" spc="-1" dirty="0">
                    <a:solidFill>
                      <a:srgbClr val="376092"/>
                    </a:solidFill>
                    <a:latin typeface="Calibri"/>
                  </a:rPr>
                  <a:t>(B) </a:t>
                </a:r>
                <a14:m>
                  <m:oMath xmlns:m="http://schemas.openxmlformats.org/officeDocument/2006/math">
                    <m:r>
                      <a:rPr lang="en-US" sz="2400" i="1" spc="-1">
                        <a:solidFill>
                          <a:srgbClr val="376092"/>
                        </a:solidFill>
                        <a:latin typeface="Cambria Math" panose="02040503050406030204" pitchFamily="18" charset="0"/>
                      </a:rPr>
                      <m:t>=</m:t>
                    </m:r>
                    <m:f>
                      <m:fPr>
                        <m:ctrlPr>
                          <a:rPr lang="en-US" sz="2400" i="1" spc="-1">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𝑃</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𝐴</m:t>
                            </m:r>
                          </m:e>
                        </m:d>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num>
                      <m:den>
                        <m:r>
                          <a:rPr lang="fr-FR" sz="2400" i="1" spc="-1">
                            <a:solidFill>
                              <a:srgbClr val="376092"/>
                            </a:solidFill>
                            <a:latin typeface="Cambria Math" panose="02040503050406030204" pitchFamily="18" charset="0"/>
                          </a:rPr>
                          <m:t>𝑃</m:t>
                        </m:r>
                        <m:r>
                          <a:rPr lang="fr-FR" sz="2400" i="1" spc="-1">
                            <a:solidFill>
                              <a:srgbClr val="376092"/>
                            </a:solidFill>
                            <a:latin typeface="Cambria Math" panose="02040503050406030204" pitchFamily="18" charset="0"/>
                          </a:rPr>
                          <m:t>(</m:t>
                        </m:r>
                        <m:r>
                          <a:rPr lang="fr-FR" sz="2400" i="1" spc="-1">
                            <a:solidFill>
                              <a:srgbClr val="376092"/>
                            </a:solidFill>
                            <a:latin typeface="Cambria Math" panose="02040503050406030204" pitchFamily="18" charset="0"/>
                          </a:rPr>
                          <m:t>𝐴</m:t>
                        </m:r>
                        <m:r>
                          <a:rPr lang="fr-FR" sz="2400" i="1" spc="-1">
                            <a:solidFill>
                              <a:srgbClr val="376092"/>
                            </a:solidFill>
                            <a:latin typeface="Cambria Math" panose="02040503050406030204" pitchFamily="18" charset="0"/>
                          </a:rPr>
                          <m:t>)</m:t>
                        </m:r>
                      </m:den>
                    </m:f>
                  </m:oMath>
                </a14:m>
                <a:r>
                  <a:rPr lang="fr-FR" sz="2400" spc="-1" dirty="0">
                    <a:solidFill>
                      <a:srgbClr val="376092"/>
                    </a:solidFill>
                    <a:latin typeface="Calibri"/>
                  </a:rPr>
                  <a:t> = P(B)</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 P</a:t>
                </a:r>
                <a:r>
                  <a:rPr lang="fr-FR" sz="2400" spc="-1" baseline="-25000" dirty="0">
                    <a:solidFill>
                      <a:srgbClr val="376092"/>
                    </a:solidFill>
                    <a:latin typeface="Calibri"/>
                  </a:rPr>
                  <a:t>B</a:t>
                </a:r>
                <a:r>
                  <a:rPr lang="fr-FR" sz="2400" spc="-1" dirty="0">
                    <a:solidFill>
                      <a:srgbClr val="376092"/>
                    </a:solidFill>
                    <a:latin typeface="Calibri"/>
                  </a:rPr>
                  <a:t>(A) </a:t>
                </a:r>
                <a14:m>
                  <m:oMath xmlns:m="http://schemas.openxmlformats.org/officeDocument/2006/math">
                    <m:r>
                      <a:rPr lang="en-US" sz="2400" i="1" spc="-1" smtClean="0">
                        <a:solidFill>
                          <a:srgbClr val="376092"/>
                        </a:solidFill>
                        <a:latin typeface="Cambria Math" panose="02040503050406030204" pitchFamily="18" charset="0"/>
                      </a:rPr>
                      <m:t>=</m:t>
                    </m:r>
                    <m:f>
                      <m:fPr>
                        <m:ctrlPr>
                          <a:rPr lang="en-US" sz="2400" i="1" spc="-1" smtClean="0">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𝐴</m:t>
                        </m:r>
                        <m:r>
                          <a:rPr lang="fr-FR" sz="2400" b="0" i="1" spc="-1" smtClean="0">
                            <a:solidFill>
                              <a:srgbClr val="376092"/>
                            </a:solidFill>
                            <a:latin typeface="Cambria Math" panose="02040503050406030204" pitchFamily="18" charset="0"/>
                          </a:rPr>
                          <m:t> ∩ </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num>
                      <m:den>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den>
                    </m:f>
                  </m:oMath>
                </a14:m>
                <a:r>
                  <a:rPr lang="fr-FR" sz="2400" spc="-1" dirty="0">
                    <a:solidFill>
                      <a:srgbClr val="376092"/>
                    </a:solidFill>
                    <a:latin typeface="Calibri"/>
                  </a:rPr>
                  <a:t>  avec A et B indépendants donc P(A </a:t>
                </a:r>
                <a14:m>
                  <m:oMath xmlns:m="http://schemas.openxmlformats.org/officeDocument/2006/math">
                    <m:r>
                      <a:rPr lang="fr-FR" sz="2400" i="1" spc="-1">
                        <a:solidFill>
                          <a:srgbClr val="376092"/>
                        </a:solidFill>
                        <a:latin typeface="Cambria Math" panose="02040503050406030204" pitchFamily="18" charset="0"/>
                        <a:ea typeface="Cambria Math" panose="02040503050406030204" pitchFamily="18" charset="0"/>
                      </a:rPr>
                      <m:t>∩</m:t>
                    </m:r>
                    <m:r>
                      <a:rPr lang="fr-FR" sz="2400" i="1" spc="-1">
                        <a:solidFill>
                          <a:srgbClr val="376092"/>
                        </a:solidFill>
                        <a:latin typeface="Cambria Math" panose="02040503050406030204" pitchFamily="18" charset="0"/>
                        <a:ea typeface="Cambria Math" panose="02040503050406030204" pitchFamily="18" charset="0"/>
                      </a:rPr>
                      <m:t>𝐵</m:t>
                    </m:r>
                  </m:oMath>
                </a14:m>
                <a:r>
                  <a:rPr lang="fr-FR" sz="2400" spc="-1" dirty="0">
                    <a:solidFill>
                      <a:srgbClr val="376092"/>
                    </a:solidFill>
                    <a:latin typeface="Calibri"/>
                  </a:rPr>
                  <a:t>) = P(A) * P(B) alors P</a:t>
                </a:r>
                <a:r>
                  <a:rPr lang="fr-FR" sz="2400" spc="-1" baseline="-25000" dirty="0">
                    <a:solidFill>
                      <a:srgbClr val="376092"/>
                    </a:solidFill>
                    <a:latin typeface="Calibri"/>
                  </a:rPr>
                  <a:t>B</a:t>
                </a:r>
                <a:r>
                  <a:rPr lang="fr-FR" sz="2400" spc="-1" dirty="0">
                    <a:solidFill>
                      <a:srgbClr val="376092"/>
                    </a:solidFill>
                    <a:latin typeface="Calibri"/>
                  </a:rPr>
                  <a:t>(A) </a:t>
                </a:r>
                <a14:m>
                  <m:oMath xmlns:m="http://schemas.openxmlformats.org/officeDocument/2006/math">
                    <m:r>
                      <a:rPr lang="en-US" sz="2400" i="1" spc="-1">
                        <a:solidFill>
                          <a:srgbClr val="376092"/>
                        </a:solidFill>
                        <a:latin typeface="Cambria Math" panose="02040503050406030204" pitchFamily="18" charset="0"/>
                      </a:rPr>
                      <m:t>=</m:t>
                    </m:r>
                    <m:f>
                      <m:fPr>
                        <m:ctrlPr>
                          <a:rPr lang="en-US" sz="2400" i="1" spc="-1">
                            <a:solidFill>
                              <a:srgbClr val="376092"/>
                            </a:solidFill>
                            <a:latin typeface="Cambria Math" panose="02040503050406030204" pitchFamily="18" charset="0"/>
                          </a:rPr>
                        </m:ctrlPr>
                      </m:fPr>
                      <m:num>
                        <m:r>
                          <a:rPr lang="fr-FR" sz="2400" b="0" i="1" spc="-1" smtClean="0">
                            <a:solidFill>
                              <a:srgbClr val="376092"/>
                            </a:solidFill>
                            <a:latin typeface="Cambria Math" panose="02040503050406030204" pitchFamily="18" charset="0"/>
                          </a:rPr>
                          <m:t>𝑃</m:t>
                        </m:r>
                        <m:d>
                          <m:dPr>
                            <m:ctrlPr>
                              <a:rPr lang="fr-FR" sz="2400" b="0" i="1" spc="-1" smtClean="0">
                                <a:solidFill>
                                  <a:srgbClr val="376092"/>
                                </a:solidFill>
                                <a:latin typeface="Cambria Math" panose="02040503050406030204" pitchFamily="18" charset="0"/>
                              </a:rPr>
                            </m:ctrlPr>
                          </m:dPr>
                          <m:e>
                            <m:r>
                              <a:rPr lang="fr-FR" sz="2400" b="0" i="1" spc="-1" smtClean="0">
                                <a:solidFill>
                                  <a:srgbClr val="376092"/>
                                </a:solidFill>
                                <a:latin typeface="Cambria Math" panose="02040503050406030204" pitchFamily="18" charset="0"/>
                              </a:rPr>
                              <m:t>𝐴</m:t>
                            </m:r>
                          </m:e>
                        </m:d>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𝑃</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𝐵</m:t>
                        </m:r>
                        <m:r>
                          <a:rPr lang="fr-FR" sz="2400" b="0" i="1" spc="-1" smtClean="0">
                            <a:solidFill>
                              <a:srgbClr val="376092"/>
                            </a:solidFill>
                            <a:latin typeface="Cambria Math" panose="02040503050406030204" pitchFamily="18" charset="0"/>
                          </a:rPr>
                          <m:t>)</m:t>
                        </m:r>
                      </m:num>
                      <m:den>
                        <m:r>
                          <a:rPr lang="fr-FR" sz="2400" i="1" spc="-1">
                            <a:solidFill>
                              <a:srgbClr val="376092"/>
                            </a:solidFill>
                            <a:latin typeface="Cambria Math" panose="02040503050406030204" pitchFamily="18" charset="0"/>
                          </a:rPr>
                          <m:t>𝑃</m:t>
                        </m:r>
                        <m:r>
                          <a:rPr lang="fr-FR" sz="2400" i="1" spc="-1">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𝐵</m:t>
                        </m:r>
                        <m:r>
                          <a:rPr lang="fr-FR" sz="2400" i="1" spc="-1">
                            <a:solidFill>
                              <a:srgbClr val="376092"/>
                            </a:solidFill>
                            <a:latin typeface="Cambria Math" panose="02040503050406030204" pitchFamily="18" charset="0"/>
                          </a:rPr>
                          <m:t>)</m:t>
                        </m:r>
                      </m:den>
                    </m:f>
                  </m:oMath>
                </a14:m>
                <a:r>
                  <a:rPr lang="fr-FR" sz="2400" spc="-1" dirty="0">
                    <a:solidFill>
                      <a:srgbClr val="376092"/>
                    </a:solidFill>
                    <a:latin typeface="Calibri"/>
                  </a:rPr>
                  <a:t> = P(A)</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Que l'on restreigne l'univers ou non, la probabilité reste inchangée.</a:t>
                </a: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mc:Choice>
        <mc:Fallback xmlns="">
          <p:sp>
            <p:nvSpPr>
              <p:cNvPr id="136" name="TextShape 2"/>
              <p:cNvSpPr txBox="1">
                <a:spLocks noRot="1" noChangeAspect="1" noMove="1" noResize="1" noEditPoints="1" noAdjustHandles="1" noChangeArrowheads="1" noChangeShapeType="1" noTextEdit="1"/>
              </p:cNvSpPr>
              <p:nvPr/>
            </p:nvSpPr>
            <p:spPr>
              <a:xfrm>
                <a:off x="457200" y="958788"/>
                <a:ext cx="8229240" cy="5166972"/>
              </a:xfrm>
              <a:prstGeom prst="rect">
                <a:avLst/>
              </a:prstGeom>
              <a:blipFill>
                <a:blip r:embed="rId2"/>
                <a:stretch>
                  <a:fillRect t="-1769" r="-1704" b="-7783"/>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3614455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F1B55-4459-6E6B-239F-8877C2C8EF7E}"/>
            </a:ext>
          </a:extLst>
        </p:cNvPr>
        <p:cNvGrpSpPr/>
        <p:nvPr/>
      </p:nvGrpSpPr>
      <p:grpSpPr>
        <a:xfrm>
          <a:off x="0" y="0"/>
          <a:ext cx="0" cy="0"/>
          <a:chOff x="0" y="0"/>
          <a:chExt cx="0" cy="0"/>
        </a:xfrm>
      </p:grpSpPr>
      <p:sp>
        <p:nvSpPr>
          <p:cNvPr id="135" name="TextShape 1">
            <a:extLst>
              <a:ext uri="{FF2B5EF4-FFF2-40B4-BE49-F238E27FC236}">
                <a16:creationId xmlns:a16="http://schemas.microsoft.com/office/drawing/2014/main" id="{C82459F8-357A-193D-4BFD-AAEBB59F4776}"/>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Indépendance de deux événements - exercices :</a:t>
            </a:r>
            <a:endParaRPr lang="en-US" sz="3200" b="0" strike="noStrike" spc="-1" dirty="0">
              <a:solidFill>
                <a:srgbClr val="376092"/>
              </a:solidFill>
              <a:latin typeface="Arial"/>
            </a:endParaRPr>
          </a:p>
        </p:txBody>
      </p:sp>
      <p:sp>
        <p:nvSpPr>
          <p:cNvPr id="136" name="TextShape 2">
            <a:extLst>
              <a:ext uri="{FF2B5EF4-FFF2-40B4-BE49-F238E27FC236}">
                <a16:creationId xmlns:a16="http://schemas.microsoft.com/office/drawing/2014/main" id="{94586EA0-169F-4172-3373-2E10ADF3898C}"/>
              </a:ext>
            </a:extLst>
          </p:cNvPr>
          <p:cNvSpPr txBox="1"/>
          <p:nvPr/>
        </p:nvSpPr>
        <p:spPr>
          <a:xfrm>
            <a:off x="457200" y="1245792"/>
            <a:ext cx="8229240" cy="4879967"/>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Imaginons une bibliothèque. Un étudiant a lu 15% des ouvrage de la bibliothèque et un autre 21%. Les deux étudiants ne se sont pas concertés et nous considérons donc que les deux événements sont indépendants.</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Quelle est la probabilité qu'un livre ait été lu par les deux étudiants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Quelle est la probabilité qu'un livre ait été lu par les deux étudiants ?</a:t>
            </a:r>
          </a:p>
          <a:p>
            <a:pPr marL="864000" lvl="1" indent="-324000">
              <a:spcAft>
                <a:spcPts val="1134"/>
              </a:spcAft>
              <a:buClr>
                <a:srgbClr val="000000"/>
              </a:buClr>
              <a:buSzPct val="45000"/>
              <a:buFont typeface="Wingdings" charset="2"/>
              <a:buChar char=""/>
            </a:pPr>
            <a:r>
              <a:rPr lang="fr-FR" sz="2400" spc="-1" dirty="0">
                <a:solidFill>
                  <a:srgbClr val="376092"/>
                </a:solidFill>
                <a:latin typeface="Calibri"/>
              </a:rPr>
              <a:t>Quelle est la probabilité qu'un livre n'ait été lu par aucun des deux étudiants ?</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Calculer les résultats et vérifiez les à l'aide d'un arbre </a:t>
            </a:r>
            <a:r>
              <a:rPr lang="fr-FR" sz="2400" spc="-1">
                <a:solidFill>
                  <a:srgbClr val="376092"/>
                </a:solidFill>
                <a:latin typeface="Calibri"/>
              </a:rPr>
              <a:t>de probabilités.</a:t>
            </a: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64000" lvl="1" indent="-324000">
              <a:spcAft>
                <a:spcPts val="1134"/>
              </a:spcAft>
              <a:buClr>
                <a:srgbClr val="000000"/>
              </a:buClr>
              <a:buSzPct val="45000"/>
              <a:buFont typeface="Wingdings" charset="2"/>
              <a:buChar char=""/>
            </a:pPr>
            <a:endParaRPr lang="fr-FR" sz="2400" spc="-1" dirty="0">
              <a:solidFill>
                <a:srgbClr val="376092"/>
              </a:solidFill>
              <a:latin typeface="Calibri"/>
            </a:endParaRPr>
          </a:p>
          <a:p>
            <a:pPr marL="82800">
              <a:spcAft>
                <a:spcPts val="1134"/>
              </a:spcAft>
              <a:buClr>
                <a:srgbClr val="000000"/>
              </a:buClr>
              <a:buSzPct val="45000"/>
            </a:pPr>
            <a:endParaRPr lang="fr-FR" sz="2400" spc="-1" dirty="0">
              <a:solidFill>
                <a:srgbClr val="376092"/>
              </a:solidFill>
              <a:latin typeface="Calibri"/>
            </a:endParaRPr>
          </a:p>
          <a:p>
            <a:pPr marL="381600"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extLst>
      <p:ext uri="{BB962C8B-B14F-4D97-AF65-F5344CB8AC3E}">
        <p14:creationId xmlns:p14="http://schemas.microsoft.com/office/powerpoint/2010/main" val="2980798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Bilan</a:t>
            </a:r>
            <a:endParaRPr lang="en-US" sz="3200" b="0" strike="noStrike" spc="-1" dirty="0">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166</TotalTime>
  <Words>1914</Words>
  <Application>Microsoft Office PowerPoint</Application>
  <PresentationFormat>Affichage à l'écran (4:3)</PresentationFormat>
  <Paragraphs>221</Paragraphs>
  <Slides>23</Slides>
  <Notes>0</Notes>
  <HiddenSlides>0</HiddenSlides>
  <MMClips>0</MMClips>
  <ScaleCrop>false</ScaleCrop>
  <HeadingPairs>
    <vt:vector size="6" baseType="variant">
      <vt:variant>
        <vt:lpstr>Polices utilisées</vt:lpstr>
      </vt:variant>
      <vt:variant>
        <vt:i4>6</vt:i4>
      </vt:variant>
      <vt:variant>
        <vt:lpstr>Thème</vt:lpstr>
      </vt:variant>
      <vt:variant>
        <vt:i4>3</vt:i4>
      </vt:variant>
      <vt:variant>
        <vt:lpstr>Titres des diapositives</vt:lpstr>
      </vt:variant>
      <vt:variant>
        <vt:i4>23</vt:i4>
      </vt:variant>
    </vt:vector>
  </HeadingPairs>
  <TitlesOfParts>
    <vt:vector size="32" baseType="lpstr">
      <vt:lpstr>Arial</vt:lpstr>
      <vt:lpstr>Calibri</vt:lpstr>
      <vt:lpstr>Cambria Math</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312</cp:revision>
  <dcterms:created xsi:type="dcterms:W3CDTF">2012-01-17T22:15:29Z</dcterms:created>
  <dcterms:modified xsi:type="dcterms:W3CDTF">2025-08-29T13:06:34Z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