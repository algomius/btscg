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53"/>
  </p:notesMasterIdLst>
  <p:sldIdLst>
    <p:sldId id="256" r:id="rId4"/>
    <p:sldId id="257" r:id="rId5"/>
    <p:sldId id="343" r:id="rId6"/>
    <p:sldId id="344" r:id="rId7"/>
    <p:sldId id="345" r:id="rId8"/>
    <p:sldId id="346" r:id="rId9"/>
    <p:sldId id="347" r:id="rId10"/>
    <p:sldId id="375" r:id="rId11"/>
    <p:sldId id="376" r:id="rId12"/>
    <p:sldId id="349" r:id="rId13"/>
    <p:sldId id="350" r:id="rId14"/>
    <p:sldId id="351" r:id="rId15"/>
    <p:sldId id="352" r:id="rId16"/>
    <p:sldId id="354" r:id="rId17"/>
    <p:sldId id="355" r:id="rId18"/>
    <p:sldId id="356" r:id="rId19"/>
    <p:sldId id="357" r:id="rId20"/>
    <p:sldId id="358" r:id="rId21"/>
    <p:sldId id="360" r:id="rId22"/>
    <p:sldId id="362" r:id="rId23"/>
    <p:sldId id="359" r:id="rId24"/>
    <p:sldId id="363" r:id="rId25"/>
    <p:sldId id="364" r:id="rId26"/>
    <p:sldId id="366" r:id="rId27"/>
    <p:sldId id="381" r:id="rId28"/>
    <p:sldId id="382" r:id="rId29"/>
    <p:sldId id="384" r:id="rId30"/>
    <p:sldId id="365" r:id="rId31"/>
    <p:sldId id="367" r:id="rId32"/>
    <p:sldId id="391" r:id="rId33"/>
    <p:sldId id="368" r:id="rId34"/>
    <p:sldId id="369" r:id="rId35"/>
    <p:sldId id="370" r:id="rId36"/>
    <p:sldId id="371" r:id="rId37"/>
    <p:sldId id="392" r:id="rId38"/>
    <p:sldId id="372" r:id="rId39"/>
    <p:sldId id="374" r:id="rId40"/>
    <p:sldId id="377" r:id="rId41"/>
    <p:sldId id="378" r:id="rId42"/>
    <p:sldId id="379" r:id="rId43"/>
    <p:sldId id="380" r:id="rId44"/>
    <p:sldId id="383" r:id="rId45"/>
    <p:sldId id="385" r:id="rId46"/>
    <p:sldId id="386" r:id="rId47"/>
    <p:sldId id="387" r:id="rId48"/>
    <p:sldId id="388" r:id="rId49"/>
    <p:sldId id="389" r:id="rId50"/>
    <p:sldId id="390" r:id="rId51"/>
    <p:sldId id="281" r:id="rId52"/>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156" d="100"/>
          <a:sy n="156" d="100"/>
        </p:scale>
        <p:origin x="1944" y="15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05/11/2024</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Traitement de l'information chiffrée</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ECP Apprentissage – </a:t>
            </a:r>
            <a:r>
              <a:rPr lang="fr-FR" sz="2400" spc="-1" dirty="0">
                <a:solidFill>
                  <a:srgbClr val="999999"/>
                </a:solidFill>
                <a:latin typeface="Arial"/>
              </a:rPr>
              <a:t>BTS CG</a:t>
            </a: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Traitement de l'information chiffrée</a:t>
            </a:r>
            <a:endParaRPr lang="en-US" sz="3200" b="0" strike="noStrike" spc="-1" dirty="0">
              <a:solidFill>
                <a:srgbClr val="376092"/>
              </a:solidFill>
              <a:latin typeface="Arial"/>
            </a:endParaRPr>
          </a:p>
        </p:txBody>
      </p:sp>
      <p:sp>
        <p:nvSpPr>
          <p:cNvPr id="136" name="TextShape 2"/>
          <p:cNvSpPr txBox="1"/>
          <p:nvPr/>
        </p:nvSpPr>
        <p:spPr>
          <a:xfrm>
            <a:off x="457200" y="1135117"/>
            <a:ext cx="8229240" cy="4990643"/>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Proportion</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Evolution et variation </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Coefficient multiplicateur</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Taux d'évolution global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Taux d'évolution réciproque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et utiliser un indice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Racine n</a:t>
            </a:r>
            <a:r>
              <a:rPr lang="fr-FR" sz="2400" spc="-1" baseline="30000" dirty="0">
                <a:solidFill>
                  <a:srgbClr val="376092"/>
                </a:solidFill>
                <a:latin typeface="Calibri"/>
              </a:rPr>
              <a:t>ième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Taux d'évolution moyen</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Tableaux croisés dynamiques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La population est un ensemble d'éléments que nous cherchons à étudier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population française</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Les chênes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L'ensemble des fonds commun de placement</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 individu est un élément de la population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L'effectif est le nombre d'individus dans la population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67,97 millions de français</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11 joueurs d'une équipe de football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appelle aussi l'effectif d'une population, le cardinal :</a:t>
            </a:r>
          </a:p>
          <a:p>
            <a:pPr marL="889200" lvl="1" indent="-324000">
              <a:spcAft>
                <a:spcPts val="1060"/>
              </a:spcAft>
              <a:buClr>
                <a:srgbClr val="000000"/>
              </a:buClr>
              <a:buSzPct val="45000"/>
              <a:buFont typeface="Wingdings" charset="2"/>
              <a:buChar char=""/>
            </a:pPr>
            <a:r>
              <a:rPr lang="fr-FR" sz="2400" b="0" strike="noStrike" spc="-1" dirty="0" err="1">
                <a:solidFill>
                  <a:srgbClr val="376092"/>
                </a:solidFill>
                <a:latin typeface="Arial"/>
              </a:rPr>
              <a:t>card</a:t>
            </a:r>
            <a:r>
              <a:rPr lang="fr-FR" sz="2400" b="0" strike="noStrike" spc="-1" dirty="0">
                <a:solidFill>
                  <a:srgbClr val="376092"/>
                </a:solidFill>
                <a:latin typeface="Arial"/>
              </a:rPr>
              <a:t>(population française) = 67,9</a:t>
            </a:r>
            <a:r>
              <a:rPr lang="fr-FR" sz="2400" spc="-1" dirty="0">
                <a:solidFill>
                  <a:srgbClr val="376092"/>
                </a:solidFill>
                <a:latin typeface="Arial"/>
              </a:rPr>
              <a:t>7 millions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 sous population :</a:t>
            </a:r>
            <a:endParaRPr lang="en-US" sz="3200" b="0" strike="noStrike" spc="-1" dirty="0">
              <a:solidFill>
                <a:srgbClr val="376092"/>
              </a:solidFill>
              <a:latin typeface="Arial"/>
            </a:endParaRPr>
          </a:p>
        </p:txBody>
      </p:sp>
      <p:sp>
        <p:nvSpPr>
          <p:cNvPr id="140" name="TextShape 2"/>
          <p:cNvSpPr txBox="1"/>
          <p:nvPr/>
        </p:nvSpPr>
        <p:spPr>
          <a:xfrm>
            <a:off x="457201" y="1091954"/>
            <a:ext cx="55778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 échantillon d'individus d'une population E est appelé sous population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Soit E la population française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Soit L les individus appartenant à la population française qui porte des lunettes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 est une partie de 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 est inclus dans E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Si un individu appartient à L alors il appartient à 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602F9A6D-2D47-D5DA-D4C0-D7FCD5C4E734}"/>
              </a:ext>
            </a:extLst>
          </p:cNvPr>
          <p:cNvPicPr>
            <a:picLocks noChangeAspect="1"/>
          </p:cNvPicPr>
          <p:nvPr/>
        </p:nvPicPr>
        <p:blipFill>
          <a:blip r:embed="rId2"/>
          <a:stretch>
            <a:fillRect/>
          </a:stretch>
        </p:blipFill>
        <p:spPr>
          <a:xfrm>
            <a:off x="6035041" y="2186263"/>
            <a:ext cx="2976590" cy="1902332"/>
          </a:xfrm>
          <a:prstGeom prst="rect">
            <a:avLst/>
          </a:prstGeom>
        </p:spPr>
      </p:pic>
    </p:spTree>
    <p:extLst>
      <p:ext uri="{BB962C8B-B14F-4D97-AF65-F5344CB8AC3E}">
        <p14:creationId xmlns:p14="http://schemas.microsoft.com/office/powerpoint/2010/main" val="3540405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les effectifs suivants</a:t>
                </a:r>
                <a:r>
                  <a:rPr lang="fr-FR" sz="2400" b="0" strike="noStrike"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67 9</a:t>
                </a:r>
                <a:r>
                  <a:rPr lang="fr-FR" sz="2400" spc="-1" dirty="0">
                    <a:solidFill>
                      <a:srgbClr val="376092"/>
                    </a:solidFill>
                    <a:latin typeface="Arial"/>
                  </a:rPr>
                  <a:t>70 000 millions de français</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47 579 000 millions de frança</a:t>
                </a:r>
                <a:r>
                  <a:rPr lang="fr-FR" sz="2400" spc="-1" dirty="0">
                    <a:solidFill>
                      <a:srgbClr val="376092"/>
                    </a:solidFill>
                    <a:latin typeface="Arial"/>
                  </a:rPr>
                  <a:t>is portant des lunettes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Commençons par calculer l'effectif des Français ne portant pas de lunettes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aimerions savoir quelle est la proportion de français qui portent des lunettes par rapport au nombre de Français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cela il suffit de calculer le rapport entre l'effectif de l'échantillon et l'effectif de la population de référence :</a:t>
                </a:r>
              </a:p>
              <a:p>
                <a:pPr marL="889200" lvl="1" indent="-324000">
                  <a:spcAft>
                    <a:spcPts val="1060"/>
                  </a:spcAft>
                  <a:buClr>
                    <a:srgbClr val="000000"/>
                  </a:buClr>
                  <a:buSzPct val="45000"/>
                  <a:buFont typeface="Wingdings" charset="2"/>
                  <a:buChar char=""/>
                </a:pPr>
                <a:r>
                  <a:rPr lang="fr-FR" sz="2400" spc="-1" dirty="0">
                    <a:solidFill>
                      <a:srgbClr val="376092"/>
                    </a:solidFill>
                  </a:rPr>
                  <a:t>proportion =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b="0" i="1" spc="-1" dirty="0" smtClean="0">
                            <a:solidFill>
                              <a:srgbClr val="376092"/>
                            </a:solidFill>
                            <a:latin typeface="Cambria Math" panose="02040503050406030204" pitchFamily="18" charset="0"/>
                          </a:rPr>
                          <m:t>𝑇𝑎𝑖𝑙𝑙𝑒</m:t>
                        </m:r>
                        <m:r>
                          <a:rPr lang="fr-FR" sz="2400" b="0" i="1" spc="-1" dirty="0" smtClean="0">
                            <a:solidFill>
                              <a:srgbClr val="376092"/>
                            </a:solidFill>
                            <a:latin typeface="Cambria Math" panose="02040503050406030204" pitchFamily="18" charset="0"/>
                          </a:rPr>
                          <m:t> é</m:t>
                        </m:r>
                        <m:r>
                          <a:rPr lang="fr-FR" sz="2400" b="0" i="1" spc="-1" dirty="0" smtClean="0">
                            <a:solidFill>
                              <a:srgbClr val="376092"/>
                            </a:solidFill>
                            <a:latin typeface="Cambria Math" panose="02040503050406030204" pitchFamily="18" charset="0"/>
                          </a:rPr>
                          <m:t>𝑐h𝑎𝑛𝑡𝑖𝑙𝑙𝑜𝑛</m:t>
                        </m:r>
                      </m:num>
                      <m:den>
                        <m:r>
                          <a:rPr lang="fr-FR" sz="2400" b="0" i="1" spc="-1" dirty="0" smtClean="0">
                            <a:solidFill>
                              <a:srgbClr val="376092"/>
                            </a:solidFill>
                            <a:latin typeface="Cambria Math" panose="02040503050406030204" pitchFamily="18" charset="0"/>
                          </a:rPr>
                          <m:t>𝑇𝑎𝑖𝑙𝑙𝑒</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𝑝𝑜𝑝𝑢𝑙𝑎𝑡𝑖𝑜𝑛</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815" b="-2058"/>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010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Vérifions le rapport de proportion à l'aide de proportions connues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Calculons la moitié de la population française</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67 970 000 / 2 = 33 985 000</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67 970 000 * </a:t>
                </a:r>
                <a14:m>
                  <m:oMath xmlns:m="http://schemas.openxmlformats.org/officeDocument/2006/math">
                    <m:f>
                      <m:fPr>
                        <m:ctrlPr>
                          <a:rPr lang="fr-FR" sz="2400" i="1" spc="-1" smtClean="0">
                            <a:solidFill>
                              <a:srgbClr val="376092"/>
                            </a:solidFill>
                            <a:latin typeface="Cambria Math" panose="02040503050406030204" pitchFamily="18" charset="0"/>
                          </a:rPr>
                        </m:ctrlPr>
                      </m:fPr>
                      <m:num>
                        <m:r>
                          <a:rPr lang="fr-FR" sz="2400" spc="-1" smtClean="0">
                            <a:solidFill>
                              <a:srgbClr val="376092"/>
                            </a:solidFill>
                            <a:latin typeface="Cambria Math" panose="02040503050406030204" pitchFamily="18" charset="0"/>
                          </a:rPr>
                          <m:t>1</m:t>
                        </m:r>
                      </m:num>
                      <m:den>
                        <m:r>
                          <a:rPr lang="fr-FR" sz="2400" i="0" spc="-1" smtClean="0">
                            <a:solidFill>
                              <a:srgbClr val="376092"/>
                            </a:solidFill>
                            <a:latin typeface="Cambria Math" panose="02040503050406030204" pitchFamily="18" charset="0"/>
                          </a:rPr>
                          <m:t>2</m:t>
                        </m:r>
                      </m:den>
                    </m:f>
                  </m:oMath>
                </a14:m>
                <a:r>
                  <a:rPr lang="fr-FR" sz="2400" spc="-1" dirty="0">
                    <a:solidFill>
                      <a:srgbClr val="376092"/>
                    </a:solidFill>
                    <a:latin typeface="Arial"/>
                  </a:rPr>
                  <a:t> = 33 985 000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nous isolons la proportion, nous retombons bien sur le bon ratio :</a:t>
                </a:r>
              </a:p>
              <a:p>
                <a:pPr marL="1346400" lvl="2" indent="-324000">
                  <a:spcAft>
                    <a:spcPts val="1060"/>
                  </a:spcAft>
                  <a:buClr>
                    <a:srgbClr val="000000"/>
                  </a:buClr>
                  <a:buSzPct val="45000"/>
                  <a:buFont typeface="Wingdings" charset="2"/>
                  <a:buChar char=""/>
                </a:pPr>
                <a14:m>
                  <m:oMath xmlns:m="http://schemas.openxmlformats.org/officeDocument/2006/math">
                    <m:f>
                      <m:fPr>
                        <m:ctrlPr>
                          <a:rPr lang="fr-FR" sz="2400" i="1" spc="-1" smtClean="0">
                            <a:solidFill>
                              <a:srgbClr val="376092"/>
                            </a:solidFill>
                            <a:latin typeface="Cambria Math" panose="02040503050406030204" pitchFamily="18" charset="0"/>
                          </a:rPr>
                        </m:ctrlPr>
                      </m:fPr>
                      <m:num>
                        <m:r>
                          <a:rPr lang="fr-FR" sz="2400" spc="-1" smtClean="0">
                            <a:solidFill>
                              <a:srgbClr val="376092"/>
                            </a:solidFill>
                            <a:latin typeface="Cambria Math" panose="02040503050406030204" pitchFamily="18" charset="0"/>
                          </a:rPr>
                          <m:t>1</m:t>
                        </m:r>
                      </m:num>
                      <m:den>
                        <m:r>
                          <a:rPr lang="fr-FR" sz="2400" i="0" spc="-1" smtClean="0">
                            <a:solidFill>
                              <a:srgbClr val="376092"/>
                            </a:solidFill>
                            <a:latin typeface="Cambria Math" panose="02040503050406030204" pitchFamily="18" charset="0"/>
                          </a:rPr>
                          <m:t>2</m:t>
                        </m:r>
                      </m:den>
                    </m:f>
                  </m:oMath>
                </a14:m>
                <a:r>
                  <a:rPr lang="fr-FR" sz="2400" spc="-1" dirty="0">
                    <a:solidFill>
                      <a:srgbClr val="376092"/>
                    </a:solidFill>
                    <a:latin typeface="Arial"/>
                  </a:rPr>
                  <a:t> = </a:t>
                </a:r>
                <a14:m>
                  <m:oMath xmlns:m="http://schemas.openxmlformats.org/officeDocument/2006/math">
                    <m:f>
                      <m:fPr>
                        <m:ctrlPr>
                          <a:rPr lang="fr-FR" sz="2400" i="1" spc="-1">
                            <a:solidFill>
                              <a:srgbClr val="376092"/>
                            </a:solidFill>
                            <a:latin typeface="Cambria Math" panose="02040503050406030204" pitchFamily="18" charset="0"/>
                          </a:rPr>
                        </m:ctrlPr>
                      </m:fPr>
                      <m:num>
                        <m:r>
                          <a:rPr lang="fr-FR" sz="2400" b="0" i="0" spc="-1" smtClean="0">
                            <a:solidFill>
                              <a:srgbClr val="376092"/>
                            </a:solidFill>
                            <a:latin typeface="Cambria Math" panose="02040503050406030204" pitchFamily="18" charset="0"/>
                          </a:rPr>
                          <m:t>33 985 000</m:t>
                        </m:r>
                      </m:num>
                      <m:den>
                        <m:r>
                          <a:rPr lang="fr-FR" sz="2400" b="0" i="0" spc="-1" smtClean="0">
                            <a:solidFill>
                              <a:srgbClr val="376092"/>
                            </a:solidFill>
                            <a:latin typeface="Cambria Math" panose="02040503050406030204" pitchFamily="18" charset="0"/>
                          </a:rPr>
                          <m:t>67 970 000</m:t>
                        </m:r>
                      </m:den>
                    </m:f>
                  </m:oMath>
                </a14:m>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ne reste plus qu'à calculer la proportion pour nos porteurs de lunettes</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505860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échantillon d'une population est un sous ensemble de la population de référence, il ne peut donc pas contenir plus d'individus que celle-ci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 </a:t>
                </a:r>
                <a14:m>
                  <m:oMath xmlns:m="http://schemas.openxmlformats.org/officeDocument/2006/math">
                    <m:r>
                      <a:rPr lang="fr-FR" sz="2400" spc="-1" smtClean="0">
                        <a:solidFill>
                          <a:srgbClr val="376092"/>
                        </a:solidFill>
                        <a:latin typeface="Cambria Math" panose="02040503050406030204" pitchFamily="18" charset="0"/>
                      </a:rPr>
                      <m:t>≤</m:t>
                    </m:r>
                  </m:oMath>
                </a14:m>
                <a:r>
                  <a:rPr lang="fr-FR" sz="2400" spc="-1" dirty="0">
                    <a:solidFill>
                      <a:srgbClr val="376092"/>
                    </a:solidFill>
                    <a:latin typeface="Arial"/>
                  </a:rPr>
                  <a:t> taille de l'échantillon </a:t>
                </a:r>
                <a14:m>
                  <m:oMath xmlns:m="http://schemas.openxmlformats.org/officeDocument/2006/math">
                    <m:r>
                      <a:rPr lang="fr-FR" sz="2400" spc="-1">
                        <a:solidFill>
                          <a:srgbClr val="376092"/>
                        </a:solidFill>
                        <a:latin typeface="Cambria Math" panose="02040503050406030204" pitchFamily="18" charset="0"/>
                      </a:rPr>
                      <m:t>≤</m:t>
                    </m:r>
                  </m:oMath>
                </a14:m>
                <a:r>
                  <a:rPr lang="fr-FR" sz="2400" spc="-1" dirty="0">
                    <a:solidFill>
                      <a:srgbClr val="376092"/>
                    </a:solidFill>
                    <a:latin typeface="Arial"/>
                  </a:rPr>
                  <a:t> taille de la population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 ce qui concerne la proportion, nous avons aussi des bornes. Calculer la proportion si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sous-population ne contient aucun individu</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sous-population contient tous les individus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Cela nous permet de déduire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 </a:t>
                </a:r>
                <a14:m>
                  <m:oMath xmlns:m="http://schemas.openxmlformats.org/officeDocument/2006/math">
                    <m:r>
                      <a:rPr lang="fr-FR" sz="2400" spc="-1" smtClean="0">
                        <a:solidFill>
                          <a:srgbClr val="376092"/>
                        </a:solidFill>
                        <a:latin typeface="Cambria Math" panose="02040503050406030204" pitchFamily="18" charset="0"/>
                      </a:rPr>
                      <m:t>≤</m:t>
                    </m:r>
                  </m:oMath>
                </a14:m>
                <a:r>
                  <a:rPr lang="fr-FR" sz="2400" spc="-1" dirty="0">
                    <a:solidFill>
                      <a:srgbClr val="376092"/>
                    </a:solidFill>
                    <a:latin typeface="Arial"/>
                  </a:rPr>
                  <a:t> proportion de l'échantillon </a:t>
                </a:r>
                <a14:m>
                  <m:oMath xmlns:m="http://schemas.openxmlformats.org/officeDocument/2006/math">
                    <m:r>
                      <a:rPr lang="fr-FR" sz="2400" spc="-1">
                        <a:solidFill>
                          <a:srgbClr val="376092"/>
                        </a:solidFill>
                        <a:latin typeface="Cambria Math" panose="02040503050406030204" pitchFamily="18" charset="0"/>
                      </a:rPr>
                      <m:t>≤</m:t>
                    </m:r>
                  </m:oMath>
                </a14:m>
                <a:r>
                  <a:rPr lang="fr-FR" sz="2400" spc="-1" dirty="0">
                    <a:solidFill>
                      <a:srgbClr val="376092"/>
                    </a:solidFill>
                    <a:latin typeface="Arial"/>
                  </a:rPr>
                  <a:t> 1</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296"/>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00672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proportion peut s'exprimer à l'aide d'un ratio mais aussi d'un pourcentage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facile de passer de l'un à l'autre</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67 9</a:t>
                </a:r>
                <a:r>
                  <a:rPr lang="fr-FR" sz="2400" spc="-1" dirty="0">
                    <a:solidFill>
                      <a:srgbClr val="376092"/>
                    </a:solidFill>
                    <a:latin typeface="Arial"/>
                  </a:rPr>
                  <a:t>70 000 millions de français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19 031 600 millions de français déclarent comprendre et parler anglais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proportion est de </a:t>
                </a:r>
                <a14:m>
                  <m:oMath xmlns:m="http://schemas.openxmlformats.org/officeDocument/2006/math">
                    <m:f>
                      <m:fPr>
                        <m:ctrlPr>
                          <a:rPr lang="fr-FR" sz="2400" i="1" spc="-1">
                            <a:solidFill>
                              <a:srgbClr val="376092"/>
                            </a:solidFill>
                            <a:latin typeface="Cambria Math" panose="02040503050406030204" pitchFamily="18" charset="0"/>
                          </a:rPr>
                        </m:ctrlPr>
                      </m:fPr>
                      <m:num>
                        <m:r>
                          <a:rPr lang="fr-FR" sz="2400" b="0" i="0" spc="-1" smtClean="0">
                            <a:solidFill>
                              <a:srgbClr val="376092"/>
                            </a:solidFill>
                            <a:latin typeface="Cambria Math" panose="02040503050406030204" pitchFamily="18" charset="0"/>
                          </a:rPr>
                          <m:t>19 031 600</m:t>
                        </m:r>
                      </m:num>
                      <m:den>
                        <m:r>
                          <a:rPr lang="fr-FR" sz="2400" b="0" i="0" spc="-1" smtClean="0">
                            <a:solidFill>
                              <a:srgbClr val="376092"/>
                            </a:solidFill>
                            <a:latin typeface="Cambria Math" panose="02040503050406030204" pitchFamily="18" charset="0"/>
                          </a:rPr>
                          <m:t>67 970 000</m:t>
                        </m:r>
                      </m:den>
                    </m:f>
                  </m:oMath>
                </a14:m>
                <a:r>
                  <a:rPr lang="fr-FR" sz="2400" spc="-1" dirty="0">
                    <a:solidFill>
                      <a:srgbClr val="376092"/>
                    </a:solidFill>
                    <a:latin typeface="Arial"/>
                  </a:rPr>
                  <a:t> = </a:t>
                </a:r>
                <a14:m>
                  <m:oMath xmlns:m="http://schemas.openxmlformats.org/officeDocument/2006/math">
                    <m:r>
                      <a:rPr lang="fr-FR" sz="2400" b="0" i="1" spc="-1" smtClean="0">
                        <a:solidFill>
                          <a:srgbClr val="376092"/>
                        </a:solidFill>
                        <a:latin typeface="Cambria Math" panose="02040503050406030204" pitchFamily="18" charset="0"/>
                      </a:rPr>
                      <m:t>0,28</m:t>
                    </m:r>
                  </m:oMath>
                </a14:m>
                <a:r>
                  <a:rPr lang="fr-FR" sz="2400" spc="-1" dirty="0">
                    <a:solidFill>
                      <a:srgbClr val="376092"/>
                    </a:solidFill>
                  </a:rPr>
                  <a:t> = </a:t>
                </a:r>
                <a14:m>
                  <m:oMath xmlns:m="http://schemas.openxmlformats.org/officeDocument/2006/math">
                    <m:f>
                      <m:fPr>
                        <m:ctrlPr>
                          <a:rPr lang="fr-FR" sz="2400" i="1" spc="-1">
                            <a:solidFill>
                              <a:srgbClr val="376092"/>
                            </a:solidFill>
                            <a:latin typeface="Cambria Math" panose="02040503050406030204" pitchFamily="18" charset="0"/>
                          </a:rPr>
                        </m:ctrlPr>
                      </m:fPr>
                      <m:num>
                        <m:r>
                          <a:rPr lang="fr-FR" sz="2400" b="0" i="0" spc="-1" smtClean="0">
                            <a:solidFill>
                              <a:srgbClr val="376092"/>
                            </a:solidFill>
                            <a:latin typeface="Cambria Math" panose="02040503050406030204" pitchFamily="18" charset="0"/>
                          </a:rPr>
                          <m:t>28</m:t>
                        </m:r>
                      </m:num>
                      <m:den>
                        <m:r>
                          <a:rPr lang="fr-FR" sz="2400" b="0" i="0" spc="-1" smtClean="0">
                            <a:solidFill>
                              <a:srgbClr val="376092"/>
                            </a:solidFill>
                            <a:latin typeface="Cambria Math" panose="02040503050406030204" pitchFamily="18" charset="0"/>
                          </a:rPr>
                          <m:t>100</m:t>
                        </m:r>
                      </m:den>
                    </m:f>
                    <m:r>
                      <a:rPr lang="fr-FR" sz="2400" b="0" i="1" spc="-1" smtClean="0">
                        <a:solidFill>
                          <a:srgbClr val="376092"/>
                        </a:solidFill>
                        <a:latin typeface="Cambria Math" panose="02040503050406030204" pitchFamily="18" charset="0"/>
                      </a:rPr>
                      <m:t>=28%</m:t>
                    </m:r>
                  </m:oMath>
                </a14:m>
                <a:r>
                  <a:rPr lang="fr-FR" sz="2400" spc="-1" dirty="0">
                    <a:solidFill>
                      <a:srgbClr val="376092"/>
                    </a:solidFill>
                  </a:rPr>
                  <a:t>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proportion des Français ne parlant pas anglais est donc de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0,28 = 0,72 = </a:t>
                </a:r>
                <a14:m>
                  <m:oMath xmlns:m="http://schemas.openxmlformats.org/officeDocument/2006/math">
                    <m:f>
                      <m:fPr>
                        <m:ctrlPr>
                          <a:rPr lang="fr-FR" sz="2400" i="1" spc="-1" smtClean="0">
                            <a:solidFill>
                              <a:srgbClr val="376092"/>
                            </a:solidFill>
                            <a:latin typeface="Cambria Math" panose="02040503050406030204" pitchFamily="18" charset="0"/>
                          </a:rPr>
                        </m:ctrlPr>
                      </m:fPr>
                      <m:num>
                        <m:r>
                          <a:rPr lang="fr-FR" sz="2400" b="0" i="0" spc="-1" smtClean="0">
                            <a:solidFill>
                              <a:srgbClr val="376092"/>
                            </a:solidFill>
                            <a:latin typeface="Cambria Math" panose="02040503050406030204" pitchFamily="18" charset="0"/>
                          </a:rPr>
                          <m:t>7</m:t>
                        </m:r>
                        <m:r>
                          <a:rPr lang="fr-FR" sz="2400" b="0" i="1" spc="-1" smtClean="0">
                            <a:solidFill>
                              <a:srgbClr val="376092"/>
                            </a:solidFill>
                            <a:latin typeface="Cambria Math" panose="02040503050406030204" pitchFamily="18" charset="0"/>
                          </a:rPr>
                          <m:t>2</m:t>
                        </m:r>
                      </m:num>
                      <m:den>
                        <m:r>
                          <a:rPr lang="fr-FR" sz="2400" b="0" i="0" spc="-1" smtClean="0">
                            <a:solidFill>
                              <a:srgbClr val="376092"/>
                            </a:solidFill>
                            <a:latin typeface="Cambria Math" panose="02040503050406030204" pitchFamily="18" charset="0"/>
                          </a:rPr>
                          <m:t>100</m:t>
                        </m:r>
                      </m:den>
                    </m:f>
                    <m:r>
                      <a:rPr lang="fr-FR" sz="2400" b="0" i="1" spc="-1" smtClean="0">
                        <a:solidFill>
                          <a:srgbClr val="376092"/>
                        </a:solidFill>
                        <a:latin typeface="Cambria Math" panose="02040503050406030204" pitchFamily="18" charset="0"/>
                      </a:rPr>
                      <m:t>=72%</m:t>
                    </m:r>
                  </m:oMath>
                </a14:m>
                <a:r>
                  <a:rPr lang="fr-FR" sz="2400" spc="-1" dirty="0">
                    <a:solidFill>
                      <a:srgbClr val="376092"/>
                    </a:solidFill>
                  </a:rPr>
                  <a:t> </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222"/>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72954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p:sp>
        <p:nvSpPr>
          <p:cNvPr id="140" name="TextShape 2"/>
          <p:cNvSpPr txBox="1"/>
          <p:nvPr/>
        </p:nvSpPr>
        <p:spPr>
          <a:xfrm>
            <a:off x="1633308" y="1091954"/>
            <a:ext cx="525307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L'explication du pourcentage tient dans son nom "pour cent".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proportion de 0,72 indique que si je prends un individu français, il y a une proportion de 0,72 qu'il ne parle pas anglais.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individu parle anglais ou ne parle pas. Pour exprimer cette proportion, on préfère donc prendre un échantillon de 100 individus.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Cela permet de mieux comprendre cette proportion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6F94D512-1EC0-9E2F-E9D2-884CC579CB34}"/>
              </a:ext>
            </a:extLst>
          </p:cNvPr>
          <p:cNvPicPr>
            <a:picLocks noChangeAspect="1"/>
          </p:cNvPicPr>
          <p:nvPr/>
        </p:nvPicPr>
        <p:blipFill>
          <a:blip r:embed="rId2"/>
          <a:stretch>
            <a:fillRect/>
          </a:stretch>
        </p:blipFill>
        <p:spPr>
          <a:xfrm>
            <a:off x="324770" y="1855633"/>
            <a:ext cx="1076325" cy="2276475"/>
          </a:xfrm>
          <a:prstGeom prst="rect">
            <a:avLst/>
          </a:prstGeom>
        </p:spPr>
      </p:pic>
      <p:pic>
        <p:nvPicPr>
          <p:cNvPr id="6" name="Image 5">
            <a:extLst>
              <a:ext uri="{FF2B5EF4-FFF2-40B4-BE49-F238E27FC236}">
                <a16:creationId xmlns:a16="http://schemas.microsoft.com/office/drawing/2014/main" id="{B042C402-055F-B3DE-74D7-BE3EE876A842}"/>
              </a:ext>
            </a:extLst>
          </p:cNvPr>
          <p:cNvPicPr>
            <a:picLocks noChangeAspect="1"/>
          </p:cNvPicPr>
          <p:nvPr/>
        </p:nvPicPr>
        <p:blipFill>
          <a:blip r:embed="rId3"/>
          <a:stretch>
            <a:fillRect/>
          </a:stretch>
        </p:blipFill>
        <p:spPr>
          <a:xfrm>
            <a:off x="7082569" y="938261"/>
            <a:ext cx="1897470" cy="5286277"/>
          </a:xfrm>
          <a:prstGeom prst="rect">
            <a:avLst/>
          </a:prstGeom>
        </p:spPr>
      </p:pic>
    </p:spTree>
    <p:extLst>
      <p:ext uri="{BB962C8B-B14F-4D97-AF65-F5344CB8AC3E}">
        <p14:creationId xmlns:p14="http://schemas.microsoft.com/office/powerpoint/2010/main" val="2159634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pourcentage n'est rien d'autre qu'une proportion sur une population de 100 individus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28% des Français parlent anglais peut se dire "Si je prends au hasard 100 Français, 28 d'entre eux parleront Anglais donc 28 sur 100 donc </a:t>
                </a:r>
                <a14:m>
                  <m:oMath xmlns:m="http://schemas.openxmlformats.org/officeDocument/2006/math">
                    <m:f>
                      <m:fPr>
                        <m:ctrlPr>
                          <a:rPr lang="fr-FR" sz="2400" i="1" spc="-1">
                            <a:solidFill>
                              <a:srgbClr val="376092"/>
                            </a:solidFill>
                            <a:latin typeface="Cambria Math" panose="02040503050406030204" pitchFamily="18" charset="0"/>
                          </a:rPr>
                        </m:ctrlPr>
                      </m:fPr>
                      <m:num>
                        <m:r>
                          <a:rPr lang="fr-FR" sz="2400" spc="-1">
                            <a:solidFill>
                              <a:srgbClr val="376092"/>
                            </a:solidFill>
                            <a:latin typeface="Cambria Math" panose="02040503050406030204" pitchFamily="18" charset="0"/>
                          </a:rPr>
                          <m:t>28</m:t>
                        </m:r>
                      </m:num>
                      <m:den>
                        <m:r>
                          <a:rPr lang="fr-FR" sz="2400" spc="-1">
                            <a:solidFill>
                              <a:srgbClr val="376092"/>
                            </a:solidFill>
                            <a:latin typeface="Cambria Math" panose="02040503050406030204" pitchFamily="18" charset="0"/>
                          </a:rPr>
                          <m:t>100</m:t>
                        </m:r>
                      </m:den>
                    </m:f>
                    <m:r>
                      <a:rPr lang="fr-FR" sz="2400" spc="-1">
                        <a:solidFill>
                          <a:srgbClr val="376092"/>
                        </a:solidFill>
                        <a:latin typeface="Cambria Math" panose="02040503050406030204" pitchFamily="18" charset="0"/>
                      </a:rPr>
                      <m:t>𝑑𝑜𝑛𝑐</m:t>
                    </m:r>
                    <m:r>
                      <a:rPr lang="fr-FR" sz="2400" spc="-1">
                        <a:solidFill>
                          <a:srgbClr val="376092"/>
                        </a:solidFill>
                        <a:latin typeface="Cambria Math" panose="02040503050406030204" pitchFamily="18" charset="0"/>
                      </a:rPr>
                      <m:t> 28%</m:t>
                    </m:r>
                  </m:oMath>
                </a14:m>
                <a:r>
                  <a:rPr lang="fr-FR" sz="2400" spc="-1" dirty="0">
                    <a:solidFill>
                      <a:srgbClr val="376092"/>
                    </a:solidFill>
                  </a:rPr>
                  <a:t> </a:t>
                </a:r>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y a d'autre moyen de marquer la proportion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28 % = 280 pour mille = 280 ‰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je prends au hasard 1000 Français, 280 d'entre eux parleront Anglais donc 280 sur 1000 donc </a:t>
                </a:r>
                <a14:m>
                  <m:oMath xmlns:m="http://schemas.openxmlformats.org/officeDocument/2006/math">
                    <m:f>
                      <m:fPr>
                        <m:ctrlPr>
                          <a:rPr lang="fr-FR" sz="2400" i="1" spc="-1">
                            <a:solidFill>
                              <a:srgbClr val="376092"/>
                            </a:solidFill>
                            <a:latin typeface="Cambria Math" panose="02040503050406030204" pitchFamily="18" charset="0"/>
                          </a:rPr>
                        </m:ctrlPr>
                      </m:fPr>
                      <m:num>
                        <m:r>
                          <a:rPr lang="fr-FR" sz="2400" spc="-1">
                            <a:solidFill>
                              <a:srgbClr val="376092"/>
                            </a:solidFill>
                            <a:latin typeface="Cambria Math" panose="02040503050406030204" pitchFamily="18" charset="0"/>
                          </a:rPr>
                          <m:t>28</m:t>
                        </m:r>
                        <m:r>
                          <a:rPr lang="fr-FR" sz="2400" b="0" i="0" spc="-1" smtClean="0">
                            <a:solidFill>
                              <a:srgbClr val="376092"/>
                            </a:solidFill>
                            <a:latin typeface="Cambria Math" panose="02040503050406030204" pitchFamily="18" charset="0"/>
                          </a:rPr>
                          <m:t>0</m:t>
                        </m:r>
                      </m:num>
                      <m:den>
                        <m:r>
                          <a:rPr lang="fr-FR" sz="2400" spc="-1">
                            <a:solidFill>
                              <a:srgbClr val="376092"/>
                            </a:solidFill>
                            <a:latin typeface="Cambria Math" panose="02040503050406030204" pitchFamily="18" charset="0"/>
                          </a:rPr>
                          <m:t>100</m:t>
                        </m:r>
                        <m:r>
                          <a:rPr lang="fr-FR" sz="2400" b="0" i="0" spc="-1" smtClean="0">
                            <a:solidFill>
                              <a:srgbClr val="376092"/>
                            </a:solidFill>
                            <a:latin typeface="Cambria Math" panose="02040503050406030204" pitchFamily="18" charset="0"/>
                          </a:rPr>
                          <m:t>0</m:t>
                        </m:r>
                      </m:den>
                    </m:f>
                    <m:r>
                      <a:rPr lang="fr-FR" sz="2400" spc="-1">
                        <a:solidFill>
                          <a:srgbClr val="376092"/>
                        </a:solidFill>
                        <a:latin typeface="Cambria Math" panose="02040503050406030204" pitchFamily="18" charset="0"/>
                      </a:rPr>
                      <m:t>𝑑𝑜𝑛𝑐</m:t>
                    </m:r>
                    <m:r>
                      <m:rPr>
                        <m:nor/>
                      </m:rPr>
                      <a:rPr lang="fr-FR" sz="2400" b="0" i="0" spc="-1" smtClean="0">
                        <a:solidFill>
                          <a:srgbClr val="376092"/>
                        </a:solidFill>
                        <a:latin typeface="Cambria Math" panose="02040503050406030204" pitchFamily="18" charset="0"/>
                      </a:rPr>
                      <m:t> </m:t>
                    </m:r>
                    <m:r>
                      <m:rPr>
                        <m:nor/>
                      </m:rPr>
                      <a:rPr lang="fr-FR" sz="2400" spc="-1" dirty="0">
                        <a:solidFill>
                          <a:srgbClr val="376092"/>
                        </a:solidFill>
                      </a:rPr>
                      <m:t>280 ‰</m:t>
                    </m:r>
                  </m:oMath>
                </a14:m>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La population de référence est plus grande mais le rapport reste le même</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000" b="-11138"/>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91786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 exercice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J'ai analysé la performance de 524 fonds communs de placement sur les 2 dernières années et 105 font mieux que leur indice de référence. Calculer la proportion des fonds qui font mieux que leur indice de référence.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Mes actions dans le luxe m'ont rapporté 420 euros de dividende, ce qui correspond à 18% des dividendes totaux encaissés cette année. A combien s'élèvent mes dividendes annuels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J'ai calculé qu'il me faut 20h pour réviser le cours de math pour mon examen et j'en ai déjà réalisé 60%. Combien de temps ai-je déjà passé à réviser et combien de temps me reste t-il ?</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818468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 produit en croix est une méthode rapide pour calculer une proportion</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Imaginons que sur 67 970 000 français, 55 100 000 détiennent un livret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mon village, il y a 5547 personnes. Si la proportion est la même, combien de personnes possèdent un livret A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Si la proportion est conservée, alors je cherche x tel que :</a:t>
                </a:r>
              </a:p>
              <a:p>
                <a:pPr marL="889200" lvl="1" indent="-324000">
                  <a:spcAft>
                    <a:spcPts val="1060"/>
                  </a:spcAft>
                  <a:buClr>
                    <a:srgbClr val="000000"/>
                  </a:buClr>
                  <a:buSzPct val="45000"/>
                  <a:buFont typeface="Wingdings" charset="2"/>
                  <a:buChar char=""/>
                </a:pPr>
                <a14:m>
                  <m:oMath xmlns:m="http://schemas.openxmlformats.org/officeDocument/2006/math">
                    <m:f>
                      <m:fPr>
                        <m:ctrlPr>
                          <a:rPr lang="fr-FR" sz="2400" i="1" spc="-1" smtClean="0">
                            <a:solidFill>
                              <a:srgbClr val="376092"/>
                            </a:solidFill>
                            <a:latin typeface="Cambria Math" panose="02040503050406030204" pitchFamily="18" charset="0"/>
                          </a:rPr>
                        </m:ctrlPr>
                      </m:fPr>
                      <m:num>
                        <m:r>
                          <m:rPr>
                            <m:sty m:val="p"/>
                          </m:rPr>
                          <a:rPr lang="fr-FR" sz="2400" b="0" i="0" spc="-1" smtClean="0">
                            <a:solidFill>
                              <a:srgbClr val="376092"/>
                            </a:solidFill>
                            <a:latin typeface="Cambria Math" panose="02040503050406030204" pitchFamily="18" charset="0"/>
                          </a:rPr>
                          <m:t>x</m:t>
                        </m:r>
                      </m:num>
                      <m:den>
                        <m:r>
                          <a:rPr lang="fr-FR" sz="2400" b="0" i="0" spc="-1" smtClean="0">
                            <a:solidFill>
                              <a:srgbClr val="376092"/>
                            </a:solidFill>
                            <a:latin typeface="Cambria Math" panose="02040503050406030204" pitchFamily="18" charset="0"/>
                          </a:rPr>
                          <m:t>5547</m:t>
                        </m:r>
                      </m:den>
                    </m:f>
                    <m:r>
                      <a:rPr lang="fr-FR" sz="2400" b="0" i="1" spc="-1" smtClean="0">
                        <a:solidFill>
                          <a:srgbClr val="376092"/>
                        </a:solidFill>
                        <a:latin typeface="Cambria Math" panose="02040503050406030204" pitchFamily="18" charset="0"/>
                      </a:rPr>
                      <m:t>=</m:t>
                    </m:r>
                    <m:f>
                      <m:fPr>
                        <m:ctrlPr>
                          <a:rPr lang="fr-FR" sz="2400" i="1" spc="-1">
                            <a:solidFill>
                              <a:srgbClr val="376092"/>
                            </a:solidFill>
                            <a:latin typeface="Cambria Math" panose="02040503050406030204" pitchFamily="18" charset="0"/>
                          </a:rPr>
                        </m:ctrlPr>
                      </m:fPr>
                      <m:num>
                        <m:r>
                          <a:rPr lang="fr-FR" sz="2400" b="0" i="0" spc="-1" smtClean="0">
                            <a:solidFill>
                              <a:srgbClr val="376092"/>
                            </a:solidFill>
                            <a:latin typeface="Cambria Math" panose="02040503050406030204" pitchFamily="18" charset="0"/>
                          </a:rPr>
                          <m:t>55 100 000</m:t>
                        </m:r>
                      </m:num>
                      <m:den>
                        <m:r>
                          <a:rPr lang="fr-FR" sz="2400" b="0" i="0" spc="-1" smtClean="0">
                            <a:solidFill>
                              <a:srgbClr val="376092"/>
                            </a:solidFill>
                            <a:latin typeface="Cambria Math" panose="02040503050406030204" pitchFamily="18" charset="0"/>
                          </a:rPr>
                          <m:t>67 970 000</m:t>
                        </m:r>
                      </m:den>
                    </m:f>
                  </m:oMath>
                </a14:m>
                <a:r>
                  <a:rPr lang="fr-FR" sz="2400" b="0" strike="noStrike" spc="-1" dirty="0">
                    <a:solidFill>
                      <a:srgbClr val="376092"/>
                    </a:solidFill>
                    <a:latin typeface="Arial"/>
                  </a:rPr>
                  <a:t> donc x = </a:t>
                </a:r>
                <a14:m>
                  <m:oMath xmlns:m="http://schemas.openxmlformats.org/officeDocument/2006/math">
                    <m:f>
                      <m:fPr>
                        <m:ctrlPr>
                          <a:rPr lang="fr-FR" sz="2400" i="1" spc="-1">
                            <a:solidFill>
                              <a:srgbClr val="376092"/>
                            </a:solidFill>
                            <a:latin typeface="Cambria Math" panose="02040503050406030204" pitchFamily="18" charset="0"/>
                          </a:rPr>
                        </m:ctrlPr>
                      </m:fPr>
                      <m:num>
                        <m:r>
                          <a:rPr lang="fr-FR" sz="2400" spc="-1">
                            <a:solidFill>
                              <a:srgbClr val="376092"/>
                            </a:solidFill>
                            <a:latin typeface="Cambria Math" panose="02040503050406030204" pitchFamily="18" charset="0"/>
                          </a:rPr>
                          <m:t>55 100 000</m:t>
                        </m:r>
                        <m:r>
                          <a:rPr lang="fr-FR" sz="2400" b="0" i="1" spc="-1" smtClean="0">
                            <a:solidFill>
                              <a:srgbClr val="376092"/>
                            </a:solidFill>
                            <a:latin typeface="Cambria Math" panose="02040503050406030204" pitchFamily="18" charset="0"/>
                          </a:rPr>
                          <m:t> ∗5547</m:t>
                        </m:r>
                      </m:num>
                      <m:den>
                        <m:r>
                          <a:rPr lang="fr-FR" sz="2400" spc="-1">
                            <a:solidFill>
                              <a:srgbClr val="376092"/>
                            </a:solidFill>
                            <a:latin typeface="Cambria Math" panose="02040503050406030204" pitchFamily="18" charset="0"/>
                          </a:rPr>
                          <m:t>67 970 000</m:t>
                        </m:r>
                      </m:den>
                    </m:f>
                  </m:oMath>
                </a14:m>
                <a:r>
                  <a:rPr lang="fr-FR" sz="2400" spc="-1" dirty="0">
                    <a:solidFill>
                      <a:srgbClr val="376092"/>
                    </a:solidFill>
                  </a:rPr>
                  <a:t> </a:t>
                </a:r>
                <a14:m>
                  <m:oMath xmlns:m="http://schemas.openxmlformats.org/officeDocument/2006/math">
                    <m:r>
                      <a:rPr lang="fr-FR" sz="2400" spc="-1" smtClean="0">
                        <a:solidFill>
                          <a:srgbClr val="376092"/>
                        </a:solidFill>
                        <a:latin typeface="Cambria Math" panose="02040503050406030204" pitchFamily="18" charset="0"/>
                      </a:rPr>
                      <m:t>≈</m:t>
                    </m:r>
                  </m:oMath>
                </a14:m>
                <a:r>
                  <a:rPr lang="fr-FR" sz="2400" spc="-1" dirty="0">
                    <a:solidFill>
                      <a:srgbClr val="376092"/>
                    </a:solidFill>
                  </a:rPr>
                  <a:t> 4497 </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1704"/>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556990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Proportion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Disposons ces éléments dans un tableau de proportionnalité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produit en croix permet de retrouver visuellement la relation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Ici 55 100 000 * 5 547 = x * 67 970 000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voiture peut parcourir 652 km avec un plein de 43 litres, combien de litre faut-il pour parcourir 100 km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me faut 200g de chocolat pour faire 320g de mousse au chocolat. Combien de mousse puis-je faire si j'ai 550g de chocolat ?</a:t>
            </a:r>
          </a:p>
          <a:p>
            <a:pPr marL="432000" indent="-324000">
              <a:spcAft>
                <a:spcPts val="1060"/>
              </a:spcAft>
              <a:buClr>
                <a:srgbClr val="000000"/>
              </a:buClr>
              <a:buSzPct val="45000"/>
              <a:buFont typeface="Wingdings" charset="2"/>
              <a:buChar char=""/>
            </a:pPr>
            <a:endParaRPr lang="fr-FR" sz="2400" spc="-1" dirty="0">
              <a:solidFill>
                <a:srgbClr val="376092"/>
              </a:solidFil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2" name="Tableau 1">
            <a:extLst>
              <a:ext uri="{FF2B5EF4-FFF2-40B4-BE49-F238E27FC236}">
                <a16:creationId xmlns:a16="http://schemas.microsoft.com/office/drawing/2014/main" id="{CAF843FF-9E0E-762D-635A-67DA8764B2BA}"/>
              </a:ext>
            </a:extLst>
          </p:cNvPr>
          <p:cNvGraphicFramePr>
            <a:graphicFrameLocks noGrp="1"/>
          </p:cNvGraphicFramePr>
          <p:nvPr>
            <p:extLst>
              <p:ext uri="{D42A27DB-BD31-4B8C-83A1-F6EECF244321}">
                <p14:modId xmlns:p14="http://schemas.microsoft.com/office/powerpoint/2010/main" val="2183844139"/>
              </p:ext>
            </p:extLst>
          </p:nvPr>
        </p:nvGraphicFramePr>
        <p:xfrm>
          <a:off x="3309051" y="1507267"/>
          <a:ext cx="4152900" cy="1000125"/>
        </p:xfrm>
        <a:graphic>
          <a:graphicData uri="http://schemas.openxmlformats.org/drawingml/2006/table">
            <a:tbl>
              <a:tblPr/>
              <a:tblGrid>
                <a:gridCol w="1589460">
                  <a:extLst>
                    <a:ext uri="{9D8B030D-6E8A-4147-A177-3AD203B41FA5}">
                      <a16:colId xmlns:a16="http://schemas.microsoft.com/office/drawing/2014/main" val="2017267649"/>
                    </a:ext>
                  </a:extLst>
                </a:gridCol>
                <a:gridCol w="1281720">
                  <a:extLst>
                    <a:ext uri="{9D8B030D-6E8A-4147-A177-3AD203B41FA5}">
                      <a16:colId xmlns:a16="http://schemas.microsoft.com/office/drawing/2014/main" val="161756754"/>
                    </a:ext>
                  </a:extLst>
                </a:gridCol>
                <a:gridCol w="1281720">
                  <a:extLst>
                    <a:ext uri="{9D8B030D-6E8A-4147-A177-3AD203B41FA5}">
                      <a16:colId xmlns:a16="http://schemas.microsoft.com/office/drawing/2014/main" val="3060874159"/>
                    </a:ext>
                  </a:extLst>
                </a:gridCol>
              </a:tblGrid>
              <a:tr h="333375">
                <a:tc>
                  <a:txBody>
                    <a:bodyPr/>
                    <a:lstStyle/>
                    <a:p>
                      <a:pPr algn="l" fontAlgn="b"/>
                      <a:r>
                        <a:rPr lang="fr-FR" sz="2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1" i="0" u="none" strike="noStrike" dirty="0">
                          <a:solidFill>
                            <a:srgbClr val="FFFFFF"/>
                          </a:solidFill>
                          <a:effectLst/>
                          <a:latin typeface="Aptos Narrow" panose="020B0004020202020204" pitchFamily="34" charset="0"/>
                        </a:rPr>
                        <a:t>France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1" i="0" u="none" strike="noStrike">
                          <a:solidFill>
                            <a:srgbClr val="FFFFFF"/>
                          </a:solidFill>
                          <a:effectLst/>
                          <a:latin typeface="Aptos Narrow" panose="020B0004020202020204" pitchFamily="34" charset="0"/>
                        </a:rPr>
                        <a:t>Mon village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89309277"/>
                  </a:ext>
                </a:extLst>
              </a:tr>
              <a:tr h="333375">
                <a:tc>
                  <a:txBody>
                    <a:bodyPr/>
                    <a:lstStyle/>
                    <a:p>
                      <a:pPr algn="l" fontAlgn="b"/>
                      <a:r>
                        <a:rPr lang="fr-FR" sz="2000" b="1" i="0" u="none" strike="noStrike">
                          <a:solidFill>
                            <a:srgbClr val="FFFFFF"/>
                          </a:solidFill>
                          <a:effectLst/>
                          <a:latin typeface="Aptos Narrow" panose="020B0004020202020204" pitchFamily="34" charset="0"/>
                        </a:rPr>
                        <a:t>Livret 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55 100 000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x</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0855453"/>
                  </a:ext>
                </a:extLst>
              </a:tr>
              <a:tr h="333375">
                <a:tc>
                  <a:txBody>
                    <a:bodyPr/>
                    <a:lstStyle/>
                    <a:p>
                      <a:pPr algn="l" fontAlgn="b"/>
                      <a:r>
                        <a:rPr lang="fr-FR" sz="2000" b="1" i="0" u="none" strike="noStrike">
                          <a:solidFill>
                            <a:srgbClr val="FFFFFF"/>
                          </a:solidFill>
                          <a:effectLst/>
                          <a:latin typeface="Aptos Narrow" panose="020B0004020202020204" pitchFamily="34" charset="0"/>
                        </a:rPr>
                        <a:t>Tout le monde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67 970 000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dirty="0">
                          <a:solidFill>
                            <a:srgbClr val="000000"/>
                          </a:solidFill>
                          <a:effectLst/>
                          <a:latin typeface="Aptos Narrow" panose="020B0004020202020204" pitchFamily="34" charset="0"/>
                        </a:rPr>
                        <a:t>5547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931175"/>
                  </a:ext>
                </a:extLst>
              </a:tr>
            </a:tbl>
          </a:graphicData>
        </a:graphic>
      </p:graphicFrame>
      <p:pic>
        <p:nvPicPr>
          <p:cNvPr id="5" name="Image 4">
            <a:extLst>
              <a:ext uri="{FF2B5EF4-FFF2-40B4-BE49-F238E27FC236}">
                <a16:creationId xmlns:a16="http://schemas.microsoft.com/office/drawing/2014/main" id="{19175B8B-30A0-DC57-DF85-2940ACBFEB88}"/>
              </a:ext>
            </a:extLst>
          </p:cNvPr>
          <p:cNvPicPr>
            <a:picLocks noChangeAspect="1"/>
          </p:cNvPicPr>
          <p:nvPr/>
        </p:nvPicPr>
        <p:blipFill>
          <a:blip r:embed="rId2"/>
          <a:stretch>
            <a:fillRect/>
          </a:stretch>
        </p:blipFill>
        <p:spPr>
          <a:xfrm>
            <a:off x="3309051" y="2855135"/>
            <a:ext cx="4171950" cy="1028700"/>
          </a:xfrm>
          <a:prstGeom prst="rect">
            <a:avLst/>
          </a:prstGeom>
        </p:spPr>
      </p:pic>
    </p:spTree>
    <p:extLst>
      <p:ext uri="{BB962C8B-B14F-4D97-AF65-F5344CB8AC3E}">
        <p14:creationId xmlns:p14="http://schemas.microsoft.com/office/powerpoint/2010/main" val="2604768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Evolution et variation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variation absolue est la différence de population entre deux situations (situation d'arrivée – situation de départ)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Population française en 2000 : 59 049 000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Population française en 2020 : 65 269 000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Variation absolue : 65 269 000 – 59 049 000 = 6 220 000 habitants</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La variation concerne donc les individus d'une population et permet de constater un accroissement ou une diminution de population.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Valeur du stock en janvier : 4 500 000 euros</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Valeur du stock en juin : 3 700 000 euros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Variation absolue : 3 700 000 – 4 500 000 = - 800 000 euros</a:t>
            </a: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270819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Evolution et variation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 taux d'évolution ou variation relative est le rapport qui existe entre la situation de départ et la situation actuelle :</a:t>
                </a:r>
              </a:p>
              <a:p>
                <a:pPr marL="565200" lvl="1">
                  <a:spcAft>
                    <a:spcPts val="1060"/>
                  </a:spcAft>
                  <a:buClr>
                    <a:srgbClr val="000000"/>
                  </a:buClr>
                  <a:buSzPct val="45000"/>
                </a:pPr>
                <a14:m>
                  <m:oMathPara xmlns:m="http://schemas.openxmlformats.org/officeDocument/2006/math">
                    <m:oMathParaPr>
                      <m:jc m:val="centerGroup"/>
                    </m:oMathParaPr>
                    <m:oMath xmlns:m="http://schemas.openxmlformats.org/officeDocument/2006/math">
                      <m:f>
                        <m:fPr>
                          <m:ctrlPr>
                            <a:rPr lang="fr-FR" sz="2400" i="1" spc="-1" smtClean="0">
                              <a:solidFill>
                                <a:srgbClr val="376092"/>
                              </a:solidFill>
                              <a:latin typeface="Cambria Math" panose="02040503050406030204" pitchFamily="18" charset="0"/>
                            </a:rPr>
                          </m:ctrlPr>
                        </m:fPr>
                        <m:num>
                          <m:r>
                            <m:rPr>
                              <m:nor/>
                            </m:rPr>
                            <a:rPr lang="fr-FR" sz="2400" spc="-1" dirty="0">
                              <a:solidFill>
                                <a:srgbClr val="376092"/>
                              </a:solidFill>
                            </a:rPr>
                            <m:t>(</m:t>
                          </m:r>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m:t>
                          </m:r>
                          <m:r>
                            <m:rPr>
                              <m:nor/>
                            </m:rPr>
                            <a:rPr lang="fr-FR" sz="2400" spc="-1" dirty="0">
                              <a:solidFill>
                                <a:srgbClr val="376092"/>
                              </a:solidFill>
                            </a:rPr>
                            <m:t>arriv</m:t>
                          </m:r>
                          <m:r>
                            <m:rPr>
                              <m:nor/>
                            </m:rPr>
                            <a:rPr lang="fr-FR" sz="2400" spc="-1" dirty="0">
                              <a:solidFill>
                                <a:srgbClr val="376092"/>
                              </a:solidFill>
                            </a:rPr>
                            <m:t>é</m:t>
                          </m:r>
                          <m:r>
                            <m:rPr>
                              <m:nor/>
                            </m:rPr>
                            <a:rPr lang="fr-FR" sz="2400" spc="-1" dirty="0">
                              <a:solidFill>
                                <a:srgbClr val="376092"/>
                              </a:solidFill>
                            </a:rPr>
                            <m:t>e</m:t>
                          </m:r>
                          <m:r>
                            <m:rPr>
                              <m:nor/>
                            </m:rPr>
                            <a:rPr lang="fr-FR" sz="2400" spc="-1" dirty="0">
                              <a:solidFill>
                                <a:srgbClr val="376092"/>
                              </a:solidFill>
                            </a:rPr>
                            <m:t> – </m:t>
                          </m:r>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r>
                            <m:rPr>
                              <m:nor/>
                            </m:rPr>
                            <a:rPr lang="fr-FR" sz="2400" spc="-1" dirty="0">
                              <a:solidFill>
                                <a:srgbClr val="376092"/>
                              </a:solidFill>
                            </a:rPr>
                            <m:t>)</m:t>
                          </m:r>
                        </m:num>
                        <m:den>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r>
                            <m:rPr>
                              <m:nor/>
                            </m:rPr>
                            <a:rPr lang="fr-FR" sz="2400" spc="-1" dirty="0">
                              <a:solidFill>
                                <a:srgbClr val="376092"/>
                              </a:solidFill>
                            </a:rPr>
                            <m:t> </m:t>
                          </m:r>
                        </m:den>
                      </m:f>
                    </m:oMath>
                  </m:oMathPara>
                </a14:m>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Notons que le numérateur est la variation absolue et nous savons qu'il peut être positif ou négatif.</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Population française en 2000 : 59 049 000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Population française en 2020 : 65 269 000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Taux d'évolution : </a:t>
                </a:r>
                <a14:m>
                  <m:oMath xmlns:m="http://schemas.openxmlformats.org/officeDocument/2006/math">
                    <m:f>
                      <m:fPr>
                        <m:ctrlPr>
                          <a:rPr lang="fr-FR" sz="2400" i="1" spc="-1">
                            <a:solidFill>
                              <a:srgbClr val="376092"/>
                            </a:solidFill>
                            <a:latin typeface="Cambria Math" panose="02040503050406030204" pitchFamily="18" charset="0"/>
                          </a:rPr>
                        </m:ctrlPr>
                      </m:fPr>
                      <m:num>
                        <m:r>
                          <m:rPr>
                            <m:nor/>
                          </m:rPr>
                          <a:rPr lang="fr-FR" sz="2400" spc="-1" dirty="0">
                            <a:solidFill>
                              <a:srgbClr val="376092"/>
                            </a:solidFill>
                          </a:rPr>
                          <m:t>65 269 000 – 59 049 000</m:t>
                        </m:r>
                      </m:num>
                      <m:den>
                        <m:r>
                          <a:rPr lang="fr-FR" sz="2400" b="0" i="0" spc="-1" smtClean="0">
                            <a:solidFill>
                              <a:srgbClr val="376092"/>
                            </a:solidFill>
                            <a:latin typeface="Cambria Math" panose="02040503050406030204" pitchFamily="18" charset="0"/>
                          </a:rPr>
                          <m:t>59 049 000</m:t>
                        </m:r>
                      </m:den>
                    </m:f>
                  </m:oMath>
                </a14:m>
                <a:r>
                  <a:rPr lang="fr-FR" sz="2400" spc="-1" dirty="0">
                    <a:solidFill>
                      <a:srgbClr val="376092"/>
                    </a:solidFill>
                    <a:latin typeface="Arial"/>
                  </a:rPr>
                  <a:t> </a:t>
                </a:r>
                <a14:m>
                  <m:oMath xmlns:m="http://schemas.openxmlformats.org/officeDocument/2006/math">
                    <m:r>
                      <a:rPr lang="fr-FR" sz="2400" spc="-1">
                        <a:solidFill>
                          <a:srgbClr val="376092"/>
                        </a:solidFill>
                        <a:latin typeface="Cambria Math" panose="02040503050406030204" pitchFamily="18" charset="0"/>
                      </a:rPr>
                      <m:t>≈</m:t>
                    </m:r>
                  </m:oMath>
                </a14:m>
                <a:r>
                  <a:rPr lang="fr-FR" sz="2400" spc="-1" dirty="0">
                    <a:solidFill>
                      <a:srgbClr val="376092"/>
                    </a:solidFill>
                    <a:latin typeface="Arial"/>
                  </a:rPr>
                  <a:t> 0,1053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Depuis 2000, l'accroissement de la population suit un rapport de 0,1053 ou 10,53 %</a:t>
                </a: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1037" b="-5569"/>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32433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Evolution et variation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Attention, si vous cherchez une variation par rapport à une situation de départ, c'est bien la situation de départ que vous devez avoir en dénominateur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le rapport est positif, il y a eu accroissement</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Si le rapport est négatif, il y a eu décroissance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Refaisons nos calculs en utilisant la situation de 2020 comme point de départ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on réfléchit naïvement sans calculer que devrions nous obtenir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 pouvons</a:t>
            </a:r>
            <a:r>
              <a:rPr lang="fr-FR" sz="2400" spc="-1" dirty="0">
                <a:solidFill>
                  <a:srgbClr val="376092"/>
                </a:solidFill>
                <a:latin typeface="Arial"/>
              </a:rPr>
              <a:t>-nous noter au niveau du résultat de nos calculs ? </a:t>
            </a: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909529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Evolution et variation - exercice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Entre l'an dernier et cette année, ma facture d'électricité est passé</a:t>
            </a:r>
            <a:r>
              <a:rPr lang="fr-FR" sz="2400" spc="-1" dirty="0">
                <a:solidFill>
                  <a:srgbClr val="376092"/>
                </a:solidFill>
                <a:latin typeface="Arial"/>
              </a:rPr>
              <a:t>e de 1121 euros à 1257 euros. Calculer la variation absolue et le taux d'évolution sur un an.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résultat net d'Ubisoft est passé de 103 100 000 euros en 2020 à 79 100 000 en 2021. Calculer la variation et le taux d'évolution sur un an.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 La moyenne en math pour les CG l'an dernier était de 13,5. Cette année, elle a augmenté de 3,7%. Calculer la variation absolue et donnez la moyenne de cette année.</a:t>
            </a: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90080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multiplicateur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avons montré que le taux d'évolution t était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a:t>
                </a:r>
                <a14:m>
                  <m:oMath xmlns:m="http://schemas.openxmlformats.org/officeDocument/2006/math">
                    <m:f>
                      <m:fPr>
                        <m:ctrlPr>
                          <a:rPr lang="fr-FR" sz="2400" i="1" spc="-1" smtClean="0">
                            <a:solidFill>
                              <a:srgbClr val="376092"/>
                            </a:solidFill>
                            <a:latin typeface="Cambria Math" panose="02040503050406030204" pitchFamily="18" charset="0"/>
                          </a:rPr>
                        </m:ctrlPr>
                      </m:fPr>
                      <m:num>
                        <m:r>
                          <m:rPr>
                            <m:nor/>
                          </m:rPr>
                          <a:rPr lang="fr-FR" sz="2400" spc="-1" dirty="0">
                            <a:solidFill>
                              <a:srgbClr val="376092"/>
                            </a:solidFill>
                          </a:rPr>
                          <m:t>(</m:t>
                        </m:r>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m:t>
                        </m:r>
                        <m:r>
                          <m:rPr>
                            <m:nor/>
                          </m:rPr>
                          <a:rPr lang="fr-FR" sz="2400" spc="-1" dirty="0">
                            <a:solidFill>
                              <a:srgbClr val="376092"/>
                            </a:solidFill>
                          </a:rPr>
                          <m:t>arriv</m:t>
                        </m:r>
                        <m:r>
                          <m:rPr>
                            <m:nor/>
                          </m:rPr>
                          <a:rPr lang="fr-FR" sz="2400" spc="-1" dirty="0">
                            <a:solidFill>
                              <a:srgbClr val="376092"/>
                            </a:solidFill>
                          </a:rPr>
                          <m:t>é</m:t>
                        </m:r>
                        <m:r>
                          <m:rPr>
                            <m:nor/>
                          </m:rPr>
                          <a:rPr lang="fr-FR" sz="2400" spc="-1" dirty="0">
                            <a:solidFill>
                              <a:srgbClr val="376092"/>
                            </a:solidFill>
                          </a:rPr>
                          <m:t>e</m:t>
                        </m:r>
                        <m:r>
                          <m:rPr>
                            <m:nor/>
                          </m:rPr>
                          <a:rPr lang="fr-FR" sz="2400" spc="-1" dirty="0">
                            <a:solidFill>
                              <a:srgbClr val="376092"/>
                            </a:solidFill>
                          </a:rPr>
                          <m:t> – </m:t>
                        </m:r>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r>
                          <m:rPr>
                            <m:nor/>
                          </m:rPr>
                          <a:rPr lang="fr-FR" sz="2400" spc="-1" dirty="0">
                            <a:solidFill>
                              <a:srgbClr val="376092"/>
                            </a:solidFill>
                          </a:rPr>
                          <m:t>)</m:t>
                        </m:r>
                      </m:num>
                      <m:den>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r>
                          <m:rPr>
                            <m:nor/>
                          </m:rPr>
                          <a:rPr lang="fr-FR" sz="2400" spc="-1" dirty="0">
                            <a:solidFill>
                              <a:srgbClr val="376092"/>
                            </a:solidFill>
                          </a:rPr>
                          <m:t> </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Exprimons la situation d'arrivée en fonction de la situation de départ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a:t>
                </a:r>
                <a14:m>
                  <m:oMath xmlns:m="http://schemas.openxmlformats.org/officeDocument/2006/math">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oMath>
                </a14:m>
                <a:r>
                  <a:rPr lang="fr-FR" sz="2400" spc="-1" dirty="0">
                    <a:solidFill>
                      <a:srgbClr val="376092"/>
                    </a:solidFill>
                    <a:latin typeface="Arial"/>
                  </a:rPr>
                  <a:t>  = </a:t>
                </a:r>
                <a14:m>
                  <m:oMath xmlns:m="http://schemas.openxmlformats.org/officeDocument/2006/math">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m:t>
                    </m:r>
                    <m:r>
                      <m:rPr>
                        <m:nor/>
                      </m:rPr>
                      <a:rPr lang="fr-FR" sz="2400" spc="-1" dirty="0">
                        <a:solidFill>
                          <a:srgbClr val="376092"/>
                        </a:solidFill>
                      </a:rPr>
                      <m:t>arriv</m:t>
                    </m:r>
                    <m:r>
                      <m:rPr>
                        <m:nor/>
                      </m:rPr>
                      <a:rPr lang="fr-FR" sz="2400" spc="-1" dirty="0">
                        <a:solidFill>
                          <a:srgbClr val="376092"/>
                        </a:solidFill>
                      </a:rPr>
                      <m:t>é</m:t>
                    </m:r>
                    <m:r>
                      <m:rPr>
                        <m:nor/>
                      </m:rPr>
                      <a:rPr lang="fr-FR" sz="2400" spc="-1" dirty="0">
                        <a:solidFill>
                          <a:srgbClr val="376092"/>
                        </a:solidFill>
                      </a:rPr>
                      <m:t>e</m:t>
                    </m:r>
                    <m:r>
                      <m:rPr>
                        <m:nor/>
                      </m:rPr>
                      <a:rPr lang="fr-FR" sz="2400" spc="-1" dirty="0">
                        <a:solidFill>
                          <a:srgbClr val="376092"/>
                        </a:solidFill>
                      </a:rPr>
                      <m:t> – </m:t>
                    </m:r>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a:t>
                </a:r>
                <a14:m>
                  <m:oMath xmlns:m="http://schemas.openxmlformats.org/officeDocument/2006/math">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oMath>
                </a14:m>
                <a:r>
                  <a:rPr lang="fr-FR" sz="2400" spc="-1" dirty="0">
                    <a:solidFill>
                      <a:srgbClr val="376092"/>
                    </a:solidFill>
                    <a:latin typeface="Arial"/>
                  </a:rPr>
                  <a:t> + </a:t>
                </a:r>
                <a14:m>
                  <m:oMath xmlns:m="http://schemas.openxmlformats.org/officeDocument/2006/math">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oMath>
                </a14:m>
                <a:r>
                  <a:rPr lang="fr-FR" sz="2400" spc="-1" dirty="0">
                    <a:solidFill>
                      <a:srgbClr val="376092"/>
                    </a:solidFill>
                    <a:latin typeface="Arial"/>
                  </a:rPr>
                  <a:t> = </a:t>
                </a:r>
                <a14:m>
                  <m:oMath xmlns:m="http://schemas.openxmlformats.org/officeDocument/2006/math">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m:t>
                    </m:r>
                    <m:r>
                      <m:rPr>
                        <m:nor/>
                      </m:rPr>
                      <a:rPr lang="fr-FR" sz="2400" spc="-1" dirty="0">
                        <a:solidFill>
                          <a:srgbClr val="376092"/>
                        </a:solidFill>
                      </a:rPr>
                      <m:t>arriv</m:t>
                    </m:r>
                    <m:r>
                      <m:rPr>
                        <m:nor/>
                      </m:rPr>
                      <a:rPr lang="fr-FR" sz="2400" spc="-1" dirty="0">
                        <a:solidFill>
                          <a:srgbClr val="376092"/>
                        </a:solidFill>
                      </a:rPr>
                      <m:t>é</m:t>
                    </m:r>
                    <m:r>
                      <m:rPr>
                        <m:nor/>
                      </m:rPr>
                      <a:rPr lang="fr-FR" sz="2400" spc="-1" dirty="0">
                        <a:solidFill>
                          <a:srgbClr val="376092"/>
                        </a:solidFill>
                      </a:rPr>
                      <m:t>e</m:t>
                    </m:r>
                  </m:oMath>
                </a14:m>
                <a:endParaRPr lang="fr-FR" sz="2400" spc="-1" dirty="0">
                  <a:solidFill>
                    <a:srgbClr val="376092"/>
                  </a:solidFill>
                </a:endParaRP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de</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é</m:t>
                    </m:r>
                    <m:r>
                      <m:rPr>
                        <m:nor/>
                      </m:rPr>
                      <a:rPr lang="fr-FR" sz="2400" spc="-1" dirty="0">
                        <a:solidFill>
                          <a:srgbClr val="376092"/>
                        </a:solidFill>
                      </a:rPr>
                      <m:t>part</m:t>
                    </m:r>
                    <m:r>
                      <m:rPr>
                        <m:nor/>
                      </m:rPr>
                      <a:rPr lang="fr-FR" sz="2400" b="0" i="0" spc="-1" dirty="0" smtClean="0">
                        <a:solidFill>
                          <a:srgbClr val="376092"/>
                        </a:solidFill>
                      </a:rPr>
                      <m:t> ∗ (</m:t>
                    </m:r>
                    <m:r>
                      <m:rPr>
                        <m:nor/>
                      </m:rPr>
                      <a:rPr lang="fr-FR" sz="2400" b="0" i="0" spc="-1" dirty="0" smtClean="0">
                        <a:solidFill>
                          <a:srgbClr val="376092"/>
                        </a:solidFill>
                      </a:rPr>
                      <m:t>t</m:t>
                    </m:r>
                    <m:r>
                      <m:rPr>
                        <m:nor/>
                      </m:rPr>
                      <a:rPr lang="fr-FR" sz="2400" b="0" i="0" spc="-1" dirty="0" smtClean="0">
                        <a:solidFill>
                          <a:srgbClr val="376092"/>
                        </a:solidFill>
                      </a:rPr>
                      <m:t> + 1) = </m:t>
                    </m:r>
                    <m:r>
                      <m:rPr>
                        <m:nor/>
                      </m:rPr>
                      <a:rPr lang="fr-FR" sz="2400" spc="-1" dirty="0">
                        <a:solidFill>
                          <a:srgbClr val="376092"/>
                        </a:solidFill>
                      </a:rPr>
                      <m:t>situation</m:t>
                    </m:r>
                    <m:r>
                      <m:rPr>
                        <m:nor/>
                      </m:rPr>
                      <a:rPr lang="fr-FR" sz="2400" spc="-1" dirty="0">
                        <a:solidFill>
                          <a:srgbClr val="376092"/>
                        </a:solidFill>
                      </a:rPr>
                      <m:t> </m:t>
                    </m:r>
                    <m:r>
                      <m:rPr>
                        <m:nor/>
                      </m:rPr>
                      <a:rPr lang="fr-FR" sz="2400" spc="-1" dirty="0">
                        <a:solidFill>
                          <a:srgbClr val="376092"/>
                        </a:solidFill>
                      </a:rPr>
                      <m:t>d</m:t>
                    </m:r>
                    <m:r>
                      <m:rPr>
                        <m:nor/>
                      </m:rPr>
                      <a:rPr lang="fr-FR" sz="2400" spc="-1" dirty="0">
                        <a:solidFill>
                          <a:srgbClr val="376092"/>
                        </a:solidFill>
                      </a:rPr>
                      <m:t>′</m:t>
                    </m:r>
                    <m:r>
                      <m:rPr>
                        <m:nor/>
                      </m:rPr>
                      <a:rPr lang="fr-FR" sz="2400" spc="-1" dirty="0">
                        <a:solidFill>
                          <a:srgbClr val="376092"/>
                        </a:solidFill>
                      </a:rPr>
                      <m:t>arriv</m:t>
                    </m:r>
                    <m:r>
                      <m:rPr>
                        <m:nor/>
                      </m:rPr>
                      <a:rPr lang="fr-FR" sz="2400" spc="-1" dirty="0">
                        <a:solidFill>
                          <a:srgbClr val="376092"/>
                        </a:solidFill>
                      </a:rPr>
                      <m:t>é</m:t>
                    </m:r>
                    <m:r>
                      <m:rPr>
                        <m:nor/>
                      </m:rPr>
                      <a:rPr lang="fr-FR" sz="2400" spc="-1" dirty="0">
                        <a:solidFill>
                          <a:srgbClr val="376092"/>
                        </a:solidFill>
                      </a:rPr>
                      <m:t>e</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appelle (t + 1) le coefficient multiplicateur que l'on applique à la situation de départ pour obtenir la situation d'arrivée</a:t>
                </a: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074" b="-13680"/>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096448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multiplicateur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Mais pourquoi le coefficient multiplicateur a la forme (t+1) avec t le </a:t>
                </a:r>
                <a:r>
                  <a:rPr lang="fr-FR" sz="2400" spc="-1">
                    <a:solidFill>
                      <a:srgbClr val="376092"/>
                    </a:solidFill>
                    <a:latin typeface="Arial"/>
                  </a:rPr>
                  <a:t>taux d'évolution</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un exemple simple. Une usine a produit l'an dernier 100 pièces et cette année elle en produit 5% de plus (t = 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5% de pièces représentent 100 * </a:t>
                </a:r>
                <a14:m>
                  <m:oMath xmlns:m="http://schemas.openxmlformats.org/officeDocument/2006/math">
                    <m:f>
                      <m:fPr>
                        <m:ctrlPr>
                          <a:rPr lang="fr-FR" sz="2400" i="1" spc="-1" smtClean="0">
                            <a:solidFill>
                              <a:srgbClr val="376092"/>
                            </a:solidFill>
                            <a:latin typeface="Cambria Math" panose="02040503050406030204" pitchFamily="18" charset="0"/>
                          </a:rPr>
                        </m:ctrlPr>
                      </m:fPr>
                      <m:num>
                        <m:r>
                          <m:rPr>
                            <m:nor/>
                          </m:rPr>
                          <a:rPr lang="fr-FR" sz="2400" b="0" i="0" spc="-1" dirty="0" smtClean="0">
                            <a:solidFill>
                              <a:srgbClr val="376092"/>
                            </a:solidFill>
                          </a:rPr>
                          <m:t>5</m:t>
                        </m:r>
                      </m:num>
                      <m:den>
                        <m:r>
                          <m:rPr>
                            <m:nor/>
                          </m:rPr>
                          <a:rPr lang="fr-FR" sz="2400" b="0" i="0" spc="-1" dirty="0" smtClean="0">
                            <a:solidFill>
                              <a:srgbClr val="376092"/>
                            </a:solidFill>
                          </a:rPr>
                          <m:t>100</m:t>
                        </m:r>
                      </m:den>
                    </m:f>
                  </m:oMath>
                </a14:m>
                <a:r>
                  <a:rPr lang="fr-FR" sz="2400" spc="-1" dirty="0">
                    <a:solidFill>
                      <a:srgbClr val="376092"/>
                    </a:solidFill>
                    <a:latin typeface="Arial"/>
                  </a:rPr>
                  <a:t> = 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Mais elle a produit 5% en plus, donc elle a produit comme l'année dernière (100) plus les 5% (5)</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je résume, elle a produit 100% de l'an dernier plus 5%:</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100 * </a:t>
                </a:r>
                <a14:m>
                  <m:oMath xmlns:m="http://schemas.openxmlformats.org/officeDocument/2006/math">
                    <m:f>
                      <m:fPr>
                        <m:ctrlPr>
                          <a:rPr lang="fr-FR" sz="2400" i="1" spc="-1" smtClean="0">
                            <a:solidFill>
                              <a:srgbClr val="376092"/>
                            </a:solidFill>
                            <a:latin typeface="Cambria Math" panose="02040503050406030204" pitchFamily="18" charset="0"/>
                          </a:rPr>
                        </m:ctrlPr>
                      </m:fPr>
                      <m:num>
                        <m:r>
                          <m:rPr>
                            <m:nor/>
                          </m:rPr>
                          <a:rPr lang="fr-FR" sz="2400" b="0" i="0" spc="-1" smtClean="0">
                            <a:solidFill>
                              <a:srgbClr val="376092"/>
                            </a:solidFill>
                            <a:latin typeface="Cambria Math" panose="02040503050406030204" pitchFamily="18" charset="0"/>
                          </a:rPr>
                          <m:t>100</m:t>
                        </m:r>
                      </m:num>
                      <m:den>
                        <m:r>
                          <m:rPr>
                            <m:nor/>
                          </m:rPr>
                          <a:rPr lang="fr-FR" sz="2400" b="0" i="0" spc="-1" dirty="0" smtClean="0">
                            <a:solidFill>
                              <a:srgbClr val="376092"/>
                            </a:solidFill>
                          </a:rPr>
                          <m:t>100</m:t>
                        </m:r>
                      </m:den>
                    </m:f>
                    <m:r>
                      <a:rPr lang="fr-FR" sz="2400" b="0" i="1" spc="-1" dirty="0" smtClean="0">
                        <a:solidFill>
                          <a:srgbClr val="376092"/>
                        </a:solidFill>
                        <a:latin typeface="Cambria Math" panose="02040503050406030204" pitchFamily="18" charset="0"/>
                      </a:rPr>
                      <m:t>+</m:t>
                    </m:r>
                    <m:r>
                      <m:rPr>
                        <m:nor/>
                      </m:rPr>
                      <a:rPr lang="fr-FR" sz="2400" spc="-1" dirty="0">
                        <a:solidFill>
                          <a:srgbClr val="376092"/>
                        </a:solidFill>
                      </a:rPr>
                      <m:t>100 ∗ </m:t>
                    </m:r>
                    <m:f>
                      <m:fPr>
                        <m:ctrlPr>
                          <a:rPr lang="fr-FR" sz="2400" i="1" spc="-1">
                            <a:solidFill>
                              <a:srgbClr val="376092"/>
                            </a:solidFill>
                            <a:latin typeface="Cambria Math" panose="02040503050406030204" pitchFamily="18" charset="0"/>
                          </a:rPr>
                        </m:ctrlPr>
                      </m:fPr>
                      <m:num>
                        <m:r>
                          <m:rPr>
                            <m:nor/>
                          </m:rPr>
                          <a:rPr lang="fr-FR" sz="2400" b="0" i="0" spc="-1" smtClean="0">
                            <a:solidFill>
                              <a:srgbClr val="376092"/>
                            </a:solidFill>
                            <a:latin typeface="Cambria Math" panose="02040503050406030204" pitchFamily="18" charset="0"/>
                          </a:rPr>
                          <m:t>5</m:t>
                        </m:r>
                      </m:num>
                      <m:den>
                        <m:r>
                          <m:rPr>
                            <m:nor/>
                          </m:rPr>
                          <a:rPr lang="fr-FR" sz="2400" spc="-1" dirty="0">
                            <a:solidFill>
                              <a:srgbClr val="376092"/>
                            </a:solidFill>
                          </a:rPr>
                          <m:t>100</m:t>
                        </m:r>
                      </m:den>
                    </m:f>
                    <m:r>
                      <a:rPr lang="fr-FR" sz="2400" b="0" i="1" spc="-1" dirty="0" smtClean="0">
                        <a:solidFill>
                          <a:srgbClr val="376092"/>
                        </a:solidFill>
                        <a:latin typeface="Cambria Math" panose="02040503050406030204" pitchFamily="18" charset="0"/>
                      </a:rPr>
                      <m:t>=100 ∗</m:t>
                    </m:r>
                    <m:d>
                      <m:dPr>
                        <m:ctrlPr>
                          <a:rPr lang="fr-FR" sz="2400" b="0" i="1" spc="-1" dirty="0" smtClean="0">
                            <a:solidFill>
                              <a:srgbClr val="376092"/>
                            </a:solidFill>
                            <a:latin typeface="Cambria Math" panose="02040503050406030204" pitchFamily="18" charset="0"/>
                          </a:rPr>
                        </m:ctrlPr>
                      </m:dPr>
                      <m:e>
                        <m:f>
                          <m:fPr>
                            <m:ctrlPr>
                              <a:rPr lang="fr-FR" sz="2400" i="1" spc="-1">
                                <a:solidFill>
                                  <a:srgbClr val="376092"/>
                                </a:solidFill>
                                <a:latin typeface="Cambria Math" panose="02040503050406030204" pitchFamily="18" charset="0"/>
                              </a:rPr>
                            </m:ctrlPr>
                          </m:fPr>
                          <m:num>
                            <m:r>
                              <m:rPr>
                                <m:nor/>
                              </m:rPr>
                              <a:rPr lang="fr-FR" sz="2400" spc="-1">
                                <a:solidFill>
                                  <a:srgbClr val="376092"/>
                                </a:solidFill>
                                <a:latin typeface="Cambria Math" panose="02040503050406030204" pitchFamily="18" charset="0"/>
                              </a:rPr>
                              <m:t>100</m:t>
                            </m:r>
                          </m:num>
                          <m:den>
                            <m:r>
                              <m:rPr>
                                <m:nor/>
                              </m:rPr>
                              <a:rPr lang="fr-FR" sz="2400" spc="-1" dirty="0">
                                <a:solidFill>
                                  <a:srgbClr val="376092"/>
                                </a:solidFill>
                              </a:rPr>
                              <m:t>100</m:t>
                            </m:r>
                          </m:den>
                        </m:f>
                        <m:r>
                          <a:rPr lang="fr-FR" sz="2400" b="0" i="1" spc="-1" dirty="0" smtClean="0">
                            <a:solidFill>
                              <a:srgbClr val="376092"/>
                            </a:solidFill>
                            <a:latin typeface="Cambria Math" panose="02040503050406030204" pitchFamily="18" charset="0"/>
                          </a:rPr>
                          <m:t>+</m:t>
                        </m:r>
                        <m:f>
                          <m:fPr>
                            <m:ctrlPr>
                              <a:rPr lang="fr-FR" sz="2400" i="1" spc="-1">
                                <a:solidFill>
                                  <a:srgbClr val="376092"/>
                                </a:solidFill>
                                <a:latin typeface="Cambria Math" panose="02040503050406030204" pitchFamily="18" charset="0"/>
                              </a:rPr>
                            </m:ctrlPr>
                          </m:fPr>
                          <m:num>
                            <m:r>
                              <m:rPr>
                                <m:nor/>
                              </m:rPr>
                              <a:rPr lang="fr-FR" sz="2400" spc="-1">
                                <a:solidFill>
                                  <a:srgbClr val="376092"/>
                                </a:solidFill>
                                <a:latin typeface="Cambria Math" panose="02040503050406030204" pitchFamily="18" charset="0"/>
                              </a:rPr>
                              <m:t>5</m:t>
                            </m:r>
                          </m:num>
                          <m:den>
                            <m:r>
                              <m:rPr>
                                <m:nor/>
                              </m:rPr>
                              <a:rPr lang="fr-FR" sz="2400" spc="-1" dirty="0">
                                <a:solidFill>
                                  <a:srgbClr val="376092"/>
                                </a:solidFill>
                              </a:rPr>
                              <m:t>100</m:t>
                            </m:r>
                          </m:den>
                        </m:f>
                      </m:e>
                    </m:d>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t>
                </a:r>
                <a14:m>
                  <m:oMath xmlns:m="http://schemas.openxmlformats.org/officeDocument/2006/math">
                    <m:r>
                      <a:rPr lang="fr-FR" sz="2400" b="0" i="1" spc="-1" dirty="0" smtClean="0">
                        <a:solidFill>
                          <a:srgbClr val="376092"/>
                        </a:solidFill>
                        <a:latin typeface="Cambria Math" panose="02040503050406030204" pitchFamily="18" charset="0"/>
                      </a:rPr>
                      <m:t>100 ∗</m:t>
                    </m:r>
                    <m:d>
                      <m:dPr>
                        <m:ctrlPr>
                          <a:rPr lang="fr-FR" sz="2400" b="0" i="1" spc="-1" dirty="0"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1</m:t>
                        </m:r>
                        <m:r>
                          <a:rPr lang="fr-FR" sz="2400" b="0" i="1" spc="-1" dirty="0" smtClean="0">
                            <a:solidFill>
                              <a:srgbClr val="376092"/>
                            </a:solidFill>
                            <a:latin typeface="Cambria Math" panose="02040503050406030204" pitchFamily="18" charset="0"/>
                          </a:rPr>
                          <m:t>+</m:t>
                        </m:r>
                        <m:f>
                          <m:fPr>
                            <m:ctrlPr>
                              <a:rPr lang="fr-FR" sz="2400" i="1" spc="-1">
                                <a:solidFill>
                                  <a:srgbClr val="376092"/>
                                </a:solidFill>
                                <a:latin typeface="Cambria Math" panose="02040503050406030204" pitchFamily="18" charset="0"/>
                              </a:rPr>
                            </m:ctrlPr>
                          </m:fPr>
                          <m:num>
                            <m:r>
                              <m:rPr>
                                <m:nor/>
                              </m:rPr>
                              <a:rPr lang="fr-FR" sz="2400" spc="-1">
                                <a:solidFill>
                                  <a:srgbClr val="376092"/>
                                </a:solidFill>
                                <a:latin typeface="Cambria Math" panose="02040503050406030204" pitchFamily="18" charset="0"/>
                              </a:rPr>
                              <m:t>5</m:t>
                            </m:r>
                          </m:num>
                          <m:den>
                            <m:r>
                              <m:rPr>
                                <m:nor/>
                              </m:rPr>
                              <a:rPr lang="fr-FR" sz="2400" spc="-1" dirty="0">
                                <a:solidFill>
                                  <a:srgbClr val="376092"/>
                                </a:solidFill>
                              </a:rPr>
                              <m:t>100</m:t>
                            </m:r>
                          </m:den>
                        </m:f>
                      </m:e>
                    </m:d>
                  </m:oMath>
                </a14:m>
                <a:endParaRPr lang="fr-FR" sz="2400"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370" b="-13559"/>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769505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multiplicateur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Voyons quelques valeurs remarquables pour notre coefficient multiplicateur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S'il n'y a pas d'évolution, alors t est à 0 :</a:t>
                </a:r>
              </a:p>
              <a:p>
                <a:pPr marL="1346400" lvl="2" indent="-324000">
                  <a:spcAft>
                    <a:spcPts val="1060"/>
                  </a:spcAft>
                  <a:buClr>
                    <a:srgbClr val="000000"/>
                  </a:buClr>
                  <a:buSzPct val="45000"/>
                  <a:buFont typeface="Wingdings" charset="2"/>
                  <a:buChar char=""/>
                </a:pPr>
                <a14:m>
                  <m:oMath xmlns:m="http://schemas.openxmlformats.org/officeDocument/2006/math">
                    <m:r>
                      <m:rPr>
                        <m:nor/>
                      </m:rPr>
                      <a:rPr lang="fr-FR" sz="2400" spc="-1" dirty="0" smtClean="0">
                        <a:solidFill>
                          <a:srgbClr val="376092"/>
                        </a:solidFill>
                      </a:rPr>
                      <m:t>situation</m:t>
                    </m:r>
                    <m:r>
                      <m:rPr>
                        <m:nor/>
                      </m:rPr>
                      <a:rPr lang="fr-FR" sz="2400" spc="-1" dirty="0" smtClean="0">
                        <a:solidFill>
                          <a:srgbClr val="376092"/>
                        </a:solidFill>
                      </a:rPr>
                      <m:t> </m:t>
                    </m:r>
                    <m:r>
                      <m:rPr>
                        <m:nor/>
                      </m:rPr>
                      <a:rPr lang="fr-FR" sz="2400" spc="-1" dirty="0" smtClean="0">
                        <a:solidFill>
                          <a:srgbClr val="376092"/>
                        </a:solidFill>
                      </a:rPr>
                      <m:t>de</m:t>
                    </m:r>
                    <m:r>
                      <m:rPr>
                        <m:nor/>
                      </m:rPr>
                      <a:rPr lang="fr-FR" sz="2400" spc="-1" dirty="0" smtClean="0">
                        <a:solidFill>
                          <a:srgbClr val="376092"/>
                        </a:solidFill>
                      </a:rPr>
                      <m:t> </m:t>
                    </m:r>
                    <m:r>
                      <m:rPr>
                        <m:nor/>
                      </m:rPr>
                      <a:rPr lang="fr-FR" sz="2400" spc="-1" dirty="0" smtClean="0">
                        <a:solidFill>
                          <a:srgbClr val="376092"/>
                        </a:solidFill>
                      </a:rPr>
                      <m:t>d</m:t>
                    </m:r>
                    <m:r>
                      <m:rPr>
                        <m:nor/>
                      </m:rPr>
                      <a:rPr lang="fr-FR" sz="2400" spc="-1" dirty="0" smtClean="0">
                        <a:solidFill>
                          <a:srgbClr val="376092"/>
                        </a:solidFill>
                      </a:rPr>
                      <m:t>é</m:t>
                    </m:r>
                    <m:r>
                      <m:rPr>
                        <m:nor/>
                      </m:rPr>
                      <a:rPr lang="fr-FR" sz="2400" spc="-1" dirty="0" smtClean="0">
                        <a:solidFill>
                          <a:srgbClr val="376092"/>
                        </a:solidFill>
                      </a:rPr>
                      <m:t>part</m:t>
                    </m:r>
                    <m:r>
                      <m:rPr>
                        <m:nor/>
                      </m:rPr>
                      <a:rPr lang="fr-FR" sz="2400" b="0" i="0" spc="-1" dirty="0" smtClean="0">
                        <a:solidFill>
                          <a:srgbClr val="376092"/>
                        </a:solidFill>
                      </a:rPr>
                      <m:t> ∗ (</m:t>
                    </m:r>
                    <m:r>
                      <m:rPr>
                        <m:nor/>
                      </m:rPr>
                      <a:rPr lang="fr-FR" sz="2400" b="0" i="0" spc="-1" dirty="0" smtClean="0">
                        <a:solidFill>
                          <a:srgbClr val="376092"/>
                        </a:solidFill>
                      </a:rPr>
                      <m:t>t</m:t>
                    </m:r>
                    <m:r>
                      <m:rPr>
                        <m:nor/>
                      </m:rPr>
                      <a:rPr lang="fr-FR" sz="2400" b="0" i="0" spc="-1" dirty="0" smtClean="0">
                        <a:solidFill>
                          <a:srgbClr val="376092"/>
                        </a:solidFill>
                      </a:rPr>
                      <m:t> + 1) = </m:t>
                    </m:r>
                    <m:r>
                      <m:rPr>
                        <m:nor/>
                      </m:rPr>
                      <a:rPr lang="fr-FR" sz="2400" spc="-1" dirty="0" smtClean="0">
                        <a:solidFill>
                          <a:srgbClr val="376092"/>
                        </a:solidFill>
                      </a:rPr>
                      <m:t>situation</m:t>
                    </m:r>
                    <m:r>
                      <m:rPr>
                        <m:nor/>
                      </m:rPr>
                      <a:rPr lang="fr-FR" sz="2400" spc="-1" dirty="0" smtClean="0">
                        <a:solidFill>
                          <a:srgbClr val="376092"/>
                        </a:solidFill>
                      </a:rPr>
                      <m:t> </m:t>
                    </m:r>
                    <m:r>
                      <m:rPr>
                        <m:nor/>
                      </m:rPr>
                      <a:rPr lang="fr-FR" sz="2400" spc="-1" dirty="0" smtClean="0">
                        <a:solidFill>
                          <a:srgbClr val="376092"/>
                        </a:solidFill>
                      </a:rPr>
                      <m:t>d</m:t>
                    </m:r>
                    <m:r>
                      <m:rPr>
                        <m:nor/>
                      </m:rPr>
                      <a:rPr lang="fr-FR" sz="2400" spc="-1" dirty="0" smtClean="0">
                        <a:solidFill>
                          <a:srgbClr val="376092"/>
                        </a:solidFill>
                      </a:rPr>
                      <m:t>′</m:t>
                    </m:r>
                    <m:r>
                      <m:rPr>
                        <m:nor/>
                      </m:rPr>
                      <a:rPr lang="fr-FR" sz="2400" spc="-1" dirty="0" smtClean="0">
                        <a:solidFill>
                          <a:srgbClr val="376092"/>
                        </a:solidFill>
                      </a:rPr>
                      <m:t>arriv</m:t>
                    </m:r>
                    <m:r>
                      <m:rPr>
                        <m:nor/>
                      </m:rPr>
                      <a:rPr lang="fr-FR" sz="2400" spc="-1" dirty="0" smtClean="0">
                        <a:solidFill>
                          <a:srgbClr val="376092"/>
                        </a:solidFill>
                      </a:rPr>
                      <m:t>é</m:t>
                    </m:r>
                    <m:r>
                      <m:rPr>
                        <m:nor/>
                      </m:rPr>
                      <a:rPr lang="fr-FR" sz="2400" spc="-1" dirty="0" smtClean="0">
                        <a:solidFill>
                          <a:srgbClr val="376092"/>
                        </a:solidFill>
                      </a:rPr>
                      <m:t>e</m:t>
                    </m:r>
                  </m:oMath>
                </a14:m>
                <a:endParaRPr lang="fr-FR" sz="2400" spc="-1" dirty="0">
                  <a:solidFill>
                    <a:srgbClr val="376092"/>
                  </a:solidFill>
                  <a:latin typeface="Arial"/>
                </a:endParaRPr>
              </a:p>
              <a:p>
                <a:pPr marL="1346400" lvl="2" indent="-324000">
                  <a:spcAft>
                    <a:spcPts val="1060"/>
                  </a:spcAft>
                  <a:buClr>
                    <a:srgbClr val="000000"/>
                  </a:buClr>
                  <a:buSzPct val="45000"/>
                  <a:buFont typeface="Wingdings" charset="2"/>
                  <a:buChar char=""/>
                </a:pPr>
                <a14:m>
                  <m:oMath xmlns:m="http://schemas.openxmlformats.org/officeDocument/2006/math">
                    <m:r>
                      <m:rPr>
                        <m:nor/>
                      </m:rPr>
                      <a:rPr lang="fr-FR" sz="2400" spc="-1" dirty="0" smtClean="0">
                        <a:solidFill>
                          <a:srgbClr val="376092"/>
                        </a:solidFill>
                      </a:rPr>
                      <m:t>situation</m:t>
                    </m:r>
                    <m:r>
                      <m:rPr>
                        <m:nor/>
                      </m:rPr>
                      <a:rPr lang="fr-FR" sz="2400" spc="-1" dirty="0" smtClean="0">
                        <a:solidFill>
                          <a:srgbClr val="376092"/>
                        </a:solidFill>
                      </a:rPr>
                      <m:t> </m:t>
                    </m:r>
                    <m:r>
                      <m:rPr>
                        <m:nor/>
                      </m:rPr>
                      <a:rPr lang="fr-FR" sz="2400" spc="-1" dirty="0" smtClean="0">
                        <a:solidFill>
                          <a:srgbClr val="376092"/>
                        </a:solidFill>
                      </a:rPr>
                      <m:t>de</m:t>
                    </m:r>
                    <m:r>
                      <m:rPr>
                        <m:nor/>
                      </m:rPr>
                      <a:rPr lang="fr-FR" sz="2400" spc="-1" dirty="0" smtClean="0">
                        <a:solidFill>
                          <a:srgbClr val="376092"/>
                        </a:solidFill>
                      </a:rPr>
                      <m:t> </m:t>
                    </m:r>
                    <m:r>
                      <m:rPr>
                        <m:nor/>
                      </m:rPr>
                      <a:rPr lang="fr-FR" sz="2400" spc="-1" dirty="0" smtClean="0">
                        <a:solidFill>
                          <a:srgbClr val="376092"/>
                        </a:solidFill>
                      </a:rPr>
                      <m:t>d</m:t>
                    </m:r>
                    <m:r>
                      <m:rPr>
                        <m:nor/>
                      </m:rPr>
                      <a:rPr lang="fr-FR" sz="2400" spc="-1" dirty="0" smtClean="0">
                        <a:solidFill>
                          <a:srgbClr val="376092"/>
                        </a:solidFill>
                      </a:rPr>
                      <m:t>é</m:t>
                    </m:r>
                    <m:r>
                      <m:rPr>
                        <m:nor/>
                      </m:rPr>
                      <a:rPr lang="fr-FR" sz="2400" spc="-1" dirty="0" smtClean="0">
                        <a:solidFill>
                          <a:srgbClr val="376092"/>
                        </a:solidFill>
                      </a:rPr>
                      <m:t>part</m:t>
                    </m:r>
                    <m:r>
                      <m:rPr>
                        <m:nor/>
                      </m:rPr>
                      <a:rPr lang="fr-FR" sz="2400" b="0" i="0" spc="-1" dirty="0" smtClean="0">
                        <a:solidFill>
                          <a:srgbClr val="376092"/>
                        </a:solidFill>
                      </a:rPr>
                      <m:t> ∗ (0 + 1) = </m:t>
                    </m:r>
                    <m:r>
                      <m:rPr>
                        <m:nor/>
                      </m:rPr>
                      <a:rPr lang="fr-FR" sz="2400" spc="-1" dirty="0" smtClean="0">
                        <a:solidFill>
                          <a:srgbClr val="376092"/>
                        </a:solidFill>
                      </a:rPr>
                      <m:t>situation</m:t>
                    </m:r>
                    <m:r>
                      <m:rPr>
                        <m:nor/>
                      </m:rPr>
                      <a:rPr lang="fr-FR" sz="2400" spc="-1" dirty="0" smtClean="0">
                        <a:solidFill>
                          <a:srgbClr val="376092"/>
                        </a:solidFill>
                      </a:rPr>
                      <m:t> </m:t>
                    </m:r>
                    <m:r>
                      <m:rPr>
                        <m:nor/>
                      </m:rPr>
                      <a:rPr lang="fr-FR" sz="2400" spc="-1" dirty="0" smtClean="0">
                        <a:solidFill>
                          <a:srgbClr val="376092"/>
                        </a:solidFill>
                      </a:rPr>
                      <m:t>d</m:t>
                    </m:r>
                    <m:r>
                      <m:rPr>
                        <m:nor/>
                      </m:rPr>
                      <a:rPr lang="fr-FR" sz="2400" spc="-1" dirty="0" smtClean="0">
                        <a:solidFill>
                          <a:srgbClr val="376092"/>
                        </a:solidFill>
                      </a:rPr>
                      <m:t>′</m:t>
                    </m:r>
                    <m:r>
                      <m:rPr>
                        <m:nor/>
                      </m:rPr>
                      <a:rPr lang="fr-FR" sz="2400" spc="-1" dirty="0" smtClean="0">
                        <a:solidFill>
                          <a:srgbClr val="376092"/>
                        </a:solidFill>
                      </a:rPr>
                      <m:t>arriv</m:t>
                    </m:r>
                    <m:r>
                      <m:rPr>
                        <m:nor/>
                      </m:rPr>
                      <a:rPr lang="fr-FR" sz="2400" spc="-1" dirty="0" smtClean="0">
                        <a:solidFill>
                          <a:srgbClr val="376092"/>
                        </a:solidFill>
                      </a:rPr>
                      <m:t>é</m:t>
                    </m:r>
                    <m:r>
                      <m:rPr>
                        <m:nor/>
                      </m:rPr>
                      <a:rPr lang="fr-FR" sz="2400" spc="-1" dirty="0" smtClean="0">
                        <a:solidFill>
                          <a:srgbClr val="376092"/>
                        </a:solidFill>
                      </a:rPr>
                      <m:t>e</m:t>
                    </m:r>
                  </m:oMath>
                </a14:m>
                <a:endParaRPr lang="fr-FR" sz="2400" spc="-1" dirty="0">
                  <a:solidFill>
                    <a:srgbClr val="376092"/>
                  </a:solidFill>
                  <a:latin typeface="Arial"/>
                </a:endParaRPr>
              </a:p>
              <a:p>
                <a:pPr marL="1346400" lvl="2" indent="-324000">
                  <a:spcAft>
                    <a:spcPts val="1060"/>
                  </a:spcAft>
                  <a:buClr>
                    <a:srgbClr val="000000"/>
                  </a:buClr>
                  <a:buSzPct val="45000"/>
                  <a:buFont typeface="Wingdings" charset="2"/>
                  <a:buChar char=""/>
                </a:pPr>
                <a14:m>
                  <m:oMath xmlns:m="http://schemas.openxmlformats.org/officeDocument/2006/math">
                    <m:r>
                      <m:rPr>
                        <m:nor/>
                      </m:rPr>
                      <a:rPr lang="fr-FR" sz="2400" spc="-1" dirty="0" smtClean="0">
                        <a:solidFill>
                          <a:srgbClr val="376092"/>
                        </a:solidFill>
                      </a:rPr>
                      <m:t>situation</m:t>
                    </m:r>
                    <m:r>
                      <m:rPr>
                        <m:nor/>
                      </m:rPr>
                      <a:rPr lang="fr-FR" sz="2400" spc="-1" dirty="0" smtClean="0">
                        <a:solidFill>
                          <a:srgbClr val="376092"/>
                        </a:solidFill>
                      </a:rPr>
                      <m:t> </m:t>
                    </m:r>
                    <m:r>
                      <m:rPr>
                        <m:nor/>
                      </m:rPr>
                      <a:rPr lang="fr-FR" sz="2400" spc="-1" dirty="0" smtClean="0">
                        <a:solidFill>
                          <a:srgbClr val="376092"/>
                        </a:solidFill>
                      </a:rPr>
                      <m:t>de</m:t>
                    </m:r>
                    <m:r>
                      <m:rPr>
                        <m:nor/>
                      </m:rPr>
                      <a:rPr lang="fr-FR" sz="2400" spc="-1" dirty="0" smtClean="0">
                        <a:solidFill>
                          <a:srgbClr val="376092"/>
                        </a:solidFill>
                      </a:rPr>
                      <m:t> </m:t>
                    </m:r>
                    <m:r>
                      <m:rPr>
                        <m:nor/>
                      </m:rPr>
                      <a:rPr lang="fr-FR" sz="2400" spc="-1" dirty="0" smtClean="0">
                        <a:solidFill>
                          <a:srgbClr val="376092"/>
                        </a:solidFill>
                      </a:rPr>
                      <m:t>d</m:t>
                    </m:r>
                    <m:r>
                      <m:rPr>
                        <m:nor/>
                      </m:rPr>
                      <a:rPr lang="fr-FR" sz="2400" spc="-1" dirty="0" smtClean="0">
                        <a:solidFill>
                          <a:srgbClr val="376092"/>
                        </a:solidFill>
                      </a:rPr>
                      <m:t>é</m:t>
                    </m:r>
                    <m:r>
                      <m:rPr>
                        <m:nor/>
                      </m:rPr>
                      <a:rPr lang="fr-FR" sz="2400" spc="-1" dirty="0" smtClean="0">
                        <a:solidFill>
                          <a:srgbClr val="376092"/>
                        </a:solidFill>
                      </a:rPr>
                      <m:t>part</m:t>
                    </m:r>
                    <m:r>
                      <m:rPr>
                        <m:nor/>
                      </m:rPr>
                      <a:rPr lang="fr-FR" sz="2400" b="0" i="0" spc="-1" dirty="0" smtClean="0">
                        <a:solidFill>
                          <a:srgbClr val="376092"/>
                        </a:solidFill>
                      </a:rPr>
                      <m:t> = </m:t>
                    </m:r>
                    <m:r>
                      <m:rPr>
                        <m:nor/>
                      </m:rPr>
                      <a:rPr lang="fr-FR" sz="2400" spc="-1" dirty="0" smtClean="0">
                        <a:solidFill>
                          <a:srgbClr val="376092"/>
                        </a:solidFill>
                      </a:rPr>
                      <m:t>situation</m:t>
                    </m:r>
                    <m:r>
                      <m:rPr>
                        <m:nor/>
                      </m:rPr>
                      <a:rPr lang="fr-FR" sz="2400" spc="-1" dirty="0" smtClean="0">
                        <a:solidFill>
                          <a:srgbClr val="376092"/>
                        </a:solidFill>
                      </a:rPr>
                      <m:t> </m:t>
                    </m:r>
                    <m:r>
                      <m:rPr>
                        <m:nor/>
                      </m:rPr>
                      <a:rPr lang="fr-FR" sz="2400" spc="-1" dirty="0" smtClean="0">
                        <a:solidFill>
                          <a:srgbClr val="376092"/>
                        </a:solidFill>
                      </a:rPr>
                      <m:t>d</m:t>
                    </m:r>
                    <m:r>
                      <m:rPr>
                        <m:nor/>
                      </m:rPr>
                      <a:rPr lang="fr-FR" sz="2400" spc="-1" dirty="0" smtClean="0">
                        <a:solidFill>
                          <a:srgbClr val="376092"/>
                        </a:solidFill>
                      </a:rPr>
                      <m:t>′</m:t>
                    </m:r>
                    <m:r>
                      <m:rPr>
                        <m:nor/>
                      </m:rPr>
                      <a:rPr lang="fr-FR" sz="2400" spc="-1" dirty="0" smtClean="0">
                        <a:solidFill>
                          <a:srgbClr val="376092"/>
                        </a:solidFill>
                      </a:rPr>
                      <m:t>arriv</m:t>
                    </m:r>
                    <m:r>
                      <m:rPr>
                        <m:nor/>
                      </m:rPr>
                      <a:rPr lang="fr-FR" sz="2400" spc="-1" dirty="0" smtClean="0">
                        <a:solidFill>
                          <a:srgbClr val="376092"/>
                        </a:solidFill>
                      </a:rPr>
                      <m:t>é</m:t>
                    </m:r>
                    <m:r>
                      <m:rPr>
                        <m:nor/>
                      </m:rPr>
                      <a:rPr lang="fr-FR" sz="2400" spc="-1" dirty="0" smtClean="0">
                        <a:solidFill>
                          <a:srgbClr val="376092"/>
                        </a:solidFill>
                      </a:rPr>
                      <m:t>e</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t est positif alors (t + 1) &gt; 1 et il y a une hausse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t est négatif alors (t + 1) &lt; 1 et il y a une baisse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s'en convaincre, multiplions 100 par un nombre &gt; 1 (plus de 100%) puis par un nombre &lt; 1 (moins de 100%)</a:t>
                </a: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1111"/>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77248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Coefficient multiplicateur - exercice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Le prix d'un péage </a:t>
            </a:r>
            <a:r>
              <a:rPr lang="fr-FR" sz="2400" spc="-1" dirty="0">
                <a:solidFill>
                  <a:srgbClr val="376092"/>
                </a:solidFill>
                <a:latin typeface="Arial"/>
              </a:rPr>
              <a:t>est</a:t>
            </a:r>
            <a:r>
              <a:rPr lang="fr-FR" sz="2400" b="0" strike="noStrike" spc="-1" dirty="0">
                <a:solidFill>
                  <a:srgbClr val="376092"/>
                </a:solidFill>
                <a:latin typeface="Arial"/>
              </a:rPr>
              <a:t> multiplié par 1,4 par rapport à l'an dernier. </a:t>
            </a:r>
            <a:r>
              <a:rPr lang="fr-FR" sz="2400" spc="-1" dirty="0">
                <a:solidFill>
                  <a:srgbClr val="376092"/>
                </a:solidFill>
                <a:latin typeface="Arial"/>
              </a:rPr>
              <a:t>Déduire le taux d'évolution.</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Une boite de chocolat coute </a:t>
            </a:r>
            <a:r>
              <a:rPr lang="fr-FR" sz="2400" spc="-1" dirty="0">
                <a:solidFill>
                  <a:srgbClr val="376092"/>
                </a:solidFill>
                <a:latin typeface="Arial"/>
              </a:rPr>
              <a:t>36 euros le 14 février et le 15, ce prix est multiplié par 0,75. Déduire le taux d'évolution ainsi que le prix de la boite de chocolat le 15 février.</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Cette année, je vends </a:t>
            </a:r>
            <a:r>
              <a:rPr lang="fr-FR" sz="2400" spc="-1" dirty="0">
                <a:solidFill>
                  <a:srgbClr val="376092"/>
                </a:solidFill>
                <a:latin typeface="Arial"/>
              </a:rPr>
              <a:t>mes tronçonneuses 186 euros, j'ai augmenté le prix par rapport à l'an dernier de 5,7%. Quel était le prix d'une tronçonneuse l'an dernier ?</a:t>
            </a: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89804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Taux d'évolution global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que nous connaissions le coefficient multiplicateur de notre bénéfice sur plusieurs années :</a:t>
                </a: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2020 ∗ (</m:t>
                    </m:r>
                    <m:r>
                      <m:rPr>
                        <m:nor/>
                      </m:rPr>
                      <a:rPr lang="fr-FR" sz="2400" b="0" i="0" spc="-1" dirty="0" smtClean="0">
                        <a:solidFill>
                          <a:srgbClr val="376092"/>
                        </a:solidFill>
                      </a:rPr>
                      <m:t>t</m:t>
                    </m:r>
                    <m:r>
                      <m:rPr>
                        <m:nor/>
                      </m:rPr>
                      <a:rPr lang="fr-FR" sz="2400" b="0" i="0" spc="-1" dirty="0" smtClean="0">
                        <a:solidFill>
                          <a:srgbClr val="376092"/>
                        </a:solidFill>
                      </a:rPr>
                      <m:t>1 + 1) =</m:t>
                    </m:r>
                    <m:r>
                      <m:rPr>
                        <m:nor/>
                      </m:rPr>
                      <a:rPr lang="fr-FR" sz="2400" b="0" i="1" spc="-1" dirty="0" smtClean="0">
                        <a:solidFill>
                          <a:srgbClr val="376092"/>
                        </a:solidFill>
                      </a:rPr>
                      <m:t> </m:t>
                    </m:r>
                    <m:r>
                      <m:rPr>
                        <m:nor/>
                      </m:rPr>
                      <a:rPr lang="fr-FR" sz="2400" i="1" spc="-1" dirty="0">
                        <a:solidFill>
                          <a:srgbClr val="376092"/>
                        </a:solidFill>
                      </a:rPr>
                      <m:t>b</m:t>
                    </m:r>
                    <m:r>
                      <m:rPr>
                        <m:nor/>
                      </m:rPr>
                      <a:rPr lang="fr-FR" sz="2400" i="1" spc="-1" dirty="0">
                        <a:solidFill>
                          <a:srgbClr val="376092"/>
                        </a:solidFill>
                      </a:rPr>
                      <m:t>é</m:t>
                    </m:r>
                    <m:r>
                      <m:rPr>
                        <m:nor/>
                      </m:rPr>
                      <a:rPr lang="fr-FR" sz="2400" i="1" spc="-1" dirty="0">
                        <a:solidFill>
                          <a:srgbClr val="376092"/>
                        </a:solidFill>
                      </a:rPr>
                      <m:t>n</m:t>
                    </m:r>
                    <m:r>
                      <m:rPr>
                        <m:nor/>
                      </m:rPr>
                      <a:rPr lang="fr-FR" sz="2400" i="1" spc="-1" dirty="0">
                        <a:solidFill>
                          <a:srgbClr val="376092"/>
                        </a:solidFill>
                      </a:rPr>
                      <m:t>é</m:t>
                    </m:r>
                    <m:r>
                      <m:rPr>
                        <m:nor/>
                      </m:rPr>
                      <a:rPr lang="fr-FR" sz="2400" i="1" spc="-1" dirty="0">
                        <a:solidFill>
                          <a:srgbClr val="376092"/>
                        </a:solidFill>
                      </a:rPr>
                      <m:t>fi</m:t>
                    </m:r>
                    <m:r>
                      <m:rPr>
                        <m:nor/>
                      </m:rPr>
                      <a:rPr lang="fr-FR" sz="2400" spc="-1" dirty="0">
                        <a:solidFill>
                          <a:srgbClr val="376092"/>
                        </a:solidFill>
                      </a:rPr>
                      <m:t>ce</m:t>
                    </m:r>
                    <m:r>
                      <m:rPr>
                        <m:nor/>
                      </m:rPr>
                      <a:rPr lang="fr-FR" sz="2400" spc="-1" dirty="0">
                        <a:solidFill>
                          <a:srgbClr val="376092"/>
                        </a:solidFill>
                      </a:rPr>
                      <m:t> 2021</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2021 ∗ (</m:t>
                    </m:r>
                    <m:r>
                      <m:rPr>
                        <m:nor/>
                      </m:rPr>
                      <a:rPr lang="fr-FR" sz="2400" b="0" i="0" spc="-1" dirty="0" smtClean="0">
                        <a:solidFill>
                          <a:srgbClr val="376092"/>
                        </a:solidFill>
                      </a:rPr>
                      <m:t>t</m:t>
                    </m:r>
                    <m:r>
                      <m:rPr>
                        <m:nor/>
                      </m:rPr>
                      <a:rPr lang="fr-FR" sz="2400" b="0" i="0" spc="-1" dirty="0" smtClean="0">
                        <a:solidFill>
                          <a:srgbClr val="376092"/>
                        </a:solidFill>
                      </a:rPr>
                      <m:t>2 + 1)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2022</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J'aimerais maintenant déterminer un taux d'évolution t pour connaitre directement la hausse ou la baisse de bénéfice sur 2 ans.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Je procède simplement à une substitution :</a:t>
                </a: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a:solidFill>
                          <a:srgbClr val="376092"/>
                        </a:solidFill>
                      </a:rPr>
                      <m:t>b</m:t>
                    </m:r>
                    <m:r>
                      <m:rPr>
                        <m:nor/>
                      </m:rPr>
                      <a:rPr lang="fr-FR" sz="2400" i="1" spc="-1" dirty="0">
                        <a:solidFill>
                          <a:srgbClr val="376092"/>
                        </a:solidFill>
                      </a:rPr>
                      <m:t>é</m:t>
                    </m:r>
                    <m:r>
                      <m:rPr>
                        <m:nor/>
                      </m:rPr>
                      <a:rPr lang="fr-FR" sz="2400" i="1" spc="-1" dirty="0">
                        <a:solidFill>
                          <a:srgbClr val="376092"/>
                        </a:solidFill>
                      </a:rPr>
                      <m:t>n</m:t>
                    </m:r>
                    <m:r>
                      <m:rPr>
                        <m:nor/>
                      </m:rPr>
                      <a:rPr lang="fr-FR" sz="2400" i="1" spc="-1" dirty="0">
                        <a:solidFill>
                          <a:srgbClr val="376092"/>
                        </a:solidFill>
                      </a:rPr>
                      <m:t>é</m:t>
                    </m:r>
                    <m:r>
                      <m:rPr>
                        <m:nor/>
                      </m:rPr>
                      <a:rPr lang="fr-FR" sz="2400" i="1" spc="-1" dirty="0">
                        <a:solidFill>
                          <a:srgbClr val="376092"/>
                        </a:solidFill>
                      </a:rPr>
                      <m:t>fi</m:t>
                    </m:r>
                    <m:r>
                      <m:rPr>
                        <m:nor/>
                      </m:rPr>
                      <a:rPr lang="fr-FR" sz="2400" spc="-1" dirty="0">
                        <a:solidFill>
                          <a:srgbClr val="376092"/>
                        </a:solidFill>
                      </a:rPr>
                      <m:t>ce</m:t>
                    </m:r>
                    <m:r>
                      <m:rPr>
                        <m:nor/>
                      </m:rPr>
                      <a:rPr lang="fr-FR" sz="2400" spc="-1" dirty="0">
                        <a:solidFill>
                          <a:srgbClr val="376092"/>
                        </a:solidFill>
                      </a:rPr>
                      <m:t> 2020 ∗ (</m:t>
                    </m:r>
                    <m:r>
                      <m:rPr>
                        <m:nor/>
                      </m:rPr>
                      <a:rPr lang="fr-FR" sz="2400" spc="-1" dirty="0">
                        <a:solidFill>
                          <a:srgbClr val="376092"/>
                        </a:solidFill>
                      </a:rPr>
                      <m:t>t</m:t>
                    </m:r>
                    <m:r>
                      <m:rPr>
                        <m:nor/>
                      </m:rPr>
                      <a:rPr lang="fr-FR" sz="2400" spc="-1" dirty="0">
                        <a:solidFill>
                          <a:srgbClr val="376092"/>
                        </a:solidFill>
                      </a:rPr>
                      <m:t>1 + 1) ∗ (</m:t>
                    </m:r>
                    <m:r>
                      <m:rPr>
                        <m:nor/>
                      </m:rPr>
                      <a:rPr lang="fr-FR" sz="2400" spc="-1" dirty="0">
                        <a:solidFill>
                          <a:srgbClr val="376092"/>
                        </a:solidFill>
                      </a:rPr>
                      <m:t>t</m:t>
                    </m:r>
                    <m:r>
                      <m:rPr>
                        <m:nor/>
                      </m:rPr>
                      <a:rPr lang="fr-FR" sz="2400" spc="-1" dirty="0">
                        <a:solidFill>
                          <a:srgbClr val="376092"/>
                        </a:solidFill>
                      </a:rPr>
                      <m:t>2 + 1)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2022</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J'en déduit que mon coefficient multiplicateur sur 2 ans est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+ 1 = (t1 + 1) * (t2 + 1) donc t = (t1 + 1) * (t2 + 1) -1</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b="-10412"/>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067679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Taux d'évolution global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Voyons si le principe fonctionne avec plus de 2 années :</a:t>
                </a: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2020 ∗ (</m:t>
                    </m:r>
                    <m:r>
                      <m:rPr>
                        <m:nor/>
                      </m:rPr>
                      <a:rPr lang="fr-FR" sz="2400" b="0" i="0" spc="-1" dirty="0" smtClean="0">
                        <a:solidFill>
                          <a:srgbClr val="376092"/>
                        </a:solidFill>
                      </a:rPr>
                      <m:t>t</m:t>
                    </m:r>
                    <m:r>
                      <m:rPr>
                        <m:nor/>
                      </m:rPr>
                      <a:rPr lang="fr-FR" sz="2400" b="0" i="0" spc="-1" dirty="0" smtClean="0">
                        <a:solidFill>
                          <a:srgbClr val="376092"/>
                        </a:solidFill>
                      </a:rPr>
                      <m:t>1 + 1) =</m:t>
                    </m:r>
                    <m:r>
                      <m:rPr>
                        <m:nor/>
                      </m:rPr>
                      <a:rPr lang="fr-FR" sz="2400" b="0" i="1" spc="-1" dirty="0" smtClean="0">
                        <a:solidFill>
                          <a:srgbClr val="376092"/>
                        </a:solidFill>
                      </a:rPr>
                      <m:t> </m:t>
                    </m:r>
                    <m:r>
                      <m:rPr>
                        <m:nor/>
                      </m:rPr>
                      <a:rPr lang="fr-FR" sz="2400" i="1" spc="-1" dirty="0">
                        <a:solidFill>
                          <a:srgbClr val="376092"/>
                        </a:solidFill>
                      </a:rPr>
                      <m:t>b</m:t>
                    </m:r>
                    <m:r>
                      <m:rPr>
                        <m:nor/>
                      </m:rPr>
                      <a:rPr lang="fr-FR" sz="2400" i="1" spc="-1" dirty="0">
                        <a:solidFill>
                          <a:srgbClr val="376092"/>
                        </a:solidFill>
                      </a:rPr>
                      <m:t>é</m:t>
                    </m:r>
                    <m:r>
                      <m:rPr>
                        <m:nor/>
                      </m:rPr>
                      <a:rPr lang="fr-FR" sz="2400" i="1" spc="-1" dirty="0">
                        <a:solidFill>
                          <a:srgbClr val="376092"/>
                        </a:solidFill>
                      </a:rPr>
                      <m:t>n</m:t>
                    </m:r>
                    <m:r>
                      <m:rPr>
                        <m:nor/>
                      </m:rPr>
                      <a:rPr lang="fr-FR" sz="2400" i="1" spc="-1" dirty="0">
                        <a:solidFill>
                          <a:srgbClr val="376092"/>
                        </a:solidFill>
                      </a:rPr>
                      <m:t>é</m:t>
                    </m:r>
                    <m:r>
                      <m:rPr>
                        <m:nor/>
                      </m:rPr>
                      <a:rPr lang="fr-FR" sz="2400" i="1" spc="-1" dirty="0">
                        <a:solidFill>
                          <a:srgbClr val="376092"/>
                        </a:solidFill>
                      </a:rPr>
                      <m:t>fi</m:t>
                    </m:r>
                    <m:r>
                      <m:rPr>
                        <m:nor/>
                      </m:rPr>
                      <a:rPr lang="fr-FR" sz="2400" spc="-1" dirty="0">
                        <a:solidFill>
                          <a:srgbClr val="376092"/>
                        </a:solidFill>
                      </a:rPr>
                      <m:t>ce</m:t>
                    </m:r>
                    <m:r>
                      <m:rPr>
                        <m:nor/>
                      </m:rPr>
                      <a:rPr lang="fr-FR" sz="2400" spc="-1" dirty="0">
                        <a:solidFill>
                          <a:srgbClr val="376092"/>
                        </a:solidFill>
                      </a:rPr>
                      <m:t> 2021</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2021 ∗ (</m:t>
                    </m:r>
                    <m:r>
                      <m:rPr>
                        <m:nor/>
                      </m:rPr>
                      <a:rPr lang="fr-FR" sz="2400" b="0" i="0" spc="-1" dirty="0" smtClean="0">
                        <a:solidFill>
                          <a:srgbClr val="376092"/>
                        </a:solidFill>
                      </a:rPr>
                      <m:t>t</m:t>
                    </m:r>
                    <m:r>
                      <m:rPr>
                        <m:nor/>
                      </m:rPr>
                      <a:rPr lang="fr-FR" sz="2400" b="0" i="0" spc="-1" dirty="0" smtClean="0">
                        <a:solidFill>
                          <a:srgbClr val="376092"/>
                        </a:solidFill>
                      </a:rPr>
                      <m:t>2 + 1)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2022</m:t>
                    </m:r>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2022 ∗ (</m:t>
                    </m:r>
                    <m:r>
                      <m:rPr>
                        <m:nor/>
                      </m:rPr>
                      <a:rPr lang="fr-FR" sz="2400" b="0" i="0" spc="-1" dirty="0" smtClean="0">
                        <a:solidFill>
                          <a:srgbClr val="376092"/>
                        </a:solidFill>
                      </a:rPr>
                      <m:t>t</m:t>
                    </m:r>
                    <m:r>
                      <m:rPr>
                        <m:nor/>
                      </m:rPr>
                      <a:rPr lang="fr-FR" sz="2400" b="0" i="0" spc="-1" dirty="0" smtClean="0">
                        <a:solidFill>
                          <a:srgbClr val="376092"/>
                        </a:solidFill>
                      </a:rPr>
                      <m:t>3 + 1)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2023</m:t>
                    </m:r>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2023 ∗ (</m:t>
                    </m:r>
                    <m:r>
                      <m:rPr>
                        <m:nor/>
                      </m:rPr>
                      <a:rPr lang="fr-FR" sz="2400" b="0" i="0" spc="-1" dirty="0" smtClean="0">
                        <a:solidFill>
                          <a:srgbClr val="376092"/>
                        </a:solidFill>
                      </a:rPr>
                      <m:t>t</m:t>
                    </m:r>
                    <m:r>
                      <m:rPr>
                        <m:nor/>
                      </m:rPr>
                      <a:rPr lang="fr-FR" sz="2400" b="0" i="0" spc="-1" dirty="0" smtClean="0">
                        <a:solidFill>
                          <a:srgbClr val="376092"/>
                        </a:solidFill>
                      </a:rPr>
                      <m:t>4 + 1)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2024</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Peu importe le nombre d'année, il sera toujours possible de déterminer un taux d'évolution entre l'année de départ et l'année d'arrivée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 se passe t'il si j'ai une hausse une année et une baisse l'année suivante ?</a:t>
                </a: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2020 ∗ 1,07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2021</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2021 ∗ 0,91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2022</m:t>
                    </m:r>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148" b="-11743"/>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222525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Taux d'évolution global - exercice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L'an dernier le bénéfice de mon entreprise a augmenté de 9% et cette année il a baissé de 5%. Quel est le taux d'évolution global de mon bénéfice sur 2 ans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Voyons maintenant sur le long terme. Mon entreprise a enregistré les taux d'évolution de son bénéfice suivant sur les 4 dernières années : +4%, -7%, +11%, -9%. Quel est le taux d'évolution global du bénéfice sur 4 ans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21029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467C4-D2AF-6456-1DE6-059172224A4B}"/>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6B2276E0-24B8-08B0-320F-8C8EB8389CF9}"/>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Calibri"/>
              </a:rPr>
              <a:t>Taux d'évolution global </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699348BA-FECD-DFA6-E7B2-02E154C04CB3}"/>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pc="-1" dirty="0">
                <a:solidFill>
                  <a:srgbClr val="376092"/>
                </a:solidFill>
                <a:latin typeface="Arial"/>
              </a:rPr>
              <a:t>Nous cherchons à déterminer </a:t>
            </a:r>
            <a:r>
              <a:rPr lang="fr-FR" sz="2400" spc="-1" dirty="0">
                <a:solidFill>
                  <a:srgbClr val="376092"/>
                </a:solidFill>
                <a:latin typeface="Arial"/>
              </a:rPr>
              <a:t>le taux d'évolution global sur une période à partir de taux d'évolution successif</a:t>
            </a: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Par exemple, i</a:t>
            </a:r>
            <a:r>
              <a:rPr lang="fr-FR" sz="2400" spc="-1" dirty="0">
                <a:solidFill>
                  <a:srgbClr val="376092"/>
                </a:solidFill>
                <a:latin typeface="Arial"/>
              </a:rPr>
              <a:t>maginons que nous analysons le chiffre d'affaires d'une entreprise sur 5 ans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Je voudrais connaître le taux d'évolution global entre 2019 et 2024 du chiffre d'affaires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 2019 * (1 + </a:t>
            </a:r>
            <a:r>
              <a:rPr lang="fr-FR" sz="2400" spc="-1" dirty="0" err="1">
                <a:solidFill>
                  <a:srgbClr val="376092"/>
                </a:solidFill>
                <a:latin typeface="Arial"/>
              </a:rPr>
              <a:t>teg</a:t>
            </a:r>
            <a:r>
              <a:rPr lang="fr-FR" sz="2400" spc="-1" dirty="0">
                <a:solidFill>
                  <a:srgbClr val="376092"/>
                </a:solidFill>
                <a:latin typeface="Arial"/>
              </a:rPr>
              <a:t>) = CA 2024</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cela, il me suffit de revenir à la formule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 2019 * (1 + t2020) * (1 + t2021) * (1 + t2022) * (1 + t2023) * (1 + t2024) = CA 2024</a:t>
            </a: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02ADF49C-33AC-0DA7-4C26-631CFC25DC9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4" name="Tableau 3">
            <a:extLst>
              <a:ext uri="{FF2B5EF4-FFF2-40B4-BE49-F238E27FC236}">
                <a16:creationId xmlns:a16="http://schemas.microsoft.com/office/drawing/2014/main" id="{337D3264-56F5-09F2-A2CD-8A838CF326E8}"/>
              </a:ext>
            </a:extLst>
          </p:cNvPr>
          <p:cNvGraphicFramePr>
            <a:graphicFrameLocks noGrp="1"/>
          </p:cNvGraphicFramePr>
          <p:nvPr>
            <p:extLst>
              <p:ext uri="{D42A27DB-BD31-4B8C-83A1-F6EECF244321}">
                <p14:modId xmlns:p14="http://schemas.microsoft.com/office/powerpoint/2010/main" val="369948260"/>
              </p:ext>
            </p:extLst>
          </p:nvPr>
        </p:nvGraphicFramePr>
        <p:xfrm>
          <a:off x="1065606" y="2836335"/>
          <a:ext cx="6349999" cy="666750"/>
        </p:xfrm>
        <a:graphic>
          <a:graphicData uri="http://schemas.openxmlformats.org/drawingml/2006/table">
            <a:tbl>
              <a:tblPr/>
              <a:tblGrid>
                <a:gridCol w="2541904">
                  <a:extLst>
                    <a:ext uri="{9D8B030D-6E8A-4147-A177-3AD203B41FA5}">
                      <a16:colId xmlns:a16="http://schemas.microsoft.com/office/drawing/2014/main" val="1969487828"/>
                    </a:ext>
                  </a:extLst>
                </a:gridCol>
                <a:gridCol w="761619">
                  <a:extLst>
                    <a:ext uri="{9D8B030D-6E8A-4147-A177-3AD203B41FA5}">
                      <a16:colId xmlns:a16="http://schemas.microsoft.com/office/drawing/2014/main" val="1449886490"/>
                    </a:ext>
                  </a:extLst>
                </a:gridCol>
                <a:gridCol w="761619">
                  <a:extLst>
                    <a:ext uri="{9D8B030D-6E8A-4147-A177-3AD203B41FA5}">
                      <a16:colId xmlns:a16="http://schemas.microsoft.com/office/drawing/2014/main" val="2017226532"/>
                    </a:ext>
                  </a:extLst>
                </a:gridCol>
                <a:gridCol w="761619">
                  <a:extLst>
                    <a:ext uri="{9D8B030D-6E8A-4147-A177-3AD203B41FA5}">
                      <a16:colId xmlns:a16="http://schemas.microsoft.com/office/drawing/2014/main" val="2423728688"/>
                    </a:ext>
                  </a:extLst>
                </a:gridCol>
                <a:gridCol w="761619">
                  <a:extLst>
                    <a:ext uri="{9D8B030D-6E8A-4147-A177-3AD203B41FA5}">
                      <a16:colId xmlns:a16="http://schemas.microsoft.com/office/drawing/2014/main" val="1881323968"/>
                    </a:ext>
                  </a:extLst>
                </a:gridCol>
                <a:gridCol w="761619">
                  <a:extLst>
                    <a:ext uri="{9D8B030D-6E8A-4147-A177-3AD203B41FA5}">
                      <a16:colId xmlns:a16="http://schemas.microsoft.com/office/drawing/2014/main" val="2027025806"/>
                    </a:ext>
                  </a:extLst>
                </a:gridCol>
              </a:tblGrid>
              <a:tr h="333375">
                <a:tc>
                  <a:txBody>
                    <a:bodyPr/>
                    <a:lstStyle/>
                    <a:p>
                      <a:pPr algn="l" fontAlgn="b"/>
                      <a:r>
                        <a:rPr lang="fr-FR" sz="2000" b="1" i="0" u="none" strike="noStrike" dirty="0">
                          <a:solidFill>
                            <a:srgbClr val="FFFFFF"/>
                          </a:solidFill>
                          <a:effectLst/>
                          <a:latin typeface="Aptos Narrow" panose="020B0004020202020204" pitchFamily="34" charset="0"/>
                        </a:rPr>
                        <a:t>Année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2020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dirty="0">
                          <a:solidFill>
                            <a:srgbClr val="000000"/>
                          </a:solidFill>
                          <a:effectLst/>
                          <a:latin typeface="Aptos Narrow" panose="020B0004020202020204" pitchFamily="34" charset="0"/>
                        </a:rPr>
                        <a:t>2022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7923029"/>
                  </a:ext>
                </a:extLst>
              </a:tr>
              <a:tr h="333375">
                <a:tc>
                  <a:txBody>
                    <a:bodyPr/>
                    <a:lstStyle/>
                    <a:p>
                      <a:pPr algn="l" fontAlgn="b"/>
                      <a:r>
                        <a:rPr lang="fr-FR" sz="2000" b="1" i="0" u="none" strike="noStrike">
                          <a:solidFill>
                            <a:srgbClr val="FFFFFF"/>
                          </a:solidFill>
                          <a:effectLst/>
                          <a:latin typeface="Aptos Narrow" panose="020B0004020202020204" pitchFamily="34" charset="0"/>
                        </a:rPr>
                        <a:t>Taux d'évolution du 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dirty="0">
                          <a:solidFill>
                            <a:srgbClr val="000000"/>
                          </a:solidFill>
                          <a:effectLst/>
                          <a:latin typeface="Aptos Narrow" panose="020B000402020202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5220464"/>
                  </a:ext>
                </a:extLst>
              </a:tr>
            </a:tbl>
          </a:graphicData>
        </a:graphic>
      </p:graphicFrame>
    </p:spTree>
    <p:extLst>
      <p:ext uri="{BB962C8B-B14F-4D97-AF65-F5344CB8AC3E}">
        <p14:creationId xmlns:p14="http://schemas.microsoft.com/office/powerpoint/2010/main" val="3607365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1806-72A0-E20A-4AC4-7D804F5B335C}"/>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0B896492-F1C9-489F-8821-E8B8ACF512CE}"/>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Calibri"/>
              </a:rPr>
              <a:t>Taux d'évolution global </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D6714400-8DE1-E280-734E-4DF5CE26752A}"/>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pc="-1" dirty="0">
                <a:solidFill>
                  <a:srgbClr val="376092"/>
                </a:solidFill>
                <a:latin typeface="Arial"/>
              </a:rPr>
              <a:t>On en déduit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a:t>
            </a:r>
            <a:r>
              <a:rPr lang="fr-FR" sz="2400" spc="-1" dirty="0" err="1">
                <a:solidFill>
                  <a:srgbClr val="376092"/>
                </a:solidFill>
                <a:latin typeface="Arial"/>
              </a:rPr>
              <a:t>teg</a:t>
            </a:r>
            <a:r>
              <a:rPr lang="fr-FR" sz="2400" spc="-1" dirty="0">
                <a:solidFill>
                  <a:srgbClr val="376092"/>
                </a:solidFill>
                <a:latin typeface="Arial"/>
              </a:rPr>
              <a:t>) = (1 + t2020) * (1 + t2021) * (1 + t2022) * (1 + t2023) * (1 + t2024)</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Ou encore que :</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teg</a:t>
            </a:r>
            <a:r>
              <a:rPr lang="fr-FR" sz="2400" spc="-1" dirty="0">
                <a:solidFill>
                  <a:srgbClr val="376092"/>
                </a:solidFill>
                <a:latin typeface="Arial"/>
              </a:rPr>
              <a:t> = (1 + t2020) * (1 + t2021) * (1 + t2022) * (1 + t2023) * (1 + t2024) –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un tableur pour calculer notre taux d'évolution global</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teg</a:t>
            </a:r>
            <a:r>
              <a:rPr lang="fr-FR" sz="2400" spc="-1" dirty="0">
                <a:solidFill>
                  <a:srgbClr val="376092"/>
                </a:solidFill>
                <a:latin typeface="Arial"/>
              </a:rPr>
              <a:t> = 1,41 %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Entre 2019 et 2024, le chiffre d'affaires a progressé de 1,41% : CA 2019 * (1 + 0,0141) = CA 2024</a:t>
            </a: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D0C38810-B71B-23EC-8874-789299ECF1A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758191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37A71-D5FF-90E9-904E-01E2CC5BFD00}"/>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2F7967D9-48F1-8644-CFFF-CA19B987D42E}"/>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Calibri"/>
              </a:rPr>
              <a:t>Taux d'évolution global - exercice </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FEE095C5-C607-F898-1777-81281CC2FC88}"/>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pc="-1" dirty="0">
                <a:solidFill>
                  <a:srgbClr val="376092"/>
                </a:solidFill>
                <a:latin typeface="Arial"/>
              </a:rPr>
              <a:t>Calculer les taux d'évolution globaux dans les cas ci-dessous :</a:t>
            </a:r>
            <a:endParaRPr lang="fr-FR" sz="2400" spc="-1" dirty="0">
              <a:solidFill>
                <a:srgbClr val="376092"/>
              </a:solidFill>
              <a:latin typeface="Arial"/>
            </a:endParaRP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les taux d'évolution globaux du CA pour une entreprise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Qui a subi une baisse régulière de </a:t>
            </a:r>
            <a:r>
              <a:rPr lang="fr-FR" sz="2400" spc="-1">
                <a:solidFill>
                  <a:srgbClr val="376092"/>
                </a:solidFill>
                <a:latin typeface="Arial"/>
              </a:rPr>
              <a:t>3% par an </a:t>
            </a:r>
            <a:r>
              <a:rPr lang="fr-FR" sz="2400" spc="-1" dirty="0">
                <a:solidFill>
                  <a:srgbClr val="376092"/>
                </a:solidFill>
                <a:latin typeface="Arial"/>
              </a:rPr>
              <a:t>sur 5 ans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Qui a subi une augmentation régulière de 3% par an sur 5 ans</a:t>
            </a: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2A9C7997-71DD-1AFE-B3B4-B4694AA90CD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2" name="Tableau 1">
            <a:extLst>
              <a:ext uri="{FF2B5EF4-FFF2-40B4-BE49-F238E27FC236}">
                <a16:creationId xmlns:a16="http://schemas.microsoft.com/office/drawing/2014/main" id="{F3930BFE-5B29-CFCE-96A9-B1C225C6C28C}"/>
              </a:ext>
            </a:extLst>
          </p:cNvPr>
          <p:cNvGraphicFramePr>
            <a:graphicFrameLocks noGrp="1"/>
          </p:cNvGraphicFramePr>
          <p:nvPr>
            <p:extLst>
              <p:ext uri="{D42A27DB-BD31-4B8C-83A1-F6EECF244321}">
                <p14:modId xmlns:p14="http://schemas.microsoft.com/office/powerpoint/2010/main" val="2935842526"/>
              </p:ext>
            </p:extLst>
          </p:nvPr>
        </p:nvGraphicFramePr>
        <p:xfrm>
          <a:off x="1114702" y="2022299"/>
          <a:ext cx="6349999" cy="2000250"/>
        </p:xfrm>
        <a:graphic>
          <a:graphicData uri="http://schemas.openxmlformats.org/drawingml/2006/table">
            <a:tbl>
              <a:tblPr/>
              <a:tblGrid>
                <a:gridCol w="2541904">
                  <a:extLst>
                    <a:ext uri="{9D8B030D-6E8A-4147-A177-3AD203B41FA5}">
                      <a16:colId xmlns:a16="http://schemas.microsoft.com/office/drawing/2014/main" val="3966579624"/>
                    </a:ext>
                  </a:extLst>
                </a:gridCol>
                <a:gridCol w="761619">
                  <a:extLst>
                    <a:ext uri="{9D8B030D-6E8A-4147-A177-3AD203B41FA5}">
                      <a16:colId xmlns:a16="http://schemas.microsoft.com/office/drawing/2014/main" val="1776491016"/>
                    </a:ext>
                  </a:extLst>
                </a:gridCol>
                <a:gridCol w="761619">
                  <a:extLst>
                    <a:ext uri="{9D8B030D-6E8A-4147-A177-3AD203B41FA5}">
                      <a16:colId xmlns:a16="http://schemas.microsoft.com/office/drawing/2014/main" val="1153462190"/>
                    </a:ext>
                  </a:extLst>
                </a:gridCol>
                <a:gridCol w="761619">
                  <a:extLst>
                    <a:ext uri="{9D8B030D-6E8A-4147-A177-3AD203B41FA5}">
                      <a16:colId xmlns:a16="http://schemas.microsoft.com/office/drawing/2014/main" val="938188840"/>
                    </a:ext>
                  </a:extLst>
                </a:gridCol>
                <a:gridCol w="761619">
                  <a:extLst>
                    <a:ext uri="{9D8B030D-6E8A-4147-A177-3AD203B41FA5}">
                      <a16:colId xmlns:a16="http://schemas.microsoft.com/office/drawing/2014/main" val="286991519"/>
                    </a:ext>
                  </a:extLst>
                </a:gridCol>
                <a:gridCol w="761619">
                  <a:extLst>
                    <a:ext uri="{9D8B030D-6E8A-4147-A177-3AD203B41FA5}">
                      <a16:colId xmlns:a16="http://schemas.microsoft.com/office/drawing/2014/main" val="1616835555"/>
                    </a:ext>
                  </a:extLst>
                </a:gridCol>
              </a:tblGrid>
              <a:tr h="333375">
                <a:tc>
                  <a:txBody>
                    <a:bodyPr/>
                    <a:lstStyle/>
                    <a:p>
                      <a:pPr algn="l" fontAlgn="b"/>
                      <a:r>
                        <a:rPr lang="fr-FR" sz="2000" b="1" i="0" u="none" strike="noStrike">
                          <a:solidFill>
                            <a:srgbClr val="FFFFFF"/>
                          </a:solidFill>
                          <a:effectLst/>
                          <a:latin typeface="Aptos Narrow" panose="020B0004020202020204" pitchFamily="34" charset="0"/>
                        </a:rPr>
                        <a:t>Année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2020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5922905"/>
                  </a:ext>
                </a:extLst>
              </a:tr>
              <a:tr h="333375">
                <a:tc>
                  <a:txBody>
                    <a:bodyPr/>
                    <a:lstStyle/>
                    <a:p>
                      <a:pPr algn="l" fontAlgn="b"/>
                      <a:r>
                        <a:rPr lang="fr-FR" sz="2000" b="1" i="0" u="none" strike="noStrike">
                          <a:solidFill>
                            <a:srgbClr val="FFFFFF"/>
                          </a:solidFill>
                          <a:effectLst/>
                          <a:latin typeface="Aptos Narrow" panose="020B0004020202020204" pitchFamily="34" charset="0"/>
                        </a:rPr>
                        <a:t>Taux d'évolution du 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3866113"/>
                  </a:ext>
                </a:extLst>
              </a:tr>
              <a:tr h="333375">
                <a:tc>
                  <a:txBody>
                    <a:bodyPr/>
                    <a:lstStyle/>
                    <a:p>
                      <a:pPr algn="l" fontAlgn="b"/>
                      <a:r>
                        <a:rPr lang="fr-FR" sz="2000" b="1" i="0" u="none" strike="noStrike">
                          <a:solidFill>
                            <a:srgbClr val="FFFFFF"/>
                          </a:solidFill>
                          <a:effectLst/>
                          <a:latin typeface="Aptos Narrow" panose="020B0004020202020204" pitchFamily="34" charset="0"/>
                        </a:rPr>
                        <a:t>Taux d'évolution du 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046703"/>
                  </a:ext>
                </a:extLst>
              </a:tr>
              <a:tr h="333375">
                <a:tc>
                  <a:txBody>
                    <a:bodyPr/>
                    <a:lstStyle/>
                    <a:p>
                      <a:pPr algn="l" fontAlgn="b"/>
                      <a:r>
                        <a:rPr lang="fr-FR" sz="2000" b="1" i="0" u="none" strike="noStrike">
                          <a:solidFill>
                            <a:srgbClr val="FFFFFF"/>
                          </a:solidFill>
                          <a:effectLst/>
                          <a:latin typeface="Aptos Narrow" panose="020B0004020202020204" pitchFamily="34" charset="0"/>
                        </a:rPr>
                        <a:t>Taux d'évolution du 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0305765"/>
                  </a:ext>
                </a:extLst>
              </a:tr>
              <a:tr h="333375">
                <a:tc>
                  <a:txBody>
                    <a:bodyPr/>
                    <a:lstStyle/>
                    <a:p>
                      <a:pPr algn="l" fontAlgn="b"/>
                      <a:r>
                        <a:rPr lang="fr-FR" sz="2000" b="1" i="0" u="none" strike="noStrike">
                          <a:solidFill>
                            <a:srgbClr val="FFFFFF"/>
                          </a:solidFill>
                          <a:effectLst/>
                          <a:latin typeface="Aptos Narrow" panose="020B0004020202020204" pitchFamily="34" charset="0"/>
                        </a:rPr>
                        <a:t>Taux d'évolution du 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7677523"/>
                  </a:ext>
                </a:extLst>
              </a:tr>
              <a:tr h="333375">
                <a:tc>
                  <a:txBody>
                    <a:bodyPr/>
                    <a:lstStyle/>
                    <a:p>
                      <a:pPr algn="l" fontAlgn="b"/>
                      <a:r>
                        <a:rPr lang="fr-FR" sz="2000" b="1" i="0" u="none" strike="noStrike">
                          <a:solidFill>
                            <a:srgbClr val="FFFFFF"/>
                          </a:solidFill>
                          <a:effectLst/>
                          <a:latin typeface="Aptos Narrow" panose="020B0004020202020204" pitchFamily="34" charset="0"/>
                        </a:rPr>
                        <a:t>Taux d'évolution du 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dirty="0">
                          <a:solidFill>
                            <a:srgbClr val="000000"/>
                          </a:solidFill>
                          <a:effectLst/>
                          <a:latin typeface="Aptos Narrow" panose="020B000402020202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2736504"/>
                  </a:ext>
                </a:extLst>
              </a:tr>
            </a:tbl>
          </a:graphicData>
        </a:graphic>
      </p:graphicFrame>
    </p:spTree>
    <p:extLst>
      <p:ext uri="{BB962C8B-B14F-4D97-AF65-F5344CB8AC3E}">
        <p14:creationId xmlns:p14="http://schemas.microsoft.com/office/powerpoint/2010/main" val="3752579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Taux d'évolution réciproque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Voyons si une baisse de 7% une année peut-être compensé par une hausse de 7% l'année suivante :</a:t>
                </a: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2020 ∗ 0,93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2021</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14:m>
                  <m:oMath xmlns:m="http://schemas.openxmlformats.org/officeDocument/2006/math">
                    <m:r>
                      <m:rPr>
                        <m:nor/>
                      </m:rPr>
                      <a:rPr lang="fr-FR" sz="2400" i="1" spc="-1" dirty="0" smtClean="0">
                        <a:solidFill>
                          <a:srgbClr val="376092"/>
                        </a:solidFill>
                      </a:rPr>
                      <m:t>b</m:t>
                    </m:r>
                    <m:r>
                      <m:rPr>
                        <m:nor/>
                      </m:rPr>
                      <a:rPr lang="fr-FR" sz="2400" b="0" i="1" spc="-1" dirty="0" smtClean="0">
                        <a:solidFill>
                          <a:srgbClr val="376092"/>
                        </a:solidFill>
                      </a:rPr>
                      <m:t>é</m:t>
                    </m:r>
                    <m:r>
                      <m:rPr>
                        <m:nor/>
                      </m:rPr>
                      <a:rPr lang="fr-FR" sz="2400" b="0" i="1" spc="-1" dirty="0" smtClean="0">
                        <a:solidFill>
                          <a:srgbClr val="376092"/>
                        </a:solidFill>
                      </a:rPr>
                      <m:t>n</m:t>
                    </m:r>
                    <m:r>
                      <m:rPr>
                        <m:nor/>
                      </m:rPr>
                      <a:rPr lang="fr-FR" sz="2400" b="0" i="1" spc="-1" dirty="0" smtClean="0">
                        <a:solidFill>
                          <a:srgbClr val="376092"/>
                        </a:solidFill>
                      </a:rPr>
                      <m:t>é</m:t>
                    </m:r>
                    <m:r>
                      <m:rPr>
                        <m:nor/>
                      </m:rPr>
                      <a:rPr lang="fr-FR" sz="2400" b="0" i="1" spc="-1" dirty="0" smtClean="0">
                        <a:solidFill>
                          <a:srgbClr val="376092"/>
                        </a:solidFill>
                      </a:rPr>
                      <m:t>fi</m:t>
                    </m:r>
                    <m:r>
                      <m:rPr>
                        <m:nor/>
                      </m:rPr>
                      <a:rPr lang="fr-FR" sz="2400" b="0" i="0" spc="-1" dirty="0" smtClean="0">
                        <a:solidFill>
                          <a:srgbClr val="376092"/>
                        </a:solidFill>
                      </a:rPr>
                      <m:t>ce</m:t>
                    </m:r>
                    <m:r>
                      <m:rPr>
                        <m:nor/>
                      </m:rPr>
                      <a:rPr lang="fr-FR" sz="2400" b="0" i="0" spc="-1" dirty="0" smtClean="0">
                        <a:solidFill>
                          <a:srgbClr val="376092"/>
                        </a:solidFill>
                      </a:rPr>
                      <m:t> 2021 ∗ 1,07 =</m:t>
                    </m:r>
                    <m:r>
                      <m:rPr>
                        <m:nor/>
                      </m:rPr>
                      <a:rPr lang="fr-FR" sz="2400" b="0" i="1" spc="-1" dirty="0" smtClean="0">
                        <a:solidFill>
                          <a:srgbClr val="376092"/>
                        </a:solidFill>
                      </a:rPr>
                      <m:t> </m:t>
                    </m:r>
                    <m:r>
                      <m:rPr>
                        <m:nor/>
                      </m:rPr>
                      <a:rPr lang="fr-FR" sz="2400" i="1" spc="-1" dirty="0" smtClean="0">
                        <a:solidFill>
                          <a:srgbClr val="376092"/>
                        </a:solidFill>
                      </a:rPr>
                      <m:t>b</m:t>
                    </m:r>
                    <m:r>
                      <m:rPr>
                        <m:nor/>
                      </m:rPr>
                      <a:rPr lang="fr-FR" sz="2400" i="1" spc="-1" dirty="0" smtClean="0">
                        <a:solidFill>
                          <a:srgbClr val="376092"/>
                        </a:solidFill>
                      </a:rPr>
                      <m:t>é</m:t>
                    </m:r>
                    <m:r>
                      <m:rPr>
                        <m:nor/>
                      </m:rPr>
                      <a:rPr lang="fr-FR" sz="2400" i="1" spc="-1" dirty="0" smtClean="0">
                        <a:solidFill>
                          <a:srgbClr val="376092"/>
                        </a:solidFill>
                      </a:rPr>
                      <m:t>n</m:t>
                    </m:r>
                    <m:r>
                      <m:rPr>
                        <m:nor/>
                      </m:rPr>
                      <a:rPr lang="fr-FR" sz="2400" i="1" spc="-1" dirty="0" smtClean="0">
                        <a:solidFill>
                          <a:srgbClr val="376092"/>
                        </a:solidFill>
                      </a:rPr>
                      <m:t>é</m:t>
                    </m:r>
                    <m:r>
                      <m:rPr>
                        <m:nor/>
                      </m:rPr>
                      <a:rPr lang="fr-FR" sz="2400" i="1" spc="-1" dirty="0" smtClean="0">
                        <a:solidFill>
                          <a:srgbClr val="376092"/>
                        </a:solidFill>
                      </a:rPr>
                      <m:t>fi</m:t>
                    </m:r>
                    <m:r>
                      <m:rPr>
                        <m:nor/>
                      </m:rPr>
                      <a:rPr lang="fr-FR" sz="2400" spc="-1" dirty="0" smtClean="0">
                        <a:solidFill>
                          <a:srgbClr val="376092"/>
                        </a:solidFill>
                      </a:rPr>
                      <m:t>ce</m:t>
                    </m:r>
                    <m:r>
                      <m:rPr>
                        <m:nor/>
                      </m:rPr>
                      <a:rPr lang="fr-FR" sz="2400" spc="-1" dirty="0" smtClean="0">
                        <a:solidFill>
                          <a:srgbClr val="376092"/>
                        </a:solidFill>
                      </a:rPr>
                      <m:t> 2022</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Pourquoi cela ne fonctionne pas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le premier cas nous prenons 7% du bénéfice de 2020 qui est plus élevé que celui de 2021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C'est une notion très importante à comprendre en finance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ne rattrape pas une perte de 7% avec un gain de 7%</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le taux d'évolution qui compense une perte de 7%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0,93 * x = 1 (x est le coefficient multiplicateur lié à t)</a:t>
                </a: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000" b="-13196"/>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3694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Taux d'évolution réciproque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110365"/>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Formalisons cette notion de taux d'évolution réciproque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Je voudrais compenser un taux d'évolution t avec un taux d'évolution 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Valeur de départ * (t + 1) * (t' + 1) = valeur de départ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 que je veux donc c'est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+ 1) * (t' + 1) =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J'en déduis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+ 1 = </a:t>
                </a:r>
                <a14:m>
                  <m:oMath xmlns:m="http://schemas.openxmlformats.org/officeDocument/2006/math">
                    <m:f>
                      <m:fPr>
                        <m:ctrlPr>
                          <a:rPr lang="fr-FR" sz="2400" i="1" spc="-1" smtClean="0">
                            <a:solidFill>
                              <a:srgbClr val="376092"/>
                            </a:solidFill>
                            <a:latin typeface="Cambria Math" panose="02040503050406030204" pitchFamily="18" charset="0"/>
                          </a:rPr>
                        </m:ctrlPr>
                      </m:fPr>
                      <m:num>
                        <m:r>
                          <m:rPr>
                            <m:nor/>
                          </m:rPr>
                          <a:rPr lang="fr-FR" sz="2400" b="0" i="0" spc="-1" smtClean="0">
                            <a:solidFill>
                              <a:srgbClr val="376092"/>
                            </a:solidFill>
                            <a:latin typeface="Cambria Math" panose="02040503050406030204" pitchFamily="18" charset="0"/>
                          </a:rPr>
                          <m:t>1</m:t>
                        </m:r>
                      </m:num>
                      <m:den>
                        <m:r>
                          <m:rPr>
                            <m:nor/>
                          </m:rPr>
                          <a:rPr lang="fr-FR" sz="2400" b="0" i="0" spc="-1" smtClean="0">
                            <a:solidFill>
                              <a:srgbClr val="376092"/>
                            </a:solidFill>
                            <a:latin typeface="Cambria Math" panose="02040503050406030204" pitchFamily="18" charset="0"/>
                          </a:rPr>
                          <m:t>t</m:t>
                        </m:r>
                        <m:r>
                          <m:rPr>
                            <m:nor/>
                          </m:rPr>
                          <a:rPr lang="fr-FR" sz="2400" b="0" i="0" spc="-1" smtClean="0">
                            <a:solidFill>
                              <a:srgbClr val="376092"/>
                            </a:solidFill>
                            <a:latin typeface="Cambria Math" panose="02040503050406030204" pitchFamily="18" charset="0"/>
                          </a:rPr>
                          <m:t> + 1</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Et donc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  = </a:t>
                </a:r>
                <a14:m>
                  <m:oMath xmlns:m="http://schemas.openxmlformats.org/officeDocument/2006/math">
                    <m:f>
                      <m:fPr>
                        <m:ctrlPr>
                          <a:rPr lang="fr-FR" sz="2400" i="1" spc="-1" smtClean="0">
                            <a:solidFill>
                              <a:srgbClr val="376092"/>
                            </a:solidFill>
                            <a:latin typeface="Cambria Math" panose="02040503050406030204" pitchFamily="18" charset="0"/>
                          </a:rPr>
                        </m:ctrlPr>
                      </m:fPr>
                      <m:num>
                        <m:r>
                          <m:rPr>
                            <m:nor/>
                          </m:rPr>
                          <a:rPr lang="fr-FR" sz="2400" b="0" i="0" spc="-1" smtClean="0">
                            <a:solidFill>
                              <a:srgbClr val="376092"/>
                            </a:solidFill>
                            <a:latin typeface="Cambria Math" panose="02040503050406030204" pitchFamily="18" charset="0"/>
                          </a:rPr>
                          <m:t>1</m:t>
                        </m:r>
                      </m:num>
                      <m:den>
                        <m:r>
                          <m:rPr>
                            <m:nor/>
                          </m:rPr>
                          <a:rPr lang="fr-FR" sz="2400" b="0" i="0" spc="-1" smtClean="0">
                            <a:solidFill>
                              <a:srgbClr val="376092"/>
                            </a:solidFill>
                            <a:latin typeface="Cambria Math" panose="02040503050406030204" pitchFamily="18" charset="0"/>
                          </a:rPr>
                          <m:t>t</m:t>
                        </m:r>
                        <m:r>
                          <m:rPr>
                            <m:nor/>
                          </m:rPr>
                          <a:rPr lang="fr-FR" sz="2400" b="0" i="0" spc="-1" smtClean="0">
                            <a:solidFill>
                              <a:srgbClr val="376092"/>
                            </a:solidFill>
                            <a:latin typeface="Cambria Math" panose="02040503050406030204" pitchFamily="18" charset="0"/>
                          </a:rPr>
                          <m:t> + 1</m:t>
                        </m:r>
                      </m:den>
                    </m:f>
                  </m:oMath>
                </a14:m>
                <a:r>
                  <a:rPr lang="fr-FR" sz="2400" spc="-1" dirty="0">
                    <a:solidFill>
                      <a:srgbClr val="376092"/>
                    </a:solidFill>
                    <a:latin typeface="Arial"/>
                  </a:rPr>
                  <a:t> - 1</a:t>
                </a: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110365"/>
                <a:ext cx="8229240" cy="5033806"/>
              </a:xfrm>
              <a:prstGeom prst="rect">
                <a:avLst/>
              </a:prstGeom>
              <a:blipFill>
                <a:blip r:embed="rId2"/>
                <a:stretch>
                  <a:fillRect t="-1695" r="-2667" b="-5811"/>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350529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B347B-0AAC-1867-D76C-A3D41282A0AB}"/>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C2C615A9-7C2B-4F19-D797-80466C5B12A1}"/>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Taux d'évolution réciproque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B53272B0-5B21-35E0-E629-72CA9AD5471A}"/>
                  </a:ext>
                </a:extLst>
              </p:cNvPr>
              <p:cNvSpPr txBox="1"/>
              <p:nvPr/>
            </p:nvSpPr>
            <p:spPr>
              <a:xfrm>
                <a:off x="457200" y="1110365"/>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également possible de calculer un taux d'évolution réciproque par proportionnalité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noter que si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Valeur de départ * (t + 1) = valeur d'arrivée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Alors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Valeur d'arrivée * </a:t>
                </a:r>
                <a14:m>
                  <m:oMath xmlns:m="http://schemas.openxmlformats.org/officeDocument/2006/math">
                    <m:f>
                      <m:fPr>
                        <m:ctrlPr>
                          <a:rPr lang="fr-FR" sz="2400" i="1" spc="-1" smtClean="0">
                            <a:solidFill>
                              <a:srgbClr val="376092"/>
                            </a:solidFill>
                            <a:latin typeface="Cambria Math" panose="02040503050406030204" pitchFamily="18" charset="0"/>
                          </a:rPr>
                        </m:ctrlPr>
                      </m:fPr>
                      <m:num>
                        <m:r>
                          <m:rPr>
                            <m:nor/>
                          </m:rPr>
                          <a:rPr lang="fr-FR" sz="2400" b="0" i="0" spc="-1" smtClean="0">
                            <a:solidFill>
                              <a:srgbClr val="376092"/>
                            </a:solidFill>
                            <a:latin typeface="Cambria Math" panose="02040503050406030204" pitchFamily="18" charset="0"/>
                          </a:rPr>
                          <m:t>1</m:t>
                        </m:r>
                      </m:num>
                      <m:den>
                        <m:r>
                          <m:rPr>
                            <m:nor/>
                          </m:rPr>
                          <a:rPr lang="fr-FR" sz="2400" b="0" i="0" spc="-1" smtClean="0">
                            <a:solidFill>
                              <a:srgbClr val="376092"/>
                            </a:solidFill>
                            <a:latin typeface="Cambria Math" panose="02040503050406030204" pitchFamily="18" charset="0"/>
                          </a:rPr>
                          <m:t>t</m:t>
                        </m:r>
                        <m:r>
                          <m:rPr>
                            <m:nor/>
                          </m:rPr>
                          <a:rPr lang="fr-FR" sz="2400" b="0" i="0" spc="-1" smtClean="0">
                            <a:solidFill>
                              <a:srgbClr val="376092"/>
                            </a:solidFill>
                            <a:latin typeface="Cambria Math" panose="02040503050406030204" pitchFamily="18" charset="0"/>
                          </a:rPr>
                          <m:t> + 1</m:t>
                        </m:r>
                      </m:den>
                    </m:f>
                    <m:r>
                      <a:rPr lang="fr-FR" sz="2400" b="0" i="1" spc="-1" smtClean="0">
                        <a:solidFill>
                          <a:srgbClr val="376092"/>
                        </a:solidFill>
                        <a:latin typeface="Cambria Math" panose="02040503050406030204" pitchFamily="18" charset="0"/>
                      </a:rPr>
                      <m:t> </m:t>
                    </m:r>
                  </m:oMath>
                </a14:m>
                <a:r>
                  <a:rPr lang="fr-FR" sz="2400" spc="-1" dirty="0">
                    <a:solidFill>
                      <a:srgbClr val="376092"/>
                    </a:solidFill>
                    <a:latin typeface="Arial"/>
                  </a:rPr>
                  <a:t>= valeur de départ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donc calculer le taux d'évolution réciproque par produit en croix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un tableur pour que cela soit plus simple</a:t>
                </a: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B53272B0-5B21-35E0-E629-72CA9AD5471A}"/>
                  </a:ext>
                </a:extLst>
              </p:cNvPr>
              <p:cNvSpPr txBox="1">
                <a:spLocks noRot="1" noChangeAspect="1" noMove="1" noResize="1" noEditPoints="1" noAdjustHandles="1" noChangeArrowheads="1" noChangeShapeType="1" noTextEdit="1"/>
              </p:cNvSpPr>
              <p:nvPr/>
            </p:nvSpPr>
            <p:spPr>
              <a:xfrm>
                <a:off x="457200" y="1110365"/>
                <a:ext cx="8229240" cy="5033806"/>
              </a:xfrm>
              <a:prstGeom prst="rect">
                <a:avLst/>
              </a:prstGeom>
              <a:blipFill>
                <a:blip r:embed="rId2"/>
                <a:stretch>
                  <a:fillRect t="-1695"/>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A1E197C7-7199-F21F-5874-7C05FF295D1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63578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Taux d'évolution global - exercice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Par rapport à l'an dernier, je consomme 4% d'électricité en plus. Quel taux d'évolution dois-je prévoir entre cette année et l'année prochaine pour avoir la même consommation l'année prochaine que l'année passée.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L'an dernier mon bénéfice était de 500 000 euros, cette année il est de 450 000 euros. Je veux retrouver un bénéfice de 500 000 euros l'an prochain. Quel est le taux d'évolution nécessaire entre cette année et l'an prochain en ce qui concerne mon bénéfice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16151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Calculer et utiliser un indice:</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indice va nous permettre de fixer une base commune de comparaison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faut donc préciser la base de l'indice, à savoir la valeur de référence ainsi que la date de référence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éléments comparés n'ont pas du tout la même valeur mais nous leur attribuons arbitrairement la valeur de la base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Cela nous permet de créer une base commune, comme nous ne nous intéressons qu'à l'évolution, la valeur de base a peu d'importance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610819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Calculer et utiliser un indice:</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Par exemple, nous voulons comparer la valeur de l'or, des actions américaines et des actions françaises.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voulons les comparer en termes d'évolution et non en termes de valeur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donc chercher les valeurs correspondantes à ces 3 actifs :</a:t>
            </a: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L'or a une valeur en euros</a:t>
            </a:r>
            <a:r>
              <a:rPr lang="fr-FR" sz="2400" spc="-1" dirty="0">
                <a:solidFill>
                  <a:srgbClr val="376092"/>
                </a:solidFill>
                <a:latin typeface="Arial"/>
              </a:rPr>
              <a:t>. Le S&amp;P500 et le CAC40 sont des indices et n'ont donc pas d'unité.</a:t>
            </a: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Comment compar</a:t>
            </a:r>
            <a:r>
              <a:rPr lang="fr-FR" sz="2400" spc="-1" dirty="0">
                <a:solidFill>
                  <a:srgbClr val="376092"/>
                </a:solidFill>
                <a:latin typeface="Arial"/>
              </a:rPr>
              <a:t>er des données qui n'ont pas la même unité ?</a:t>
            </a: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2" name="Tableau 1">
            <a:extLst>
              <a:ext uri="{FF2B5EF4-FFF2-40B4-BE49-F238E27FC236}">
                <a16:creationId xmlns:a16="http://schemas.microsoft.com/office/drawing/2014/main" id="{F69D91FC-0A22-5B5A-9E9E-BEB1AF8FE45C}"/>
              </a:ext>
            </a:extLst>
          </p:cNvPr>
          <p:cNvGraphicFramePr>
            <a:graphicFrameLocks noGrp="1"/>
          </p:cNvGraphicFramePr>
          <p:nvPr>
            <p:extLst>
              <p:ext uri="{D42A27DB-BD31-4B8C-83A1-F6EECF244321}">
                <p14:modId xmlns:p14="http://schemas.microsoft.com/office/powerpoint/2010/main" val="4289307384"/>
              </p:ext>
            </p:extLst>
          </p:nvPr>
        </p:nvGraphicFramePr>
        <p:xfrm>
          <a:off x="2807400" y="3322555"/>
          <a:ext cx="5156200" cy="1333500"/>
        </p:xfrm>
        <a:graphic>
          <a:graphicData uri="http://schemas.openxmlformats.org/drawingml/2006/table">
            <a:tbl>
              <a:tblPr/>
              <a:tblGrid>
                <a:gridCol w="2032000">
                  <a:extLst>
                    <a:ext uri="{9D8B030D-6E8A-4147-A177-3AD203B41FA5}">
                      <a16:colId xmlns:a16="http://schemas.microsoft.com/office/drawing/2014/main" val="3590711054"/>
                    </a:ext>
                  </a:extLst>
                </a:gridCol>
                <a:gridCol w="1041400">
                  <a:extLst>
                    <a:ext uri="{9D8B030D-6E8A-4147-A177-3AD203B41FA5}">
                      <a16:colId xmlns:a16="http://schemas.microsoft.com/office/drawing/2014/main" val="1792733455"/>
                    </a:ext>
                  </a:extLst>
                </a:gridCol>
                <a:gridCol w="1041400">
                  <a:extLst>
                    <a:ext uri="{9D8B030D-6E8A-4147-A177-3AD203B41FA5}">
                      <a16:colId xmlns:a16="http://schemas.microsoft.com/office/drawing/2014/main" val="2966174302"/>
                    </a:ext>
                  </a:extLst>
                </a:gridCol>
                <a:gridCol w="1041400">
                  <a:extLst>
                    <a:ext uri="{9D8B030D-6E8A-4147-A177-3AD203B41FA5}">
                      <a16:colId xmlns:a16="http://schemas.microsoft.com/office/drawing/2014/main" val="4246041920"/>
                    </a:ext>
                  </a:extLst>
                </a:gridCol>
              </a:tblGrid>
              <a:tr h="333375">
                <a:tc>
                  <a:txBody>
                    <a:bodyPr/>
                    <a:lstStyle/>
                    <a:p>
                      <a:pPr algn="l" fontAlgn="b"/>
                      <a:r>
                        <a:rPr lang="fr-FR" sz="2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FFFFFF"/>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FFFFFF"/>
                          </a:solidFill>
                          <a:effectLst/>
                          <a:latin typeface="Aptos Narrow" panose="020B0004020202020204" pitchFamily="34" charset="0"/>
                        </a:rPr>
                        <a:t>2010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FFFFFF"/>
                          </a:solidFill>
                          <a:effectLst/>
                          <a:latin typeface="Aptos Narrow" panose="020B0004020202020204" pitchFamily="34" charset="0"/>
                        </a:rPr>
                        <a:t>2020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684434955"/>
                  </a:ext>
                </a:extLst>
              </a:tr>
              <a:tr h="333375">
                <a:tc>
                  <a:txBody>
                    <a:bodyPr/>
                    <a:lstStyle/>
                    <a:p>
                      <a:pPr algn="l" fontAlgn="b"/>
                      <a:r>
                        <a:rPr lang="fr-FR" sz="2000" b="0" i="0" u="none" strike="noStrike">
                          <a:solidFill>
                            <a:srgbClr val="FFFFFF"/>
                          </a:solidFill>
                          <a:effectLst/>
                          <a:latin typeface="Aptos Narrow" panose="020B0004020202020204" pitchFamily="34" charset="0"/>
                        </a:rPr>
                        <a:t>Or (100g) en euros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919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3560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5000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656628"/>
                  </a:ext>
                </a:extLst>
              </a:tr>
              <a:tr h="333375">
                <a:tc>
                  <a:txBody>
                    <a:bodyPr/>
                    <a:lstStyle/>
                    <a:p>
                      <a:pPr algn="l" fontAlgn="b"/>
                      <a:r>
                        <a:rPr lang="fr-FR" sz="2000" b="0" i="0" u="none" strike="noStrike">
                          <a:solidFill>
                            <a:srgbClr val="FFFFFF"/>
                          </a:solidFill>
                          <a:effectLst/>
                          <a:latin typeface="Aptos Narrow" panose="020B0004020202020204" pitchFamily="34" charset="0"/>
                        </a:rPr>
                        <a:t>S&amp;P500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1427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1139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3217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9057146"/>
                  </a:ext>
                </a:extLst>
              </a:tr>
              <a:tr h="333375">
                <a:tc>
                  <a:txBody>
                    <a:bodyPr/>
                    <a:lstStyle/>
                    <a:p>
                      <a:pPr algn="l" fontAlgn="b"/>
                      <a:r>
                        <a:rPr lang="fr-FR" sz="2000" b="0" i="0" u="none" strike="noStrike">
                          <a:solidFill>
                            <a:srgbClr val="FFFFFF"/>
                          </a:solidFill>
                          <a:effectLst/>
                          <a:latin typeface="Aptos Narrow" panose="020B0004020202020204" pitchFamily="34" charset="0"/>
                        </a:rPr>
                        <a:t>CaC 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6922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3804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dirty="0">
                          <a:solidFill>
                            <a:srgbClr val="000000"/>
                          </a:solidFill>
                          <a:effectLst/>
                          <a:latin typeface="Aptos Narrow" panose="020B0004020202020204" pitchFamily="34" charset="0"/>
                        </a:rPr>
                        <a:t>3942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1915206"/>
                  </a:ext>
                </a:extLst>
              </a:tr>
            </a:tbl>
          </a:graphicData>
        </a:graphic>
      </p:graphicFrame>
    </p:spTree>
    <p:extLst>
      <p:ext uri="{BB962C8B-B14F-4D97-AF65-F5344CB8AC3E}">
        <p14:creationId xmlns:p14="http://schemas.microsoft.com/office/powerpoint/2010/main" val="3585903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Calculer et utiliser un indice:</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pc="-1" dirty="0">
                    <a:solidFill>
                      <a:srgbClr val="376092"/>
                    </a:solidFill>
                    <a:latin typeface="Arial"/>
                  </a:rPr>
                  <a:t>Nous allons utiliser un indice en base 100. Nous allons donc fixer à 100 toutes les valeurs et utiliser 2000 comme année de référence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faut maintenant calculer les indices pour 2010 et 2020</a:t>
                </a: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Pour cela, nous pouvons utiliser la relation suivante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Indice 2010 = base de l'indice *  </a:t>
                </a:r>
                <a14:m>
                  <m:oMath xmlns:m="http://schemas.openxmlformats.org/officeDocument/2006/math">
                    <m:f>
                      <m:fPr>
                        <m:ctrlPr>
                          <a:rPr lang="fr-FR" sz="2400" spc="-1">
                            <a:solidFill>
                              <a:srgbClr val="376092"/>
                            </a:solidFill>
                            <a:latin typeface="Arial"/>
                          </a:rPr>
                        </m:ctrlPr>
                      </m:fPr>
                      <m:num>
                        <m:r>
                          <m:rPr>
                            <m:nor/>
                          </m:rPr>
                          <a:rPr lang="fr-FR" sz="2400" spc="-1">
                            <a:solidFill>
                              <a:srgbClr val="376092"/>
                            </a:solidFill>
                            <a:latin typeface="Arial"/>
                          </a:rPr>
                          <m:t>valeur</m:t>
                        </m:r>
                        <m:r>
                          <m:rPr>
                            <m:nor/>
                          </m:rPr>
                          <a:rPr lang="fr-FR" sz="2400" spc="-1">
                            <a:solidFill>
                              <a:srgbClr val="376092"/>
                            </a:solidFill>
                            <a:latin typeface="Arial"/>
                          </a:rPr>
                          <m:t> 2010</m:t>
                        </m:r>
                      </m:num>
                      <m:den>
                        <m:r>
                          <a:rPr lang="fr-FR" sz="2400" spc="-1">
                            <a:solidFill>
                              <a:srgbClr val="376092"/>
                            </a:solidFill>
                            <a:latin typeface="Arial"/>
                          </a:rPr>
                          <m:t>𝑉𝑎𝑙𝑒𝑢𝑟</m:t>
                        </m:r>
                        <m:r>
                          <a:rPr lang="fr-FR" sz="2400" spc="-1">
                            <a:solidFill>
                              <a:srgbClr val="376092"/>
                            </a:solidFill>
                            <a:latin typeface="Arial"/>
                          </a:rPr>
                          <m:t> 2000</m:t>
                        </m:r>
                      </m:den>
                    </m:f>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p:sp>
            <p:nvSpPr>
              <p:cNvPr id="140" name="TextShape 2"/>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963"/>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4" name="Tableau 3">
            <a:extLst>
              <a:ext uri="{FF2B5EF4-FFF2-40B4-BE49-F238E27FC236}">
                <a16:creationId xmlns:a16="http://schemas.microsoft.com/office/drawing/2014/main" id="{BE74576E-338D-7464-38EC-AE80175BAF21}"/>
              </a:ext>
            </a:extLst>
          </p:cNvPr>
          <p:cNvGraphicFramePr>
            <a:graphicFrameLocks noGrp="1"/>
          </p:cNvGraphicFramePr>
          <p:nvPr>
            <p:extLst>
              <p:ext uri="{D42A27DB-BD31-4B8C-83A1-F6EECF244321}">
                <p14:modId xmlns:p14="http://schemas.microsoft.com/office/powerpoint/2010/main" val="3740923074"/>
              </p:ext>
            </p:extLst>
          </p:nvPr>
        </p:nvGraphicFramePr>
        <p:xfrm>
          <a:off x="1136650" y="2351761"/>
          <a:ext cx="6565900" cy="1685925"/>
        </p:xfrm>
        <a:graphic>
          <a:graphicData uri="http://schemas.openxmlformats.org/drawingml/2006/table">
            <a:tbl>
              <a:tblPr/>
              <a:tblGrid>
                <a:gridCol w="2037913">
                  <a:extLst>
                    <a:ext uri="{9D8B030D-6E8A-4147-A177-3AD203B41FA5}">
                      <a16:colId xmlns:a16="http://schemas.microsoft.com/office/drawing/2014/main" val="2202375952"/>
                    </a:ext>
                  </a:extLst>
                </a:gridCol>
                <a:gridCol w="764217">
                  <a:extLst>
                    <a:ext uri="{9D8B030D-6E8A-4147-A177-3AD203B41FA5}">
                      <a16:colId xmlns:a16="http://schemas.microsoft.com/office/drawing/2014/main" val="1179859637"/>
                    </a:ext>
                  </a:extLst>
                </a:gridCol>
                <a:gridCol w="745112">
                  <a:extLst>
                    <a:ext uri="{9D8B030D-6E8A-4147-A177-3AD203B41FA5}">
                      <a16:colId xmlns:a16="http://schemas.microsoft.com/office/drawing/2014/main" val="2882570152"/>
                    </a:ext>
                  </a:extLst>
                </a:gridCol>
                <a:gridCol w="764217">
                  <a:extLst>
                    <a:ext uri="{9D8B030D-6E8A-4147-A177-3AD203B41FA5}">
                      <a16:colId xmlns:a16="http://schemas.microsoft.com/office/drawing/2014/main" val="4007525470"/>
                    </a:ext>
                  </a:extLst>
                </a:gridCol>
                <a:gridCol w="745112">
                  <a:extLst>
                    <a:ext uri="{9D8B030D-6E8A-4147-A177-3AD203B41FA5}">
                      <a16:colId xmlns:a16="http://schemas.microsoft.com/office/drawing/2014/main" val="3001744814"/>
                    </a:ext>
                  </a:extLst>
                </a:gridCol>
                <a:gridCol w="764217">
                  <a:extLst>
                    <a:ext uri="{9D8B030D-6E8A-4147-A177-3AD203B41FA5}">
                      <a16:colId xmlns:a16="http://schemas.microsoft.com/office/drawing/2014/main" val="3410138908"/>
                    </a:ext>
                  </a:extLst>
                </a:gridCol>
                <a:gridCol w="745112">
                  <a:extLst>
                    <a:ext uri="{9D8B030D-6E8A-4147-A177-3AD203B41FA5}">
                      <a16:colId xmlns:a16="http://schemas.microsoft.com/office/drawing/2014/main" val="37120605"/>
                    </a:ext>
                  </a:extLst>
                </a:gridCol>
              </a:tblGrid>
              <a:tr h="333375">
                <a:tc>
                  <a:txBody>
                    <a:bodyPr/>
                    <a:lstStyle/>
                    <a:p>
                      <a:pPr algn="l" fontAlgn="b"/>
                      <a:r>
                        <a:rPr lang="fr-FR" sz="2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b"/>
                      <a:r>
                        <a:rPr lang="fr-FR" sz="2000" b="0" i="0" u="none" strike="noStrike">
                          <a:solidFill>
                            <a:srgbClr val="FFFFFF"/>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tc gridSpan="2">
                  <a:txBody>
                    <a:bodyPr/>
                    <a:lstStyle/>
                    <a:p>
                      <a:pPr algn="ctr" fontAlgn="b"/>
                      <a:r>
                        <a:rPr lang="fr-FR" sz="2000" b="0" i="0" u="none" strike="noStrike">
                          <a:solidFill>
                            <a:srgbClr val="FFFFFF"/>
                          </a:solidFill>
                          <a:effectLst/>
                          <a:latin typeface="Aptos Narrow" panose="020B0004020202020204" pitchFamily="34" charset="0"/>
                        </a:rPr>
                        <a:t>2010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tc gridSpan="2">
                  <a:txBody>
                    <a:bodyPr/>
                    <a:lstStyle/>
                    <a:p>
                      <a:pPr algn="ctr" fontAlgn="b"/>
                      <a:r>
                        <a:rPr lang="fr-FR" sz="2000" b="0" i="0" u="none" strike="noStrike">
                          <a:solidFill>
                            <a:srgbClr val="FFFFFF"/>
                          </a:solidFill>
                          <a:effectLst/>
                          <a:latin typeface="Aptos Narrow" panose="020B0004020202020204" pitchFamily="34" charset="0"/>
                        </a:rPr>
                        <a:t>2020</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extLst>
                  <a:ext uri="{0D108BD9-81ED-4DB2-BD59-A6C34878D82A}">
                    <a16:rowId xmlns:a16="http://schemas.microsoft.com/office/drawing/2014/main" val="3207127069"/>
                  </a:ext>
                </a:extLst>
              </a:tr>
              <a:tr h="342900">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2000" b="0" i="0" u="none" strike="noStrike">
                          <a:solidFill>
                            <a:srgbClr val="FFFFFF"/>
                          </a:solidFill>
                          <a:effectLst/>
                          <a:latin typeface="Aptos Narrow" panose="020B0004020202020204" pitchFamily="34" charset="0"/>
                        </a:rPr>
                        <a:t>Valeur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Indice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Valeur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Indice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Valeur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Indice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4092971366"/>
                  </a:ext>
                </a:extLst>
              </a:tr>
              <a:tr h="333375">
                <a:tc>
                  <a:txBody>
                    <a:bodyPr/>
                    <a:lstStyle/>
                    <a:p>
                      <a:pPr algn="l" fontAlgn="b"/>
                      <a:r>
                        <a:rPr lang="fr-FR" sz="2000" b="0" i="0" u="none" strike="noStrike">
                          <a:solidFill>
                            <a:srgbClr val="FFFFFF"/>
                          </a:solidFill>
                          <a:effectLst/>
                          <a:latin typeface="Aptos Narrow" panose="020B0004020202020204" pitchFamily="34" charset="0"/>
                        </a:rPr>
                        <a:t>Or (100g) en euros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919</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3560</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5000</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6367256"/>
                  </a:ext>
                </a:extLst>
              </a:tr>
              <a:tr h="333375">
                <a:tc>
                  <a:txBody>
                    <a:bodyPr/>
                    <a:lstStyle/>
                    <a:p>
                      <a:pPr algn="l" fontAlgn="b"/>
                      <a:r>
                        <a:rPr lang="fr-FR" sz="2000" b="0" i="0" u="none" strike="noStrike">
                          <a:solidFill>
                            <a:srgbClr val="FFFFFF"/>
                          </a:solidFill>
                          <a:effectLst/>
                          <a:latin typeface="Aptos Narrow" panose="020B0004020202020204" pitchFamily="34" charset="0"/>
                        </a:rPr>
                        <a:t>S&amp;P500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1427</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1139</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3217</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2576012"/>
                  </a:ext>
                </a:extLst>
              </a:tr>
              <a:tr h="342900">
                <a:tc>
                  <a:txBody>
                    <a:bodyPr/>
                    <a:lstStyle/>
                    <a:p>
                      <a:pPr algn="l" fontAlgn="b"/>
                      <a:r>
                        <a:rPr lang="fr-FR" sz="2000" b="0" i="0" u="none" strike="noStrike">
                          <a:solidFill>
                            <a:srgbClr val="FFFFFF"/>
                          </a:solidFill>
                          <a:effectLst/>
                          <a:latin typeface="Aptos Narrow" panose="020B0004020202020204" pitchFamily="34" charset="0"/>
                        </a:rPr>
                        <a:t>CaC 40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6922</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3804</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3942</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fr-FR" sz="1100" b="0" i="0" u="none" strike="noStrike" dirty="0">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8206307"/>
                  </a:ext>
                </a:extLst>
              </a:tr>
            </a:tbl>
          </a:graphicData>
        </a:graphic>
      </p:graphicFrame>
    </p:spTree>
    <p:extLst>
      <p:ext uri="{BB962C8B-B14F-4D97-AF65-F5344CB8AC3E}">
        <p14:creationId xmlns:p14="http://schemas.microsoft.com/office/powerpoint/2010/main" val="2280077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2E4B-20CD-46FB-BC39-25190D821C39}"/>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4B756BAE-958C-9371-8255-C2AB752F5EB2}"/>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Calculer et utiliser un indice:</a:t>
            </a:r>
            <a:endParaRPr lang="en-US" sz="3200" b="0" strike="noStrike" spc="-1" dirty="0">
              <a:solidFill>
                <a:srgbClr val="376092"/>
              </a:solidFill>
              <a:latin typeface="Arial"/>
            </a:endParaRPr>
          </a:p>
        </p:txBody>
      </p:sp>
      <mc:AlternateContent xmlns:mc="http://schemas.openxmlformats.org/markup-compatibility/2006">
        <mc:Choice xmlns:a14="http://schemas.microsoft.com/office/drawing/2010/main" Requires="a14">
          <p:sp>
            <p:nvSpPr>
              <p:cNvPr id="140" name="TextShape 2">
                <a:extLst>
                  <a:ext uri="{FF2B5EF4-FFF2-40B4-BE49-F238E27FC236}">
                    <a16:creationId xmlns:a16="http://schemas.microsoft.com/office/drawing/2014/main" id="{D8175AF1-F7B0-781D-4A14-6335486B2152}"/>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utiliser le produit en croix pour calculer l'indice 2010 :</a:t>
                </a:r>
              </a:p>
              <a:p>
                <a:pPr marL="889200" lvl="2" indent="-324000">
                  <a:spcAft>
                    <a:spcPts val="1060"/>
                  </a:spcAft>
                  <a:buClr>
                    <a:srgbClr val="000000"/>
                  </a:buClr>
                  <a:buSzPct val="45000"/>
                  <a:buFont typeface="Wingdings" charset="2"/>
                  <a:buChar char=""/>
                </a:pPr>
                <a14:m>
                  <m:oMath xmlns:m="http://schemas.openxmlformats.org/officeDocument/2006/math">
                    <m:f>
                      <m:fPr>
                        <m:ctrlPr>
                          <a:rPr lang="fr-FR" sz="2000" spc="-1">
                            <a:solidFill>
                              <a:srgbClr val="376092"/>
                            </a:solidFill>
                            <a:latin typeface="Arial"/>
                          </a:rPr>
                        </m:ctrlPr>
                      </m:fPr>
                      <m:num>
                        <m:r>
                          <m:rPr>
                            <m:nor/>
                          </m:rPr>
                          <a:rPr lang="fr-FR" sz="2000" spc="-1">
                            <a:solidFill>
                              <a:srgbClr val="376092"/>
                            </a:solidFill>
                            <a:latin typeface="Arial"/>
                          </a:rPr>
                          <m:t>100</m:t>
                        </m:r>
                      </m:num>
                      <m:den>
                        <m:r>
                          <m:rPr>
                            <m:nor/>
                          </m:rPr>
                          <a:rPr lang="fr-FR" sz="2000" spc="-1">
                            <a:solidFill>
                              <a:srgbClr val="376092"/>
                            </a:solidFill>
                            <a:latin typeface="Arial"/>
                          </a:rPr>
                          <m:t>919</m:t>
                        </m:r>
                      </m:den>
                    </m:f>
                  </m:oMath>
                </a14:m>
                <a:r>
                  <a:rPr lang="fr-FR" sz="2000" spc="-1" dirty="0">
                    <a:solidFill>
                      <a:srgbClr val="376092"/>
                    </a:solidFill>
                    <a:latin typeface="Arial"/>
                  </a:rPr>
                  <a:t> = </a:t>
                </a:r>
                <a14:m>
                  <m:oMath xmlns:m="http://schemas.openxmlformats.org/officeDocument/2006/math">
                    <m:f>
                      <m:fPr>
                        <m:ctrlPr>
                          <a:rPr lang="fr-FR" sz="2000" spc="-1">
                            <a:solidFill>
                              <a:srgbClr val="376092"/>
                            </a:solidFill>
                            <a:latin typeface="Arial"/>
                          </a:rPr>
                        </m:ctrlPr>
                      </m:fPr>
                      <m:num>
                        <m:r>
                          <m:rPr>
                            <m:nor/>
                          </m:rPr>
                          <a:rPr lang="fr-FR" sz="2000" spc="-1">
                            <a:solidFill>
                              <a:srgbClr val="376092"/>
                            </a:solidFill>
                            <a:latin typeface="Arial"/>
                          </a:rPr>
                          <m:t>indice</m:t>
                        </m:r>
                        <m:r>
                          <m:rPr>
                            <m:nor/>
                          </m:rPr>
                          <a:rPr lang="fr-FR" sz="2000" spc="-1">
                            <a:solidFill>
                              <a:srgbClr val="376092"/>
                            </a:solidFill>
                            <a:latin typeface="Arial"/>
                          </a:rPr>
                          <m:t> 2010</m:t>
                        </m:r>
                      </m:num>
                      <m:den>
                        <m:r>
                          <a:rPr lang="fr-FR" sz="2000" spc="-1">
                            <a:solidFill>
                              <a:srgbClr val="376092"/>
                            </a:solidFill>
                            <a:latin typeface="Arial"/>
                          </a:rPr>
                          <m:t>3560</m:t>
                        </m:r>
                      </m:den>
                    </m:f>
                  </m:oMath>
                </a14:m>
                <a:r>
                  <a:rPr lang="fr-FR" sz="2000" spc="-1" dirty="0">
                    <a:solidFill>
                      <a:srgbClr val="376092"/>
                    </a:solidFill>
                    <a:latin typeface="Arial"/>
                  </a:rPr>
                  <a:t> donc indice 2010 = </a:t>
                </a:r>
                <a14:m>
                  <m:oMath xmlns:m="http://schemas.openxmlformats.org/officeDocument/2006/math">
                    <m:f>
                      <m:fPr>
                        <m:ctrlPr>
                          <a:rPr lang="fr-FR" sz="2000" spc="-1">
                            <a:solidFill>
                              <a:srgbClr val="376092"/>
                            </a:solidFill>
                            <a:latin typeface="Arial"/>
                          </a:rPr>
                        </m:ctrlPr>
                      </m:fPr>
                      <m:num>
                        <m:r>
                          <m:rPr>
                            <m:nor/>
                          </m:rPr>
                          <a:rPr lang="fr-FR" sz="2000" spc="-1">
                            <a:solidFill>
                              <a:srgbClr val="376092"/>
                            </a:solidFill>
                            <a:latin typeface="Arial"/>
                          </a:rPr>
                          <m:t>100</m:t>
                        </m:r>
                        <m:r>
                          <m:rPr>
                            <m:nor/>
                          </m:rPr>
                          <a:rPr lang="fr-FR" sz="2000" spc="-1">
                            <a:solidFill>
                              <a:srgbClr val="376092"/>
                            </a:solidFill>
                            <a:latin typeface="Arial"/>
                          </a:rPr>
                          <m:t> ∗ 3560</m:t>
                        </m:r>
                      </m:num>
                      <m:den>
                        <m:r>
                          <m:rPr>
                            <m:nor/>
                          </m:rPr>
                          <a:rPr lang="fr-FR" sz="2000" spc="-1">
                            <a:solidFill>
                              <a:srgbClr val="376092"/>
                            </a:solidFill>
                            <a:latin typeface="Arial"/>
                          </a:rPr>
                          <m:t>919</m:t>
                        </m:r>
                      </m:den>
                    </m:f>
                  </m:oMath>
                </a14:m>
                <a:r>
                  <a:rPr lang="fr-FR" sz="2000" spc="-1" dirty="0">
                    <a:solidFill>
                      <a:srgbClr val="376092"/>
                    </a:solidFill>
                    <a:latin typeface="Arial"/>
                  </a:rPr>
                  <a:t> =387</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taux d'évolution t est le même entre la valeur et l'indice :</a:t>
                </a:r>
              </a:p>
              <a:p>
                <a:pPr marL="889200" lvl="2" indent="-324000">
                  <a:spcAft>
                    <a:spcPts val="1060"/>
                  </a:spcAft>
                  <a:buClr>
                    <a:srgbClr val="000000"/>
                  </a:buClr>
                  <a:buSzPct val="45000"/>
                  <a:buFont typeface="Wingdings" charset="2"/>
                  <a:buChar char=""/>
                </a:pPr>
                <a:r>
                  <a:rPr lang="fr-FR" sz="2400" spc="-1" dirty="0">
                    <a:solidFill>
                      <a:srgbClr val="376092"/>
                    </a:solidFill>
                    <a:latin typeface="Arial"/>
                  </a:rPr>
                  <a:t>valeur 2000 * (1 + t) = valeur 2010</a:t>
                </a:r>
              </a:p>
              <a:p>
                <a:pPr marL="889200" lvl="2" indent="-324000">
                  <a:spcAft>
                    <a:spcPts val="1060"/>
                  </a:spcAft>
                  <a:buClr>
                    <a:srgbClr val="000000"/>
                  </a:buClr>
                  <a:buSzPct val="45000"/>
                  <a:buFont typeface="Wingdings" charset="2"/>
                  <a:buChar char=""/>
                </a:pPr>
                <a:r>
                  <a:rPr lang="fr-FR" sz="2400" spc="-1" dirty="0">
                    <a:solidFill>
                      <a:srgbClr val="376092"/>
                    </a:solidFill>
                    <a:latin typeface="Arial"/>
                  </a:rPr>
                  <a:t>indice 2000 * (1 + t) = indice 2010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ou</a:t>
                </a:r>
              </a:p>
              <a:p>
                <a:pPr marL="889200" lvl="2" indent="-324000">
                  <a:spcAft>
                    <a:spcPts val="1060"/>
                  </a:spcAft>
                  <a:buClr>
                    <a:srgbClr val="000000"/>
                  </a:buClr>
                  <a:buSzPct val="45000"/>
                  <a:buFont typeface="Wingdings" charset="2"/>
                  <a:buChar char=""/>
                </a:pPr>
                <a:r>
                  <a:rPr lang="fr-FR" sz="2400" spc="-1" dirty="0">
                    <a:solidFill>
                      <a:srgbClr val="376092"/>
                    </a:solidFill>
                    <a:latin typeface="Arial"/>
                  </a:rPr>
                  <a:t>indice 2000 + indice 2000 * t = indice 2010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taux d'évolution est souvent plus facile à lire dans l'évolution de l'indice que dans l'évolution de la valeur si la base est bien choisie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p:sp>
            <p:nvSpPr>
              <p:cNvPr id="140" name="TextShape 2">
                <a:extLst>
                  <a:ext uri="{FF2B5EF4-FFF2-40B4-BE49-F238E27FC236}">
                    <a16:creationId xmlns:a16="http://schemas.microsoft.com/office/drawing/2014/main" id="{D8175AF1-F7B0-781D-4A14-6335486B2152}"/>
                  </a:ext>
                </a:extLst>
              </p:cNvPr>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b="-13196"/>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4C3626C6-3AE0-DE33-4B84-85C14B4E07E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250599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Calculer et utiliser un indice:</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pc="-1" dirty="0">
                <a:solidFill>
                  <a:srgbClr val="376092"/>
                </a:solidFill>
                <a:latin typeface="Arial"/>
              </a:rPr>
              <a:t>Calculons tous les indices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108000">
              <a:spcAft>
                <a:spcPts val="1060"/>
              </a:spcAft>
              <a:buClr>
                <a:srgbClr val="000000"/>
              </a:buClr>
              <a:buSzPct val="45000"/>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Voici ce que veulent dire les indices :</a:t>
            </a:r>
          </a:p>
          <a:p>
            <a:pPr marL="889200" lvl="1" indent="-324000">
              <a:spcAft>
                <a:spcPts val="1060"/>
              </a:spcAft>
              <a:buClr>
                <a:srgbClr val="000000"/>
              </a:buClr>
              <a:buSzPct val="45000"/>
              <a:buFont typeface="Wingdings" charset="2"/>
              <a:buChar char=""/>
            </a:pPr>
            <a:r>
              <a:rPr lang="fr-FR" sz="2000" b="0" spc="-1" dirty="0">
                <a:solidFill>
                  <a:srgbClr val="376092"/>
                </a:solidFill>
                <a:latin typeface="Arial"/>
              </a:rPr>
              <a:t>100 investis en or en 2000 valent 544 en 2020</a:t>
            </a:r>
          </a:p>
          <a:p>
            <a:pPr marL="889200" lvl="1" indent="-324000">
              <a:spcAft>
                <a:spcPts val="1060"/>
              </a:spcAft>
              <a:buClr>
                <a:srgbClr val="000000"/>
              </a:buClr>
              <a:buSzPct val="45000"/>
              <a:buFont typeface="Wingdings" charset="2"/>
              <a:buChar char=""/>
            </a:pPr>
            <a:r>
              <a:rPr lang="fr-FR" sz="2000" spc="-1" dirty="0">
                <a:solidFill>
                  <a:srgbClr val="376092"/>
                </a:solidFill>
                <a:latin typeface="Arial"/>
              </a:rPr>
              <a:t>100 investis dans le S&amp;P500 en 2000 valent 225 en 2020</a:t>
            </a:r>
          </a:p>
          <a:p>
            <a:pPr marL="889200" lvl="1" indent="-324000">
              <a:spcAft>
                <a:spcPts val="1060"/>
              </a:spcAft>
              <a:buClr>
                <a:srgbClr val="000000"/>
              </a:buClr>
              <a:buSzPct val="45000"/>
              <a:buFont typeface="Wingdings" charset="2"/>
              <a:buChar char=""/>
            </a:pPr>
            <a:r>
              <a:rPr lang="fr-FR" sz="2000" b="0" spc="-1" dirty="0">
                <a:solidFill>
                  <a:srgbClr val="376092"/>
                </a:solidFill>
                <a:latin typeface="Arial"/>
              </a:rPr>
              <a:t>100 investis dans le </a:t>
            </a:r>
            <a:r>
              <a:rPr lang="fr-FR" sz="2000" b="0" spc="-1" dirty="0" err="1">
                <a:solidFill>
                  <a:srgbClr val="376092"/>
                </a:solidFill>
                <a:latin typeface="Arial"/>
              </a:rPr>
              <a:t>CaC</a:t>
            </a:r>
            <a:r>
              <a:rPr lang="fr-FR" sz="2000" b="0" spc="-1" dirty="0">
                <a:solidFill>
                  <a:srgbClr val="376092"/>
                </a:solidFill>
                <a:latin typeface="Arial"/>
              </a:rPr>
              <a:t> 40 en 2000 valent 56,9 en 2020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Représentons les indices sur un graphique</a:t>
            </a: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les taux d'évolution des 3 valeurs entre 2000 et 2020</a:t>
            </a: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2" name="Tableau 1">
            <a:extLst>
              <a:ext uri="{FF2B5EF4-FFF2-40B4-BE49-F238E27FC236}">
                <a16:creationId xmlns:a16="http://schemas.microsoft.com/office/drawing/2014/main" id="{9BCB1350-8157-16BE-2E08-A14237A72CF0}"/>
              </a:ext>
            </a:extLst>
          </p:cNvPr>
          <p:cNvGraphicFramePr>
            <a:graphicFrameLocks noGrp="1"/>
          </p:cNvGraphicFramePr>
          <p:nvPr>
            <p:extLst>
              <p:ext uri="{D42A27DB-BD31-4B8C-83A1-F6EECF244321}">
                <p14:modId xmlns:p14="http://schemas.microsoft.com/office/powerpoint/2010/main" val="819835946"/>
              </p:ext>
            </p:extLst>
          </p:nvPr>
        </p:nvGraphicFramePr>
        <p:xfrm>
          <a:off x="1441450" y="1417320"/>
          <a:ext cx="6565900" cy="1704975"/>
        </p:xfrm>
        <a:graphic>
          <a:graphicData uri="http://schemas.openxmlformats.org/drawingml/2006/table">
            <a:tbl>
              <a:tblPr/>
              <a:tblGrid>
                <a:gridCol w="2037913">
                  <a:extLst>
                    <a:ext uri="{9D8B030D-6E8A-4147-A177-3AD203B41FA5}">
                      <a16:colId xmlns:a16="http://schemas.microsoft.com/office/drawing/2014/main" val="3691542549"/>
                    </a:ext>
                  </a:extLst>
                </a:gridCol>
                <a:gridCol w="764217">
                  <a:extLst>
                    <a:ext uri="{9D8B030D-6E8A-4147-A177-3AD203B41FA5}">
                      <a16:colId xmlns:a16="http://schemas.microsoft.com/office/drawing/2014/main" val="413506111"/>
                    </a:ext>
                  </a:extLst>
                </a:gridCol>
                <a:gridCol w="745112">
                  <a:extLst>
                    <a:ext uri="{9D8B030D-6E8A-4147-A177-3AD203B41FA5}">
                      <a16:colId xmlns:a16="http://schemas.microsoft.com/office/drawing/2014/main" val="1465648621"/>
                    </a:ext>
                  </a:extLst>
                </a:gridCol>
                <a:gridCol w="764217">
                  <a:extLst>
                    <a:ext uri="{9D8B030D-6E8A-4147-A177-3AD203B41FA5}">
                      <a16:colId xmlns:a16="http://schemas.microsoft.com/office/drawing/2014/main" val="1646101441"/>
                    </a:ext>
                  </a:extLst>
                </a:gridCol>
                <a:gridCol w="745112">
                  <a:extLst>
                    <a:ext uri="{9D8B030D-6E8A-4147-A177-3AD203B41FA5}">
                      <a16:colId xmlns:a16="http://schemas.microsoft.com/office/drawing/2014/main" val="2216545411"/>
                    </a:ext>
                  </a:extLst>
                </a:gridCol>
                <a:gridCol w="764217">
                  <a:extLst>
                    <a:ext uri="{9D8B030D-6E8A-4147-A177-3AD203B41FA5}">
                      <a16:colId xmlns:a16="http://schemas.microsoft.com/office/drawing/2014/main" val="1378822492"/>
                    </a:ext>
                  </a:extLst>
                </a:gridCol>
                <a:gridCol w="745112">
                  <a:extLst>
                    <a:ext uri="{9D8B030D-6E8A-4147-A177-3AD203B41FA5}">
                      <a16:colId xmlns:a16="http://schemas.microsoft.com/office/drawing/2014/main" val="1817119844"/>
                    </a:ext>
                  </a:extLst>
                </a:gridCol>
              </a:tblGrid>
              <a:tr h="333375">
                <a:tc>
                  <a:txBody>
                    <a:bodyPr/>
                    <a:lstStyle/>
                    <a:p>
                      <a:pPr algn="l" fontAlgn="b"/>
                      <a:r>
                        <a:rPr lang="fr-FR" sz="2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b"/>
                      <a:r>
                        <a:rPr lang="fr-FR" sz="2000" b="0" i="0" u="none" strike="noStrike">
                          <a:solidFill>
                            <a:srgbClr val="FFFFFF"/>
                          </a:solidFill>
                          <a:effectLst/>
                          <a:latin typeface="Aptos Narrow" panose="020B0004020202020204" pitchFamily="34" charset="0"/>
                        </a:rPr>
                        <a:t>2000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tc gridSpan="2">
                  <a:txBody>
                    <a:bodyPr/>
                    <a:lstStyle/>
                    <a:p>
                      <a:pPr algn="ctr" fontAlgn="b"/>
                      <a:r>
                        <a:rPr lang="fr-FR" sz="2000" b="0" i="0" u="none" strike="noStrike">
                          <a:solidFill>
                            <a:srgbClr val="FFFFFF"/>
                          </a:solidFill>
                          <a:effectLst/>
                          <a:latin typeface="Aptos Narrow" panose="020B0004020202020204" pitchFamily="34" charset="0"/>
                        </a:rPr>
                        <a:t>2010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tc gridSpan="2">
                  <a:txBody>
                    <a:bodyPr/>
                    <a:lstStyle/>
                    <a:p>
                      <a:pPr algn="ctr" fontAlgn="b"/>
                      <a:r>
                        <a:rPr lang="fr-FR" sz="2000" b="0" i="0" u="none" strike="noStrike">
                          <a:solidFill>
                            <a:srgbClr val="FFFFFF"/>
                          </a:solidFill>
                          <a:effectLst/>
                          <a:latin typeface="Aptos Narrow" panose="020B0004020202020204" pitchFamily="34" charset="0"/>
                        </a:rPr>
                        <a:t>2020</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extLst>
                  <a:ext uri="{0D108BD9-81ED-4DB2-BD59-A6C34878D82A}">
                    <a16:rowId xmlns:a16="http://schemas.microsoft.com/office/drawing/2014/main" val="3678352305"/>
                  </a:ext>
                </a:extLst>
              </a:tr>
              <a:tr h="342900">
                <a:tc>
                  <a:txBody>
                    <a:bodyPr/>
                    <a:lstStyle/>
                    <a:p>
                      <a:pPr algn="l" fontAlgn="b"/>
                      <a:r>
                        <a:rPr lang="fr-FR" sz="1100" b="0" i="0" u="none" strike="noStrike" dirty="0">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2000" b="0" i="0" u="none" strike="noStrike">
                          <a:solidFill>
                            <a:srgbClr val="FFFFFF"/>
                          </a:solidFill>
                          <a:effectLst/>
                          <a:latin typeface="Aptos Narrow" panose="020B0004020202020204" pitchFamily="34" charset="0"/>
                        </a:rPr>
                        <a:t>Valeur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Indice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Valeur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Indice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Valeur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2000" b="0" i="0" u="none" strike="noStrike">
                          <a:solidFill>
                            <a:srgbClr val="FFFFFF"/>
                          </a:solidFill>
                          <a:effectLst/>
                          <a:latin typeface="Aptos Narrow" panose="020B0004020202020204" pitchFamily="34" charset="0"/>
                        </a:rPr>
                        <a:t>Indice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3872961988"/>
                  </a:ext>
                </a:extLst>
              </a:tr>
              <a:tr h="342900">
                <a:tc>
                  <a:txBody>
                    <a:bodyPr/>
                    <a:lstStyle/>
                    <a:p>
                      <a:pPr algn="l" fontAlgn="b"/>
                      <a:r>
                        <a:rPr lang="fr-FR" sz="2000" b="0" i="0" u="none" strike="noStrike">
                          <a:solidFill>
                            <a:srgbClr val="FFFFFF"/>
                          </a:solidFill>
                          <a:effectLst/>
                          <a:latin typeface="Aptos Narrow" panose="020B0004020202020204" pitchFamily="34" charset="0"/>
                        </a:rPr>
                        <a:t>Or (100g) en euros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919</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3560</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387</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5000</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544</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7546033"/>
                  </a:ext>
                </a:extLst>
              </a:tr>
              <a:tr h="342900">
                <a:tc>
                  <a:txBody>
                    <a:bodyPr/>
                    <a:lstStyle/>
                    <a:p>
                      <a:pPr algn="l" fontAlgn="b"/>
                      <a:r>
                        <a:rPr lang="fr-FR" sz="2000" b="0" i="0" u="none" strike="noStrike">
                          <a:solidFill>
                            <a:srgbClr val="FFFFFF"/>
                          </a:solidFill>
                          <a:effectLst/>
                          <a:latin typeface="Aptos Narrow" panose="020B0004020202020204" pitchFamily="34" charset="0"/>
                        </a:rPr>
                        <a:t>S&amp;P500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1427</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1139</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79,8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3217</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225</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2005908"/>
                  </a:ext>
                </a:extLst>
              </a:tr>
              <a:tr h="342900">
                <a:tc>
                  <a:txBody>
                    <a:bodyPr/>
                    <a:lstStyle/>
                    <a:p>
                      <a:pPr algn="l" fontAlgn="b"/>
                      <a:r>
                        <a:rPr lang="fr-FR" sz="2000" b="0" i="0" u="none" strike="noStrike">
                          <a:solidFill>
                            <a:srgbClr val="FFFFFF"/>
                          </a:solidFill>
                          <a:effectLst/>
                          <a:latin typeface="Aptos Narrow" panose="020B0004020202020204" pitchFamily="34" charset="0"/>
                        </a:rPr>
                        <a:t>CaC 40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2000" b="0" i="0" u="none" strike="noStrike">
                          <a:solidFill>
                            <a:srgbClr val="000000"/>
                          </a:solidFill>
                          <a:effectLst/>
                          <a:latin typeface="Aptos Narrow" panose="020B0004020202020204" pitchFamily="34" charset="0"/>
                        </a:rPr>
                        <a:t>6922</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100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3804</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55</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a:solidFill>
                            <a:srgbClr val="000000"/>
                          </a:solidFill>
                          <a:effectLst/>
                          <a:latin typeface="Aptos Narrow" panose="020B0004020202020204" pitchFamily="34" charset="0"/>
                        </a:rPr>
                        <a:t>3942</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fr-FR" sz="2000" b="0" i="0" u="none" strike="noStrike" dirty="0">
                          <a:solidFill>
                            <a:srgbClr val="000000"/>
                          </a:solidFill>
                          <a:effectLst/>
                          <a:latin typeface="Aptos Narrow" panose="020B0004020202020204" pitchFamily="34" charset="0"/>
                        </a:rPr>
                        <a:t>56,9</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2192343"/>
                  </a:ext>
                </a:extLst>
              </a:tr>
            </a:tbl>
          </a:graphicData>
        </a:graphic>
      </p:graphicFrame>
    </p:spTree>
    <p:extLst>
      <p:ext uri="{BB962C8B-B14F-4D97-AF65-F5344CB8AC3E}">
        <p14:creationId xmlns:p14="http://schemas.microsoft.com/office/powerpoint/2010/main" val="571154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Calculer et utiliser un indice – exercices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pc="-1" dirty="0">
                <a:solidFill>
                  <a:srgbClr val="376092"/>
                </a:solidFill>
                <a:latin typeface="Arial"/>
              </a:rPr>
              <a:t>Voici l'évolution du prix de l'électricité entre 2007 et 2024:</a:t>
            </a: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 j</a:t>
            </a:r>
            <a:r>
              <a:rPr lang="fr-FR" sz="2400" b="0" spc="-1" dirty="0">
                <a:solidFill>
                  <a:srgbClr val="376092"/>
                </a:solidFill>
                <a:latin typeface="Arial"/>
              </a:rPr>
              <a:t>anvier 2007, le prix du kWh est à 0,106. Nous utilisons cette date comme référence et nous fixons notre indice sur une base 100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les données manquantes :</a:t>
            </a:r>
          </a:p>
          <a:p>
            <a:pPr marL="889200" lvl="1" indent="-324000">
              <a:spcAft>
                <a:spcPts val="1060"/>
              </a:spcAft>
              <a:buClr>
                <a:srgbClr val="000000"/>
              </a:buClr>
              <a:buSzPct val="45000"/>
              <a:buFont typeface="Wingdings" charset="2"/>
              <a:buChar char=""/>
            </a:pPr>
            <a:r>
              <a:rPr lang="fr-FR" sz="2400" b="0" spc="-1" dirty="0">
                <a:solidFill>
                  <a:srgbClr val="376092"/>
                </a:solidFill>
                <a:latin typeface="Arial"/>
              </a:rPr>
              <a:t>Soit la valeur des indices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Soit le prix du kWh</a:t>
            </a: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Calculer le taux d'évolution entre janvier 2007 et janvier 2024 du prix du </a:t>
            </a:r>
            <a:r>
              <a:rPr lang="fr-FR" sz="2400" spc="-1" dirty="0">
                <a:solidFill>
                  <a:srgbClr val="376092"/>
                </a:solidFill>
                <a:latin typeface="Arial"/>
              </a:rPr>
              <a:t>kWh</a:t>
            </a: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2" name="Tableau 1">
            <a:extLst>
              <a:ext uri="{FF2B5EF4-FFF2-40B4-BE49-F238E27FC236}">
                <a16:creationId xmlns:a16="http://schemas.microsoft.com/office/drawing/2014/main" id="{516A62AB-2CE6-8B28-DC98-97867D25BAAB}"/>
              </a:ext>
            </a:extLst>
          </p:cNvPr>
          <p:cNvGraphicFramePr>
            <a:graphicFrameLocks noGrp="1"/>
          </p:cNvGraphicFramePr>
          <p:nvPr>
            <p:extLst>
              <p:ext uri="{D42A27DB-BD31-4B8C-83A1-F6EECF244321}">
                <p14:modId xmlns:p14="http://schemas.microsoft.com/office/powerpoint/2010/main" val="2384279103"/>
              </p:ext>
            </p:extLst>
          </p:nvPr>
        </p:nvGraphicFramePr>
        <p:xfrm>
          <a:off x="457200" y="1790451"/>
          <a:ext cx="8229600" cy="777946"/>
        </p:xfrm>
        <a:graphic>
          <a:graphicData uri="http://schemas.openxmlformats.org/drawingml/2006/table">
            <a:tbl>
              <a:tblPr/>
              <a:tblGrid>
                <a:gridCol w="1568476">
                  <a:extLst>
                    <a:ext uri="{9D8B030D-6E8A-4147-A177-3AD203B41FA5}">
                      <a16:colId xmlns:a16="http://schemas.microsoft.com/office/drawing/2014/main" val="1192085739"/>
                    </a:ext>
                  </a:extLst>
                </a:gridCol>
                <a:gridCol w="588179">
                  <a:extLst>
                    <a:ext uri="{9D8B030D-6E8A-4147-A177-3AD203B41FA5}">
                      <a16:colId xmlns:a16="http://schemas.microsoft.com/office/drawing/2014/main" val="3217416148"/>
                    </a:ext>
                  </a:extLst>
                </a:gridCol>
                <a:gridCol w="573474">
                  <a:extLst>
                    <a:ext uri="{9D8B030D-6E8A-4147-A177-3AD203B41FA5}">
                      <a16:colId xmlns:a16="http://schemas.microsoft.com/office/drawing/2014/main" val="1817776150"/>
                    </a:ext>
                  </a:extLst>
                </a:gridCol>
                <a:gridCol w="588179">
                  <a:extLst>
                    <a:ext uri="{9D8B030D-6E8A-4147-A177-3AD203B41FA5}">
                      <a16:colId xmlns:a16="http://schemas.microsoft.com/office/drawing/2014/main" val="1699145877"/>
                    </a:ext>
                  </a:extLst>
                </a:gridCol>
                <a:gridCol w="816098">
                  <a:extLst>
                    <a:ext uri="{9D8B030D-6E8A-4147-A177-3AD203B41FA5}">
                      <a16:colId xmlns:a16="http://schemas.microsoft.com/office/drawing/2014/main" val="3343543090"/>
                    </a:ext>
                  </a:extLst>
                </a:gridCol>
                <a:gridCol w="588179">
                  <a:extLst>
                    <a:ext uri="{9D8B030D-6E8A-4147-A177-3AD203B41FA5}">
                      <a16:colId xmlns:a16="http://schemas.microsoft.com/office/drawing/2014/main" val="2774121717"/>
                    </a:ext>
                  </a:extLst>
                </a:gridCol>
                <a:gridCol w="801393">
                  <a:extLst>
                    <a:ext uri="{9D8B030D-6E8A-4147-A177-3AD203B41FA5}">
                      <a16:colId xmlns:a16="http://schemas.microsoft.com/office/drawing/2014/main" val="3769902578"/>
                    </a:ext>
                  </a:extLst>
                </a:gridCol>
                <a:gridCol w="588179">
                  <a:extLst>
                    <a:ext uri="{9D8B030D-6E8A-4147-A177-3AD203B41FA5}">
                      <a16:colId xmlns:a16="http://schemas.microsoft.com/office/drawing/2014/main" val="4119094330"/>
                    </a:ext>
                  </a:extLst>
                </a:gridCol>
                <a:gridCol w="801393">
                  <a:extLst>
                    <a:ext uri="{9D8B030D-6E8A-4147-A177-3AD203B41FA5}">
                      <a16:colId xmlns:a16="http://schemas.microsoft.com/office/drawing/2014/main" val="1080116975"/>
                    </a:ext>
                  </a:extLst>
                </a:gridCol>
                <a:gridCol w="595531">
                  <a:extLst>
                    <a:ext uri="{9D8B030D-6E8A-4147-A177-3AD203B41FA5}">
                      <a16:colId xmlns:a16="http://schemas.microsoft.com/office/drawing/2014/main" val="34802719"/>
                    </a:ext>
                  </a:extLst>
                </a:gridCol>
                <a:gridCol w="720519">
                  <a:extLst>
                    <a:ext uri="{9D8B030D-6E8A-4147-A177-3AD203B41FA5}">
                      <a16:colId xmlns:a16="http://schemas.microsoft.com/office/drawing/2014/main" val="688159294"/>
                    </a:ext>
                  </a:extLst>
                </a:gridCol>
              </a:tblGrid>
              <a:tr h="256869">
                <a:tc>
                  <a:txBody>
                    <a:bodyPr/>
                    <a:lstStyle/>
                    <a:p>
                      <a:pPr algn="l" fontAlgn="b"/>
                      <a:r>
                        <a:rPr lang="fr-FR" sz="1500" b="0" i="0" u="none" strike="noStrike">
                          <a:solidFill>
                            <a:srgbClr val="000000"/>
                          </a:solidFill>
                          <a:effectLst/>
                          <a:latin typeface="Aptos Narrow" panose="020B0004020202020204" pitchFamily="34" charset="0"/>
                        </a:rPr>
                        <a:t> </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b"/>
                      <a:r>
                        <a:rPr lang="fr-FR" sz="1500" b="0" i="0" u="none" strike="noStrike">
                          <a:solidFill>
                            <a:srgbClr val="FFFFFF"/>
                          </a:solidFill>
                          <a:effectLst/>
                          <a:latin typeface="Aptos Narrow" panose="020B0004020202020204" pitchFamily="34" charset="0"/>
                        </a:rPr>
                        <a:t>janv-07</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tc gridSpan="2">
                  <a:txBody>
                    <a:bodyPr/>
                    <a:lstStyle/>
                    <a:p>
                      <a:pPr algn="ctr" fontAlgn="b"/>
                      <a:r>
                        <a:rPr lang="fr-FR" sz="1500" b="0" i="0" u="none" strike="noStrike">
                          <a:solidFill>
                            <a:srgbClr val="FFFFFF"/>
                          </a:solidFill>
                          <a:effectLst/>
                          <a:latin typeface="Aptos Narrow" panose="020B0004020202020204" pitchFamily="34" charset="0"/>
                        </a:rPr>
                        <a:t>janv-10</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tc gridSpan="2">
                  <a:txBody>
                    <a:bodyPr/>
                    <a:lstStyle/>
                    <a:p>
                      <a:pPr algn="ctr" fontAlgn="b"/>
                      <a:r>
                        <a:rPr lang="fr-FR" sz="1500" b="0" i="0" u="none" strike="noStrike">
                          <a:solidFill>
                            <a:srgbClr val="FFFFFF"/>
                          </a:solidFill>
                          <a:effectLst/>
                          <a:latin typeface="Aptos Narrow" panose="020B0004020202020204" pitchFamily="34" charset="0"/>
                        </a:rPr>
                        <a:t>janv-15</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tc gridSpan="2">
                  <a:txBody>
                    <a:bodyPr/>
                    <a:lstStyle/>
                    <a:p>
                      <a:pPr algn="ctr" fontAlgn="b"/>
                      <a:r>
                        <a:rPr lang="fr-FR" sz="1500" b="0" i="0" u="none" strike="noStrike">
                          <a:solidFill>
                            <a:srgbClr val="FFFFFF"/>
                          </a:solidFill>
                          <a:effectLst/>
                          <a:latin typeface="Aptos Narrow" panose="020B0004020202020204" pitchFamily="34" charset="0"/>
                        </a:rPr>
                        <a:t>janv-20</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tc gridSpan="2">
                  <a:txBody>
                    <a:bodyPr/>
                    <a:lstStyle/>
                    <a:p>
                      <a:pPr algn="ctr" fontAlgn="b"/>
                      <a:r>
                        <a:rPr lang="fr-FR" sz="1500" b="0" i="0" u="none" strike="noStrike">
                          <a:solidFill>
                            <a:srgbClr val="FFFFFF"/>
                          </a:solidFill>
                          <a:effectLst/>
                          <a:latin typeface="Aptos Narrow" panose="020B0004020202020204" pitchFamily="34" charset="0"/>
                        </a:rPr>
                        <a:t>janv-24</a:t>
                      </a:r>
                    </a:p>
                  </a:txBody>
                  <a:tcPr marL="7339" marR="7339" marT="7339"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fr-FR"/>
                    </a:p>
                  </a:txBody>
                  <a:tcPr/>
                </a:tc>
                <a:extLst>
                  <a:ext uri="{0D108BD9-81ED-4DB2-BD59-A6C34878D82A}">
                    <a16:rowId xmlns:a16="http://schemas.microsoft.com/office/drawing/2014/main" val="1817954414"/>
                  </a:ext>
                </a:extLst>
              </a:tr>
              <a:tr h="264208">
                <a:tc>
                  <a:txBody>
                    <a:bodyPr/>
                    <a:lstStyle/>
                    <a:p>
                      <a:pPr algn="l" fontAlgn="b"/>
                      <a:r>
                        <a:rPr lang="fr-FR" sz="800" b="0" i="0" u="none" strike="noStrike">
                          <a:solidFill>
                            <a:srgbClr val="000000"/>
                          </a:solidFill>
                          <a:effectLst/>
                          <a:latin typeface="Aptos Narrow" panose="020B0004020202020204" pitchFamily="34" charset="0"/>
                        </a:rPr>
                        <a:t> </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fr-FR" sz="1500" b="0" i="0" u="none" strike="noStrike">
                          <a:solidFill>
                            <a:srgbClr val="FFFFFF"/>
                          </a:solidFill>
                          <a:effectLst/>
                          <a:latin typeface="Aptos Narrow" panose="020B0004020202020204" pitchFamily="34" charset="0"/>
                        </a:rPr>
                        <a:t>Valeur</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Indice</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Valeur</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Indice</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Valeur</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Indice</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Valeur</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Indice</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Valeur</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r>
                        <a:rPr lang="fr-FR" sz="1500" b="0" i="0" u="none" strike="noStrike">
                          <a:solidFill>
                            <a:srgbClr val="FFFFFF"/>
                          </a:solidFill>
                          <a:effectLst/>
                          <a:latin typeface="Aptos Narrow" panose="020B0004020202020204" pitchFamily="34" charset="0"/>
                        </a:rPr>
                        <a:t>Indice</a:t>
                      </a:r>
                    </a:p>
                  </a:txBody>
                  <a:tcPr marL="7339" marR="7339" marT="733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694374121"/>
                  </a:ext>
                </a:extLst>
              </a:tr>
              <a:tr h="256869">
                <a:tc>
                  <a:txBody>
                    <a:bodyPr/>
                    <a:lstStyle/>
                    <a:p>
                      <a:pPr algn="l" fontAlgn="b"/>
                      <a:r>
                        <a:rPr lang="fr-FR" sz="1500" b="0" i="0" u="none" strike="noStrike">
                          <a:solidFill>
                            <a:srgbClr val="FFFFFF"/>
                          </a:solidFill>
                          <a:effectLst/>
                          <a:latin typeface="Aptos Narrow" panose="020B0004020202020204" pitchFamily="34" charset="0"/>
                        </a:rPr>
                        <a:t>Prix du KWh</a:t>
                      </a:r>
                    </a:p>
                  </a:txBody>
                  <a:tcPr marL="7339" marR="7339" marT="7339"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fr-FR" sz="1500" b="0" i="0" u="none" strike="noStrike">
                          <a:solidFill>
                            <a:srgbClr val="000000"/>
                          </a:solidFill>
                          <a:effectLst/>
                          <a:latin typeface="Aptos Narrow" panose="020B0004020202020204" pitchFamily="34" charset="0"/>
                        </a:rPr>
                        <a:t>0,106</a:t>
                      </a:r>
                    </a:p>
                  </a:txBody>
                  <a:tcPr marL="7339" marR="7339" marT="7339"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a:solidFill>
                            <a:srgbClr val="000000"/>
                          </a:solidFill>
                          <a:effectLst/>
                          <a:latin typeface="Aptos Narrow" panose="020B0004020202020204" pitchFamily="34" charset="0"/>
                        </a:rPr>
                        <a:t>100</a:t>
                      </a:r>
                    </a:p>
                  </a:txBody>
                  <a:tcPr marL="7339" marR="7339" marT="7339"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a:solidFill>
                            <a:srgbClr val="000000"/>
                          </a:solidFill>
                          <a:effectLst/>
                          <a:latin typeface="Aptos Narrow" panose="020B0004020202020204" pitchFamily="34" charset="0"/>
                        </a:rPr>
                        <a:t>0,116</a:t>
                      </a:r>
                    </a:p>
                  </a:txBody>
                  <a:tcPr marL="7339" marR="7339" marT="7339"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a:solidFill>
                            <a:srgbClr val="000000"/>
                          </a:solidFill>
                          <a:effectLst/>
                          <a:latin typeface="Aptos Narrow" panose="020B0004020202020204" pitchFamily="34" charset="0"/>
                        </a:rPr>
                        <a:t> </a:t>
                      </a:r>
                    </a:p>
                  </a:txBody>
                  <a:tcPr marL="7339" marR="7339" marT="7339"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a:solidFill>
                            <a:srgbClr val="000000"/>
                          </a:solidFill>
                          <a:effectLst/>
                          <a:latin typeface="Aptos Narrow" panose="020B0004020202020204" pitchFamily="34" charset="0"/>
                        </a:rPr>
                        <a:t> </a:t>
                      </a:r>
                    </a:p>
                  </a:txBody>
                  <a:tcPr marL="7339" marR="7339" marT="7339"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a:solidFill>
                            <a:srgbClr val="000000"/>
                          </a:solidFill>
                          <a:effectLst/>
                          <a:latin typeface="Aptos Narrow" panose="020B0004020202020204" pitchFamily="34" charset="0"/>
                        </a:rPr>
                        <a:t>146,23</a:t>
                      </a:r>
                    </a:p>
                  </a:txBody>
                  <a:tcPr marL="7339" marR="7339" marT="7339"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a:solidFill>
                            <a:srgbClr val="000000"/>
                          </a:solidFill>
                          <a:effectLst/>
                          <a:latin typeface="Aptos Narrow" panose="020B0004020202020204" pitchFamily="34" charset="0"/>
                        </a:rPr>
                        <a:t>0,174</a:t>
                      </a:r>
                    </a:p>
                  </a:txBody>
                  <a:tcPr marL="7339" marR="7339" marT="7339"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a:solidFill>
                            <a:srgbClr val="000000"/>
                          </a:solidFill>
                          <a:effectLst/>
                          <a:latin typeface="Aptos Narrow" panose="020B0004020202020204" pitchFamily="34" charset="0"/>
                        </a:rPr>
                        <a:t> </a:t>
                      </a:r>
                    </a:p>
                  </a:txBody>
                  <a:tcPr marL="7339" marR="7339" marT="7339"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a:solidFill>
                            <a:srgbClr val="000000"/>
                          </a:solidFill>
                          <a:effectLst/>
                          <a:latin typeface="Aptos Narrow" panose="020B0004020202020204" pitchFamily="34" charset="0"/>
                        </a:rPr>
                        <a:t> </a:t>
                      </a:r>
                    </a:p>
                  </a:txBody>
                  <a:tcPr marL="7339" marR="7339" marT="7339"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fr-FR" sz="1500" b="0" i="0" u="none" strike="noStrike" dirty="0">
                          <a:solidFill>
                            <a:srgbClr val="000000"/>
                          </a:solidFill>
                          <a:effectLst/>
                          <a:latin typeface="Aptos Narrow" panose="020B0004020202020204" pitchFamily="34" charset="0"/>
                        </a:rPr>
                        <a:t>215,1</a:t>
                      </a:r>
                    </a:p>
                  </a:txBody>
                  <a:tcPr marL="7339" marR="7339" marT="7339"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2815310"/>
                  </a:ext>
                </a:extLst>
              </a:tr>
            </a:tbl>
          </a:graphicData>
        </a:graphic>
      </p:graphicFrame>
    </p:spTree>
    <p:extLst>
      <p:ext uri="{BB962C8B-B14F-4D97-AF65-F5344CB8AC3E}">
        <p14:creationId xmlns:p14="http://schemas.microsoft.com/office/powerpoint/2010/main" val="17854069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2AFBC-EB6E-FA63-9C15-2FE7BD63B284}"/>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4F70A2DB-4A92-46F2-1C87-7A57F4CFB8F7}"/>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Calibri"/>
              </a:rPr>
              <a:t>Racine n</a:t>
            </a:r>
            <a:r>
              <a:rPr lang="fr-FR" sz="3200" spc="-1" baseline="30000" dirty="0">
                <a:solidFill>
                  <a:srgbClr val="376092"/>
                </a:solidFill>
                <a:latin typeface="Calibri"/>
              </a:rPr>
              <a:t>ième </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97825B4C-5C9E-FE25-8C72-EFD3A6AB5CF9}"/>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Si nous plaçons 1000 euros à un taux fixe de 3,5% par an pendant 10 ans, nous pouvons facilement calculer la somme disponible à la fin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a:t>
            </a:r>
            <a:r>
              <a:rPr lang="fr-FR" sz="2400" spc="-1" baseline="30000" dirty="0">
                <a:solidFill>
                  <a:srgbClr val="376092"/>
                </a:solidFill>
                <a:latin typeface="Arial"/>
              </a:rPr>
              <a:t>ère</a:t>
            </a:r>
            <a:r>
              <a:rPr lang="fr-FR" sz="2400" spc="-1" dirty="0">
                <a:solidFill>
                  <a:srgbClr val="376092"/>
                </a:solidFill>
                <a:latin typeface="Arial"/>
              </a:rPr>
              <a:t> année : 1000 * (1 + t) = 1000 * 1,035 = 1035</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a:t>
            </a:r>
            <a:r>
              <a:rPr lang="fr-FR" sz="2400" spc="-1" baseline="30000" dirty="0">
                <a:solidFill>
                  <a:srgbClr val="376092"/>
                </a:solidFill>
                <a:latin typeface="Arial"/>
              </a:rPr>
              <a:t>nd</a:t>
            </a:r>
            <a:r>
              <a:rPr lang="fr-FR" sz="2400" spc="-1" dirty="0">
                <a:solidFill>
                  <a:srgbClr val="376092"/>
                </a:solidFill>
                <a:latin typeface="Arial"/>
              </a:rPr>
              <a:t> année : 1035 * (1 + t) = 1035 * 1,035 = 1071,225</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un tableur pour calculer la somme au bout de 10 ans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remarquer que dans ce cas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somme de départ * (1 + t)</a:t>
            </a:r>
            <a:r>
              <a:rPr lang="fr-FR" sz="2400" spc="-1" baseline="30000" dirty="0">
                <a:solidFill>
                  <a:srgbClr val="376092"/>
                </a:solidFill>
                <a:latin typeface="Arial"/>
              </a:rPr>
              <a:t>10</a:t>
            </a:r>
            <a:r>
              <a:rPr lang="fr-FR" sz="2400" spc="-1" dirty="0">
                <a:solidFill>
                  <a:srgbClr val="376092"/>
                </a:solidFill>
                <a:latin typeface="Arial"/>
              </a:rPr>
              <a:t> =  somme au bout de 10 ans</a:t>
            </a: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1DB5D775-05A9-D529-ECD8-76DBBF6B6CE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069852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DEF4C-7105-20A1-3CA2-D9AC4A9A7E43}"/>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7EC869F0-E2A1-0AFA-37BC-20FB5A035986}"/>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Calibri"/>
              </a:rPr>
              <a:t>Racine n</a:t>
            </a:r>
            <a:r>
              <a:rPr lang="fr-FR" sz="3200" spc="-1" baseline="30000" dirty="0">
                <a:solidFill>
                  <a:srgbClr val="376092"/>
                </a:solidFill>
                <a:latin typeface="Calibri"/>
              </a:rPr>
              <a:t>ième </a:t>
            </a:r>
            <a:r>
              <a:rPr lang="fr-FR" sz="3200" spc="-1" dirty="0">
                <a:solidFill>
                  <a:srgbClr val="376092"/>
                </a:solidFill>
                <a:latin typeface="Arial"/>
              </a:rPr>
              <a:t>:</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5BCC5A6E-C64B-2AB7-4172-CCD28013DF5C}"/>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que nous voulions savoir quel taux avoir sur un placement pour passer de 1000 euros à 1500 euros en 10 ans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fois le taux t est inconnu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1000 * (1 + t)</a:t>
                </a:r>
                <a:r>
                  <a:rPr lang="fr-FR" sz="2400" spc="-1" baseline="30000" dirty="0">
                    <a:solidFill>
                      <a:srgbClr val="376092"/>
                    </a:solidFill>
                    <a:latin typeface="Arial"/>
                  </a:rPr>
                  <a:t>10 </a:t>
                </a:r>
                <a:r>
                  <a:rPr lang="fr-FR" sz="2400" spc="-1" dirty="0">
                    <a:solidFill>
                      <a:srgbClr val="376092"/>
                    </a:solidFill>
                    <a:latin typeface="Arial"/>
                  </a:rPr>
                  <a:t>= 1500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t)</a:t>
                </a:r>
                <a:r>
                  <a:rPr lang="fr-FR" sz="2400" spc="-1" baseline="30000" dirty="0">
                    <a:solidFill>
                      <a:srgbClr val="376092"/>
                    </a:solidFill>
                    <a:latin typeface="Arial"/>
                  </a:rPr>
                  <a:t>10 </a:t>
                </a:r>
                <a:r>
                  <a:rPr lang="fr-FR" sz="2400" spc="-1" dirty="0">
                    <a:solidFill>
                      <a:srgbClr val="376092"/>
                    </a:solidFill>
                    <a:latin typeface="Arial"/>
                  </a:rPr>
                  <a:t>= </a:t>
                </a:r>
                <a14:m>
                  <m:oMath xmlns:m="http://schemas.openxmlformats.org/officeDocument/2006/math">
                    <m:f>
                      <m:fPr>
                        <m:ctrlPr>
                          <a:rPr lang="fr-FR" sz="2400" i="1" spc="-1" smtClean="0">
                            <a:solidFill>
                              <a:srgbClr val="376092"/>
                            </a:solidFill>
                            <a:latin typeface="Cambria Math" panose="02040503050406030204" pitchFamily="18" charset="0"/>
                          </a:rPr>
                        </m:ctrlPr>
                      </m:fPr>
                      <m:num>
                        <m:r>
                          <m:rPr>
                            <m:nor/>
                          </m:rPr>
                          <a:rPr lang="fr-FR" sz="2400" b="0" i="0" spc="-1" dirty="0" smtClean="0">
                            <a:solidFill>
                              <a:srgbClr val="376092"/>
                            </a:solidFill>
                          </a:rPr>
                          <m:t>1500</m:t>
                        </m:r>
                      </m:num>
                      <m:den>
                        <m:r>
                          <m:rPr>
                            <m:nor/>
                          </m:rPr>
                          <a:rPr lang="fr-FR" sz="2400" b="0" i="0" spc="-1" dirty="0" smtClean="0">
                            <a:solidFill>
                              <a:srgbClr val="376092"/>
                            </a:solidFill>
                          </a:rPr>
                          <m:t>1000</m:t>
                        </m:r>
                      </m:den>
                    </m:f>
                    <m:r>
                      <a:rPr lang="fr-FR" sz="2400" b="0" i="1" spc="-1" dirty="0" smtClean="0">
                        <a:solidFill>
                          <a:srgbClr val="376092"/>
                        </a:solidFill>
                        <a:latin typeface="Cambria Math" panose="02040503050406030204" pitchFamily="18" charset="0"/>
                      </a:rPr>
                      <m:t>=1,5</m:t>
                    </m:r>
                  </m:oMath>
                </a14:m>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Nous avons une équation de la forme </a:t>
                </a:r>
                <a:r>
                  <a:rPr lang="fr-FR" sz="2400" b="0" spc="-1" dirty="0" err="1">
                    <a:solidFill>
                      <a:srgbClr val="376092"/>
                    </a:solidFill>
                    <a:latin typeface="Arial"/>
                  </a:rPr>
                  <a:t>x</a:t>
                </a:r>
                <a:r>
                  <a:rPr lang="fr-FR" sz="2400" b="0" spc="-1" baseline="30000" dirty="0" err="1">
                    <a:solidFill>
                      <a:srgbClr val="376092"/>
                    </a:solidFill>
                    <a:latin typeface="Arial"/>
                  </a:rPr>
                  <a:t>n</a:t>
                </a:r>
                <a:r>
                  <a:rPr lang="fr-FR" sz="2400" b="0" spc="-1" dirty="0">
                    <a:solidFill>
                      <a:srgbClr val="376092"/>
                    </a:solidFill>
                    <a:latin typeface="Arial"/>
                  </a:rPr>
                  <a:t> = a avec n entier et a un réel positif.</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Dans ce cas-là, cette équation admet une unique solution dans [0; +</a:t>
                </a:r>
                <a14:m>
                  <m:oMath xmlns:m="http://schemas.openxmlformats.org/officeDocument/2006/math">
                    <m:r>
                      <a:rPr lang="fr-FR" sz="2400" b="0" spc="-1" dirty="0" smtClean="0">
                        <a:solidFill>
                          <a:srgbClr val="376092"/>
                        </a:solidFill>
                        <a:latin typeface="Cambria Math" panose="02040503050406030204" pitchFamily="18" charset="0"/>
                      </a:rPr>
                      <m:t>∞</m:t>
                    </m:r>
                    <m:r>
                      <a:rPr lang="fr-FR" sz="2400" b="0" i="0" spc="-1" dirty="0" smtClean="0">
                        <a:solidFill>
                          <a:srgbClr val="376092"/>
                        </a:solidFill>
                        <a:latin typeface="Cambria Math" panose="02040503050406030204" pitchFamily="18" charset="0"/>
                      </a:rPr>
                      <m:t>[</m:t>
                    </m:r>
                  </m:oMath>
                </a14:m>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Cette solution est le nombre réel a</a:t>
                </a:r>
                <a:r>
                  <a:rPr lang="fr-FR" sz="2400" spc="-1" dirty="0">
                    <a:solidFill>
                      <a:srgbClr val="376092"/>
                    </a:solidFill>
                  </a:rPr>
                  <a:t> </a:t>
                </a:r>
                <a14:m>
                  <m:oMath xmlns:m="http://schemas.openxmlformats.org/officeDocument/2006/math">
                    <m:f>
                      <m:fPr>
                        <m:ctrlPr>
                          <a:rPr lang="fr-FR" sz="2400" i="1" spc="-1" baseline="30000" smtClean="0">
                            <a:solidFill>
                              <a:srgbClr val="376092"/>
                            </a:solidFill>
                            <a:latin typeface="Cambria Math" panose="02040503050406030204" pitchFamily="18" charset="0"/>
                          </a:rPr>
                        </m:ctrlPr>
                      </m:fPr>
                      <m:num>
                        <m:r>
                          <m:rPr>
                            <m:nor/>
                          </m:rPr>
                          <a:rPr lang="fr-FR" sz="2400" b="0" i="0" spc="-1" baseline="30000" dirty="0" smtClean="0">
                            <a:solidFill>
                              <a:srgbClr val="376092"/>
                            </a:solidFill>
                          </a:rPr>
                          <m:t>1</m:t>
                        </m:r>
                      </m:num>
                      <m:den>
                        <m:r>
                          <m:rPr>
                            <m:nor/>
                          </m:rPr>
                          <a:rPr lang="fr-FR" sz="2400" b="0" i="0" spc="-1" baseline="30000" dirty="0" smtClean="0">
                            <a:solidFill>
                              <a:srgbClr val="376092"/>
                            </a:solidFill>
                            <a:latin typeface="Cambria Math" panose="02040503050406030204" pitchFamily="18" charset="0"/>
                          </a:rPr>
                          <m:t>n</m:t>
                        </m:r>
                      </m:den>
                    </m:f>
                  </m:oMath>
                </a14:m>
                <a:endParaRPr lang="fr-FR" sz="2400" b="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5BCC5A6E-C64B-2AB7-4172-CCD28013DF5C}"/>
                  </a:ext>
                </a:extLst>
              </p:cNvPr>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r="-2815" b="-6659"/>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2A9B19C6-99B0-B68B-1343-2375D777CBF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1950282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2DBD4-86B0-F182-573E-77EB422494C0}"/>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7BF6B9D6-99EB-2540-C3A6-0017F2505B67}"/>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Calibri"/>
              </a:rPr>
              <a:t>Racine n</a:t>
            </a:r>
            <a:r>
              <a:rPr lang="fr-FR" sz="3200" spc="-1" baseline="30000" dirty="0">
                <a:solidFill>
                  <a:srgbClr val="376092"/>
                </a:solidFill>
                <a:latin typeface="Calibri"/>
              </a:rPr>
              <a:t>ième </a:t>
            </a:r>
            <a:r>
              <a:rPr lang="fr-FR" sz="3200" spc="-1" dirty="0">
                <a:solidFill>
                  <a:srgbClr val="376092"/>
                </a:solidFill>
                <a:latin typeface="Arial"/>
              </a:rPr>
              <a:t>:</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8705531A-27DE-A9EF-C788-930EF0C408B8}"/>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Reprenons notre exemple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t)</a:t>
                </a:r>
                <a:r>
                  <a:rPr lang="fr-FR" sz="2400" spc="-1" baseline="30000" dirty="0">
                    <a:solidFill>
                      <a:srgbClr val="376092"/>
                    </a:solidFill>
                    <a:latin typeface="Arial"/>
                  </a:rPr>
                  <a:t>10 </a:t>
                </a:r>
                <a14:m>
                  <m:oMath xmlns:m="http://schemas.openxmlformats.org/officeDocument/2006/math">
                    <m:r>
                      <a:rPr lang="fr-FR" sz="2400" b="0" i="1" spc="-1" dirty="0" smtClean="0">
                        <a:solidFill>
                          <a:srgbClr val="376092"/>
                        </a:solidFill>
                        <a:latin typeface="Cambria Math" panose="02040503050406030204" pitchFamily="18" charset="0"/>
                      </a:rPr>
                      <m:t>=1,5</m:t>
                    </m:r>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t)</a:t>
                </a:r>
                <a:r>
                  <a:rPr lang="fr-FR" sz="2400" spc="-1" baseline="30000" dirty="0">
                    <a:solidFill>
                      <a:srgbClr val="376092"/>
                    </a:solidFill>
                    <a:latin typeface="Arial"/>
                  </a:rPr>
                  <a:t>10</a:t>
                </a:r>
                <a:r>
                  <a:rPr lang="fr-FR" sz="2400" spc="-1" dirty="0">
                    <a:solidFill>
                      <a:srgbClr val="376092"/>
                    </a:solidFill>
                    <a:latin typeface="Arial"/>
                  </a:rPr>
                  <a:t>)</a:t>
                </a:r>
                <a:r>
                  <a:rPr lang="fr-FR" sz="2400" spc="-1" dirty="0">
                    <a:solidFill>
                      <a:srgbClr val="376092"/>
                    </a:solidFill>
                  </a:rPr>
                  <a:t> </a:t>
                </a:r>
                <a14:m>
                  <m:oMath xmlns:m="http://schemas.openxmlformats.org/officeDocument/2006/math">
                    <m:f>
                      <m:fPr>
                        <m:ctrlPr>
                          <a:rPr lang="fr-FR" sz="2400" i="1" spc="-1" baseline="30000">
                            <a:solidFill>
                              <a:srgbClr val="376092"/>
                            </a:solidFill>
                            <a:latin typeface="Cambria Math" panose="02040503050406030204" pitchFamily="18" charset="0"/>
                          </a:rPr>
                        </m:ctrlPr>
                      </m:fPr>
                      <m:num>
                        <m:r>
                          <m:rPr>
                            <m:nor/>
                          </m:rPr>
                          <a:rPr lang="fr-FR" sz="2400" spc="-1" baseline="30000" dirty="0">
                            <a:solidFill>
                              <a:srgbClr val="376092"/>
                            </a:solidFill>
                          </a:rPr>
                          <m:t>1</m:t>
                        </m:r>
                      </m:num>
                      <m:den>
                        <m:r>
                          <m:rPr>
                            <m:nor/>
                          </m:rPr>
                          <a:rPr lang="fr-FR" sz="2400" spc="-1" baseline="30000" dirty="0">
                            <a:solidFill>
                              <a:srgbClr val="376092"/>
                            </a:solidFill>
                          </a:rPr>
                          <m:t>10</m:t>
                        </m:r>
                      </m:den>
                    </m:f>
                  </m:oMath>
                </a14:m>
                <a:r>
                  <a:rPr lang="fr-FR" sz="2400" spc="-1" baseline="30000" dirty="0">
                    <a:solidFill>
                      <a:srgbClr val="376092"/>
                    </a:solidFill>
                    <a:latin typeface="Arial"/>
                  </a:rPr>
                  <a:t> </a:t>
                </a:r>
                <a14:m>
                  <m:oMath xmlns:m="http://schemas.openxmlformats.org/officeDocument/2006/math">
                    <m:r>
                      <a:rPr lang="fr-FR" sz="2400" b="0" i="1" spc="-1" dirty="0" smtClean="0">
                        <a:solidFill>
                          <a:srgbClr val="376092"/>
                        </a:solidFill>
                        <a:latin typeface="Cambria Math" panose="02040503050406030204" pitchFamily="18" charset="0"/>
                      </a:rPr>
                      <m:t>=(1,5</m:t>
                    </m:r>
                    <m:r>
                      <a:rPr lang="fr-FR" sz="2400" b="0" i="0" spc="-1" dirty="0" smtClean="0">
                        <a:solidFill>
                          <a:srgbClr val="376092"/>
                        </a:solidFill>
                        <a:latin typeface="Cambria Math" panose="02040503050406030204" pitchFamily="18" charset="0"/>
                      </a:rPr>
                      <m:t>)</m:t>
                    </m:r>
                  </m:oMath>
                </a14:m>
                <a:r>
                  <a:rPr lang="fr-FR" sz="2400" spc="-1" baseline="30000" dirty="0">
                    <a:solidFill>
                      <a:srgbClr val="376092"/>
                    </a:solidFill>
                  </a:rPr>
                  <a:t> </a:t>
                </a:r>
                <a14:m>
                  <m:oMath xmlns:m="http://schemas.openxmlformats.org/officeDocument/2006/math">
                    <m:f>
                      <m:fPr>
                        <m:ctrlPr>
                          <a:rPr lang="fr-FR" sz="2400" i="1" spc="-1" baseline="30000">
                            <a:solidFill>
                              <a:srgbClr val="376092"/>
                            </a:solidFill>
                            <a:latin typeface="Cambria Math" panose="02040503050406030204" pitchFamily="18" charset="0"/>
                          </a:rPr>
                        </m:ctrlPr>
                      </m:fPr>
                      <m:num>
                        <m:r>
                          <m:rPr>
                            <m:nor/>
                          </m:rPr>
                          <a:rPr lang="fr-FR" sz="2400" spc="-1" baseline="30000" dirty="0">
                            <a:solidFill>
                              <a:srgbClr val="376092"/>
                            </a:solidFill>
                          </a:rPr>
                          <m:t>1</m:t>
                        </m:r>
                      </m:num>
                      <m:den>
                        <m:r>
                          <m:rPr>
                            <m:nor/>
                          </m:rPr>
                          <a:rPr lang="fr-FR" sz="2400" spc="-1" baseline="30000" dirty="0">
                            <a:solidFill>
                              <a:srgbClr val="376092"/>
                            </a:solidFill>
                          </a:rPr>
                          <m:t>10</m:t>
                        </m:r>
                      </m:den>
                    </m:f>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t)</a:t>
                </a:r>
                <a:r>
                  <a:rPr lang="fr-FR" sz="2400" spc="-1" dirty="0">
                    <a:solidFill>
                      <a:srgbClr val="376092"/>
                    </a:solidFill>
                  </a:rPr>
                  <a:t> </a:t>
                </a:r>
                <a14:m>
                  <m:oMath xmlns:m="http://schemas.openxmlformats.org/officeDocument/2006/math">
                    <m:f>
                      <m:fPr>
                        <m:ctrlPr>
                          <a:rPr lang="fr-FR" sz="2400" i="1" spc="-1" baseline="30000">
                            <a:solidFill>
                              <a:srgbClr val="376092"/>
                            </a:solidFill>
                            <a:latin typeface="Cambria Math" panose="02040503050406030204" pitchFamily="18" charset="0"/>
                          </a:rPr>
                        </m:ctrlPr>
                      </m:fPr>
                      <m:num>
                        <m:r>
                          <m:rPr>
                            <m:nor/>
                          </m:rPr>
                          <a:rPr lang="fr-FR" sz="2400" spc="-1" baseline="30000" dirty="0">
                            <a:solidFill>
                              <a:srgbClr val="376092"/>
                            </a:solidFill>
                          </a:rPr>
                          <m:t>1</m:t>
                        </m:r>
                        <m:r>
                          <m:rPr>
                            <m:nor/>
                          </m:rPr>
                          <a:rPr lang="fr-FR" sz="2400" b="0" i="0" spc="-1" baseline="30000" dirty="0" smtClean="0">
                            <a:solidFill>
                              <a:srgbClr val="376092"/>
                            </a:solidFill>
                          </a:rPr>
                          <m:t>0</m:t>
                        </m:r>
                      </m:num>
                      <m:den>
                        <m:r>
                          <m:rPr>
                            <m:nor/>
                          </m:rPr>
                          <a:rPr lang="fr-FR" sz="2400" spc="-1" baseline="30000" dirty="0">
                            <a:solidFill>
                              <a:srgbClr val="376092"/>
                            </a:solidFill>
                          </a:rPr>
                          <m:t>10</m:t>
                        </m:r>
                      </m:den>
                    </m:f>
                  </m:oMath>
                </a14:m>
                <a:r>
                  <a:rPr lang="fr-FR" sz="2400" spc="-1" baseline="30000" dirty="0">
                    <a:solidFill>
                      <a:srgbClr val="376092"/>
                    </a:solidFill>
                    <a:latin typeface="Arial"/>
                  </a:rPr>
                  <a:t> </a:t>
                </a:r>
                <a14:m>
                  <m:oMath xmlns:m="http://schemas.openxmlformats.org/officeDocument/2006/math">
                    <m:r>
                      <a:rPr lang="fr-FR" sz="2400" b="0" i="1" spc="-1" dirty="0" smtClean="0">
                        <a:solidFill>
                          <a:srgbClr val="376092"/>
                        </a:solidFill>
                        <a:latin typeface="Cambria Math" panose="02040503050406030204" pitchFamily="18" charset="0"/>
                      </a:rPr>
                      <m:t>=(1,5</m:t>
                    </m:r>
                    <m:r>
                      <a:rPr lang="fr-FR" sz="2400" b="0" i="0" spc="-1" dirty="0" smtClean="0">
                        <a:solidFill>
                          <a:srgbClr val="376092"/>
                        </a:solidFill>
                        <a:latin typeface="Cambria Math" panose="02040503050406030204" pitchFamily="18" charset="0"/>
                      </a:rPr>
                      <m:t>)</m:t>
                    </m:r>
                  </m:oMath>
                </a14:m>
                <a:r>
                  <a:rPr lang="fr-FR" sz="2400" spc="-1" baseline="30000" dirty="0">
                    <a:solidFill>
                      <a:srgbClr val="376092"/>
                    </a:solidFill>
                  </a:rPr>
                  <a:t> </a:t>
                </a:r>
                <a14:m>
                  <m:oMath xmlns:m="http://schemas.openxmlformats.org/officeDocument/2006/math">
                    <m:f>
                      <m:fPr>
                        <m:ctrlPr>
                          <a:rPr lang="fr-FR" sz="2400" i="1" spc="-1" baseline="30000">
                            <a:solidFill>
                              <a:srgbClr val="376092"/>
                            </a:solidFill>
                            <a:latin typeface="Cambria Math" panose="02040503050406030204" pitchFamily="18" charset="0"/>
                          </a:rPr>
                        </m:ctrlPr>
                      </m:fPr>
                      <m:num>
                        <m:r>
                          <m:rPr>
                            <m:nor/>
                          </m:rPr>
                          <a:rPr lang="fr-FR" sz="2400" spc="-1" baseline="30000" dirty="0">
                            <a:solidFill>
                              <a:srgbClr val="376092"/>
                            </a:solidFill>
                          </a:rPr>
                          <m:t>1</m:t>
                        </m:r>
                      </m:num>
                      <m:den>
                        <m:r>
                          <m:rPr>
                            <m:nor/>
                          </m:rPr>
                          <a:rPr lang="fr-FR" sz="2400" spc="-1" baseline="30000" dirty="0">
                            <a:solidFill>
                              <a:srgbClr val="376092"/>
                            </a:solidFill>
                          </a:rPr>
                          <m:t>10</m:t>
                        </m:r>
                      </m:den>
                    </m:f>
                  </m:oMath>
                </a14:m>
                <a:endParaRPr lang="fr-FR" sz="2400" b="0" spc="-1" baseline="30000"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t</a:t>
                </a:r>
                <a14:m>
                  <m:oMath xmlns:m="http://schemas.openxmlformats.org/officeDocument/2006/math">
                    <m:r>
                      <a:rPr lang="fr-FR" sz="2400" b="0" i="1" spc="-1" dirty="0" smtClean="0">
                        <a:solidFill>
                          <a:srgbClr val="376092"/>
                        </a:solidFill>
                        <a:latin typeface="Cambria Math" panose="02040503050406030204" pitchFamily="18" charset="0"/>
                      </a:rPr>
                      <m:t>=(1,5</m:t>
                    </m:r>
                    <m:r>
                      <a:rPr lang="fr-FR" sz="2400" b="0" i="0" spc="-1" dirty="0" smtClean="0">
                        <a:solidFill>
                          <a:srgbClr val="376092"/>
                        </a:solidFill>
                        <a:latin typeface="Cambria Math" panose="02040503050406030204" pitchFamily="18" charset="0"/>
                      </a:rPr>
                      <m:t>)</m:t>
                    </m:r>
                  </m:oMath>
                </a14:m>
                <a:r>
                  <a:rPr lang="fr-FR" sz="2400" spc="-1" baseline="30000" dirty="0">
                    <a:solidFill>
                      <a:srgbClr val="376092"/>
                    </a:solidFill>
                  </a:rPr>
                  <a:t> </a:t>
                </a:r>
                <a14:m>
                  <m:oMath xmlns:m="http://schemas.openxmlformats.org/officeDocument/2006/math">
                    <m:f>
                      <m:fPr>
                        <m:ctrlPr>
                          <a:rPr lang="fr-FR" sz="2400" i="1" spc="-1" baseline="30000">
                            <a:solidFill>
                              <a:srgbClr val="376092"/>
                            </a:solidFill>
                            <a:latin typeface="Cambria Math" panose="02040503050406030204" pitchFamily="18" charset="0"/>
                          </a:rPr>
                        </m:ctrlPr>
                      </m:fPr>
                      <m:num>
                        <m:r>
                          <m:rPr>
                            <m:nor/>
                          </m:rPr>
                          <a:rPr lang="fr-FR" sz="2400" spc="-1" baseline="30000" dirty="0">
                            <a:solidFill>
                              <a:srgbClr val="376092"/>
                            </a:solidFill>
                          </a:rPr>
                          <m:t>1</m:t>
                        </m:r>
                      </m:num>
                      <m:den>
                        <m:r>
                          <m:rPr>
                            <m:nor/>
                          </m:rPr>
                          <a:rPr lang="fr-FR" sz="2400" spc="-1" baseline="30000" dirty="0">
                            <a:solidFill>
                              <a:srgbClr val="376092"/>
                            </a:solidFill>
                          </a:rPr>
                          <m:t>10</m:t>
                        </m:r>
                      </m:den>
                    </m:f>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Utilisons la calculatrice pour mettre 1,5 à la puissance 1/10.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obtient 1 + t </a:t>
                </a:r>
                <a14:m>
                  <m:oMath xmlns:m="http://schemas.openxmlformats.org/officeDocument/2006/math">
                    <m:r>
                      <a:rPr lang="fr-FR" sz="2400" b="0" spc="-1" dirty="0" smtClean="0">
                        <a:solidFill>
                          <a:srgbClr val="376092"/>
                        </a:solidFill>
                        <a:latin typeface="Cambria Math" panose="02040503050406030204" pitchFamily="18" charset="0"/>
                      </a:rPr>
                      <m:t>≈</m:t>
                    </m:r>
                  </m:oMath>
                </a14:m>
                <a:r>
                  <a:rPr lang="fr-FR" sz="2400" b="0" spc="-1" dirty="0">
                    <a:solidFill>
                      <a:srgbClr val="376092"/>
                    </a:solidFill>
                    <a:latin typeface="Arial"/>
                  </a:rPr>
                  <a:t> 1,04138 soit t = 0,04138 ou 4,138%</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le tableur pour valider notre résultat</a:t>
                </a: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Utilisons le tableur pour trouver notre résultat pa</a:t>
                </a:r>
                <a:r>
                  <a:rPr lang="fr-FR" sz="2400" spc="-1" dirty="0">
                    <a:solidFill>
                      <a:srgbClr val="376092"/>
                    </a:solidFill>
                    <a:latin typeface="Arial"/>
                  </a:rPr>
                  <a:t>r calcul</a:t>
                </a:r>
                <a:r>
                  <a:rPr lang="fr-FR" sz="2400" b="0" spc="-1" dirty="0">
                    <a:solidFill>
                      <a:srgbClr val="376092"/>
                    </a:solidFill>
                    <a:latin typeface="Arial"/>
                  </a:rPr>
                  <a:t>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8705531A-27DE-A9EF-C788-930EF0C408B8}"/>
                  </a:ext>
                </a:extLst>
              </p:cNvPr>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b="-8111"/>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FD9EE22F-5A72-2354-2283-E4A1D32CC86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32859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D3114-9BDE-CC46-E076-E61EECE6A018}"/>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B4567607-F725-829E-329C-175D8C9FB96D}"/>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Calibri"/>
              </a:rPr>
              <a:t>Racine n</a:t>
            </a:r>
            <a:r>
              <a:rPr lang="fr-FR" sz="3200" spc="-1" baseline="30000" dirty="0">
                <a:solidFill>
                  <a:srgbClr val="376092"/>
                </a:solidFill>
                <a:latin typeface="Calibri"/>
              </a:rPr>
              <a:t>ième </a:t>
            </a:r>
            <a:r>
              <a:rPr lang="fr-FR" sz="3200" spc="-1" dirty="0">
                <a:solidFill>
                  <a:srgbClr val="376092"/>
                </a:solidFill>
                <a:latin typeface="Calibri"/>
              </a:rPr>
              <a:t>– Exercices </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D4C961BD-A3B8-7F8E-D796-3F6730F76663}"/>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Gardons l'exemple avec lequel nous avons travaillé</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Calculons la somme obtenue en plaçant 1000 euros à 4% pendant 20 ans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Traçons la courbe qui représente les gains annuels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Calculons quelques taux pour nous familiariser avec les racines n</a:t>
            </a:r>
            <a:r>
              <a:rPr lang="fr-FR" sz="2400" spc="-1" baseline="30000" dirty="0">
                <a:solidFill>
                  <a:srgbClr val="376092"/>
                </a:solidFill>
                <a:latin typeface="Arial"/>
              </a:rPr>
              <a:t>ième</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Quel taux est nécessaire pour obtenir 3500 euros à partir de 2000 euros placés sur 12 ans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Quel taux est nécessaire pour obtenir 2000 euros à partir de 750 euros placés sur 15 ans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36C08100-5BFB-9B94-D2B9-37A2E56B2C0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59703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CEA32-16A2-40EF-27A2-3465A2F4CC7A}"/>
            </a:ext>
          </a:extLst>
        </p:cNvPr>
        <p:cNvGrpSpPr/>
        <p:nvPr/>
      </p:nvGrpSpPr>
      <p:grpSpPr>
        <a:xfrm>
          <a:off x="0" y="0"/>
          <a:ext cx="0" cy="0"/>
          <a:chOff x="0" y="0"/>
          <a:chExt cx="0" cy="0"/>
        </a:xfrm>
      </p:grpSpPr>
      <p:sp>
        <p:nvSpPr>
          <p:cNvPr id="140" name="TextShape 2">
            <a:extLst>
              <a:ext uri="{FF2B5EF4-FFF2-40B4-BE49-F238E27FC236}">
                <a16:creationId xmlns:a16="http://schemas.microsoft.com/office/drawing/2014/main" id="{6E4C6646-1A56-E103-3C5C-F909E8FDE482}"/>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pc="-1" dirty="0">
                <a:solidFill>
                  <a:srgbClr val="376092"/>
                </a:solidFill>
                <a:latin typeface="Arial"/>
              </a:rPr>
              <a:t>Le taux d'évolution moyen permet de calculer un taux constant sur la même période de temps</a:t>
            </a:r>
          </a:p>
          <a:p>
            <a:pPr marL="432000" indent="-324000">
              <a:spcAft>
                <a:spcPts val="1060"/>
              </a:spcAft>
              <a:buClr>
                <a:srgbClr val="000000"/>
              </a:buClr>
              <a:buSzPct val="45000"/>
              <a:buFont typeface="Wingdings" charset="2"/>
              <a:buChar char=""/>
            </a:pPr>
            <a:r>
              <a:rPr lang="fr-FR" sz="2400" b="0" spc="-1" dirty="0">
                <a:solidFill>
                  <a:srgbClr val="376092"/>
                </a:solidFill>
                <a:latin typeface="Arial"/>
              </a:rPr>
              <a:t>Le taux d'évolution annuel du CA est différent chaque année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cherchons à obtenir le taux moyen </a:t>
            </a:r>
            <a:r>
              <a:rPr lang="fr-FR" sz="2400" i="1" spc="-1" dirty="0" err="1">
                <a:solidFill>
                  <a:srgbClr val="376092"/>
                </a:solidFill>
                <a:latin typeface="Arial"/>
              </a:rPr>
              <a:t>tm</a:t>
            </a:r>
            <a:r>
              <a:rPr lang="fr-FR" sz="2400" spc="-1" dirty="0">
                <a:solidFill>
                  <a:srgbClr val="376092"/>
                </a:solidFill>
                <a:latin typeface="Arial"/>
              </a:rPr>
              <a:t> que nous pourrions appliquer chaque année pour avoir le même taux d'évolution global </a:t>
            </a:r>
            <a:r>
              <a:rPr lang="fr-FR" sz="2400" i="1" spc="-1" dirty="0" err="1">
                <a:solidFill>
                  <a:srgbClr val="376092"/>
                </a:solidFill>
                <a:latin typeface="Arial"/>
              </a:rPr>
              <a:t>teg</a:t>
            </a:r>
            <a:r>
              <a:rPr lang="fr-FR" sz="240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a:t>
            </a:r>
            <a:r>
              <a:rPr lang="fr-FR" sz="2400" spc="-1" dirty="0" err="1">
                <a:solidFill>
                  <a:srgbClr val="376092"/>
                </a:solidFill>
                <a:latin typeface="Arial"/>
              </a:rPr>
              <a:t>teg</a:t>
            </a:r>
            <a:r>
              <a:rPr lang="fr-FR" sz="2400" spc="-1" dirty="0">
                <a:solidFill>
                  <a:srgbClr val="376092"/>
                </a:solidFill>
                <a:latin typeface="Arial"/>
              </a:rPr>
              <a:t>) = (1 + </a:t>
            </a:r>
            <a:r>
              <a:rPr lang="fr-FR" sz="2400" spc="-1" dirty="0" err="1">
                <a:solidFill>
                  <a:srgbClr val="376092"/>
                </a:solidFill>
                <a:latin typeface="Arial"/>
              </a:rPr>
              <a:t>tm</a:t>
            </a:r>
            <a:r>
              <a:rPr lang="fr-FR" sz="2400" spc="-1" dirty="0">
                <a:solidFill>
                  <a:srgbClr val="376092"/>
                </a:solidFill>
                <a:latin typeface="Arial"/>
              </a:rPr>
              <a:t>)</a:t>
            </a:r>
            <a:r>
              <a:rPr lang="fr-FR" sz="2400" spc="-1" baseline="30000" dirty="0">
                <a:solidFill>
                  <a:srgbClr val="376092"/>
                </a:solidFill>
                <a:latin typeface="Arial"/>
              </a:rPr>
              <a:t>nombre de périodes</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teg</a:t>
            </a:r>
            <a:r>
              <a:rPr lang="fr-FR" sz="2400" spc="-1" dirty="0">
                <a:solidFill>
                  <a:srgbClr val="376092"/>
                </a:solidFill>
                <a:latin typeface="Arial"/>
              </a:rPr>
              <a:t> = (1 + </a:t>
            </a:r>
            <a:r>
              <a:rPr lang="fr-FR" sz="2400" spc="-1" dirty="0" err="1">
                <a:solidFill>
                  <a:srgbClr val="376092"/>
                </a:solidFill>
                <a:latin typeface="Arial"/>
              </a:rPr>
              <a:t>tm</a:t>
            </a:r>
            <a:r>
              <a:rPr lang="fr-FR" sz="2400" spc="-1" dirty="0">
                <a:solidFill>
                  <a:srgbClr val="376092"/>
                </a:solidFill>
                <a:latin typeface="Arial"/>
              </a:rPr>
              <a:t>)</a:t>
            </a:r>
            <a:r>
              <a:rPr lang="fr-FR" sz="2400" spc="-1" baseline="30000" dirty="0">
                <a:solidFill>
                  <a:srgbClr val="376092"/>
                </a:solidFill>
                <a:latin typeface="Arial"/>
              </a:rPr>
              <a:t>nombre de périodes </a:t>
            </a:r>
            <a:r>
              <a:rPr lang="fr-FR" sz="2400" spc="-1" dirty="0">
                <a:solidFill>
                  <a:srgbClr val="376092"/>
                </a:solidFill>
                <a:latin typeface="Arial"/>
              </a:rPr>
              <a:t>-1</a:t>
            </a: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39" name="TextShape 1">
            <a:extLst>
              <a:ext uri="{FF2B5EF4-FFF2-40B4-BE49-F238E27FC236}">
                <a16:creationId xmlns:a16="http://schemas.microsoft.com/office/drawing/2014/main" id="{E25DBA97-E8A7-CC13-D921-CF07D4DBBC76}"/>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a:solidFill>
                  <a:srgbClr val="376092"/>
                </a:solidFill>
                <a:latin typeface="Calibri"/>
              </a:rPr>
              <a:t>Taux </a:t>
            </a:r>
            <a:r>
              <a:rPr lang="fr-FR" sz="3200" spc="-1" dirty="0">
                <a:solidFill>
                  <a:srgbClr val="376092"/>
                </a:solidFill>
                <a:latin typeface="Calibri"/>
              </a:rPr>
              <a:t>d'évolution moyen</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F4BB061A-B247-8055-E31F-FE81B2EF48D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6377BB26-D5A1-C304-4C18-04AA13A486BD}"/>
              </a:ext>
            </a:extLst>
          </p:cNvPr>
          <p:cNvPicPr>
            <a:picLocks noChangeAspect="1"/>
          </p:cNvPicPr>
          <p:nvPr/>
        </p:nvPicPr>
        <p:blipFill>
          <a:blip r:embed="rId2"/>
          <a:stretch>
            <a:fillRect/>
          </a:stretch>
        </p:blipFill>
        <p:spPr>
          <a:xfrm>
            <a:off x="1162547" y="2899736"/>
            <a:ext cx="6364776" cy="871804"/>
          </a:xfrm>
          <a:prstGeom prst="rect">
            <a:avLst/>
          </a:prstGeom>
        </p:spPr>
      </p:pic>
    </p:spTree>
    <p:extLst>
      <p:ext uri="{BB962C8B-B14F-4D97-AF65-F5344CB8AC3E}">
        <p14:creationId xmlns:p14="http://schemas.microsoft.com/office/powerpoint/2010/main" val="1709957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8A584-1920-A941-0D48-DE438CD48CD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0" name="TextShape 2">
                <a:extLst>
                  <a:ext uri="{FF2B5EF4-FFF2-40B4-BE49-F238E27FC236}">
                    <a16:creationId xmlns:a16="http://schemas.microsoft.com/office/drawing/2014/main" id="{216E342D-0BEA-E65A-5495-E355B7664C34}"/>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Dans notre exemple, nous avons calculé le taux d'évolution global et nous connaissons le nombre de périodes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1,0141 = (1 + </a:t>
                </a:r>
                <a:r>
                  <a:rPr lang="fr-FR" sz="2400" spc="-1" dirty="0" err="1">
                    <a:solidFill>
                      <a:srgbClr val="376092"/>
                    </a:solidFill>
                    <a:latin typeface="Arial"/>
                  </a:rPr>
                  <a:t>tm</a:t>
                </a:r>
                <a:r>
                  <a:rPr lang="fr-FR" sz="2400" spc="-1" dirty="0">
                    <a:solidFill>
                      <a:srgbClr val="376092"/>
                    </a:solidFill>
                    <a:latin typeface="Arial"/>
                  </a:rPr>
                  <a:t>)</a:t>
                </a:r>
                <a:r>
                  <a:rPr lang="fr-FR" sz="2400" spc="-1" baseline="30000" dirty="0">
                    <a:solidFill>
                      <a:srgbClr val="376092"/>
                    </a:solidFill>
                    <a:latin typeface="Arial"/>
                  </a:rPr>
                  <a:t>5</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(1,0141)</a:t>
                </a:r>
                <a:r>
                  <a:rPr lang="fr-FR" sz="2400" b="0" spc="-1" dirty="0">
                    <a:solidFill>
                      <a:srgbClr val="376092"/>
                    </a:solidFill>
                  </a:rPr>
                  <a:t> </a:t>
                </a:r>
                <a14:m>
                  <m:oMath xmlns:m="http://schemas.openxmlformats.org/officeDocument/2006/math">
                    <m:f>
                      <m:fPr>
                        <m:ctrlPr>
                          <a:rPr lang="fr-FR" sz="2400" i="1" spc="-1" baseline="30000">
                            <a:solidFill>
                              <a:srgbClr val="376092"/>
                            </a:solidFill>
                            <a:latin typeface="Cambria Math" panose="02040503050406030204" pitchFamily="18" charset="0"/>
                          </a:rPr>
                        </m:ctrlPr>
                      </m:fPr>
                      <m:num>
                        <m:r>
                          <m:rPr>
                            <m:nor/>
                          </m:rPr>
                          <a:rPr lang="fr-FR" sz="2400" spc="-1" baseline="30000" dirty="0">
                            <a:solidFill>
                              <a:srgbClr val="376092"/>
                            </a:solidFill>
                          </a:rPr>
                          <m:t>1</m:t>
                        </m:r>
                      </m:num>
                      <m:den>
                        <m:r>
                          <m:rPr>
                            <m:nor/>
                          </m:rPr>
                          <a:rPr lang="fr-FR" sz="2400" b="0" i="0" spc="-1" baseline="30000" dirty="0" smtClean="0">
                            <a:solidFill>
                              <a:srgbClr val="376092"/>
                            </a:solidFill>
                            <a:latin typeface="Cambria Math" panose="02040503050406030204" pitchFamily="18" charset="0"/>
                          </a:rPr>
                          <m:t>5</m:t>
                        </m:r>
                      </m:den>
                    </m:f>
                  </m:oMath>
                </a14:m>
                <a:r>
                  <a:rPr lang="fr-FR" sz="2400" spc="-1" dirty="0">
                    <a:solidFill>
                      <a:srgbClr val="376092"/>
                    </a:solidFill>
                    <a:latin typeface="Arial"/>
                  </a:rPr>
                  <a:t> = ((1 + </a:t>
                </a:r>
                <a:r>
                  <a:rPr lang="fr-FR" sz="2400" spc="-1" dirty="0" err="1">
                    <a:solidFill>
                      <a:srgbClr val="376092"/>
                    </a:solidFill>
                    <a:latin typeface="Arial"/>
                  </a:rPr>
                  <a:t>tm</a:t>
                </a:r>
                <a:r>
                  <a:rPr lang="fr-FR" sz="2400" spc="-1" dirty="0">
                    <a:solidFill>
                      <a:srgbClr val="376092"/>
                    </a:solidFill>
                    <a:latin typeface="Arial"/>
                  </a:rPr>
                  <a:t>)</a:t>
                </a:r>
                <a:r>
                  <a:rPr lang="fr-FR" sz="2400" spc="-1" baseline="30000" dirty="0">
                    <a:solidFill>
                      <a:srgbClr val="376092"/>
                    </a:solidFill>
                    <a:latin typeface="Arial"/>
                  </a:rPr>
                  <a:t>5</a:t>
                </a:r>
                <a:r>
                  <a:rPr lang="fr-FR" sz="2400" spc="-1" dirty="0">
                    <a:solidFill>
                      <a:srgbClr val="376092"/>
                    </a:solidFill>
                    <a:latin typeface="Arial"/>
                  </a:rPr>
                  <a:t>)</a:t>
                </a:r>
                <a:r>
                  <a:rPr lang="fr-FR" sz="2400" spc="-1" baseline="30000" dirty="0">
                    <a:solidFill>
                      <a:srgbClr val="376092"/>
                    </a:solidFill>
                  </a:rPr>
                  <a:t> </a:t>
                </a:r>
                <a14:m>
                  <m:oMath xmlns:m="http://schemas.openxmlformats.org/officeDocument/2006/math">
                    <m:f>
                      <m:fPr>
                        <m:ctrlPr>
                          <a:rPr lang="fr-FR" sz="2400" i="1" spc="-1" baseline="30000">
                            <a:solidFill>
                              <a:srgbClr val="376092"/>
                            </a:solidFill>
                            <a:latin typeface="Cambria Math" panose="02040503050406030204" pitchFamily="18" charset="0"/>
                          </a:rPr>
                        </m:ctrlPr>
                      </m:fPr>
                      <m:num>
                        <m:r>
                          <m:rPr>
                            <m:nor/>
                          </m:rPr>
                          <a:rPr lang="fr-FR" sz="2400" spc="-1" baseline="30000" dirty="0">
                            <a:solidFill>
                              <a:srgbClr val="376092"/>
                            </a:solidFill>
                          </a:rPr>
                          <m:t>1</m:t>
                        </m:r>
                      </m:num>
                      <m:den>
                        <m:r>
                          <m:rPr>
                            <m:nor/>
                          </m:rPr>
                          <a:rPr lang="fr-FR" sz="2400" spc="-1" baseline="30000" dirty="0">
                            <a:solidFill>
                              <a:srgbClr val="376092"/>
                            </a:solidFill>
                            <a:latin typeface="Cambria Math" panose="02040503050406030204" pitchFamily="18" charset="0"/>
                          </a:rPr>
                          <m:t>5</m:t>
                        </m:r>
                      </m:den>
                    </m:f>
                  </m:oMath>
                </a14:m>
                <a:r>
                  <a:rPr lang="fr-FR" sz="2400" spc="-1" dirty="0">
                    <a:solidFill>
                      <a:srgbClr val="376092"/>
                    </a:solidFill>
                  </a:rPr>
                  <a:t> </a:t>
                </a:r>
                <a:endParaRPr lang="fr-FR" sz="2400" spc="-1" baseline="30000"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(1,0141)</a:t>
                </a:r>
                <a:r>
                  <a:rPr lang="fr-FR" sz="2400" b="0" spc="-1" dirty="0">
                    <a:solidFill>
                      <a:srgbClr val="376092"/>
                    </a:solidFill>
                  </a:rPr>
                  <a:t> </a:t>
                </a:r>
                <a14:m>
                  <m:oMath xmlns:m="http://schemas.openxmlformats.org/officeDocument/2006/math">
                    <m:f>
                      <m:fPr>
                        <m:ctrlPr>
                          <a:rPr lang="fr-FR" sz="2400" i="1" spc="-1" baseline="30000">
                            <a:solidFill>
                              <a:srgbClr val="376092"/>
                            </a:solidFill>
                            <a:latin typeface="Cambria Math" panose="02040503050406030204" pitchFamily="18" charset="0"/>
                          </a:rPr>
                        </m:ctrlPr>
                      </m:fPr>
                      <m:num>
                        <m:r>
                          <m:rPr>
                            <m:nor/>
                          </m:rPr>
                          <a:rPr lang="fr-FR" sz="2400" spc="-1" baseline="30000" dirty="0">
                            <a:solidFill>
                              <a:srgbClr val="376092"/>
                            </a:solidFill>
                          </a:rPr>
                          <m:t>1</m:t>
                        </m:r>
                      </m:num>
                      <m:den>
                        <m:r>
                          <m:rPr>
                            <m:nor/>
                          </m:rPr>
                          <a:rPr lang="fr-FR" sz="2400" b="0" i="0" spc="-1" baseline="30000" dirty="0" smtClean="0">
                            <a:solidFill>
                              <a:srgbClr val="376092"/>
                            </a:solidFill>
                            <a:latin typeface="Cambria Math" panose="02040503050406030204" pitchFamily="18" charset="0"/>
                          </a:rPr>
                          <m:t>5</m:t>
                        </m:r>
                      </m:den>
                    </m:f>
                  </m:oMath>
                </a14:m>
                <a:r>
                  <a:rPr lang="fr-FR" sz="2400" spc="-1" dirty="0">
                    <a:solidFill>
                      <a:srgbClr val="376092"/>
                    </a:solidFill>
                    <a:latin typeface="Arial"/>
                  </a:rPr>
                  <a:t> = 1 + </a:t>
                </a:r>
                <a:r>
                  <a:rPr lang="fr-FR" sz="2400" spc="-1" dirty="0" err="1">
                    <a:solidFill>
                      <a:srgbClr val="376092"/>
                    </a:solidFill>
                    <a:latin typeface="Arial"/>
                  </a:rPr>
                  <a:t>tm</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1,002804 = 1 + </a:t>
                </a:r>
                <a:r>
                  <a:rPr lang="fr-FR" sz="2400" spc="-1" dirty="0" err="1">
                    <a:solidFill>
                      <a:srgbClr val="376092"/>
                    </a:solidFill>
                    <a:latin typeface="Arial"/>
                  </a:rPr>
                  <a:t>tm</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tm</a:t>
                </a:r>
                <a:r>
                  <a:rPr lang="fr-FR" sz="2400" spc="-1" dirty="0">
                    <a:solidFill>
                      <a:srgbClr val="376092"/>
                    </a:solidFill>
                    <a:latin typeface="Arial"/>
                  </a:rPr>
                  <a:t> = 0,002804 = 0,28 %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 taux d'évolution global de 1,41 % représente sur 5 ans un taux d'évolution moyen de 0,28%</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Confirmons notre calcul avec un tableur</a:t>
                </a: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a:extLst>
                  <a:ext uri="{FF2B5EF4-FFF2-40B4-BE49-F238E27FC236}">
                    <a16:creationId xmlns:a16="http://schemas.microsoft.com/office/drawing/2014/main" id="{216E342D-0BEA-E65A-5495-E355B7664C34}"/>
                  </a:ext>
                </a:extLst>
              </p:cNvPr>
              <p:cNvSpPr txBox="1">
                <a:spLocks noRot="1" noChangeAspect="1" noMove="1" noResize="1" noEditPoints="1" noAdjustHandles="1" noChangeArrowheads="1" noChangeShapeType="1" noTextEdit="1"/>
              </p:cNvSpPr>
              <p:nvPr/>
            </p:nvSpPr>
            <p:spPr>
              <a:xfrm>
                <a:off x="457200" y="1091954"/>
                <a:ext cx="8229240" cy="5033806"/>
              </a:xfrm>
              <a:prstGeom prst="rect">
                <a:avLst/>
              </a:prstGeom>
              <a:blipFill>
                <a:blip r:embed="rId2"/>
                <a:stretch>
                  <a:fillRect t="-1695" b="-9443"/>
                </a:stretch>
              </a:blipFill>
              <a:ln w="0">
                <a:noFill/>
              </a:ln>
            </p:spPr>
            <p:txBody>
              <a:bodyPr/>
              <a:lstStyle/>
              <a:p>
                <a:r>
                  <a:rPr lang="fr-FR">
                    <a:noFill/>
                  </a:rPr>
                  <a:t> </a:t>
                </a:r>
              </a:p>
            </p:txBody>
          </p:sp>
        </mc:Fallback>
      </mc:AlternateContent>
      <p:sp>
        <p:nvSpPr>
          <p:cNvPr id="139" name="TextShape 1">
            <a:extLst>
              <a:ext uri="{FF2B5EF4-FFF2-40B4-BE49-F238E27FC236}">
                <a16:creationId xmlns:a16="http://schemas.microsoft.com/office/drawing/2014/main" id="{82B8BDE7-0DB9-8F7F-19EE-516EA6461D25}"/>
              </a:ext>
            </a:extLst>
          </p:cNvPr>
          <p:cNvSpPr txBox="1"/>
          <p:nvPr/>
        </p:nvSpPr>
        <p:spPr>
          <a:xfrm>
            <a:off x="457200" y="274680"/>
            <a:ext cx="8229240" cy="719500"/>
          </a:xfrm>
          <a:prstGeom prst="rect">
            <a:avLst/>
          </a:prstGeom>
          <a:noFill/>
          <a:ln w="0">
            <a:noFill/>
          </a:ln>
        </p:spPr>
        <p:txBody>
          <a:bodyPr lIns="0" tIns="0" rIns="0" bIns="0">
            <a:noAutofit/>
          </a:bodyPr>
          <a:lstStyle/>
          <a:p>
            <a:r>
              <a:rPr lang="fr-FR" sz="3200" spc="-1" dirty="0">
                <a:solidFill>
                  <a:srgbClr val="376092"/>
                </a:solidFill>
                <a:latin typeface="Calibri"/>
              </a:rPr>
              <a:t>Taux d'évolution moyen</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178AE96B-328A-EBB2-666B-D5E49D92DD5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016999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0F4BB-DC9F-F5AD-D30A-D93B34010A7B}"/>
            </a:ext>
          </a:extLst>
        </p:cNvPr>
        <p:cNvGrpSpPr/>
        <p:nvPr/>
      </p:nvGrpSpPr>
      <p:grpSpPr>
        <a:xfrm>
          <a:off x="0" y="0"/>
          <a:ext cx="0" cy="0"/>
          <a:chOff x="0" y="0"/>
          <a:chExt cx="0" cy="0"/>
        </a:xfrm>
      </p:grpSpPr>
      <p:sp>
        <p:nvSpPr>
          <p:cNvPr id="140" name="TextShape 2">
            <a:extLst>
              <a:ext uri="{FF2B5EF4-FFF2-40B4-BE49-F238E27FC236}">
                <a16:creationId xmlns:a16="http://schemas.microsoft.com/office/drawing/2014/main" id="{92586769-A0A6-73BF-6E8B-91BF36AEED99}"/>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le taux d'évolution global ainsi que le taux d'évolution moyen annuel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entreprise a augmenté son bénéfice de 10% en 5 ans, calculer le taux moyen d'évolution annuel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entreprise connait une baisse de son CA de 7% en un an, calculer le taux moyen d'évolution mensuel</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39" name="TextShape 1">
            <a:extLst>
              <a:ext uri="{FF2B5EF4-FFF2-40B4-BE49-F238E27FC236}">
                <a16:creationId xmlns:a16="http://schemas.microsoft.com/office/drawing/2014/main" id="{C8424E20-46EB-AF1D-DC6D-714237A5B799}"/>
              </a:ext>
            </a:extLst>
          </p:cNvPr>
          <p:cNvSpPr txBox="1"/>
          <p:nvPr/>
        </p:nvSpPr>
        <p:spPr>
          <a:xfrm>
            <a:off x="457200" y="274680"/>
            <a:ext cx="8229240" cy="719500"/>
          </a:xfrm>
          <a:prstGeom prst="rect">
            <a:avLst/>
          </a:prstGeom>
          <a:noFill/>
          <a:ln w="0">
            <a:noFill/>
          </a:ln>
        </p:spPr>
        <p:txBody>
          <a:bodyPr lIns="0" tIns="0" rIns="0" bIns="0">
            <a:noAutofit/>
          </a:bodyPr>
          <a:lstStyle/>
          <a:p>
            <a:r>
              <a:rPr lang="fr-FR" sz="3200" spc="-1" dirty="0">
                <a:solidFill>
                  <a:srgbClr val="376092"/>
                </a:solidFill>
                <a:latin typeface="Calibri"/>
              </a:rPr>
              <a:t>Taux d'évolution moyen – exercice </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E6842705-9EE1-BCC6-B6A3-C49EA49DE00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2" name="Tableau 1">
            <a:extLst>
              <a:ext uri="{FF2B5EF4-FFF2-40B4-BE49-F238E27FC236}">
                <a16:creationId xmlns:a16="http://schemas.microsoft.com/office/drawing/2014/main" id="{F565ECB6-CF1E-C06A-7D39-17125D95CD3E}"/>
              </a:ext>
            </a:extLst>
          </p:cNvPr>
          <p:cNvGraphicFramePr>
            <a:graphicFrameLocks noGrp="1"/>
          </p:cNvGraphicFramePr>
          <p:nvPr>
            <p:extLst>
              <p:ext uri="{D42A27DB-BD31-4B8C-83A1-F6EECF244321}">
                <p14:modId xmlns:p14="http://schemas.microsoft.com/office/powerpoint/2010/main" val="2595481098"/>
              </p:ext>
            </p:extLst>
          </p:nvPr>
        </p:nvGraphicFramePr>
        <p:xfrm>
          <a:off x="1244600" y="1932985"/>
          <a:ext cx="6349999" cy="666750"/>
        </p:xfrm>
        <a:graphic>
          <a:graphicData uri="http://schemas.openxmlformats.org/drawingml/2006/table">
            <a:tbl>
              <a:tblPr/>
              <a:tblGrid>
                <a:gridCol w="2541904">
                  <a:extLst>
                    <a:ext uri="{9D8B030D-6E8A-4147-A177-3AD203B41FA5}">
                      <a16:colId xmlns:a16="http://schemas.microsoft.com/office/drawing/2014/main" val="3912437278"/>
                    </a:ext>
                  </a:extLst>
                </a:gridCol>
                <a:gridCol w="761619">
                  <a:extLst>
                    <a:ext uri="{9D8B030D-6E8A-4147-A177-3AD203B41FA5}">
                      <a16:colId xmlns:a16="http://schemas.microsoft.com/office/drawing/2014/main" val="1289701456"/>
                    </a:ext>
                  </a:extLst>
                </a:gridCol>
                <a:gridCol w="761619">
                  <a:extLst>
                    <a:ext uri="{9D8B030D-6E8A-4147-A177-3AD203B41FA5}">
                      <a16:colId xmlns:a16="http://schemas.microsoft.com/office/drawing/2014/main" val="2846400080"/>
                    </a:ext>
                  </a:extLst>
                </a:gridCol>
                <a:gridCol w="761619">
                  <a:extLst>
                    <a:ext uri="{9D8B030D-6E8A-4147-A177-3AD203B41FA5}">
                      <a16:colId xmlns:a16="http://schemas.microsoft.com/office/drawing/2014/main" val="3827281279"/>
                    </a:ext>
                  </a:extLst>
                </a:gridCol>
                <a:gridCol w="761619">
                  <a:extLst>
                    <a:ext uri="{9D8B030D-6E8A-4147-A177-3AD203B41FA5}">
                      <a16:colId xmlns:a16="http://schemas.microsoft.com/office/drawing/2014/main" val="2382367717"/>
                    </a:ext>
                  </a:extLst>
                </a:gridCol>
                <a:gridCol w="761619">
                  <a:extLst>
                    <a:ext uri="{9D8B030D-6E8A-4147-A177-3AD203B41FA5}">
                      <a16:colId xmlns:a16="http://schemas.microsoft.com/office/drawing/2014/main" val="1009408919"/>
                    </a:ext>
                  </a:extLst>
                </a:gridCol>
              </a:tblGrid>
              <a:tr h="333375">
                <a:tc>
                  <a:txBody>
                    <a:bodyPr/>
                    <a:lstStyle/>
                    <a:p>
                      <a:pPr algn="l" fontAlgn="b"/>
                      <a:r>
                        <a:rPr lang="fr-FR" sz="2000" b="1" i="0" u="none" strike="noStrike">
                          <a:solidFill>
                            <a:srgbClr val="FFFFFF"/>
                          </a:solidFill>
                          <a:effectLst/>
                          <a:latin typeface="Aptos Narrow" panose="020B0004020202020204" pitchFamily="34" charset="0"/>
                        </a:rPr>
                        <a:t>Année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2020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2024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2288409"/>
                  </a:ext>
                </a:extLst>
              </a:tr>
              <a:tr h="333375">
                <a:tc>
                  <a:txBody>
                    <a:bodyPr/>
                    <a:lstStyle/>
                    <a:p>
                      <a:pPr algn="l" fontAlgn="b"/>
                      <a:r>
                        <a:rPr lang="fr-FR" sz="2000" b="1" i="0" u="none" strike="noStrike">
                          <a:solidFill>
                            <a:srgbClr val="FFFFFF"/>
                          </a:solidFill>
                          <a:effectLst/>
                          <a:latin typeface="Aptos Narrow" panose="020B0004020202020204" pitchFamily="34" charset="0"/>
                        </a:rPr>
                        <a:t>Taux d'évolution du CA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fr-FR" sz="2000" b="0"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a:solidFill>
                            <a:srgbClr val="000000"/>
                          </a:solidFill>
                          <a:effectLst/>
                          <a:latin typeface="Aptos Narrow" panose="020B0004020202020204" pitchFamily="34"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fr-FR" sz="2000" b="0" i="0" u="none" strike="noStrike" dirty="0">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4993176"/>
                  </a:ext>
                </a:extLst>
              </a:tr>
            </a:tbl>
          </a:graphicData>
        </a:graphic>
      </p:graphicFrame>
    </p:spTree>
    <p:extLst>
      <p:ext uri="{BB962C8B-B14F-4D97-AF65-F5344CB8AC3E}">
        <p14:creationId xmlns:p14="http://schemas.microsoft.com/office/powerpoint/2010/main" val="16176925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47F6F-5E7C-F62B-3364-3A90AD3C97FA}"/>
            </a:ext>
          </a:extLst>
        </p:cNvPr>
        <p:cNvGrpSpPr/>
        <p:nvPr/>
      </p:nvGrpSpPr>
      <p:grpSpPr>
        <a:xfrm>
          <a:off x="0" y="0"/>
          <a:ext cx="0" cy="0"/>
          <a:chOff x="0" y="0"/>
          <a:chExt cx="0" cy="0"/>
        </a:xfrm>
      </p:grpSpPr>
      <p:sp>
        <p:nvSpPr>
          <p:cNvPr id="140" name="TextShape 2">
            <a:extLst>
              <a:ext uri="{FF2B5EF4-FFF2-40B4-BE49-F238E27FC236}">
                <a16:creationId xmlns:a16="http://schemas.microsoft.com/office/drawing/2014/main" id="{C19124F2-60F8-5C53-AFFB-6BF675F92869}"/>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TDC constituent une fonctionnalité offerte par les tableurs pour synthétiser les données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Ils permettent d'avoir rapidement accès à une grande variété d'indicateurs et de présenter les données sous forme clair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commencer par récupérer des données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L'INSEE en France permet d'obtenir des fichiers de données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 site américain </a:t>
            </a:r>
            <a:r>
              <a:rPr lang="fr-FR" sz="2400" spc="-1" dirty="0" err="1">
                <a:solidFill>
                  <a:srgbClr val="376092"/>
                </a:solidFill>
                <a:latin typeface="Arial"/>
              </a:rPr>
              <a:t>Kaggle</a:t>
            </a:r>
            <a:r>
              <a:rPr lang="fr-FR" sz="2400" spc="-1" dirty="0">
                <a:solidFill>
                  <a:srgbClr val="376092"/>
                </a:solidFill>
                <a:latin typeface="Arial"/>
              </a:rPr>
              <a:t> met à disposition des données pour l'analyse de données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nous intéresser aux achats de clients : https://www.kaggle.com/datasets/mehmettahiraslan/customer-shopping-dataset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39" name="TextShape 1">
            <a:extLst>
              <a:ext uri="{FF2B5EF4-FFF2-40B4-BE49-F238E27FC236}">
                <a16:creationId xmlns:a16="http://schemas.microsoft.com/office/drawing/2014/main" id="{A35E821A-93BD-BE75-34B5-31B9E7E8A88D}"/>
              </a:ext>
            </a:extLst>
          </p:cNvPr>
          <p:cNvSpPr txBox="1"/>
          <p:nvPr/>
        </p:nvSpPr>
        <p:spPr>
          <a:xfrm>
            <a:off x="457200" y="274680"/>
            <a:ext cx="8229240" cy="719500"/>
          </a:xfrm>
          <a:prstGeom prst="rect">
            <a:avLst/>
          </a:prstGeom>
          <a:noFill/>
          <a:ln w="0">
            <a:noFill/>
          </a:ln>
        </p:spPr>
        <p:txBody>
          <a:bodyPr lIns="0" tIns="0" rIns="0" bIns="0">
            <a:noAutofit/>
          </a:bodyPr>
          <a:lstStyle/>
          <a:p>
            <a:r>
              <a:rPr lang="fr-FR" sz="3200" spc="-1" dirty="0">
                <a:solidFill>
                  <a:srgbClr val="376092"/>
                </a:solidFill>
                <a:latin typeface="Calibri"/>
              </a:rPr>
              <a:t>Tableaux croisés dynamiques</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401FF9C9-580C-A338-9C48-C2F23E384C6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3381456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422EE-793E-158F-8738-C63664810925}"/>
            </a:ext>
          </a:extLst>
        </p:cNvPr>
        <p:cNvGrpSpPr/>
        <p:nvPr/>
      </p:nvGrpSpPr>
      <p:grpSpPr>
        <a:xfrm>
          <a:off x="0" y="0"/>
          <a:ext cx="0" cy="0"/>
          <a:chOff x="0" y="0"/>
          <a:chExt cx="0" cy="0"/>
        </a:xfrm>
      </p:grpSpPr>
      <p:sp>
        <p:nvSpPr>
          <p:cNvPr id="140" name="TextShape 2">
            <a:extLst>
              <a:ext uri="{FF2B5EF4-FFF2-40B4-BE49-F238E27FC236}">
                <a16:creationId xmlns:a16="http://schemas.microsoft.com/office/drawing/2014/main" id="{BE8A660E-8031-929E-5F03-D354745EA8F5}"/>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 fichier récupéré est au format CSV (comma </a:t>
            </a:r>
            <a:r>
              <a:rPr lang="fr-FR" sz="2400" spc="-1" dirty="0" err="1">
                <a:solidFill>
                  <a:srgbClr val="376092"/>
                </a:solidFill>
                <a:latin typeface="Arial"/>
              </a:rPr>
              <a:t>separated</a:t>
            </a:r>
            <a:r>
              <a:rPr lang="fr-FR" sz="2400" spc="-1" dirty="0">
                <a:solidFill>
                  <a:srgbClr val="376092"/>
                </a:solidFill>
                <a:latin typeface="Arial"/>
              </a:rPr>
              <a:t> values) et peut être ouvert avec Excel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que le tableau puisse être utilisé pour un TDC il faut: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Des libellés uniques sur les colonnes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Pas d'entête de colonne vide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Peu de cellules vides dans le tableau</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Sélectionnons le tableau (ctrl + A) puis insertion &gt; Tableaux croisés dynamiques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TDC est créé vide, c'est à nous de dire ce que nous voulons</a:t>
            </a:r>
          </a:p>
          <a:p>
            <a:pPr marL="565200" lvl="1">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39" name="TextShape 1">
            <a:extLst>
              <a:ext uri="{FF2B5EF4-FFF2-40B4-BE49-F238E27FC236}">
                <a16:creationId xmlns:a16="http://schemas.microsoft.com/office/drawing/2014/main" id="{021AE551-2122-07E4-FF60-BCB57D3B4A57}"/>
              </a:ext>
            </a:extLst>
          </p:cNvPr>
          <p:cNvSpPr txBox="1"/>
          <p:nvPr/>
        </p:nvSpPr>
        <p:spPr>
          <a:xfrm>
            <a:off x="457200" y="274680"/>
            <a:ext cx="8229240" cy="719500"/>
          </a:xfrm>
          <a:prstGeom prst="rect">
            <a:avLst/>
          </a:prstGeom>
          <a:noFill/>
          <a:ln w="0">
            <a:noFill/>
          </a:ln>
        </p:spPr>
        <p:txBody>
          <a:bodyPr lIns="0" tIns="0" rIns="0" bIns="0">
            <a:noAutofit/>
          </a:bodyPr>
          <a:lstStyle/>
          <a:p>
            <a:r>
              <a:rPr lang="fr-FR" sz="3200" spc="-1" dirty="0">
                <a:solidFill>
                  <a:srgbClr val="376092"/>
                </a:solidFill>
                <a:latin typeface="Calibri"/>
              </a:rPr>
              <a:t>Tableaux croisés dynamiques</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D2873F92-C5EC-346C-A384-5FBAF04FFD1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294845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B325E-3B4C-0EAB-6B91-1C5CD62F2D51}"/>
            </a:ext>
          </a:extLst>
        </p:cNvPr>
        <p:cNvGrpSpPr/>
        <p:nvPr/>
      </p:nvGrpSpPr>
      <p:grpSpPr>
        <a:xfrm>
          <a:off x="0" y="0"/>
          <a:ext cx="0" cy="0"/>
          <a:chOff x="0" y="0"/>
          <a:chExt cx="0" cy="0"/>
        </a:xfrm>
      </p:grpSpPr>
      <p:sp>
        <p:nvSpPr>
          <p:cNvPr id="140" name="TextShape 2">
            <a:extLst>
              <a:ext uri="{FF2B5EF4-FFF2-40B4-BE49-F238E27FC236}">
                <a16:creationId xmlns:a16="http://schemas.microsoft.com/office/drawing/2014/main" id="{12F3E708-0F70-1CEE-343B-44F42A4AC771}"/>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partie de droite va nous aider à organiser nos données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Filtres : données à ne pas afficher mais à utiliser comme critère de tri</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Colonnes : données à ajouter en colonnes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Lignes : données à ajouter en ligne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Valeurs : Valeurs à calculer dans le tableau</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champs utilisés dans le tableau sont automatiquement cochés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Ajoutons la catégorie (</a:t>
            </a:r>
            <a:r>
              <a:rPr lang="fr-FR" sz="2400" spc="-1" dirty="0" err="1">
                <a:solidFill>
                  <a:srgbClr val="376092"/>
                </a:solidFill>
                <a:latin typeface="Arial"/>
              </a:rPr>
              <a:t>category</a:t>
            </a:r>
            <a:r>
              <a:rPr lang="fr-FR" sz="2400" spc="-1" dirty="0">
                <a:solidFill>
                  <a:srgbClr val="376092"/>
                </a:solidFill>
                <a:latin typeface="Arial"/>
              </a:rPr>
              <a:t>) en ligne, le sexe (</a:t>
            </a:r>
            <a:r>
              <a:rPr lang="fr-FR" sz="2400" spc="-1" dirty="0" err="1">
                <a:solidFill>
                  <a:srgbClr val="376092"/>
                </a:solidFill>
                <a:latin typeface="Arial"/>
              </a:rPr>
              <a:t>gender</a:t>
            </a:r>
            <a:r>
              <a:rPr lang="fr-FR" sz="2400" spc="-1" dirty="0">
                <a:solidFill>
                  <a:srgbClr val="376092"/>
                </a:solidFill>
                <a:latin typeface="Arial"/>
              </a:rPr>
              <a:t>) en colonne et l'âge en valeur</a:t>
            </a:r>
          </a:p>
          <a:p>
            <a:pPr marL="565200" lvl="1">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39" name="TextShape 1">
            <a:extLst>
              <a:ext uri="{FF2B5EF4-FFF2-40B4-BE49-F238E27FC236}">
                <a16:creationId xmlns:a16="http://schemas.microsoft.com/office/drawing/2014/main" id="{A0660652-D6D0-9325-6850-4AA750AE5256}"/>
              </a:ext>
            </a:extLst>
          </p:cNvPr>
          <p:cNvSpPr txBox="1"/>
          <p:nvPr/>
        </p:nvSpPr>
        <p:spPr>
          <a:xfrm>
            <a:off x="457200" y="274680"/>
            <a:ext cx="8229240" cy="719500"/>
          </a:xfrm>
          <a:prstGeom prst="rect">
            <a:avLst/>
          </a:prstGeom>
          <a:noFill/>
          <a:ln w="0">
            <a:noFill/>
          </a:ln>
        </p:spPr>
        <p:txBody>
          <a:bodyPr lIns="0" tIns="0" rIns="0" bIns="0">
            <a:noAutofit/>
          </a:bodyPr>
          <a:lstStyle/>
          <a:p>
            <a:r>
              <a:rPr lang="fr-FR" sz="3200" spc="-1" dirty="0">
                <a:solidFill>
                  <a:srgbClr val="376092"/>
                </a:solidFill>
                <a:latin typeface="Calibri"/>
              </a:rPr>
              <a:t>Tableaux croisés dynamiques</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4025BB36-7C93-8333-049E-E8444D57422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29292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EF9F6-E68F-2FB3-8F4B-BD4FD161483D}"/>
            </a:ext>
          </a:extLst>
        </p:cNvPr>
        <p:cNvGrpSpPr/>
        <p:nvPr/>
      </p:nvGrpSpPr>
      <p:grpSpPr>
        <a:xfrm>
          <a:off x="0" y="0"/>
          <a:ext cx="0" cy="0"/>
          <a:chOff x="0" y="0"/>
          <a:chExt cx="0" cy="0"/>
        </a:xfrm>
      </p:grpSpPr>
      <p:sp>
        <p:nvSpPr>
          <p:cNvPr id="140" name="TextShape 2">
            <a:extLst>
              <a:ext uri="{FF2B5EF4-FFF2-40B4-BE49-F238E27FC236}">
                <a16:creationId xmlns:a16="http://schemas.microsoft.com/office/drawing/2014/main" id="{6642D2CA-6DED-8B30-5723-0D89361B8409}"/>
              </a:ext>
            </a:extLst>
          </p:cNvPr>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Par défaut si Excel trouve une valeur numérique comme l'âge, il va calculer la somme, nous pouvons lui demander l'âge moyen avec un clic droit (paramètres) sur la somme de l'âge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valoriser les 4 parties et voyons comment Excel modifie le tableau</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une donnée est ajoutée ou modifié dans le tableau initial, il faut impérativement actualiser le TDC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Deux nouveaux menus sont apparus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Analyse : modifier la plage de données, les filtres, les calculs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Création : modifier les sous-totaux et l'aspect</a:t>
            </a:r>
          </a:p>
          <a:p>
            <a:pPr marL="565200" lvl="1">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565200" lvl="1">
              <a:spcAft>
                <a:spcPts val="1060"/>
              </a:spcAft>
              <a:buClr>
                <a:srgbClr val="000000"/>
              </a:buClr>
              <a:buSzPct val="45000"/>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39" name="TextShape 1">
            <a:extLst>
              <a:ext uri="{FF2B5EF4-FFF2-40B4-BE49-F238E27FC236}">
                <a16:creationId xmlns:a16="http://schemas.microsoft.com/office/drawing/2014/main" id="{D3033263-D394-5193-B263-631AFAEB0947}"/>
              </a:ext>
            </a:extLst>
          </p:cNvPr>
          <p:cNvSpPr txBox="1"/>
          <p:nvPr/>
        </p:nvSpPr>
        <p:spPr>
          <a:xfrm>
            <a:off x="457200" y="274680"/>
            <a:ext cx="8229240" cy="719500"/>
          </a:xfrm>
          <a:prstGeom prst="rect">
            <a:avLst/>
          </a:prstGeom>
          <a:noFill/>
          <a:ln w="0">
            <a:noFill/>
          </a:ln>
        </p:spPr>
        <p:txBody>
          <a:bodyPr lIns="0" tIns="0" rIns="0" bIns="0">
            <a:noAutofit/>
          </a:bodyPr>
          <a:lstStyle/>
          <a:p>
            <a:r>
              <a:rPr lang="fr-FR" sz="3200" spc="-1" dirty="0">
                <a:solidFill>
                  <a:srgbClr val="376092"/>
                </a:solidFill>
                <a:latin typeface="Calibri"/>
              </a:rPr>
              <a:t>Tableaux croisés dynamiques</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3741E60C-0C64-A891-A0BB-8029A4C0C81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559906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6774</TotalTime>
  <Words>4386</Words>
  <Application>Microsoft Office PowerPoint</Application>
  <PresentationFormat>Affichage à l'écran (4:3)</PresentationFormat>
  <Paragraphs>701</Paragraphs>
  <Slides>49</Slides>
  <Notes>0</Notes>
  <HiddenSlides>0</HiddenSlides>
  <MMClips>0</MMClips>
  <ScaleCrop>false</ScaleCrop>
  <HeadingPairs>
    <vt:vector size="6" baseType="variant">
      <vt:variant>
        <vt:lpstr>Polices utilisées</vt:lpstr>
      </vt:variant>
      <vt:variant>
        <vt:i4>7</vt:i4>
      </vt:variant>
      <vt:variant>
        <vt:lpstr>Thème</vt:lpstr>
      </vt:variant>
      <vt:variant>
        <vt:i4>3</vt:i4>
      </vt:variant>
      <vt:variant>
        <vt:lpstr>Titres des diapositives</vt:lpstr>
      </vt:variant>
      <vt:variant>
        <vt:i4>49</vt:i4>
      </vt:variant>
    </vt:vector>
  </HeadingPairs>
  <TitlesOfParts>
    <vt:vector size="59" baseType="lpstr">
      <vt:lpstr>Aptos Narrow</vt:lpstr>
      <vt:lpstr>Arial</vt:lpstr>
      <vt:lpstr>Calibri</vt:lpstr>
      <vt:lpstr>Cambria Math</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300</cp:revision>
  <dcterms:created xsi:type="dcterms:W3CDTF">2012-01-17T22:15:29Z</dcterms:created>
  <dcterms:modified xsi:type="dcterms:W3CDTF">2024-11-05T07:40:41Z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