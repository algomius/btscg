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22"/>
  </p:notesMasterIdLst>
  <p:sldIdLst>
    <p:sldId id="256" r:id="rId4"/>
    <p:sldId id="343" r:id="rId5"/>
    <p:sldId id="376" r:id="rId6"/>
    <p:sldId id="377" r:id="rId7"/>
    <p:sldId id="378" r:id="rId8"/>
    <p:sldId id="379" r:id="rId9"/>
    <p:sldId id="380" r:id="rId10"/>
    <p:sldId id="381" r:id="rId11"/>
    <p:sldId id="382" r:id="rId12"/>
    <p:sldId id="383" r:id="rId13"/>
    <p:sldId id="384" r:id="rId14"/>
    <p:sldId id="385" r:id="rId15"/>
    <p:sldId id="386" r:id="rId16"/>
    <p:sldId id="387" r:id="rId17"/>
    <p:sldId id="388" r:id="rId18"/>
    <p:sldId id="389" r:id="rId19"/>
    <p:sldId id="390" r:id="rId20"/>
    <p:sldId id="281" r:id="rId21"/>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78" d="100"/>
          <a:sy n="78" d="100"/>
        </p:scale>
        <p:origin x="1594" y="67"/>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Fonction polynomiale et sa tangeante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0.13791984143771091"/>
          <c:y val="0.25726736460028704"/>
          <c:w val="0.82616025904127077"/>
          <c:h val="0.72254069521680908"/>
        </c:manualLayout>
      </c:layout>
      <c:scatterChart>
        <c:scatterStyle val="lineMarker"/>
        <c:varyColors val="0"/>
        <c:ser>
          <c:idx val="0"/>
          <c:order val="0"/>
          <c:tx>
            <c:strRef>
              <c:f>Feuil1!$B$1</c:f>
              <c:strCache>
                <c:ptCount val="1"/>
                <c:pt idx="0">
                  <c:v>f(x)</c:v>
                </c:pt>
              </c:strCache>
            </c:strRef>
          </c:tx>
          <c:spPr>
            <a:ln w="38100" cap="rnd">
              <a:noFill/>
              <a:round/>
            </a:ln>
            <a:effectLst/>
          </c:spPr>
          <c:marker>
            <c:symbol val="circle"/>
            <c:size val="5"/>
            <c:spPr>
              <a:solidFill>
                <a:schemeClr val="accent1"/>
              </a:solidFill>
              <a:ln w="9525">
                <a:solidFill>
                  <a:schemeClr val="accent1"/>
                </a:solidFill>
              </a:ln>
              <a:effectLst/>
            </c:spPr>
          </c:marker>
          <c:xVal>
            <c:numRef>
              <c:f>Feuil1!$A$2:$A$52</c:f>
              <c:numCache>
                <c:formatCode>General</c:formatCode>
                <c:ptCount val="5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numCache>
            </c:numRef>
          </c:xVal>
          <c:yVal>
            <c:numRef>
              <c:f>Feuil1!$B$2:$B$52</c:f>
              <c:numCache>
                <c:formatCode>General</c:formatCode>
                <c:ptCount val="51"/>
                <c:pt idx="0">
                  <c:v>4</c:v>
                </c:pt>
                <c:pt idx="1">
                  <c:v>0</c:v>
                </c:pt>
                <c:pt idx="2">
                  <c:v>2</c:v>
                </c:pt>
                <c:pt idx="3">
                  <c:v>10</c:v>
                </c:pt>
                <c:pt idx="4">
                  <c:v>24</c:v>
                </c:pt>
                <c:pt idx="5">
                  <c:v>44</c:v>
                </c:pt>
                <c:pt idx="6">
                  <c:v>70</c:v>
                </c:pt>
                <c:pt idx="7">
                  <c:v>102</c:v>
                </c:pt>
                <c:pt idx="8">
                  <c:v>140</c:v>
                </c:pt>
                <c:pt idx="9">
                  <c:v>184</c:v>
                </c:pt>
                <c:pt idx="10">
                  <c:v>234</c:v>
                </c:pt>
                <c:pt idx="11">
                  <c:v>290</c:v>
                </c:pt>
                <c:pt idx="12">
                  <c:v>352</c:v>
                </c:pt>
                <c:pt idx="13">
                  <c:v>420</c:v>
                </c:pt>
                <c:pt idx="14">
                  <c:v>494</c:v>
                </c:pt>
                <c:pt idx="15">
                  <c:v>574</c:v>
                </c:pt>
                <c:pt idx="16">
                  <c:v>660</c:v>
                </c:pt>
                <c:pt idx="17">
                  <c:v>752</c:v>
                </c:pt>
                <c:pt idx="18">
                  <c:v>850</c:v>
                </c:pt>
                <c:pt idx="19">
                  <c:v>954</c:v>
                </c:pt>
                <c:pt idx="20">
                  <c:v>1064</c:v>
                </c:pt>
                <c:pt idx="21">
                  <c:v>1180</c:v>
                </c:pt>
                <c:pt idx="22">
                  <c:v>1302</c:v>
                </c:pt>
                <c:pt idx="23">
                  <c:v>1430</c:v>
                </c:pt>
                <c:pt idx="24">
                  <c:v>1564</c:v>
                </c:pt>
                <c:pt idx="25">
                  <c:v>1704</c:v>
                </c:pt>
                <c:pt idx="26">
                  <c:v>1850</c:v>
                </c:pt>
                <c:pt idx="27">
                  <c:v>2002</c:v>
                </c:pt>
                <c:pt idx="28">
                  <c:v>2160</c:v>
                </c:pt>
                <c:pt idx="29">
                  <c:v>2324</c:v>
                </c:pt>
                <c:pt idx="30">
                  <c:v>2494</c:v>
                </c:pt>
                <c:pt idx="31">
                  <c:v>2670</c:v>
                </c:pt>
                <c:pt idx="32">
                  <c:v>2852</c:v>
                </c:pt>
                <c:pt idx="33">
                  <c:v>3040</c:v>
                </c:pt>
                <c:pt idx="34">
                  <c:v>3234</c:v>
                </c:pt>
                <c:pt idx="35">
                  <c:v>3434</c:v>
                </c:pt>
                <c:pt idx="36">
                  <c:v>3640</c:v>
                </c:pt>
                <c:pt idx="37">
                  <c:v>3852</c:v>
                </c:pt>
                <c:pt idx="38">
                  <c:v>4070</c:v>
                </c:pt>
                <c:pt idx="39">
                  <c:v>4294</c:v>
                </c:pt>
                <c:pt idx="40">
                  <c:v>4524</c:v>
                </c:pt>
                <c:pt idx="41">
                  <c:v>4760</c:v>
                </c:pt>
                <c:pt idx="42">
                  <c:v>5002</c:v>
                </c:pt>
                <c:pt idx="43">
                  <c:v>5250</c:v>
                </c:pt>
                <c:pt idx="44">
                  <c:v>5504</c:v>
                </c:pt>
                <c:pt idx="45">
                  <c:v>5764</c:v>
                </c:pt>
                <c:pt idx="46">
                  <c:v>6030</c:v>
                </c:pt>
                <c:pt idx="47">
                  <c:v>6302</c:v>
                </c:pt>
                <c:pt idx="48">
                  <c:v>6580</c:v>
                </c:pt>
                <c:pt idx="49">
                  <c:v>6864</c:v>
                </c:pt>
                <c:pt idx="50">
                  <c:v>7154</c:v>
                </c:pt>
              </c:numCache>
            </c:numRef>
          </c:yVal>
          <c:smooth val="0"/>
          <c:extLst>
            <c:ext xmlns:c16="http://schemas.microsoft.com/office/drawing/2014/chart" uri="{C3380CC4-5D6E-409C-BE32-E72D297353CC}">
              <c16:uniqueId val="{00000000-B8BA-43A3-B0F9-548DB8C43F20}"/>
            </c:ext>
          </c:extLst>
        </c:ser>
        <c:ser>
          <c:idx val="1"/>
          <c:order val="1"/>
          <c:tx>
            <c:strRef>
              <c:f>Feuil1!$C$1</c:f>
              <c:strCache>
                <c:ptCount val="1"/>
                <c:pt idx="0">
                  <c:v>Droite</c:v>
                </c:pt>
              </c:strCache>
            </c:strRef>
          </c:tx>
          <c:spPr>
            <a:ln w="38100" cap="rnd">
              <a:noFill/>
              <a:round/>
            </a:ln>
            <a:effectLst/>
          </c:spPr>
          <c:marker>
            <c:symbol val="circle"/>
            <c:size val="5"/>
            <c:spPr>
              <a:solidFill>
                <a:schemeClr val="accent2"/>
              </a:solidFill>
              <a:ln w="9525">
                <a:solidFill>
                  <a:schemeClr val="accent2"/>
                </a:solidFill>
              </a:ln>
              <a:effectLst/>
            </c:spPr>
          </c:marker>
          <c:xVal>
            <c:numRef>
              <c:f>Feuil1!$A$2:$A$52</c:f>
              <c:numCache>
                <c:formatCode>General</c:formatCode>
                <c:ptCount val="5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numCache>
            </c:numRef>
          </c:xVal>
          <c:yVal>
            <c:numRef>
              <c:f>Feuil1!$C$2:$C$52</c:f>
              <c:numCache>
                <c:formatCode>General</c:formatCode>
                <c:ptCount val="51"/>
                <c:pt idx="0">
                  <c:v>-1871</c:v>
                </c:pt>
                <c:pt idx="1">
                  <c:v>-1728</c:v>
                </c:pt>
                <c:pt idx="2">
                  <c:v>-1585</c:v>
                </c:pt>
                <c:pt idx="3">
                  <c:v>-1442</c:v>
                </c:pt>
                <c:pt idx="4">
                  <c:v>-1299</c:v>
                </c:pt>
                <c:pt idx="5">
                  <c:v>-1156</c:v>
                </c:pt>
                <c:pt idx="6">
                  <c:v>-1013</c:v>
                </c:pt>
                <c:pt idx="7">
                  <c:v>-870</c:v>
                </c:pt>
                <c:pt idx="8">
                  <c:v>-727</c:v>
                </c:pt>
                <c:pt idx="9">
                  <c:v>-584</c:v>
                </c:pt>
                <c:pt idx="10">
                  <c:v>-441</c:v>
                </c:pt>
                <c:pt idx="11">
                  <c:v>-298</c:v>
                </c:pt>
                <c:pt idx="12">
                  <c:v>-155</c:v>
                </c:pt>
                <c:pt idx="13">
                  <c:v>-12</c:v>
                </c:pt>
                <c:pt idx="14">
                  <c:v>131</c:v>
                </c:pt>
                <c:pt idx="15">
                  <c:v>274</c:v>
                </c:pt>
                <c:pt idx="16">
                  <c:v>417</c:v>
                </c:pt>
                <c:pt idx="17">
                  <c:v>560</c:v>
                </c:pt>
                <c:pt idx="18">
                  <c:v>703</c:v>
                </c:pt>
                <c:pt idx="19">
                  <c:v>846</c:v>
                </c:pt>
                <c:pt idx="20">
                  <c:v>989</c:v>
                </c:pt>
                <c:pt idx="21">
                  <c:v>1132</c:v>
                </c:pt>
                <c:pt idx="22">
                  <c:v>1275</c:v>
                </c:pt>
                <c:pt idx="23">
                  <c:v>1418</c:v>
                </c:pt>
                <c:pt idx="24">
                  <c:v>1561</c:v>
                </c:pt>
                <c:pt idx="25">
                  <c:v>1704</c:v>
                </c:pt>
                <c:pt idx="26">
                  <c:v>1847</c:v>
                </c:pt>
                <c:pt idx="27">
                  <c:v>1990</c:v>
                </c:pt>
                <c:pt idx="28">
                  <c:v>2133</c:v>
                </c:pt>
                <c:pt idx="29">
                  <c:v>2276</c:v>
                </c:pt>
                <c:pt idx="30">
                  <c:v>2419</c:v>
                </c:pt>
                <c:pt idx="31">
                  <c:v>2562</c:v>
                </c:pt>
                <c:pt idx="32">
                  <c:v>2705</c:v>
                </c:pt>
                <c:pt idx="33">
                  <c:v>2848</c:v>
                </c:pt>
                <c:pt idx="34">
                  <c:v>2991</c:v>
                </c:pt>
                <c:pt idx="35">
                  <c:v>3134</c:v>
                </c:pt>
                <c:pt idx="36">
                  <c:v>3277</c:v>
                </c:pt>
                <c:pt idx="37">
                  <c:v>3420</c:v>
                </c:pt>
                <c:pt idx="38">
                  <c:v>3563</c:v>
                </c:pt>
                <c:pt idx="39">
                  <c:v>3706</c:v>
                </c:pt>
                <c:pt idx="40">
                  <c:v>3849</c:v>
                </c:pt>
                <c:pt idx="41">
                  <c:v>3992</c:v>
                </c:pt>
                <c:pt idx="42">
                  <c:v>4135</c:v>
                </c:pt>
                <c:pt idx="43">
                  <c:v>4278</c:v>
                </c:pt>
                <c:pt idx="44">
                  <c:v>4421</c:v>
                </c:pt>
                <c:pt idx="45">
                  <c:v>4564</c:v>
                </c:pt>
                <c:pt idx="46">
                  <c:v>4707</c:v>
                </c:pt>
                <c:pt idx="47">
                  <c:v>4850</c:v>
                </c:pt>
                <c:pt idx="48">
                  <c:v>4993</c:v>
                </c:pt>
                <c:pt idx="49">
                  <c:v>5136</c:v>
                </c:pt>
                <c:pt idx="50">
                  <c:v>5279</c:v>
                </c:pt>
              </c:numCache>
            </c:numRef>
          </c:yVal>
          <c:smooth val="0"/>
          <c:extLst>
            <c:ext xmlns:c16="http://schemas.microsoft.com/office/drawing/2014/chart" uri="{C3380CC4-5D6E-409C-BE32-E72D297353CC}">
              <c16:uniqueId val="{00000001-B8BA-43A3-B0F9-548DB8C43F20}"/>
            </c:ext>
          </c:extLst>
        </c:ser>
        <c:dLbls>
          <c:showLegendKey val="0"/>
          <c:showVal val="0"/>
          <c:showCatName val="0"/>
          <c:showSerName val="0"/>
          <c:showPercent val="0"/>
          <c:showBubbleSize val="0"/>
        </c:dLbls>
        <c:axId val="429733936"/>
        <c:axId val="429733456"/>
      </c:scatterChart>
      <c:valAx>
        <c:axId val="4297339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29733456"/>
        <c:crosses val="autoZero"/>
        <c:crossBetween val="midCat"/>
      </c:valAx>
      <c:valAx>
        <c:axId val="429733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29733936"/>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27/03/2026</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txBody>
          <a:bodyPr/>
          <a:lstStyle/>
          <a:p>
            <a:endParaRPr lang="fr-F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txBody>
          <a:bodyPr/>
          <a:lstStyle/>
          <a:p>
            <a:endParaRPr lang="fr-FR"/>
          </a:p>
        </p:txBody>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fr-FR"/>
          </a:p>
        </p:txBody>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txBody>
          <a:bodyPr/>
          <a:lstStyle/>
          <a:p>
            <a:endParaRPr lang="fr-FR"/>
          </a:p>
        </p:txBody>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15.xml"/><Relationship Id="rId5" Type="http://schemas.openxmlformats.org/officeDocument/2006/relationships/image" Target="../media/image5.emf"/><Relationship Id="rId4" Type="http://schemas.openxmlformats.org/officeDocument/2006/relationships/package" Target="../embeddings/Microsoft_Excel_Worksheet.xls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1.xlsx"/><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openxmlformats.org/officeDocument/2006/relationships/image" Target="../media/image22.png"/><Relationship Id="rId1" Type="http://schemas.openxmlformats.org/officeDocument/2006/relationships/slideLayout" Target="../slideLayouts/slideLayout15.xml"/><Relationship Id="rId4" Type="http://schemas.openxmlformats.org/officeDocument/2006/relationships/image" Target="../media/image8.emf"/></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1" Type="http://schemas.openxmlformats.org/officeDocument/2006/relationships/slideLayout" Target="../slideLayouts/slideLayout15.xml"/><Relationship Id="rId5" Type="http://schemas.openxmlformats.org/officeDocument/2006/relationships/image" Target="../media/image9.emf"/><Relationship Id="rId4" Type="http://schemas.openxmlformats.org/officeDocument/2006/relationships/package" Target="../embeddings/Microsoft_Excel_Worksheet3.xlsx"/></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Dérivation</a:t>
            </a:r>
            <a:br>
              <a:rPr dirty="0"/>
            </a:br>
            <a:endParaRPr lang="en-US" sz="4400"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Dérivation :</a:t>
            </a:r>
            <a:endParaRPr lang="en-US" sz="3200" b="0" strike="noStrike" spc="-1" dirty="0">
              <a:solidFill>
                <a:srgbClr val="376092"/>
              </a:solidFill>
              <a:latin typeface="Arial"/>
            </a:endParaRPr>
          </a:p>
        </p:txBody>
      </p:sp>
      <p:sp>
        <p:nvSpPr>
          <p:cNvPr id="140" name="TextShape 2"/>
          <p:cNvSpPr txBox="1"/>
          <p:nvPr/>
        </p:nvSpPr>
        <p:spPr>
          <a:xfrm>
            <a:off x="457200" y="1677880"/>
            <a:ext cx="8229240" cy="444788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Qu'est-ce qu'une dérivée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Dérivés des fonctions de référence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Dérivée et sens de variation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Extremums locaux d'une fonction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Lecture d'un tableau de signe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Logarithme népérien et exponentielle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Cas concrets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Questions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Qu'est-ce qu'une dérivée ? :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dérivée mesure la variation instantanée d'une fonction par rapport à une variable.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Elle indique à quelle vitesse une quantité change à un instant précis.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une fonction f(x), sa dérivée en un point p correspond à la pente de la tangente à la courbe en ce point.   </a:t>
            </a: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graphicFrame>
        <p:nvGraphicFramePr>
          <p:cNvPr id="2" name="Graphique 1">
            <a:extLst>
              <a:ext uri="{FF2B5EF4-FFF2-40B4-BE49-F238E27FC236}">
                <a16:creationId xmlns:a16="http://schemas.microsoft.com/office/drawing/2014/main" id="{3C7DE2D8-D9CD-C36E-185B-8577426C1603}"/>
              </a:ext>
            </a:extLst>
          </p:cNvPr>
          <p:cNvGraphicFramePr>
            <a:graphicFrameLocks/>
          </p:cNvGraphicFramePr>
          <p:nvPr>
            <p:extLst>
              <p:ext uri="{D42A27DB-BD31-4B8C-83A1-F6EECF244321}">
                <p14:modId xmlns:p14="http://schemas.microsoft.com/office/powerpoint/2010/main" val="4238036669"/>
              </p:ext>
            </p:extLst>
          </p:nvPr>
        </p:nvGraphicFramePr>
        <p:xfrm>
          <a:off x="820882" y="3617533"/>
          <a:ext cx="8229240" cy="31605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7294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4940-DBF7-7641-6EDD-46F8EE3A0F64}"/>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E795CAD3-C854-E278-32D4-53287974EF8B}"/>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Dérivées des fonctions de références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DD11AF74-631C-0835-54B9-A1FD2A1F9BCF}"/>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Voici comment calculer les dérivées de quelques fonctions classiques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Ces fonctions de bases sont à connaitre car elles vont nous servir de base pour des fonctions plus complexes.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les dérivées de : f(x) = 4*x, g(x) = 7*x², h(x) = 2*x</a:t>
            </a:r>
            <a:r>
              <a:rPr lang="fr-FR" sz="2400" spc="-1" baseline="30000" dirty="0">
                <a:solidFill>
                  <a:srgbClr val="376092"/>
                </a:solidFill>
                <a:latin typeface="Calibri"/>
              </a:rPr>
              <a:t>16</a:t>
            </a:r>
            <a:r>
              <a:rPr lang="fr-FR" sz="2400" spc="-1" dirty="0">
                <a:solidFill>
                  <a:srgbClr val="376092"/>
                </a:solidFill>
                <a:latin typeface="Calibri"/>
              </a:rPr>
              <a:t>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graphicFrame>
        <p:nvGraphicFramePr>
          <p:cNvPr id="4" name="Tableau 3">
            <a:extLst>
              <a:ext uri="{FF2B5EF4-FFF2-40B4-BE49-F238E27FC236}">
                <a16:creationId xmlns:a16="http://schemas.microsoft.com/office/drawing/2014/main" id="{AFA6FDC5-B54D-4E1E-9A82-D357D59AFB51}"/>
              </a:ext>
            </a:extLst>
          </p:cNvPr>
          <p:cNvGraphicFramePr>
            <a:graphicFrameLocks noGrp="1"/>
          </p:cNvGraphicFramePr>
          <p:nvPr>
            <p:extLst>
              <p:ext uri="{D42A27DB-BD31-4B8C-83A1-F6EECF244321}">
                <p14:modId xmlns:p14="http://schemas.microsoft.com/office/powerpoint/2010/main" val="1891462860"/>
              </p:ext>
            </p:extLst>
          </p:nvPr>
        </p:nvGraphicFramePr>
        <p:xfrm>
          <a:off x="1462232" y="2107551"/>
          <a:ext cx="5575300" cy="2409825"/>
        </p:xfrm>
        <a:graphic>
          <a:graphicData uri="http://schemas.openxmlformats.org/drawingml/2006/table">
            <a:tbl>
              <a:tblPr/>
              <a:tblGrid>
                <a:gridCol w="3657600">
                  <a:extLst>
                    <a:ext uri="{9D8B030D-6E8A-4147-A177-3AD203B41FA5}">
                      <a16:colId xmlns:a16="http://schemas.microsoft.com/office/drawing/2014/main" val="198342528"/>
                    </a:ext>
                  </a:extLst>
                </a:gridCol>
                <a:gridCol w="1917700">
                  <a:extLst>
                    <a:ext uri="{9D8B030D-6E8A-4147-A177-3AD203B41FA5}">
                      <a16:colId xmlns:a16="http://schemas.microsoft.com/office/drawing/2014/main" val="3225581962"/>
                    </a:ext>
                  </a:extLst>
                </a:gridCol>
              </a:tblGrid>
              <a:tr h="333375">
                <a:tc>
                  <a:txBody>
                    <a:bodyPr/>
                    <a:lstStyle/>
                    <a:p>
                      <a:pPr algn="ctr" fontAlgn="b">
                        <a:buNone/>
                      </a:pPr>
                      <a:r>
                        <a:rPr lang="fr-FR" sz="2000" b="1" i="0" u="none" strike="noStrike">
                          <a:solidFill>
                            <a:srgbClr val="FFFFFF"/>
                          </a:solidFill>
                          <a:effectLst/>
                          <a:latin typeface="Aptos Narrow" panose="020B0004020202020204" pitchFamily="34" charset="0"/>
                        </a:rPr>
                        <a:t>Fonction 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fr-FR" sz="2000" b="1" i="0" u="none" strike="noStrike">
                          <a:solidFill>
                            <a:srgbClr val="FFFFFF"/>
                          </a:solidFill>
                          <a:effectLst/>
                          <a:latin typeface="Aptos Narrow" panose="020B0004020202020204" pitchFamily="34" charset="0"/>
                        </a:rPr>
                        <a:t>Dérivée 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4044101454"/>
                  </a:ext>
                </a:extLst>
              </a:tr>
              <a:tr h="333375">
                <a:tc>
                  <a:txBody>
                    <a:bodyPr/>
                    <a:lstStyle/>
                    <a:p>
                      <a:pPr algn="l" fontAlgn="b">
                        <a:buNone/>
                      </a:pPr>
                      <a:r>
                        <a:rPr lang="fr-FR" sz="2000" b="0" i="0" u="none" strike="noStrike">
                          <a:solidFill>
                            <a:srgbClr val="000000"/>
                          </a:solidFill>
                          <a:effectLst/>
                          <a:latin typeface="Aptos Narrow" panose="020B0004020202020204" pitchFamily="34" charset="0"/>
                        </a:rPr>
                        <a:t>f(x) = k (constante)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2000" b="0" i="0" u="none" strike="noStrike">
                          <a:solidFill>
                            <a:srgbClr val="000000"/>
                          </a:solidFill>
                          <a:effectLst/>
                          <a:latin typeface="Aptos Narrow" panose="020B0004020202020204" pitchFamily="34" charset="0"/>
                        </a:rPr>
                        <a:t>f'(x) = 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3742456"/>
                  </a:ext>
                </a:extLst>
              </a:tr>
              <a:tr h="333375">
                <a:tc>
                  <a:txBody>
                    <a:bodyPr/>
                    <a:lstStyle/>
                    <a:p>
                      <a:pPr algn="l" fontAlgn="b">
                        <a:buNone/>
                      </a:pPr>
                      <a:r>
                        <a:rPr lang="fr-FR" sz="2000" b="0" i="0" u="none" strike="noStrike">
                          <a:solidFill>
                            <a:srgbClr val="000000"/>
                          </a:solidFill>
                          <a:effectLst/>
                          <a:latin typeface="Aptos Narrow" panose="020B0004020202020204" pitchFamily="34" charset="0"/>
                        </a:rPr>
                        <a:t>f(x) = a*x (a réel)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2000" b="0" i="0" u="none" strike="noStrike">
                          <a:solidFill>
                            <a:srgbClr val="000000"/>
                          </a:solidFill>
                          <a:effectLst/>
                          <a:latin typeface="Aptos Narrow" panose="020B0004020202020204" pitchFamily="34" charset="0"/>
                        </a:rPr>
                        <a:t>f'(x) = 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0982258"/>
                  </a:ext>
                </a:extLst>
              </a:tr>
              <a:tr h="333375">
                <a:tc>
                  <a:txBody>
                    <a:bodyPr/>
                    <a:lstStyle/>
                    <a:p>
                      <a:pPr algn="l" fontAlgn="b">
                        <a:buNone/>
                      </a:pPr>
                      <a:r>
                        <a:rPr lang="fr-FR" sz="2000" b="0" i="0" u="none" strike="noStrike">
                          <a:solidFill>
                            <a:srgbClr val="000000"/>
                          </a:solidFill>
                          <a:effectLst/>
                          <a:latin typeface="Aptos Narrow" panose="020B0004020202020204" pitchFamily="34" charset="0"/>
                        </a:rPr>
                        <a:t>f(x) = a * x²  (a réel)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pt-BR" sz="2000" b="0" i="0" u="none" strike="noStrike">
                          <a:solidFill>
                            <a:srgbClr val="000000"/>
                          </a:solidFill>
                          <a:effectLst/>
                          <a:latin typeface="Aptos Narrow" panose="020B0004020202020204" pitchFamily="34" charset="0"/>
                        </a:rPr>
                        <a:t>f'(x) = 2 * a * x</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2941117"/>
                  </a:ext>
                </a:extLst>
              </a:tr>
              <a:tr h="371475">
                <a:tc>
                  <a:txBody>
                    <a:bodyPr/>
                    <a:lstStyle/>
                    <a:p>
                      <a:pPr algn="l" fontAlgn="b">
                        <a:buNone/>
                      </a:pPr>
                      <a:r>
                        <a:rPr lang="fr-FR" sz="2000" b="0" i="0" u="none" strike="noStrike">
                          <a:solidFill>
                            <a:srgbClr val="000000"/>
                          </a:solidFill>
                          <a:effectLst/>
                          <a:latin typeface="Aptos Narrow" panose="020B0004020202020204" pitchFamily="34" charset="0"/>
                        </a:rPr>
                        <a:t>f(x) = a *  x</a:t>
                      </a:r>
                      <a:r>
                        <a:rPr lang="fr-FR" sz="2000" b="0" i="0" u="none" strike="noStrike" baseline="30000">
                          <a:solidFill>
                            <a:srgbClr val="000000"/>
                          </a:solidFill>
                          <a:effectLst/>
                          <a:latin typeface="Aptos Narrow" panose="020B0004020202020204" pitchFamily="34" charset="0"/>
                        </a:rPr>
                        <a:t>3</a:t>
                      </a:r>
                      <a:r>
                        <a:rPr lang="fr-FR" sz="2000" b="0" i="0" u="none" strike="noStrike">
                          <a:solidFill>
                            <a:srgbClr val="000000"/>
                          </a:solidFill>
                          <a:effectLst/>
                          <a:latin typeface="Aptos Narrow" panose="020B0004020202020204" pitchFamily="34" charset="0"/>
                        </a:rPr>
                        <a:t>  (a réel)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pt-BR" sz="2000" b="0" i="0" u="none" strike="noStrike">
                          <a:solidFill>
                            <a:srgbClr val="000000"/>
                          </a:solidFill>
                          <a:effectLst/>
                          <a:latin typeface="Aptos Narrow" panose="020B0004020202020204" pitchFamily="34" charset="0"/>
                        </a:rPr>
                        <a:t>f'(x) = 3 * a * x²</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5307349"/>
                  </a:ext>
                </a:extLst>
              </a:tr>
              <a:tr h="371475">
                <a:tc>
                  <a:txBody>
                    <a:bodyPr/>
                    <a:lstStyle/>
                    <a:p>
                      <a:pPr algn="l" fontAlgn="b">
                        <a:buNone/>
                      </a:pPr>
                      <a:r>
                        <a:rPr lang="fr-FR" sz="2000" b="0" i="0" u="none" strike="noStrike">
                          <a:solidFill>
                            <a:srgbClr val="000000"/>
                          </a:solidFill>
                          <a:effectLst/>
                          <a:latin typeface="Aptos Narrow" panose="020B0004020202020204" pitchFamily="34" charset="0"/>
                        </a:rPr>
                        <a:t>f(x) = a* x</a:t>
                      </a:r>
                      <a:r>
                        <a:rPr lang="fr-FR" sz="2000" b="0" i="0" u="none" strike="noStrike" baseline="30000">
                          <a:solidFill>
                            <a:srgbClr val="000000"/>
                          </a:solidFill>
                          <a:effectLst/>
                          <a:latin typeface="Aptos Narrow" panose="020B0004020202020204" pitchFamily="34" charset="0"/>
                        </a:rPr>
                        <a:t>n</a:t>
                      </a:r>
                      <a:r>
                        <a:rPr lang="fr-FR" sz="2000" b="0" i="0" u="none" strike="noStrike">
                          <a:solidFill>
                            <a:srgbClr val="000000"/>
                          </a:solidFill>
                          <a:effectLst/>
                          <a:latin typeface="Aptos Narrow" panose="020B0004020202020204" pitchFamily="34" charset="0"/>
                        </a:rPr>
                        <a:t> (n entier naturel, a réel)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pt-BR" sz="2000" b="0" i="0" u="none" strike="noStrike">
                          <a:solidFill>
                            <a:srgbClr val="000000"/>
                          </a:solidFill>
                          <a:effectLst/>
                          <a:latin typeface="Aptos Narrow" panose="020B0004020202020204" pitchFamily="34" charset="0"/>
                        </a:rPr>
                        <a:t>f'(x) = n * a * x </a:t>
                      </a:r>
                      <a:r>
                        <a:rPr lang="pt-BR" sz="2000" b="0" i="0" u="none" strike="noStrike" baseline="30000">
                          <a:solidFill>
                            <a:srgbClr val="000000"/>
                          </a:solidFill>
                          <a:effectLst/>
                          <a:latin typeface="Aptos Narrow" panose="020B0004020202020204" pitchFamily="34" charset="0"/>
                        </a:rPr>
                        <a:t>(n-1)</a:t>
                      </a:r>
                      <a:endParaRPr lang="pt-BR" sz="2000" b="0" i="0" u="none" strike="noStrike">
                        <a:solidFill>
                          <a:srgbClr val="000000"/>
                        </a:solidFill>
                        <a:effectLst/>
                        <a:latin typeface="Aptos Narrow" panose="020B00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9590136"/>
                  </a:ext>
                </a:extLst>
              </a:tr>
              <a:tr h="333375">
                <a:tc>
                  <a:txBody>
                    <a:bodyPr/>
                    <a:lstStyle/>
                    <a:p>
                      <a:pPr algn="l" fontAlgn="b">
                        <a:buNone/>
                      </a:pPr>
                      <a:r>
                        <a:rPr lang="fr-FR" sz="2000" b="0" i="0" u="none" strike="noStrike">
                          <a:solidFill>
                            <a:srgbClr val="000000"/>
                          </a:solidFill>
                          <a:effectLst/>
                          <a:latin typeface="Aptos Narrow" panose="020B0004020202020204" pitchFamily="34" charset="0"/>
                        </a:rPr>
                        <a:t>f(x) = 1/x</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2000" b="0" i="0" u="none" strike="noStrike" dirty="0">
                          <a:solidFill>
                            <a:srgbClr val="000000"/>
                          </a:solidFill>
                          <a:effectLst/>
                          <a:latin typeface="Aptos Narrow" panose="020B0004020202020204" pitchFamily="34" charset="0"/>
                        </a:rPr>
                        <a:t>f'(x) = -1/x²</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9064314"/>
                  </a:ext>
                </a:extLst>
              </a:tr>
            </a:tbl>
          </a:graphicData>
        </a:graphic>
      </p:graphicFrame>
    </p:spTree>
    <p:extLst>
      <p:ext uri="{BB962C8B-B14F-4D97-AF65-F5344CB8AC3E}">
        <p14:creationId xmlns:p14="http://schemas.microsoft.com/office/powerpoint/2010/main" val="4169067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94766-A89D-DE5E-C341-596C30D672A5}"/>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4C2DADB7-63D6-DA35-B46B-FC9F9006B1B3}"/>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Dérivées des fonctions de référence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E7926031-2943-1CBF-8E0D-A685B2359FB9}"/>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fois les dérivées classiques maitrisées, il est possible de composer ces fonctions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les dérivées de :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3x² + 5x – 7</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g(x) = (2x² + 3x) – (x² -4x +1)</a:t>
                </a:r>
              </a:p>
              <a:p>
                <a:pPr marL="864000" lvl="1" indent="-324000">
                  <a:spcAft>
                    <a:spcPts val="1134"/>
                  </a:spcAft>
                  <a:buClr>
                    <a:srgbClr val="000000"/>
                  </a:buClr>
                  <a:buSzPct val="45000"/>
                  <a:buFont typeface="Wingdings" charset="2"/>
                  <a:buChar char=""/>
                </a:pPr>
                <a14:m>
                  <m:oMath xmlns:m="http://schemas.openxmlformats.org/officeDocument/2006/math">
                    <m:r>
                      <m:rPr>
                        <m:sty m:val="p"/>
                      </m:rPr>
                      <a:rPr lang="fr-FR" sz="2400" b="0" i="0" spc="-1" dirty="0" smtClean="0">
                        <a:solidFill>
                          <a:srgbClr val="376092"/>
                        </a:solidFill>
                        <a:latin typeface="Cambria Math" panose="02040503050406030204" pitchFamily="18" charset="0"/>
                      </a:rPr>
                      <m:t>h</m:t>
                    </m:r>
                    <m:d>
                      <m:dPr>
                        <m:ctrlPr>
                          <a:rPr lang="fr-FR" sz="2400" b="0" i="1" spc="-1" dirty="0" smtClean="0">
                            <a:solidFill>
                              <a:srgbClr val="376092"/>
                            </a:solidFill>
                            <a:latin typeface="Cambria Math" panose="02040503050406030204" pitchFamily="18" charset="0"/>
                          </a:rPr>
                        </m:ctrlPr>
                      </m:dPr>
                      <m:e>
                        <m:r>
                          <m:rPr>
                            <m:sty m:val="p"/>
                          </m:rPr>
                          <a:rPr lang="fr-FR" sz="2400" b="0" i="0" spc="-1" dirty="0" smtClean="0">
                            <a:solidFill>
                              <a:srgbClr val="376092"/>
                            </a:solidFill>
                            <a:latin typeface="Cambria Math" panose="02040503050406030204" pitchFamily="18" charset="0"/>
                          </a:rPr>
                          <m:t>x</m:t>
                        </m:r>
                      </m:e>
                    </m:d>
                    <m:r>
                      <a:rPr lang="fr-FR" sz="2400" b="0" i="0" spc="-1" dirty="0" smtClean="0">
                        <a:solidFill>
                          <a:srgbClr val="376092"/>
                        </a:solidFill>
                        <a:latin typeface="Cambria Math" panose="02040503050406030204" pitchFamily="18" charset="0"/>
                      </a:rPr>
                      <m:t>= </m:t>
                    </m:r>
                    <m:f>
                      <m:fPr>
                        <m:ctrlPr>
                          <a:rPr lang="fr-FR" sz="2400" i="1" spc="-1" dirty="0" smtClean="0">
                            <a:solidFill>
                              <a:srgbClr val="376092"/>
                            </a:solidFill>
                            <a:latin typeface="Cambria Math" panose="02040503050406030204" pitchFamily="18" charset="0"/>
                          </a:rPr>
                        </m:ctrlPr>
                      </m:fPr>
                      <m:num>
                        <m:r>
                          <a:rPr lang="fr-FR" sz="2400" spc="-1" dirty="0" smtClean="0">
                            <a:solidFill>
                              <a:srgbClr val="376092"/>
                            </a:solidFill>
                            <a:latin typeface="Cambria Math" panose="02040503050406030204" pitchFamily="18" charset="0"/>
                          </a:rPr>
                          <m:t>2</m:t>
                        </m:r>
                        <m:r>
                          <a:rPr lang="fr-FR" sz="2400" i="1" spc="-1" dirty="0" smtClean="0">
                            <a:solidFill>
                              <a:srgbClr val="376092"/>
                            </a:solidFill>
                            <a:latin typeface="Cambria Math" panose="02040503050406030204" pitchFamily="18" charset="0"/>
                          </a:rPr>
                          <m:t>𝑥</m:t>
                        </m:r>
                        <m:r>
                          <a:rPr lang="fr-FR" sz="2400" i="0" spc="-1" dirty="0" smtClean="0">
                            <a:solidFill>
                              <a:srgbClr val="376092"/>
                            </a:solidFill>
                            <a:latin typeface="Cambria Math" panose="02040503050406030204" pitchFamily="18" charset="0"/>
                          </a:rPr>
                          <m:t>−3</m:t>
                        </m:r>
                      </m:num>
                      <m:den>
                        <m:sSup>
                          <m:sSupPr>
                            <m:ctrlPr>
                              <a:rPr lang="fr-FR" sz="2400" i="1" spc="-1" dirty="0" smtClean="0">
                                <a:solidFill>
                                  <a:srgbClr val="376092"/>
                                </a:solidFill>
                                <a:latin typeface="Cambria Math" panose="02040503050406030204" pitchFamily="18" charset="0"/>
                              </a:rPr>
                            </m:ctrlPr>
                          </m:sSupPr>
                          <m:e>
                            <m:r>
                              <a:rPr lang="fr-FR" sz="2400" i="1" spc="-1" dirty="0" smtClean="0">
                                <a:solidFill>
                                  <a:srgbClr val="376092"/>
                                </a:solidFill>
                                <a:latin typeface="Cambria Math" panose="02040503050406030204" pitchFamily="18" charset="0"/>
                              </a:rPr>
                              <m:t>𝑥</m:t>
                            </m:r>
                          </m:e>
                          <m:sup>
                            <m:r>
                              <a:rPr lang="fr-FR" sz="2400" i="0" spc="-1" dirty="0" smtClean="0">
                                <a:solidFill>
                                  <a:srgbClr val="376092"/>
                                </a:solidFill>
                                <a:latin typeface="Cambria Math" panose="02040503050406030204" pitchFamily="18" charset="0"/>
                              </a:rPr>
                              <m:t>2</m:t>
                            </m:r>
                          </m:sup>
                        </m:sSup>
                        <m:r>
                          <a:rPr lang="fr-FR" sz="2400" i="0" spc="-1" dirty="0" smtClean="0">
                            <a:solidFill>
                              <a:srgbClr val="376092"/>
                            </a:solidFill>
                            <a:latin typeface="Cambria Math" panose="02040503050406030204" pitchFamily="18" charset="0"/>
                          </a:rPr>
                          <m:t>+1</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E7926031-2943-1CBF-8E0D-A685B2359FB9}"/>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b="-747"/>
                </a:stretch>
              </a:blipFill>
              <a:ln w="0">
                <a:noFill/>
              </a:ln>
            </p:spPr>
            <p:txBody>
              <a:bodyPr/>
              <a:lstStyle/>
              <a:p>
                <a:r>
                  <a:rPr lang="fr-FR">
                    <a:noFill/>
                  </a:rPr>
                  <a:t> </a:t>
                </a:r>
              </a:p>
            </p:txBody>
          </p:sp>
        </mc:Fallback>
      </mc:AlternateContent>
      <p:graphicFrame>
        <p:nvGraphicFramePr>
          <p:cNvPr id="2" name="Tableau 1">
            <a:extLst>
              <a:ext uri="{FF2B5EF4-FFF2-40B4-BE49-F238E27FC236}">
                <a16:creationId xmlns:a16="http://schemas.microsoft.com/office/drawing/2014/main" id="{F5D60BCE-A238-93BA-9AE8-2551921564AF}"/>
              </a:ext>
            </a:extLst>
          </p:cNvPr>
          <p:cNvGraphicFramePr>
            <a:graphicFrameLocks noGrp="1"/>
          </p:cNvGraphicFramePr>
          <p:nvPr>
            <p:extLst>
              <p:ext uri="{D42A27DB-BD31-4B8C-83A1-F6EECF244321}">
                <p14:modId xmlns:p14="http://schemas.microsoft.com/office/powerpoint/2010/main" val="2919485777"/>
              </p:ext>
            </p:extLst>
          </p:nvPr>
        </p:nvGraphicFramePr>
        <p:xfrm>
          <a:off x="456840" y="2134764"/>
          <a:ext cx="8229600" cy="1636776"/>
        </p:xfrm>
        <a:graphic>
          <a:graphicData uri="http://schemas.openxmlformats.org/drawingml/2006/table">
            <a:tbl>
              <a:tblPr/>
              <a:tblGrid>
                <a:gridCol w="2877312">
                  <a:extLst>
                    <a:ext uri="{9D8B030D-6E8A-4147-A177-3AD203B41FA5}">
                      <a16:colId xmlns:a16="http://schemas.microsoft.com/office/drawing/2014/main" val="782687985"/>
                    </a:ext>
                  </a:extLst>
                </a:gridCol>
                <a:gridCol w="3511296">
                  <a:extLst>
                    <a:ext uri="{9D8B030D-6E8A-4147-A177-3AD203B41FA5}">
                      <a16:colId xmlns:a16="http://schemas.microsoft.com/office/drawing/2014/main" val="786305282"/>
                    </a:ext>
                  </a:extLst>
                </a:gridCol>
                <a:gridCol w="1840992">
                  <a:extLst>
                    <a:ext uri="{9D8B030D-6E8A-4147-A177-3AD203B41FA5}">
                      <a16:colId xmlns:a16="http://schemas.microsoft.com/office/drawing/2014/main" val="788475451"/>
                    </a:ext>
                  </a:extLst>
                </a:gridCol>
              </a:tblGrid>
              <a:tr h="320040">
                <a:tc>
                  <a:txBody>
                    <a:bodyPr/>
                    <a:lstStyle/>
                    <a:p>
                      <a:pPr algn="l" fontAlgn="b">
                        <a:buNone/>
                      </a:pPr>
                      <a:r>
                        <a:rPr lang="fr-FR" sz="1900" b="1" i="0" u="none" strike="noStrike">
                          <a:solidFill>
                            <a:srgbClr val="FFFFFF"/>
                          </a:solidFill>
                          <a:effectLst/>
                          <a:latin typeface="Aptos Narrow" panose="020B0004020202020204" pitchFamily="34" charset="0"/>
                        </a:rPr>
                        <a:t> </a:t>
                      </a:r>
                    </a:p>
                  </a:txBody>
                  <a:tcPr marL="9144" marR="9144" marT="9144"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b">
                        <a:buNone/>
                      </a:pPr>
                      <a:r>
                        <a:rPr lang="fr-FR" sz="1900" b="1" i="0" u="none" strike="noStrike">
                          <a:solidFill>
                            <a:srgbClr val="FFFFFF"/>
                          </a:solidFill>
                          <a:effectLst/>
                          <a:latin typeface="Aptos Narrow" panose="020B0004020202020204" pitchFamily="34" charset="0"/>
                        </a:rPr>
                        <a:t>Fonction f</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fr-FR" sz="1900" b="1" i="0" u="none" strike="noStrike">
                          <a:solidFill>
                            <a:srgbClr val="FFFFFF"/>
                          </a:solidFill>
                          <a:effectLst/>
                          <a:latin typeface="Aptos Narrow" panose="020B0004020202020204" pitchFamily="34" charset="0"/>
                        </a:rPr>
                        <a:t>Dérivée f'</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864672874"/>
                  </a:ext>
                </a:extLst>
              </a:tr>
              <a:tr h="320040">
                <a:tc>
                  <a:txBody>
                    <a:bodyPr/>
                    <a:lstStyle/>
                    <a:p>
                      <a:pPr algn="l" fontAlgn="b">
                        <a:buNone/>
                      </a:pPr>
                      <a:r>
                        <a:rPr lang="fr-FR" sz="1900" b="1" i="0" u="none" strike="noStrike">
                          <a:solidFill>
                            <a:srgbClr val="FFFFFF"/>
                          </a:solidFill>
                          <a:effectLst/>
                          <a:latin typeface="Aptos Narrow" panose="020B0004020202020204" pitchFamily="34" charset="0"/>
                        </a:rPr>
                        <a:t>Somme</a:t>
                      </a:r>
                    </a:p>
                  </a:txBody>
                  <a:tcPr marL="9144" marR="9144" marT="9144"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buNone/>
                      </a:pPr>
                      <a:r>
                        <a:rPr lang="fr-FR" sz="1900" b="0" i="0" u="none" strike="noStrike">
                          <a:solidFill>
                            <a:srgbClr val="000000"/>
                          </a:solidFill>
                          <a:effectLst/>
                          <a:latin typeface="Aptos Narrow" panose="020B0004020202020204" pitchFamily="34" charset="0"/>
                        </a:rPr>
                        <a:t>f(x) = u + v</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900" b="0" i="0" u="none" strike="noStrike">
                          <a:solidFill>
                            <a:srgbClr val="000000"/>
                          </a:solidFill>
                          <a:effectLst/>
                          <a:latin typeface="Aptos Narrow" panose="020B0004020202020204" pitchFamily="34" charset="0"/>
                        </a:rPr>
                        <a:t>f'(x) = u' + v'</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1375262"/>
                  </a:ext>
                </a:extLst>
              </a:tr>
              <a:tr h="320040">
                <a:tc>
                  <a:txBody>
                    <a:bodyPr/>
                    <a:lstStyle/>
                    <a:p>
                      <a:pPr algn="l" fontAlgn="b">
                        <a:buNone/>
                      </a:pPr>
                      <a:r>
                        <a:rPr lang="fr-FR" sz="1900" b="1" i="0" u="none" strike="noStrike">
                          <a:solidFill>
                            <a:srgbClr val="FFFFFF"/>
                          </a:solidFill>
                          <a:effectLst/>
                          <a:latin typeface="Aptos Narrow" panose="020B0004020202020204" pitchFamily="34" charset="0"/>
                        </a:rPr>
                        <a:t>Différence</a:t>
                      </a:r>
                    </a:p>
                  </a:txBody>
                  <a:tcPr marL="9144" marR="9144" marT="9144"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buNone/>
                      </a:pPr>
                      <a:r>
                        <a:rPr lang="fr-FR" sz="1900" b="0" i="0" u="none" strike="noStrike">
                          <a:solidFill>
                            <a:srgbClr val="000000"/>
                          </a:solidFill>
                          <a:effectLst/>
                          <a:latin typeface="Aptos Narrow" panose="020B0004020202020204" pitchFamily="34" charset="0"/>
                        </a:rPr>
                        <a:t>f(x) = u - v </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900" b="0" i="0" u="none" strike="noStrike">
                          <a:solidFill>
                            <a:srgbClr val="000000"/>
                          </a:solidFill>
                          <a:effectLst/>
                          <a:latin typeface="Aptos Narrow" panose="020B0004020202020204" pitchFamily="34" charset="0"/>
                        </a:rPr>
                        <a:t>f'(x) = u' - v'</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6865186"/>
                  </a:ext>
                </a:extLst>
              </a:tr>
              <a:tr h="320040">
                <a:tc>
                  <a:txBody>
                    <a:bodyPr/>
                    <a:lstStyle/>
                    <a:p>
                      <a:pPr algn="l" fontAlgn="b">
                        <a:buNone/>
                      </a:pPr>
                      <a:r>
                        <a:rPr lang="fr-FR" sz="1900" b="1" i="0" u="none" strike="noStrike">
                          <a:solidFill>
                            <a:srgbClr val="FFFFFF"/>
                          </a:solidFill>
                          <a:effectLst/>
                          <a:latin typeface="Aptos Narrow" panose="020B0004020202020204" pitchFamily="34" charset="0"/>
                        </a:rPr>
                        <a:t>Produit par un nombre réel</a:t>
                      </a:r>
                    </a:p>
                  </a:txBody>
                  <a:tcPr marL="9144" marR="9144" marT="9144"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buNone/>
                      </a:pPr>
                      <a:r>
                        <a:rPr lang="pl-PL" sz="1900" b="0" i="0" u="none" strike="noStrike">
                          <a:solidFill>
                            <a:srgbClr val="000000"/>
                          </a:solidFill>
                          <a:effectLst/>
                          <a:latin typeface="Aptos Narrow" panose="020B0004020202020204" pitchFamily="34" charset="0"/>
                        </a:rPr>
                        <a:t>f(x) = k * u (k réel)</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900" b="0" i="0" u="none" strike="noStrike">
                          <a:solidFill>
                            <a:srgbClr val="000000"/>
                          </a:solidFill>
                          <a:effectLst/>
                          <a:latin typeface="Aptos Narrow" panose="020B0004020202020204" pitchFamily="34" charset="0"/>
                        </a:rPr>
                        <a:t>f'(x) = k * u'</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8658416"/>
                  </a:ext>
                </a:extLst>
              </a:tr>
              <a:tr h="356616">
                <a:tc>
                  <a:txBody>
                    <a:bodyPr/>
                    <a:lstStyle/>
                    <a:p>
                      <a:pPr algn="l" fontAlgn="b">
                        <a:buNone/>
                      </a:pPr>
                      <a:r>
                        <a:rPr lang="fr-FR" sz="1900" b="1" i="0" u="none" strike="noStrike">
                          <a:solidFill>
                            <a:srgbClr val="FFFFFF"/>
                          </a:solidFill>
                          <a:effectLst/>
                          <a:latin typeface="Aptos Narrow" panose="020B0004020202020204" pitchFamily="34" charset="0"/>
                        </a:rPr>
                        <a:t>Quotient</a:t>
                      </a:r>
                    </a:p>
                  </a:txBody>
                  <a:tcPr marL="9144" marR="9144" marT="9144"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l" fontAlgn="b">
                        <a:buNone/>
                      </a:pPr>
                      <a:r>
                        <a:rPr lang="fr-FR" sz="1900" b="0" i="0" u="none" strike="noStrike">
                          <a:solidFill>
                            <a:srgbClr val="000000"/>
                          </a:solidFill>
                          <a:effectLst/>
                          <a:latin typeface="Aptos Narrow" panose="020B0004020202020204" pitchFamily="34" charset="0"/>
                        </a:rPr>
                        <a:t>f(x) = u / v</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1900" b="0" i="0" u="none" strike="noStrike" dirty="0">
                          <a:solidFill>
                            <a:srgbClr val="000000"/>
                          </a:solidFill>
                          <a:effectLst/>
                          <a:latin typeface="Aptos Narrow" panose="020B0004020202020204" pitchFamily="34" charset="0"/>
                        </a:rPr>
                        <a:t>f'(x) = (</a:t>
                      </a:r>
                      <a:r>
                        <a:rPr lang="fr-FR" sz="1900" b="0" i="0" u="none" strike="noStrike" dirty="0" err="1">
                          <a:solidFill>
                            <a:srgbClr val="000000"/>
                          </a:solidFill>
                          <a:effectLst/>
                          <a:latin typeface="Aptos Narrow" panose="020B0004020202020204" pitchFamily="34" charset="0"/>
                        </a:rPr>
                        <a:t>u'v</a:t>
                      </a:r>
                      <a:r>
                        <a:rPr lang="fr-FR" sz="1900" b="0" i="0" u="none" strike="noStrike" dirty="0">
                          <a:solidFill>
                            <a:srgbClr val="000000"/>
                          </a:solidFill>
                          <a:effectLst/>
                          <a:latin typeface="Aptos Narrow" panose="020B0004020202020204" pitchFamily="34" charset="0"/>
                        </a:rPr>
                        <a:t> - </a:t>
                      </a:r>
                      <a:r>
                        <a:rPr lang="fr-FR" sz="1900" b="0" i="0" u="none" strike="noStrike" dirty="0" err="1">
                          <a:solidFill>
                            <a:srgbClr val="000000"/>
                          </a:solidFill>
                          <a:effectLst/>
                          <a:latin typeface="Aptos Narrow" panose="020B0004020202020204" pitchFamily="34" charset="0"/>
                        </a:rPr>
                        <a:t>uv</a:t>
                      </a:r>
                      <a:r>
                        <a:rPr lang="fr-FR" sz="1900" b="0" i="0" u="none" strike="noStrike" dirty="0">
                          <a:solidFill>
                            <a:srgbClr val="000000"/>
                          </a:solidFill>
                          <a:effectLst/>
                          <a:latin typeface="Aptos Narrow" panose="020B0004020202020204" pitchFamily="34" charset="0"/>
                        </a:rPr>
                        <a:t>')/v²</a:t>
                      </a:r>
                    </a:p>
                  </a:txBody>
                  <a:tcPr marL="9144" marR="9144" marT="9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7715855"/>
                  </a:ext>
                </a:extLst>
              </a:tr>
            </a:tbl>
          </a:graphicData>
        </a:graphic>
      </p:graphicFrame>
    </p:spTree>
    <p:extLst>
      <p:ext uri="{BB962C8B-B14F-4D97-AF65-F5344CB8AC3E}">
        <p14:creationId xmlns:p14="http://schemas.microsoft.com/office/powerpoint/2010/main" val="689530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E5A3D-E851-7543-972F-C7881200895B}"/>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57272B7-51FD-9B27-D018-D71C4239DB8F}"/>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Dérivées des fonctions de référence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2FE650D9-1BA5-9A75-2FB9-235E628D4F72}"/>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représentée par le graphique en introduction a pour équation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3x²-7x +4 définie sur </a:t>
                </a:r>
                <a14:m>
                  <m:oMath xmlns:m="http://schemas.openxmlformats.org/officeDocument/2006/math">
                    <m:r>
                      <a:rPr lang="fr-FR" sz="2400" spc="-1" dirty="0">
                        <a:solidFill>
                          <a:srgbClr val="376092"/>
                        </a:solidFill>
                        <a:latin typeface="Cambria Math" panose="02040503050406030204" pitchFamily="18" charset="0"/>
                      </a:rPr>
                      <m:t>ℝ</m:t>
                    </m:r>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la dérivée f'(x) de cette fonction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f'(25) pour obtenir la pente de la tangente au point (25, f(25))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l'équation de la droite tangente à la courbe au point x = 25 : y = a*x + b sachant que a = f'(25)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Vérifier vos calculs avec un tableur ou sur la calculatrice.</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2FE650D9-1BA5-9A75-2FB9-235E628D4F72}"/>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1259"/>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612922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25A55-B70F-D94B-FA8D-6D2FF3FFC6F8}"/>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5BF09D83-D40D-46BB-90D3-90F8A00BDC91}"/>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Dérivées et sens de variation :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90FB888D-F5BC-445C-24DA-3C66080C7A5B}"/>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signe de la dérivée nous informe donc sur le sens de variation de la fonction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&gt; 0 sur ]a, b[ alors f(x) strictement croissante sur ]a, b[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0 sur ]a, b[ alors f(x) constante sur ]a, b[</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&lt; 0 sur ]a, b[ alors f(x) strictement décroissante sur ]a, b[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dérivée est donc un bon outil pour pouvoir se représenter une fonction.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Analysons la fonction suivante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-4*x</a:t>
            </a:r>
            <a:r>
              <a:rPr lang="fr-FR" sz="2400" spc="-1" baseline="30000" dirty="0">
                <a:solidFill>
                  <a:srgbClr val="376092"/>
                </a:solidFill>
                <a:latin typeface="Calibri"/>
              </a:rPr>
              <a:t>3</a:t>
            </a:r>
            <a:r>
              <a:rPr lang="fr-FR" sz="2400" spc="-1" dirty="0">
                <a:solidFill>
                  <a:srgbClr val="376092"/>
                </a:solidFill>
                <a:latin typeface="Calibri"/>
              </a:rPr>
              <a:t> + 8 * x²</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calculer la dérivée et regardons où elle s'annule. Nous pouvons aussi représenter la fonction.</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2556563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78028-62B2-F4CF-208A-255D4CFC3A5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3F9790C2-7485-5B98-23B8-21C9EDBDBEB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Dérivées et sens de variation :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AAC46761-4AFF-ED4F-E003-BABB988474FA}"/>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Procédons à l'analyse de quelques fonctions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4 * x² + 5 * x + 4 définie sur </a:t>
                </a:r>
                <a14:m>
                  <m:oMath xmlns:m="http://schemas.openxmlformats.org/officeDocument/2006/math">
                    <m:r>
                      <a:rPr lang="fr-FR" sz="2400" spc="-1" dirty="0">
                        <a:solidFill>
                          <a:srgbClr val="376092"/>
                        </a:solidFill>
                        <a:latin typeface="Cambria Math" panose="02040503050406030204" pitchFamily="18" charset="0"/>
                      </a:rPr>
                      <m:t>ℝ</m:t>
                    </m:r>
                  </m:oMath>
                </a14:m>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g(x)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sSup>
                          <m:sSupPr>
                            <m:ctrlPr>
                              <a:rPr lang="fr-FR" sz="2400" i="1" spc="-1" dirty="0" smtClean="0">
                                <a:solidFill>
                                  <a:srgbClr val="376092"/>
                                </a:solidFill>
                                <a:latin typeface="Cambria Math" panose="02040503050406030204" pitchFamily="18" charset="0"/>
                              </a:rPr>
                            </m:ctrlPr>
                          </m:sSupPr>
                          <m:e>
                            <m:r>
                              <a:rPr lang="fr-FR" sz="2400" i="1" spc="-1" dirty="0" smtClean="0">
                                <a:solidFill>
                                  <a:srgbClr val="376092"/>
                                </a:solidFill>
                                <a:latin typeface="Cambria Math" panose="02040503050406030204" pitchFamily="18" charset="0"/>
                              </a:rPr>
                              <m:t>𝑥</m:t>
                            </m:r>
                          </m:e>
                          <m:sup>
                            <m:r>
                              <a:rPr lang="fr-FR" sz="2400" i="0" spc="-1" dirty="0" smtClean="0">
                                <a:solidFill>
                                  <a:srgbClr val="376092"/>
                                </a:solidFill>
                                <a:latin typeface="Cambria Math" panose="02040503050406030204" pitchFamily="18" charset="0"/>
                              </a:rPr>
                              <m:t>2</m:t>
                            </m:r>
                          </m:sup>
                        </m:sSup>
                        <m:r>
                          <a:rPr lang="fr-FR" sz="2400" i="0" spc="-1" dirty="0" smtClean="0">
                            <a:solidFill>
                              <a:srgbClr val="376092"/>
                            </a:solidFill>
                            <a:latin typeface="Cambria Math" panose="02040503050406030204" pitchFamily="18" charset="0"/>
                          </a:rPr>
                          <m:t>+1</m:t>
                        </m:r>
                      </m:num>
                      <m:den>
                        <m:r>
                          <a:rPr lang="fr-FR" sz="2400" i="1" spc="-1" dirty="0" smtClean="0">
                            <a:solidFill>
                              <a:srgbClr val="376092"/>
                            </a:solidFill>
                            <a:latin typeface="Cambria Math" panose="02040503050406030204" pitchFamily="18" charset="0"/>
                          </a:rPr>
                          <m:t>𝑥</m:t>
                        </m:r>
                      </m:den>
                    </m:f>
                  </m:oMath>
                </a14:m>
                <a:r>
                  <a:rPr lang="fr-FR" sz="2400" spc="-1" dirty="0">
                    <a:solidFill>
                      <a:srgbClr val="376092"/>
                    </a:solidFill>
                    <a:latin typeface="Calibri"/>
                  </a:rPr>
                  <a:t> définie sur </a:t>
                </a:r>
                <a14:m>
                  <m:oMath xmlns:m="http://schemas.openxmlformats.org/officeDocument/2006/math">
                    <m:r>
                      <a:rPr lang="fr-FR" sz="2400" spc="-1" dirty="0">
                        <a:solidFill>
                          <a:srgbClr val="376092"/>
                        </a:solidFill>
                        <a:latin typeface="Cambria Math" panose="02040503050406030204" pitchFamily="18" charset="0"/>
                      </a:rPr>
                      <m:t>ℝ</m:t>
                    </m:r>
                    <m:r>
                      <a:rPr lang="fr-FR" sz="2400" b="0" i="0" spc="-1" dirty="0" smtClean="0">
                        <a:solidFill>
                          <a:srgbClr val="376092"/>
                        </a:solidFill>
                        <a:latin typeface="Cambria Math" panose="02040503050406030204" pitchFamily="18" charset="0"/>
                      </a:rPr>
                      <m:t> </m:t>
                    </m:r>
                    <m:r>
                      <m:rPr>
                        <m:sty m:val="p"/>
                      </m:rPr>
                      <a:rPr lang="fr-FR" sz="2400" b="0" i="0" spc="-1" dirty="0" smtClean="0">
                        <a:solidFill>
                          <a:srgbClr val="376092"/>
                        </a:solidFill>
                        <a:latin typeface="Cambria Math" panose="02040503050406030204" pitchFamily="18" charset="0"/>
                      </a:rPr>
                      <m:t>priv</m:t>
                    </m:r>
                    <m:r>
                      <a:rPr lang="fr-FR" sz="2400" b="0" i="0" spc="-1" dirty="0" smtClean="0">
                        <a:solidFill>
                          <a:srgbClr val="376092"/>
                        </a:solidFill>
                        <a:latin typeface="Cambria Math" panose="02040503050406030204" pitchFamily="18" charset="0"/>
                      </a:rPr>
                      <m:t>é </m:t>
                    </m:r>
                    <m:r>
                      <m:rPr>
                        <m:sty m:val="p"/>
                      </m:rPr>
                      <a:rPr lang="fr-FR" sz="2400" b="0" i="0" spc="-1" dirty="0" smtClean="0">
                        <a:solidFill>
                          <a:srgbClr val="376092"/>
                        </a:solidFill>
                        <a:latin typeface="Cambria Math" panose="02040503050406030204" pitchFamily="18" charset="0"/>
                      </a:rPr>
                      <m:t>de</m:t>
                    </m:r>
                    <m:r>
                      <a:rPr lang="fr-FR" sz="2400" b="0" i="0" spc="-1" dirty="0" smtClean="0">
                        <a:solidFill>
                          <a:srgbClr val="376092"/>
                        </a:solidFill>
                        <a:latin typeface="Cambria Math" panose="02040503050406030204" pitchFamily="18" charset="0"/>
                      </a:rPr>
                      <m:t> {0}</m:t>
                    </m:r>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 chaque fois nous pouvons représenter la courbe pour se donner une idée de son allure puis vérifier par calcul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informations recueillies peuvent prendre la forme d'un tableau de variation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Dresser le tableau de variation des 3 fonctions ci-dessus.</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AAC46761-4AFF-ED4F-E003-BABB988474FA}"/>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3"/>
                <a:stretch>
                  <a:fillRect t="-1868" b="-2740"/>
                </a:stretch>
              </a:blipFill>
              <a:ln w="0">
                <a:noFill/>
              </a:ln>
            </p:spPr>
            <p:txBody>
              <a:bodyPr/>
              <a:lstStyle/>
              <a:p>
                <a:r>
                  <a:rPr lang="fr-FR">
                    <a:noFill/>
                  </a:rPr>
                  <a:t> </a:t>
                </a:r>
              </a:p>
            </p:txBody>
          </p:sp>
        </mc:Fallback>
      </mc:AlternateContent>
      <p:graphicFrame>
        <p:nvGraphicFramePr>
          <p:cNvPr id="5" name="Objet 4">
            <a:extLst>
              <a:ext uri="{FF2B5EF4-FFF2-40B4-BE49-F238E27FC236}">
                <a16:creationId xmlns:a16="http://schemas.microsoft.com/office/drawing/2014/main" id="{E62115D1-228E-76D4-F5B2-ED16CAC5482F}"/>
              </a:ext>
            </a:extLst>
          </p:cNvPr>
          <p:cNvGraphicFramePr>
            <a:graphicFrameLocks noChangeAspect="1"/>
          </p:cNvGraphicFramePr>
          <p:nvPr>
            <p:extLst>
              <p:ext uri="{D42A27DB-BD31-4B8C-83A1-F6EECF244321}">
                <p14:modId xmlns:p14="http://schemas.microsoft.com/office/powerpoint/2010/main" val="2934428479"/>
              </p:ext>
            </p:extLst>
          </p:nvPr>
        </p:nvGraphicFramePr>
        <p:xfrm>
          <a:off x="557645" y="4640695"/>
          <a:ext cx="8223849" cy="908050"/>
        </p:xfrm>
        <a:graphic>
          <a:graphicData uri="http://schemas.openxmlformats.org/presentationml/2006/ole">
            <mc:AlternateContent xmlns:mc="http://schemas.openxmlformats.org/markup-compatibility/2006">
              <mc:Choice xmlns:v="urn:schemas-microsoft-com:vml" Requires="v">
                <p:oleObj name="Worksheet" r:id="rId4" imgW="14849435" imgH="1638196" progId="Excel.Sheet.12">
                  <p:embed/>
                </p:oleObj>
              </mc:Choice>
              <mc:Fallback>
                <p:oleObj name="Worksheet" r:id="rId4" imgW="14849435" imgH="1638196" progId="Excel.Sheet.12">
                  <p:embed/>
                  <p:pic>
                    <p:nvPicPr>
                      <p:cNvPr id="0" name=""/>
                      <p:cNvPicPr/>
                      <p:nvPr/>
                    </p:nvPicPr>
                    <p:blipFill>
                      <a:blip r:embed="rId5"/>
                      <a:stretch>
                        <a:fillRect/>
                      </a:stretch>
                    </p:blipFill>
                    <p:spPr>
                      <a:xfrm>
                        <a:off x="557645" y="4640695"/>
                        <a:ext cx="8223849" cy="908050"/>
                      </a:xfrm>
                      <a:prstGeom prst="rect">
                        <a:avLst/>
                      </a:prstGeom>
                    </p:spPr>
                  </p:pic>
                </p:oleObj>
              </mc:Fallback>
            </mc:AlternateContent>
          </a:graphicData>
        </a:graphic>
      </p:graphicFrame>
    </p:spTree>
    <p:extLst>
      <p:ext uri="{BB962C8B-B14F-4D97-AF65-F5344CB8AC3E}">
        <p14:creationId xmlns:p14="http://schemas.microsoft.com/office/powerpoint/2010/main" val="3036528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745CC-4748-AD3F-1E16-944095746345}"/>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61C494F-20CD-CBC7-B1F7-7DF85D9FCB3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Extremums locaux d'une fonction </a:t>
            </a:r>
            <a:r>
              <a:rPr lang="fr-FR" sz="3200" spc="-1" dirty="0">
                <a:solidFill>
                  <a:srgbClr val="376092"/>
                </a:solidFill>
                <a:latin typeface="Arial"/>
              </a:rPr>
              <a:t>: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3F38086B-C6A5-B3DA-42F0-BD9E1C50D305}"/>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 extremum local est une valeur maximum ou minimum d'une fonction sur un intervalle donné.</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dérivée est toujours à 0 (f'(x) = 0) pour un extremum local.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Cependant, l'inverse n'est pas vrai. Il n'y pas forcément extremum local à chaque fois que la dérivée s'annule.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confirmer la présence d'un extremum, il faut que la dérivée change de signe au passage de la valeur.</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Par exemple, prenons la fonction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x</a:t>
            </a:r>
            <a:r>
              <a:rPr lang="fr-FR" sz="2400" spc="-1" baseline="30000" dirty="0">
                <a:solidFill>
                  <a:srgbClr val="376092"/>
                </a:solidFill>
                <a:latin typeface="Calibri"/>
              </a:rPr>
              <a:t>3</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quelle valeur de x la dérivée s'annule t'elle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Est-ce que la dérivée change de signe en ce point précis ?</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690935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1DD5F-A7A4-478F-4C1B-E9EA5B6855A5}"/>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12B6424D-01BB-5A8B-C58B-B442D62ED8DA}"/>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Extremums locaux d'une fonction </a:t>
            </a:r>
            <a:r>
              <a:rPr lang="fr-FR" sz="3200" spc="-1" dirty="0">
                <a:solidFill>
                  <a:srgbClr val="376092"/>
                </a:solidFill>
                <a:latin typeface="Arial"/>
              </a:rPr>
              <a:t>: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5F816C84-4550-2F2C-E0ED-535D69EFB31A}"/>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Cherchons quelques extremums locaux pour les fonctions suivantes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f(x) = x² -6*x +5</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g(x) = -2x² +4x +1</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h(x) = x</a:t>
            </a:r>
            <a:r>
              <a:rPr lang="fr-FR" sz="2400" spc="-1" baseline="30000" dirty="0">
                <a:solidFill>
                  <a:srgbClr val="376092"/>
                </a:solidFill>
                <a:latin typeface="Calibri"/>
              </a:rPr>
              <a:t>3 </a:t>
            </a:r>
            <a:r>
              <a:rPr lang="fr-FR" sz="2400" spc="-1" dirty="0">
                <a:solidFill>
                  <a:srgbClr val="376092"/>
                </a:solidFill>
                <a:latin typeface="Calibri"/>
              </a:rPr>
              <a:t>– 6 x² + 9 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mise en place d'un tableau de variation peut nous aider.</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Vérifions à chaque fois si le signe de la dérivée est bien modifié au passage de l'extremum.</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2738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227C3-05A6-CF21-5009-36EAB3EC006D}"/>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632EE8F9-1361-7080-DBB9-30764EEE340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Lecture d'un tableau de signe </a:t>
            </a:r>
            <a:r>
              <a:rPr lang="fr-FR" sz="3200" spc="-1" dirty="0">
                <a:solidFill>
                  <a:srgbClr val="376092"/>
                </a:solidFill>
                <a:latin typeface="Arial"/>
              </a:rPr>
              <a:t>: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3FECF8BA-2093-7075-81A0-D5AB60FC5120}"/>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savons maintenant dresser un tableau de variation.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 tableau nous permet également de retrouver le signe de la dérivée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peut déjà comprendre à quoi va ressembler la courbe d'après les informations du tableau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Sur quels intervalles est-elle croissante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Sur quels intervalles est-elle décroissante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2" name="Image 1">
            <a:extLst>
              <a:ext uri="{FF2B5EF4-FFF2-40B4-BE49-F238E27FC236}">
                <a16:creationId xmlns:a16="http://schemas.microsoft.com/office/drawing/2014/main" id="{61C14398-D656-F940-DEB7-8476DBF80F10}"/>
              </a:ext>
            </a:extLst>
          </p:cNvPr>
          <p:cNvPicPr>
            <a:picLocks noChangeAspect="1"/>
          </p:cNvPicPr>
          <p:nvPr/>
        </p:nvPicPr>
        <p:blipFill>
          <a:blip r:embed="rId2"/>
          <a:stretch>
            <a:fillRect/>
          </a:stretch>
        </p:blipFill>
        <p:spPr>
          <a:xfrm>
            <a:off x="263887" y="2562138"/>
            <a:ext cx="8297106" cy="1733724"/>
          </a:xfrm>
          <a:prstGeom prst="rect">
            <a:avLst/>
          </a:prstGeom>
        </p:spPr>
      </p:pic>
    </p:spTree>
    <p:extLst>
      <p:ext uri="{BB962C8B-B14F-4D97-AF65-F5344CB8AC3E}">
        <p14:creationId xmlns:p14="http://schemas.microsoft.com/office/powerpoint/2010/main" val="3825505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A8EA2-49E9-89E6-6508-696D102DE115}"/>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DEFF8113-ABA6-F538-AC2C-DCAA2D67356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Lecture d'un tableau de signe </a:t>
            </a:r>
            <a:r>
              <a:rPr lang="fr-FR" sz="3200" spc="-1" dirty="0">
                <a:solidFill>
                  <a:srgbClr val="376092"/>
                </a:solidFill>
                <a:latin typeface="Arial"/>
              </a:rPr>
              <a:t>: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625AAAB2-9225-A3FC-23FE-1DACF3A0C4DF}"/>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lecture d'un tableau de variation nous permet également de déterminer la présence d'une solution.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 effet, si f est strictement décroissante sur ]a, b[ et k appartient à ]f(a) , f(b) [ alors f(x) = k admet une seule solution.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De même, si f est strictement croissante sur ]a, b[ et k appartient à ]f(a) , f(b) [ alors f(x) = k admet une seule solution.</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Même si on ne connait pas x tel que f(x) = k, le tableau de variation nous permet de confirmer l'existence d'une solution.</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graphicFrame>
        <p:nvGraphicFramePr>
          <p:cNvPr id="14" name="Objet 13">
            <a:extLst>
              <a:ext uri="{FF2B5EF4-FFF2-40B4-BE49-F238E27FC236}">
                <a16:creationId xmlns:a16="http://schemas.microsoft.com/office/drawing/2014/main" id="{09497471-B16B-9874-3A33-23EE8D54ECDB}"/>
              </a:ext>
            </a:extLst>
          </p:cNvPr>
          <p:cNvGraphicFramePr>
            <a:graphicFrameLocks noChangeAspect="1"/>
          </p:cNvGraphicFramePr>
          <p:nvPr>
            <p:extLst>
              <p:ext uri="{D42A27DB-BD31-4B8C-83A1-F6EECF244321}">
                <p14:modId xmlns:p14="http://schemas.microsoft.com/office/powerpoint/2010/main" val="2710444802"/>
              </p:ext>
            </p:extLst>
          </p:nvPr>
        </p:nvGraphicFramePr>
        <p:xfrm>
          <a:off x="361950" y="3894358"/>
          <a:ext cx="8603407" cy="1142640"/>
        </p:xfrm>
        <a:graphic>
          <a:graphicData uri="http://schemas.openxmlformats.org/presentationml/2006/ole">
            <mc:AlternateContent xmlns:mc="http://schemas.openxmlformats.org/markup-compatibility/2006">
              <mc:Choice xmlns:v="urn:schemas-microsoft-com:vml" Requires="v">
                <p:oleObj name="Worksheet" r:id="rId2" imgW="14849435" imgH="1971734" progId="Excel.Sheet.12">
                  <p:embed/>
                </p:oleObj>
              </mc:Choice>
              <mc:Fallback>
                <p:oleObj name="Worksheet" r:id="rId2" imgW="14849435" imgH="1971734" progId="Excel.Sheet.12">
                  <p:embed/>
                  <p:pic>
                    <p:nvPicPr>
                      <p:cNvPr id="0" name=""/>
                      <p:cNvPicPr/>
                      <p:nvPr/>
                    </p:nvPicPr>
                    <p:blipFill>
                      <a:blip r:embed="rId3"/>
                      <a:stretch>
                        <a:fillRect/>
                      </a:stretch>
                    </p:blipFill>
                    <p:spPr>
                      <a:xfrm>
                        <a:off x="361950" y="3894358"/>
                        <a:ext cx="8603407" cy="1142640"/>
                      </a:xfrm>
                      <a:prstGeom prst="rect">
                        <a:avLst/>
                      </a:prstGeom>
                    </p:spPr>
                  </p:pic>
                </p:oleObj>
              </mc:Fallback>
            </mc:AlternateContent>
          </a:graphicData>
        </a:graphic>
      </p:graphicFrame>
    </p:spTree>
    <p:extLst>
      <p:ext uri="{BB962C8B-B14F-4D97-AF65-F5344CB8AC3E}">
        <p14:creationId xmlns:p14="http://schemas.microsoft.com/office/powerpoint/2010/main" val="1930160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AED33-2BC9-2389-C530-D1422977AE9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65024DB-EE6C-3A75-73EB-ECADD9B17965}"/>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Logarithme népérien et exponentielle </a:t>
            </a:r>
            <a:r>
              <a:rPr lang="fr-FR" sz="3200" spc="-1" dirty="0">
                <a:solidFill>
                  <a:srgbClr val="376092"/>
                </a:solidFill>
                <a:latin typeface="Arial"/>
              </a:rPr>
              <a:t>: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86193382-9C23-55D6-4131-29180B3EF632}"/>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exponentielle se trouve dans pas mal de notions du BTS CG comme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Les intérêts composés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croissance économique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Quand la croissance est proportionnelle à la valeur présente, on est dans un modèle exponentiel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ln() est l'inverse de la fonction exponentielle et permet donc de résoudre des équations du type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2*e</a:t>
            </a:r>
            <a:r>
              <a:rPr lang="fr-FR" sz="2400" spc="-1" baseline="30000" dirty="0">
                <a:solidFill>
                  <a:srgbClr val="376092"/>
                </a:solidFill>
                <a:latin typeface="Calibri"/>
              </a:rPr>
              <a:t>3x</a:t>
            </a:r>
            <a:r>
              <a:rPr lang="fr-FR" sz="2400" spc="-1" dirty="0">
                <a:solidFill>
                  <a:srgbClr val="376092"/>
                </a:solidFill>
                <a:latin typeface="Calibri"/>
              </a:rPr>
              <a:t> = 5</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908149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CD92-06A1-EB7B-4A72-1F19FF8265F4}"/>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A379BAA9-B616-585F-6C43-DC0203BE159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Logarithme népérien et exponentielle </a:t>
            </a:r>
            <a:r>
              <a:rPr lang="fr-FR" sz="3200" spc="-1" dirty="0">
                <a:solidFill>
                  <a:srgbClr val="376092"/>
                </a:solidFill>
                <a:latin typeface="Arial"/>
              </a:rPr>
              <a:t>: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9F294D08-9652-8FE8-4EE6-74C11B12E13A}"/>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ln() est définie sur l'intervalle ]0; + </a:t>
                </a:r>
                <a14:m>
                  <m:oMath xmlns:m="http://schemas.openxmlformats.org/officeDocument/2006/math">
                    <m:r>
                      <a:rPr lang="fr-FR" sz="2400" spc="-1" smtClean="0">
                        <a:solidFill>
                          <a:srgbClr val="376092"/>
                        </a:solidFill>
                        <a:latin typeface="Cambria Math" panose="02040503050406030204" pitchFamily="18" charset="0"/>
                      </a:rPr>
                      <m:t>∞</m:t>
                    </m:r>
                  </m:oMath>
                </a14:m>
                <a:r>
                  <a:rPr lang="fr-FR" sz="2400" spc="-1" dirty="0">
                    <a:solidFill>
                      <a:srgbClr val="376092"/>
                    </a:solidFill>
                    <a:latin typeface="Calibri"/>
                  </a:rPr>
                  <a:t>[, il n'est donc pas possible d'obtenir le logarithme népérien d'un nombre négatif ou nul.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ln() est strictement croissante sur ]0; + </a:t>
                </a:r>
                <a14:m>
                  <m:oMath xmlns:m="http://schemas.openxmlformats.org/officeDocument/2006/math">
                    <m:r>
                      <a:rPr lang="fr-FR" sz="2400" spc="-1">
                        <a:solidFill>
                          <a:srgbClr val="376092"/>
                        </a:solidFill>
                        <a:latin typeface="Cambria Math" panose="02040503050406030204" pitchFamily="18" charset="0"/>
                      </a:rPr>
                      <m:t>∞</m:t>
                    </m:r>
                  </m:oMath>
                </a14:m>
                <a:r>
                  <a:rPr lang="fr-FR" sz="2400" spc="-1" dirty="0">
                    <a:solidFill>
                      <a:srgbClr val="376092"/>
                    </a:solidFill>
                    <a:latin typeface="Calibri"/>
                  </a:rPr>
                  <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dérivée de f(x) = ln(x) est f'(x) = </a:t>
                </a:r>
                <a14:m>
                  <m:oMath xmlns:m="http://schemas.openxmlformats.org/officeDocument/2006/math">
                    <m:f>
                      <m:fPr>
                        <m:ctrlPr>
                          <a:rPr lang="fr-FR" sz="2400" i="1" spc="-1" smtClean="0">
                            <a:solidFill>
                              <a:srgbClr val="376092"/>
                            </a:solidFill>
                            <a:latin typeface="Cambria Math" panose="02040503050406030204" pitchFamily="18" charset="0"/>
                          </a:rPr>
                        </m:ctrlPr>
                      </m:fPr>
                      <m:num>
                        <m:r>
                          <a:rPr lang="fr-FR" sz="2400" spc="-1" smtClean="0">
                            <a:solidFill>
                              <a:srgbClr val="376092"/>
                            </a:solidFill>
                            <a:latin typeface="Cambria Math" panose="02040503050406030204" pitchFamily="18" charset="0"/>
                          </a:rPr>
                          <m:t>1</m:t>
                        </m:r>
                      </m:num>
                      <m:den>
                        <m:r>
                          <a:rPr lang="fr-FR" sz="2400" i="1" spc="-1" smtClean="0">
                            <a:solidFill>
                              <a:srgbClr val="376092"/>
                            </a:solidFill>
                            <a:latin typeface="Cambria Math" panose="02040503050406030204" pitchFamily="18" charset="0"/>
                          </a:rPr>
                          <m:t>𝑥</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tableau de variation de la fonction ln() :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9F294D08-9652-8FE8-4EE6-74C11B12E13A}"/>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1407"/>
                </a:stretch>
              </a:blipFill>
              <a:ln w="0">
                <a:noFill/>
              </a:ln>
            </p:spPr>
            <p:txBody>
              <a:bodyPr/>
              <a:lstStyle/>
              <a:p>
                <a:r>
                  <a:rPr lang="fr-FR">
                    <a:noFill/>
                  </a:rPr>
                  <a:t> </a:t>
                </a:r>
              </a:p>
            </p:txBody>
          </p:sp>
        </mc:Fallback>
      </mc:AlternateContent>
      <p:graphicFrame>
        <p:nvGraphicFramePr>
          <p:cNvPr id="2" name="Objet 1">
            <a:extLst>
              <a:ext uri="{FF2B5EF4-FFF2-40B4-BE49-F238E27FC236}">
                <a16:creationId xmlns:a16="http://schemas.microsoft.com/office/drawing/2014/main" id="{80111F7C-91B5-BC43-5FA7-1ACE079237FA}"/>
              </a:ext>
            </a:extLst>
          </p:cNvPr>
          <p:cNvGraphicFramePr>
            <a:graphicFrameLocks noChangeAspect="1"/>
          </p:cNvGraphicFramePr>
          <p:nvPr>
            <p:extLst>
              <p:ext uri="{D42A27DB-BD31-4B8C-83A1-F6EECF244321}">
                <p14:modId xmlns:p14="http://schemas.microsoft.com/office/powerpoint/2010/main" val="3807768948"/>
              </p:ext>
            </p:extLst>
          </p:nvPr>
        </p:nvGraphicFramePr>
        <p:xfrm>
          <a:off x="1330304" y="4123047"/>
          <a:ext cx="6667500" cy="2343150"/>
        </p:xfrm>
        <a:graphic>
          <a:graphicData uri="http://schemas.openxmlformats.org/presentationml/2006/ole">
            <mc:AlternateContent xmlns:mc="http://schemas.openxmlformats.org/markup-compatibility/2006">
              <mc:Choice xmlns:v="urn:schemas-microsoft-com:vml" Requires="v">
                <p:oleObj name="Worksheet" r:id="rId3" imgW="6667573" imgH="2343189" progId="Excel.Sheet.12">
                  <p:embed/>
                </p:oleObj>
              </mc:Choice>
              <mc:Fallback>
                <p:oleObj name="Worksheet" r:id="rId3" imgW="6667573" imgH="2343189" progId="Excel.Sheet.12">
                  <p:embed/>
                  <p:pic>
                    <p:nvPicPr>
                      <p:cNvPr id="0" name=""/>
                      <p:cNvPicPr/>
                      <p:nvPr/>
                    </p:nvPicPr>
                    <p:blipFill>
                      <a:blip r:embed="rId4"/>
                      <a:stretch>
                        <a:fillRect/>
                      </a:stretch>
                    </p:blipFill>
                    <p:spPr>
                      <a:xfrm>
                        <a:off x="1330304" y="4123047"/>
                        <a:ext cx="6667500" cy="2343150"/>
                      </a:xfrm>
                      <a:prstGeom prst="rect">
                        <a:avLst/>
                      </a:prstGeom>
                    </p:spPr>
                  </p:pic>
                </p:oleObj>
              </mc:Fallback>
            </mc:AlternateContent>
          </a:graphicData>
        </a:graphic>
      </p:graphicFrame>
    </p:spTree>
    <p:extLst>
      <p:ext uri="{BB962C8B-B14F-4D97-AF65-F5344CB8AC3E}">
        <p14:creationId xmlns:p14="http://schemas.microsoft.com/office/powerpoint/2010/main" val="304844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C46F-B219-31E2-F67D-D17C819EB416}"/>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E77AB6D5-F79D-55BC-8213-52556ADF5E06}"/>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Logarithme népérien et exponentielle </a:t>
            </a:r>
            <a:r>
              <a:rPr lang="fr-FR" sz="3200" spc="-1" dirty="0">
                <a:solidFill>
                  <a:srgbClr val="376092"/>
                </a:solidFill>
                <a:latin typeface="Arial"/>
              </a:rPr>
              <a:t>: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1DC62D13-2F4A-B15C-C60A-6CCA8D38123B}"/>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Quelques valeurs remarquables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 la constante d'Euler (e = 2,71828…) : ln e = 1</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ln 1 = 0</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Si ln x = y (avec x &gt; 0) alors x = </a:t>
                </a:r>
                <a:r>
                  <a:rPr lang="fr-FR" sz="2400" spc="-1" dirty="0" err="1">
                    <a:solidFill>
                      <a:srgbClr val="376092"/>
                    </a:solidFill>
                    <a:latin typeface="Calibri"/>
                  </a:rPr>
                  <a:t>e</a:t>
                </a:r>
                <a:r>
                  <a:rPr lang="fr-FR" sz="2400" spc="-1" baseline="30000" dirty="0" err="1">
                    <a:solidFill>
                      <a:srgbClr val="376092"/>
                    </a:solidFill>
                    <a:latin typeface="Calibri"/>
                  </a:rPr>
                  <a:t>y</a:t>
                </a:r>
                <a:endParaRPr lang="fr-FR" sz="2400" spc="-1" baseline="30000"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Si a et b réels &gt; 0 alors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ln </a:t>
                </a:r>
                <a:r>
                  <a:rPr lang="fr-FR" sz="2400" spc="-1" dirty="0" err="1">
                    <a:solidFill>
                      <a:srgbClr val="376092"/>
                    </a:solidFill>
                    <a:latin typeface="Calibri"/>
                  </a:rPr>
                  <a:t>a.b</a:t>
                </a:r>
                <a:r>
                  <a:rPr lang="fr-FR" sz="2400" spc="-1" dirty="0">
                    <a:solidFill>
                      <a:srgbClr val="376092"/>
                    </a:solidFill>
                    <a:latin typeface="Calibri"/>
                  </a:rPr>
                  <a:t> = ln a + ln b</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ln </a:t>
                </a:r>
                <a14:m>
                  <m:oMath xmlns:m="http://schemas.openxmlformats.org/officeDocument/2006/math">
                    <m:f>
                      <m:fPr>
                        <m:ctrlPr>
                          <a:rPr lang="fr-FR" sz="2400" i="1" spc="-1">
                            <a:solidFill>
                              <a:srgbClr val="376092"/>
                            </a:solidFill>
                            <a:latin typeface="Cambria Math" panose="02040503050406030204" pitchFamily="18" charset="0"/>
                          </a:rPr>
                        </m:ctrlPr>
                      </m:fPr>
                      <m:num>
                        <m:r>
                          <m:rPr>
                            <m:sty m:val="p"/>
                          </m:rPr>
                          <a:rPr lang="fr-FR" sz="2400" b="0" i="0" spc="-1" smtClean="0">
                            <a:solidFill>
                              <a:srgbClr val="376092"/>
                            </a:solidFill>
                            <a:latin typeface="Cambria Math" panose="02040503050406030204" pitchFamily="18" charset="0"/>
                          </a:rPr>
                          <m:t>a</m:t>
                        </m:r>
                      </m:num>
                      <m:den>
                        <m:r>
                          <a:rPr lang="fr-FR" sz="2400" b="0" i="1" spc="-1" smtClean="0">
                            <a:solidFill>
                              <a:srgbClr val="376092"/>
                            </a:solidFill>
                            <a:latin typeface="Cambria Math" panose="02040503050406030204" pitchFamily="18" charset="0"/>
                          </a:rPr>
                          <m:t>𝑏</m:t>
                        </m:r>
                      </m:den>
                    </m:f>
                  </m:oMath>
                </a14:m>
                <a:r>
                  <a:rPr lang="fr-FR" sz="2400" spc="-1" dirty="0">
                    <a:solidFill>
                      <a:srgbClr val="376092"/>
                    </a:solidFill>
                    <a:latin typeface="Calibri"/>
                  </a:rPr>
                  <a:t> = ln a - ln b</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ln a</a:t>
                </a:r>
                <a:r>
                  <a:rPr lang="fr-FR" sz="2400" spc="-1" baseline="30000" dirty="0">
                    <a:solidFill>
                      <a:srgbClr val="376092"/>
                    </a:solidFill>
                    <a:latin typeface="Calibri"/>
                  </a:rPr>
                  <a:t>n</a:t>
                </a:r>
                <a:r>
                  <a:rPr lang="fr-FR" sz="2400" spc="-1" dirty="0">
                    <a:solidFill>
                      <a:srgbClr val="376092"/>
                    </a:solidFill>
                    <a:latin typeface="Calibri"/>
                  </a:rPr>
                  <a:t> = n . ln a</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Etudions le sens de variation de f(x) =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b="0" i="0" spc="-1" smtClean="0">
                            <a:solidFill>
                              <a:srgbClr val="376092"/>
                            </a:solidFill>
                            <a:latin typeface="Cambria Math" panose="02040503050406030204" pitchFamily="18" charset="0"/>
                          </a:rPr>
                          <m:t>1</m:t>
                        </m:r>
                      </m:num>
                      <m:den>
                        <m:r>
                          <a:rPr lang="fr-FR" sz="2400" b="0" i="1" spc="-1" smtClean="0">
                            <a:solidFill>
                              <a:srgbClr val="376092"/>
                            </a:solidFill>
                            <a:latin typeface="Cambria Math" panose="02040503050406030204" pitchFamily="18" charset="0"/>
                          </a:rPr>
                          <m:t>2</m:t>
                        </m:r>
                      </m:den>
                    </m:f>
                  </m:oMath>
                </a14:m>
                <a:r>
                  <a:rPr lang="fr-FR" sz="2400" spc="-1" dirty="0">
                    <a:solidFill>
                      <a:srgbClr val="376092"/>
                    </a:solidFill>
                    <a:latin typeface="Calibri"/>
                  </a:rPr>
                  <a:t> .x² - ln x  </a:t>
                </a:r>
              </a:p>
              <a:p>
                <a:pPr marL="1321200" lvl="2"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1DC62D13-2F4A-B15C-C60A-6CCA8D38123B}"/>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422508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CF5D2-37D6-B224-DE08-C7D25E336AFC}"/>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E5201DCA-AFF9-FA9A-1947-F0D9AB0B64F9}"/>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Logarithme népérien et exponentielle </a:t>
            </a:r>
            <a:r>
              <a:rPr lang="fr-FR" sz="3200" spc="-1" dirty="0">
                <a:solidFill>
                  <a:srgbClr val="376092"/>
                </a:solidFill>
                <a:latin typeface="Arial"/>
              </a:rPr>
              <a:t>: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63241AB6-2A02-DACA-0298-C9310D4E6B65}"/>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e() est définie sur </a:t>
                </a:r>
                <a14:m>
                  <m:oMath xmlns:m="http://schemas.openxmlformats.org/officeDocument/2006/math">
                    <m:r>
                      <a:rPr lang="fr-FR" sz="2400" spc="-1" smtClean="0">
                        <a:solidFill>
                          <a:srgbClr val="376092"/>
                        </a:solidFill>
                        <a:latin typeface="Cambria Math" panose="02040503050406030204" pitchFamily="18" charset="0"/>
                      </a:rPr>
                      <m:t>ℝ</m:t>
                    </m:r>
                  </m:oMath>
                </a14:m>
                <a:r>
                  <a:rPr lang="fr-FR" sz="2400" spc="-1" dirty="0">
                    <a:solidFill>
                      <a:srgbClr val="376092"/>
                    </a:solidFill>
                    <a:latin typeface="Calibri"/>
                  </a:rPr>
                  <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fonction e() est strictement croissante sur ]- </a:t>
                </a:r>
                <a14:m>
                  <m:oMath xmlns:m="http://schemas.openxmlformats.org/officeDocument/2006/math">
                    <m:r>
                      <a:rPr lang="fr-FR" sz="2400" spc="-1">
                        <a:solidFill>
                          <a:srgbClr val="376092"/>
                        </a:solidFill>
                        <a:latin typeface="Cambria Math" panose="02040503050406030204" pitchFamily="18" charset="0"/>
                      </a:rPr>
                      <m:t>∞</m:t>
                    </m:r>
                  </m:oMath>
                </a14:m>
                <a:r>
                  <a:rPr lang="fr-FR" sz="2400" spc="-1" dirty="0">
                    <a:solidFill>
                      <a:srgbClr val="376092"/>
                    </a:solidFill>
                    <a:latin typeface="Calibri"/>
                  </a:rPr>
                  <a:t>; + </a:t>
                </a:r>
                <a14:m>
                  <m:oMath xmlns:m="http://schemas.openxmlformats.org/officeDocument/2006/math">
                    <m:r>
                      <a:rPr lang="fr-FR" sz="2400" spc="-1">
                        <a:solidFill>
                          <a:srgbClr val="376092"/>
                        </a:solidFill>
                        <a:latin typeface="Cambria Math" panose="02040503050406030204" pitchFamily="18" charset="0"/>
                      </a:rPr>
                      <m:t>∞</m:t>
                    </m:r>
                  </m:oMath>
                </a14:m>
                <a:r>
                  <a:rPr lang="fr-FR" sz="2400" spc="-1" dirty="0">
                    <a:solidFill>
                      <a:srgbClr val="376092"/>
                    </a:solidFill>
                    <a:latin typeface="Calibri"/>
                  </a:rPr>
                  <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dérivée de f(x) = e</a:t>
                </a:r>
                <a:r>
                  <a:rPr lang="fr-FR" sz="2400" spc="-1" baseline="30000" dirty="0">
                    <a:solidFill>
                      <a:srgbClr val="376092"/>
                    </a:solidFill>
                    <a:latin typeface="Calibri"/>
                  </a:rPr>
                  <a:t>x</a:t>
                </a:r>
                <a:r>
                  <a:rPr lang="fr-FR" sz="2400" spc="-1" dirty="0">
                    <a:solidFill>
                      <a:srgbClr val="376092"/>
                    </a:solidFill>
                    <a:latin typeface="Calibri"/>
                  </a:rPr>
                  <a:t> est f'(x) = e</a:t>
                </a:r>
                <a:r>
                  <a:rPr lang="fr-FR" sz="2400" spc="-1" baseline="30000" dirty="0">
                    <a:solidFill>
                      <a:srgbClr val="376092"/>
                    </a:solidFill>
                    <a:latin typeface="Calibri"/>
                  </a:rPr>
                  <a:t>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tout réel x, e</a:t>
                </a:r>
                <a:r>
                  <a:rPr lang="fr-FR" sz="2400" spc="-1" baseline="30000" dirty="0">
                    <a:solidFill>
                      <a:srgbClr val="376092"/>
                    </a:solidFill>
                    <a:latin typeface="Calibri"/>
                  </a:rPr>
                  <a:t>x</a:t>
                </a:r>
                <a:r>
                  <a:rPr lang="fr-FR" sz="2400" spc="-1" dirty="0">
                    <a:solidFill>
                      <a:srgbClr val="376092"/>
                    </a:solidFill>
                    <a:latin typeface="Calibri"/>
                  </a:rPr>
                  <a:t> &gt; 0.</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tableau de variation de la fonction e() :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63241AB6-2A02-DACA-0298-C9310D4E6B65}"/>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3"/>
                <a:stretch>
                  <a:fillRect t="-1868"/>
                </a:stretch>
              </a:blipFill>
              <a:ln w="0">
                <a:noFill/>
              </a:ln>
            </p:spPr>
            <p:txBody>
              <a:bodyPr/>
              <a:lstStyle/>
              <a:p>
                <a:r>
                  <a:rPr lang="fr-FR">
                    <a:noFill/>
                  </a:rPr>
                  <a:t> </a:t>
                </a:r>
              </a:p>
            </p:txBody>
          </p:sp>
        </mc:Fallback>
      </mc:AlternateContent>
      <p:graphicFrame>
        <p:nvGraphicFramePr>
          <p:cNvPr id="9" name="Objet 8">
            <a:extLst>
              <a:ext uri="{FF2B5EF4-FFF2-40B4-BE49-F238E27FC236}">
                <a16:creationId xmlns:a16="http://schemas.microsoft.com/office/drawing/2014/main" id="{7217430F-DEEC-B8ED-74EE-038E6B0A3BD1}"/>
              </a:ext>
            </a:extLst>
          </p:cNvPr>
          <p:cNvGraphicFramePr>
            <a:graphicFrameLocks noChangeAspect="1"/>
          </p:cNvGraphicFramePr>
          <p:nvPr>
            <p:extLst>
              <p:ext uri="{D42A27DB-BD31-4B8C-83A1-F6EECF244321}">
                <p14:modId xmlns:p14="http://schemas.microsoft.com/office/powerpoint/2010/main" val="2023182113"/>
              </p:ext>
            </p:extLst>
          </p:nvPr>
        </p:nvGraphicFramePr>
        <p:xfrm>
          <a:off x="1410084" y="3836817"/>
          <a:ext cx="6667500" cy="2486025"/>
        </p:xfrm>
        <a:graphic>
          <a:graphicData uri="http://schemas.openxmlformats.org/presentationml/2006/ole">
            <mc:AlternateContent xmlns:mc="http://schemas.openxmlformats.org/markup-compatibility/2006">
              <mc:Choice xmlns:v="urn:schemas-microsoft-com:vml" Requires="v">
                <p:oleObj name="Worksheet" r:id="rId4" imgW="6667573" imgH="2486084" progId="Excel.Sheet.12">
                  <p:embed/>
                </p:oleObj>
              </mc:Choice>
              <mc:Fallback>
                <p:oleObj name="Worksheet" r:id="rId4" imgW="6667573" imgH="2486084" progId="Excel.Sheet.12">
                  <p:embed/>
                  <p:pic>
                    <p:nvPicPr>
                      <p:cNvPr id="0" name=""/>
                      <p:cNvPicPr/>
                      <p:nvPr/>
                    </p:nvPicPr>
                    <p:blipFill>
                      <a:blip r:embed="rId5"/>
                      <a:stretch>
                        <a:fillRect/>
                      </a:stretch>
                    </p:blipFill>
                    <p:spPr>
                      <a:xfrm>
                        <a:off x="1410084" y="3836817"/>
                        <a:ext cx="6667500" cy="2486025"/>
                      </a:xfrm>
                      <a:prstGeom prst="rect">
                        <a:avLst/>
                      </a:prstGeom>
                    </p:spPr>
                  </p:pic>
                </p:oleObj>
              </mc:Fallback>
            </mc:AlternateContent>
          </a:graphicData>
        </a:graphic>
      </p:graphicFrame>
      <p:pic>
        <p:nvPicPr>
          <p:cNvPr id="12293" name="Connecteur droit avec flèche 31">
            <a:extLst>
              <a:ext uri="{FF2B5EF4-FFF2-40B4-BE49-F238E27FC236}">
                <a16:creationId xmlns:a16="http://schemas.microsoft.com/office/drawing/2014/main" id="{D8A598EF-ABBB-F2DC-CA1F-38CFE18D09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975" y="438150"/>
            <a:ext cx="312420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9267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4CE6F-8131-FA3F-7FFC-844CBA7F6956}"/>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1491D202-B573-3081-5B6A-4CD8231437D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Logarithme népérien et exponentielle </a:t>
            </a:r>
            <a:r>
              <a:rPr lang="fr-FR" sz="3200" spc="-1" dirty="0">
                <a:solidFill>
                  <a:srgbClr val="376092"/>
                </a:solidFill>
                <a:latin typeface="Arial"/>
              </a:rPr>
              <a:t>: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a:extLst>
                  <a:ext uri="{FF2B5EF4-FFF2-40B4-BE49-F238E27FC236}">
                    <a16:creationId xmlns:a16="http://schemas.microsoft.com/office/drawing/2014/main" id="{710A6433-9003-6606-4899-F2E481CF803E}"/>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Quelques valeurs remarquables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a:t>
                </a:r>
                <a:r>
                  <a:rPr lang="fr-FR" sz="2400" spc="-1" baseline="30000" dirty="0">
                    <a:solidFill>
                      <a:srgbClr val="376092"/>
                    </a:solidFill>
                    <a:latin typeface="Calibri"/>
                  </a:rPr>
                  <a:t>0</a:t>
                </a:r>
                <a:r>
                  <a:rPr lang="fr-FR" sz="2400" spc="-1" dirty="0">
                    <a:solidFill>
                      <a:srgbClr val="376092"/>
                    </a:solidFill>
                    <a:latin typeface="Calibri"/>
                  </a:rPr>
                  <a:t> = 1</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Si e</a:t>
                </a:r>
                <a:r>
                  <a:rPr lang="fr-FR" sz="2400" spc="-1" baseline="30000" dirty="0">
                    <a:solidFill>
                      <a:srgbClr val="376092"/>
                    </a:solidFill>
                    <a:latin typeface="Calibri"/>
                  </a:rPr>
                  <a:t>x</a:t>
                </a:r>
                <a:r>
                  <a:rPr lang="fr-FR" sz="2400" spc="-1" dirty="0">
                    <a:solidFill>
                      <a:srgbClr val="376092"/>
                    </a:solidFill>
                    <a:latin typeface="Calibri"/>
                  </a:rPr>
                  <a:t> = y alors x = ln y</a:t>
                </a:r>
                <a:endParaRPr lang="fr-FR" sz="2400" spc="-1" baseline="30000" dirty="0">
                  <a:solidFill>
                    <a:srgbClr val="376092"/>
                  </a:solidFill>
                  <a:latin typeface="Calibri"/>
                </a:endParaRP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Si a et b réels &gt; 0 alors :</a:t>
                </a:r>
              </a:p>
              <a:p>
                <a:pPr marL="1321200" lvl="2" indent="-324000">
                  <a:spcAft>
                    <a:spcPts val="1134"/>
                  </a:spcAft>
                  <a:buClr>
                    <a:srgbClr val="000000"/>
                  </a:buClr>
                  <a:buSzPct val="45000"/>
                  <a:buFont typeface="Wingdings" charset="2"/>
                  <a:buChar char=""/>
                </a:pPr>
                <a:r>
                  <a:rPr lang="fr-FR" sz="2400" spc="-1" dirty="0" err="1">
                    <a:solidFill>
                      <a:srgbClr val="376092"/>
                    </a:solidFill>
                    <a:latin typeface="Calibri"/>
                  </a:rPr>
                  <a:t>e</a:t>
                </a:r>
                <a:r>
                  <a:rPr lang="fr-FR" sz="2400" spc="-1" baseline="30000" dirty="0" err="1">
                    <a:solidFill>
                      <a:srgbClr val="376092"/>
                    </a:solidFill>
                    <a:latin typeface="Calibri"/>
                  </a:rPr>
                  <a:t>a+b</a:t>
                </a:r>
                <a:r>
                  <a:rPr lang="fr-FR" sz="2400" spc="-1" dirty="0">
                    <a:solidFill>
                      <a:srgbClr val="376092"/>
                    </a:solidFill>
                    <a:latin typeface="Calibri"/>
                  </a:rPr>
                  <a:t>= </a:t>
                </a:r>
                <a:r>
                  <a:rPr lang="fr-FR" sz="2400" spc="-1" dirty="0" err="1">
                    <a:solidFill>
                      <a:srgbClr val="376092"/>
                    </a:solidFill>
                    <a:latin typeface="Calibri"/>
                  </a:rPr>
                  <a:t>e</a:t>
                </a:r>
                <a:r>
                  <a:rPr lang="fr-FR" sz="2400" spc="-1" baseline="30000" dirty="0" err="1">
                    <a:solidFill>
                      <a:srgbClr val="376092"/>
                    </a:solidFill>
                    <a:latin typeface="Calibri"/>
                  </a:rPr>
                  <a:t>a</a:t>
                </a:r>
                <a:r>
                  <a:rPr lang="fr-FR" sz="2400" spc="-1" dirty="0">
                    <a:solidFill>
                      <a:srgbClr val="376092"/>
                    </a:solidFill>
                    <a:latin typeface="Calibri"/>
                  </a:rPr>
                  <a:t> * </a:t>
                </a:r>
                <a:r>
                  <a:rPr lang="fr-FR" sz="2400" spc="-1" dirty="0" err="1">
                    <a:solidFill>
                      <a:srgbClr val="376092"/>
                    </a:solidFill>
                    <a:latin typeface="Calibri"/>
                  </a:rPr>
                  <a:t>e</a:t>
                </a:r>
                <a:r>
                  <a:rPr lang="fr-FR" sz="2400" spc="-1" baseline="30000" dirty="0" err="1">
                    <a:solidFill>
                      <a:srgbClr val="376092"/>
                    </a:solidFill>
                    <a:latin typeface="Calibri"/>
                  </a:rPr>
                  <a:t>b</a:t>
                </a:r>
                <a:endParaRPr lang="fr-FR" sz="2400" spc="-1" baseline="30000" dirty="0">
                  <a:solidFill>
                    <a:srgbClr val="376092"/>
                  </a:solidFill>
                  <a:latin typeface="Calibri"/>
                </a:endParaRPr>
              </a:p>
              <a:p>
                <a:pPr marL="1321200" lvl="2" indent="-324000">
                  <a:spcAft>
                    <a:spcPts val="1134"/>
                  </a:spcAft>
                  <a:buClr>
                    <a:srgbClr val="000000"/>
                  </a:buClr>
                  <a:buSzPct val="45000"/>
                  <a:buFont typeface="Wingdings" charset="2"/>
                  <a:buChar char=""/>
                </a:pPr>
                <a:r>
                  <a:rPr lang="fr-FR" sz="2400" spc="-1" dirty="0" err="1">
                    <a:solidFill>
                      <a:srgbClr val="376092"/>
                    </a:solidFill>
                    <a:latin typeface="Calibri"/>
                  </a:rPr>
                  <a:t>e</a:t>
                </a:r>
                <a:r>
                  <a:rPr lang="fr-FR" sz="2400" spc="-1" baseline="30000" dirty="0" err="1">
                    <a:solidFill>
                      <a:srgbClr val="376092"/>
                    </a:solidFill>
                    <a:latin typeface="Calibri"/>
                  </a:rPr>
                  <a:t>a</a:t>
                </a:r>
                <a:r>
                  <a:rPr lang="fr-FR" sz="2400" spc="-1" baseline="30000" dirty="0">
                    <a:solidFill>
                      <a:srgbClr val="376092"/>
                    </a:solidFill>
                    <a:latin typeface="Calibri"/>
                  </a:rPr>
                  <a:t>-b </a:t>
                </a:r>
                <a:r>
                  <a:rPr lang="fr-FR" sz="2400" spc="-1" dirty="0">
                    <a:solidFill>
                      <a:srgbClr val="376092"/>
                    </a:solidFill>
                    <a:latin typeface="Calibri"/>
                  </a:rPr>
                  <a:t>= </a:t>
                </a:r>
                <a14:m>
                  <m:oMath xmlns:m="http://schemas.openxmlformats.org/officeDocument/2006/math">
                    <m:f>
                      <m:fPr>
                        <m:ctrlPr>
                          <a:rPr lang="fr-FR" sz="2400" i="1" spc="-1">
                            <a:solidFill>
                              <a:srgbClr val="376092"/>
                            </a:solidFill>
                            <a:latin typeface="Cambria Math" panose="02040503050406030204" pitchFamily="18" charset="0"/>
                          </a:rPr>
                        </m:ctrlPr>
                      </m:fPr>
                      <m:num>
                        <m:r>
                          <m:rPr>
                            <m:sty m:val="p"/>
                          </m:rPr>
                          <a:rPr lang="fr-FR" sz="2400" b="0" i="0" spc="-1" smtClean="0">
                            <a:solidFill>
                              <a:srgbClr val="376092"/>
                            </a:solidFill>
                            <a:latin typeface="Cambria Math" panose="02040503050406030204" pitchFamily="18" charset="0"/>
                          </a:rPr>
                          <m:t>e</m:t>
                        </m:r>
                        <m:r>
                          <m:rPr>
                            <m:sty m:val="p"/>
                          </m:rPr>
                          <a:rPr lang="fr-FR" sz="2400" b="0" i="0" spc="-1" baseline="30000" smtClean="0">
                            <a:solidFill>
                              <a:srgbClr val="376092"/>
                            </a:solidFill>
                            <a:latin typeface="Cambria Math" panose="02040503050406030204" pitchFamily="18" charset="0"/>
                          </a:rPr>
                          <m:t>a</m:t>
                        </m:r>
                      </m:num>
                      <m:den>
                        <m:r>
                          <a:rPr lang="fr-FR" sz="2400" b="0" i="1" spc="-1" smtClean="0">
                            <a:solidFill>
                              <a:srgbClr val="376092"/>
                            </a:solidFill>
                            <a:latin typeface="Cambria Math" panose="02040503050406030204" pitchFamily="18" charset="0"/>
                          </a:rPr>
                          <m:t>𝑒</m:t>
                        </m:r>
                        <m:r>
                          <a:rPr lang="fr-FR" sz="2400" b="0" i="1" spc="-1" baseline="30000" smtClean="0">
                            <a:solidFill>
                              <a:srgbClr val="376092"/>
                            </a:solidFill>
                            <a:latin typeface="Cambria Math" panose="02040503050406030204" pitchFamily="18" charset="0"/>
                          </a:rPr>
                          <m:t>𝑏</m:t>
                        </m:r>
                      </m:den>
                    </m:f>
                  </m:oMath>
                </a14:m>
                <a:r>
                  <a:rPr lang="fr-FR" sz="2400" spc="-1" dirty="0">
                    <a:solidFill>
                      <a:srgbClr val="376092"/>
                    </a:solidFill>
                    <a:latin typeface="Calibri"/>
                  </a:rPr>
                  <a:t>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a:t>
                </a:r>
                <a:r>
                  <a:rPr lang="fr-FR" sz="2400" spc="-1" dirty="0" err="1">
                    <a:solidFill>
                      <a:srgbClr val="376092"/>
                    </a:solidFill>
                    <a:latin typeface="Calibri"/>
                  </a:rPr>
                  <a:t>e</a:t>
                </a:r>
                <a:r>
                  <a:rPr lang="fr-FR" sz="2400" spc="-1" baseline="30000" dirty="0" err="1">
                    <a:solidFill>
                      <a:srgbClr val="376092"/>
                    </a:solidFill>
                    <a:latin typeface="Calibri"/>
                  </a:rPr>
                  <a:t>a</a:t>
                </a:r>
                <a:r>
                  <a:rPr lang="fr-FR" sz="2400" spc="-1" dirty="0">
                    <a:solidFill>
                      <a:srgbClr val="376092"/>
                    </a:solidFill>
                    <a:latin typeface="Calibri"/>
                  </a:rPr>
                  <a:t>)</a:t>
                </a:r>
                <a:r>
                  <a:rPr lang="fr-FR" sz="2400" spc="-1" baseline="30000" dirty="0">
                    <a:solidFill>
                      <a:srgbClr val="376092"/>
                    </a:solidFill>
                    <a:latin typeface="Calibri"/>
                  </a:rPr>
                  <a:t>n</a:t>
                </a:r>
                <a:r>
                  <a:rPr lang="fr-FR" sz="2400" spc="-1" dirty="0">
                    <a:solidFill>
                      <a:srgbClr val="376092"/>
                    </a:solidFill>
                    <a:latin typeface="Calibri"/>
                  </a:rPr>
                  <a:t> = </a:t>
                </a:r>
                <a:r>
                  <a:rPr lang="fr-FR" sz="2400" spc="-1" dirty="0" err="1">
                    <a:solidFill>
                      <a:srgbClr val="376092"/>
                    </a:solidFill>
                    <a:latin typeface="Calibri"/>
                  </a:rPr>
                  <a:t>e</a:t>
                </a:r>
                <a:r>
                  <a:rPr lang="fr-FR" sz="2400" spc="-1" baseline="30000" dirty="0" err="1">
                    <a:solidFill>
                      <a:srgbClr val="376092"/>
                    </a:solidFill>
                    <a:latin typeface="Calibri"/>
                  </a:rPr>
                  <a:t>a.n</a:t>
                </a:r>
                <a:endParaRPr lang="fr-FR" sz="2400" spc="-1" baseline="30000"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Etudions le sens de variation de f(x) = </a:t>
                </a:r>
                <a14:m>
                  <m:oMath xmlns:m="http://schemas.openxmlformats.org/officeDocument/2006/math">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1 −</m:t>
                        </m:r>
                        <m:r>
                          <a:rPr lang="fr-FR" sz="2400" b="0" i="1" spc="-1" smtClean="0">
                            <a:solidFill>
                              <a:srgbClr val="376092"/>
                            </a:solidFill>
                            <a:latin typeface="Cambria Math" panose="02040503050406030204" pitchFamily="18" charset="0"/>
                          </a:rPr>
                          <m:t>𝑥</m:t>
                        </m:r>
                      </m:e>
                    </m:d>
                    <m:r>
                      <a:rPr lang="fr-FR" sz="2400" b="0" i="1" spc="-1" smtClean="0">
                        <a:solidFill>
                          <a:srgbClr val="376092"/>
                        </a:solidFill>
                        <a:latin typeface="Cambria Math" panose="02040503050406030204" pitchFamily="18" charset="0"/>
                      </a:rPr>
                      <m:t>𝑒</m:t>
                    </m:r>
                    <m:r>
                      <a:rPr lang="fr-FR" sz="2400" b="0" i="1" spc="-1" baseline="30000" smtClean="0">
                        <a:solidFill>
                          <a:srgbClr val="376092"/>
                        </a:solidFill>
                        <a:latin typeface="Cambria Math" panose="02040503050406030204" pitchFamily="18" charset="0"/>
                      </a:rPr>
                      <m:t>𝑥</m:t>
                    </m:r>
                  </m:oMath>
                </a14:m>
                <a:endParaRPr lang="fr-FR" sz="2400" spc="-1" baseline="30000" dirty="0">
                  <a:solidFill>
                    <a:srgbClr val="376092"/>
                  </a:solidFill>
                  <a:latin typeface="Calibri"/>
                </a:endParaRPr>
              </a:p>
              <a:p>
                <a:pPr marL="1321200" lvl="2"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a:extLst>
                  <a:ext uri="{FF2B5EF4-FFF2-40B4-BE49-F238E27FC236}">
                    <a16:creationId xmlns:a16="http://schemas.microsoft.com/office/drawing/2014/main" id="{710A6433-9003-6606-4899-F2E481CF803E}"/>
                  </a:ext>
                </a:extLst>
              </p:cNvPr>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432702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1539</Words>
  <Application>Microsoft Office PowerPoint</Application>
  <PresentationFormat>Affichage à l'écran (4:3)</PresentationFormat>
  <Paragraphs>189</Paragraphs>
  <Slides>18</Slides>
  <Notes>0</Notes>
  <HiddenSlides>0</HiddenSlides>
  <MMClips>0</MMClips>
  <ScaleCrop>false</ScaleCrop>
  <HeadingPairs>
    <vt:vector size="8" baseType="variant">
      <vt:variant>
        <vt:lpstr>Polices utilisées</vt:lpstr>
      </vt:variant>
      <vt:variant>
        <vt:i4>7</vt:i4>
      </vt:variant>
      <vt:variant>
        <vt:lpstr>Thème</vt:lpstr>
      </vt:variant>
      <vt:variant>
        <vt:i4>3</vt:i4>
      </vt:variant>
      <vt:variant>
        <vt:lpstr>Serveurs OLE incorporés</vt:lpstr>
      </vt:variant>
      <vt:variant>
        <vt:i4>1</vt:i4>
      </vt:variant>
      <vt:variant>
        <vt:lpstr>Titres des diapositives</vt:lpstr>
      </vt:variant>
      <vt:variant>
        <vt:i4>18</vt:i4>
      </vt:variant>
    </vt:vector>
  </HeadingPairs>
  <TitlesOfParts>
    <vt:vector size="29" baseType="lpstr">
      <vt:lpstr>Aptos Narrow</vt:lpstr>
      <vt:lpstr>Arial</vt:lpstr>
      <vt:lpstr>Calibri</vt:lpstr>
      <vt:lpstr>Cambria Math</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332</cp:revision>
  <dcterms:created xsi:type="dcterms:W3CDTF">2012-01-17T22:15:29Z</dcterms:created>
  <dcterms:modified xsi:type="dcterms:W3CDTF">2026-03-27T06:48:33Z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