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34"/>
  </p:notesMasterIdLst>
  <p:sldIdLst>
    <p:sldId id="256" r:id="rId4"/>
    <p:sldId id="343" r:id="rId5"/>
    <p:sldId id="376" r:id="rId6"/>
    <p:sldId id="377" r:id="rId7"/>
    <p:sldId id="378" r:id="rId8"/>
    <p:sldId id="379" r:id="rId9"/>
    <p:sldId id="380" r:id="rId10"/>
    <p:sldId id="381" r:id="rId11"/>
    <p:sldId id="406" r:id="rId12"/>
    <p:sldId id="410" r:id="rId13"/>
    <p:sldId id="383" r:id="rId14"/>
    <p:sldId id="389" r:id="rId15"/>
    <p:sldId id="384" r:id="rId16"/>
    <p:sldId id="390" r:id="rId17"/>
    <p:sldId id="386" r:id="rId18"/>
    <p:sldId id="392" r:id="rId19"/>
    <p:sldId id="393" r:id="rId20"/>
    <p:sldId id="395" r:id="rId21"/>
    <p:sldId id="396" r:id="rId22"/>
    <p:sldId id="397" r:id="rId23"/>
    <p:sldId id="398" r:id="rId24"/>
    <p:sldId id="399" r:id="rId25"/>
    <p:sldId id="400" r:id="rId26"/>
    <p:sldId id="409" r:id="rId27"/>
    <p:sldId id="411" r:id="rId28"/>
    <p:sldId id="412" r:id="rId29"/>
    <p:sldId id="401" r:id="rId30"/>
    <p:sldId id="408" r:id="rId31"/>
    <p:sldId id="413" r:id="rId32"/>
    <p:sldId id="281" r:id="rId33"/>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30/01/2026</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txBody>
          <a:bodyPr/>
          <a:lstStyle/>
          <a:p>
            <a:endParaRPr lang="fr-F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txBody>
          <a:bodyPr/>
          <a:lstStyle/>
          <a:p>
            <a:endParaRPr lang="fr-FR"/>
          </a:p>
        </p:txBody>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fr-FR"/>
          </a:p>
        </p:txBody>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txBody>
          <a:bodyPr/>
          <a:lstStyle/>
          <a:p>
            <a:endParaRPr lang="fr-FR"/>
          </a:p>
        </p:txBody>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Statistiques</a:t>
            </a:r>
            <a:br>
              <a:rPr dirty="0"/>
            </a:br>
            <a:r>
              <a:rPr lang="fr-FR" sz="4400" spc="-1" dirty="0">
                <a:solidFill>
                  <a:srgbClr val="376092"/>
                </a:solidFill>
                <a:latin typeface="Arial"/>
              </a:rPr>
              <a:t>Loi uniforme et loi normale </a:t>
            </a: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a:solidFill>
                  <a:srgbClr val="376092"/>
                </a:solidFill>
                <a:latin typeface="Arial"/>
              </a:rPr>
              <a:t>Loi normale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p:cNvSpPr txBox="1"/>
          <p:nvPr/>
        </p:nvSpPr>
        <p:spPr>
          <a:xfrm>
            <a:off x="457200" y="1677880"/>
            <a:ext cx="8229240" cy="444788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Loi uniforme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Espérance, variance et écart type de la loi uniforme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Loi normale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Approximation d’une loi binomiale par une loi normale</a:t>
            </a:r>
          </a:p>
          <a:p>
            <a:pPr marL="432000" indent="-324000">
              <a:spcAft>
                <a:spcPts val="1060"/>
              </a:spcAft>
              <a:buClr>
                <a:srgbClr val="000000"/>
              </a:buClr>
              <a:buSzPct val="45000"/>
              <a:buFont typeface="Wingdings" charset="2"/>
              <a:buChar char=""/>
            </a:pPr>
            <a:r>
              <a:rPr lang="fr-FR" sz="2400" spc="-1" dirty="0">
                <a:solidFill>
                  <a:srgbClr val="376092"/>
                </a:solidFill>
              </a:rPr>
              <a:t>Somme des variables indépendantes</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Théorème de la limite centrée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Cas concrets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Questions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lois uniformes continues forment une famille de probabilités à densité caractérisées par le fait que tous les intervalles de même longueur inclus dans le support de la loi ont la même probabilité.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densité de probabilité de la loi uniforme continue est une fonction qui porte sur l’intervalle [a; b]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a:t>
                </a:r>
              </a:p>
              <a:p>
                <a:pPr marL="1321200" lvl="2" indent="-324000">
                  <a:spcAft>
                    <a:spcPts val="1134"/>
                  </a:spcAft>
                  <a:buClr>
                    <a:srgbClr val="000000"/>
                  </a:buClr>
                  <a:buSzPct val="45000"/>
                  <a:buFont typeface="Wingdings" charset="2"/>
                  <a:buChar char=""/>
                </a:pP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spc="-1" dirty="0">
                            <a:solidFill>
                              <a:srgbClr val="376092"/>
                            </a:solidFill>
                            <a:latin typeface="Cambria Math" panose="02040503050406030204" pitchFamily="18" charset="0"/>
                          </a:rPr>
                          <m:t>1</m:t>
                        </m:r>
                      </m:num>
                      <m:den>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den>
                    </m:f>
                  </m:oMath>
                </a14:m>
                <a:r>
                  <a:rPr lang="fr-FR" sz="2400" spc="-1" dirty="0">
                    <a:solidFill>
                      <a:srgbClr val="376092"/>
                    </a:solidFill>
                    <a:latin typeface="Calibri"/>
                  </a:rPr>
                  <a:t> pour a &lt;= x &lt;= b</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0 sinon</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07294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densité de probabilité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tracer la densité de probabilité représentée par une fonction qui porte sur l’intervalle [2; 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tracer un repère orthonormé et plaçons sur l’axe des abscisses les valeurs 2 et 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tracer un rectangle d’aire 1 (100% des individus) dont l’un des côtés est le segment de l’axe des abscisses entre 2 et 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Déterminer la valeur k, qui sera l’ordonné des 2 autres points du rectangle.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Vérifier que k = </a:t>
                </a:r>
                <a14:m>
                  <m:oMath xmlns:m="http://schemas.openxmlformats.org/officeDocument/2006/math">
                    <m:f>
                      <m:fPr>
                        <m:ctrlPr>
                          <a:rPr lang="fr-FR" sz="2400" i="1" spc="-1" dirty="0">
                            <a:solidFill>
                              <a:srgbClr val="376092"/>
                            </a:solidFill>
                            <a:latin typeface="Cambria Math" panose="02040503050406030204" pitchFamily="18" charset="0"/>
                          </a:rPr>
                        </m:ctrlPr>
                      </m:fPr>
                      <m:num>
                        <m:r>
                          <a:rPr lang="fr-FR" sz="2400" spc="-1" dirty="0">
                            <a:solidFill>
                              <a:srgbClr val="376092"/>
                            </a:solidFill>
                            <a:latin typeface="Cambria Math" panose="02040503050406030204" pitchFamily="18" charset="0"/>
                          </a:rPr>
                          <m:t>1</m:t>
                        </m:r>
                      </m:num>
                      <m:den>
                        <m:r>
                          <a:rPr lang="fr-FR" sz="2400" i="1" spc="-1" dirty="0">
                            <a:solidFill>
                              <a:srgbClr val="376092"/>
                            </a:solidFill>
                            <a:latin typeface="Cambria Math" panose="02040503050406030204" pitchFamily="18" charset="0"/>
                          </a:rPr>
                          <m:t>𝑏</m:t>
                        </m:r>
                        <m:r>
                          <a:rPr lang="fr-FR" sz="240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den>
                    </m:f>
                  </m:oMath>
                </a14:m>
                <a:r>
                  <a:rPr lang="fr-FR" sz="2400" spc="-1" dirty="0">
                    <a:solidFill>
                      <a:srgbClr val="376092"/>
                    </a:solidFill>
                    <a:latin typeface="Calibri"/>
                  </a:rPr>
                  <a:t> </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59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831821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densité de probabilité :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construction met bien en évidence les propriétés de la loi uniforme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forme de rectangle témoigne bien que chaque individu de l’intervalle a bien la même chance de se produire.</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2" name="Image 1">
            <a:extLst>
              <a:ext uri="{FF2B5EF4-FFF2-40B4-BE49-F238E27FC236}">
                <a16:creationId xmlns:a16="http://schemas.microsoft.com/office/drawing/2014/main" id="{A5BBB1B0-57FF-47DB-BD06-6C0544CBCC6B}"/>
              </a:ext>
            </a:extLst>
          </p:cNvPr>
          <p:cNvPicPr>
            <a:picLocks noChangeAspect="1"/>
          </p:cNvPicPr>
          <p:nvPr/>
        </p:nvPicPr>
        <p:blipFill>
          <a:blip r:embed="rId2"/>
          <a:stretch>
            <a:fillRect/>
          </a:stretch>
        </p:blipFill>
        <p:spPr>
          <a:xfrm>
            <a:off x="1223269" y="2295062"/>
            <a:ext cx="6324600" cy="2019300"/>
          </a:xfrm>
          <a:prstGeom prst="rect">
            <a:avLst/>
          </a:prstGeom>
        </p:spPr>
      </p:pic>
    </p:spTree>
    <p:extLst>
      <p:ext uri="{BB962C8B-B14F-4D97-AF65-F5344CB8AC3E}">
        <p14:creationId xmlns:p14="http://schemas.microsoft.com/office/powerpoint/2010/main" val="843631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Calcul de probabilité :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Maintenant que nous avons compris comment se définie la loi uniforme, nous allons nous intéresser à des calculs de probabilités.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Je voudrais calculer P(2,5 &lt;= x &lt;= 4) autrement dit quelle est la probabilité que x soit compris entre 2,5 et 4.</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suffit pour cela de calculer l’aire du rectangle ci-dessous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3" name="Image 2">
            <a:extLst>
              <a:ext uri="{FF2B5EF4-FFF2-40B4-BE49-F238E27FC236}">
                <a16:creationId xmlns:a16="http://schemas.microsoft.com/office/drawing/2014/main" id="{94B21794-5E5D-48A3-99C3-E99B22ACC0E9}"/>
              </a:ext>
            </a:extLst>
          </p:cNvPr>
          <p:cNvPicPr>
            <a:picLocks noChangeAspect="1"/>
          </p:cNvPicPr>
          <p:nvPr/>
        </p:nvPicPr>
        <p:blipFill>
          <a:blip r:embed="rId2"/>
          <a:stretch>
            <a:fillRect/>
          </a:stretch>
        </p:blipFill>
        <p:spPr>
          <a:xfrm>
            <a:off x="525063" y="3958322"/>
            <a:ext cx="7624457" cy="2522377"/>
          </a:xfrm>
          <a:prstGeom prst="rect">
            <a:avLst/>
          </a:prstGeom>
        </p:spPr>
      </p:pic>
    </p:spTree>
    <p:extLst>
      <p:ext uri="{BB962C8B-B14F-4D97-AF65-F5344CB8AC3E}">
        <p14:creationId xmlns:p14="http://schemas.microsoft.com/office/powerpoint/2010/main" val="411728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Calcul de probabilité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calculer l’aire, il y a plusieurs possibilités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Soit on utilise l’intégrale : </a:t>
                </a:r>
                <a14:m>
                  <m:oMath xmlns:m="http://schemas.openxmlformats.org/officeDocument/2006/math">
                    <m:nary>
                      <m:naryPr>
                        <m:ctrlPr>
                          <a:rPr lang="fr-FR" sz="2400" i="1" spc="-1" smtClean="0">
                            <a:solidFill>
                              <a:srgbClr val="376092"/>
                            </a:solidFill>
                            <a:latin typeface="Cambria Math" panose="02040503050406030204" pitchFamily="18" charset="0"/>
                          </a:rPr>
                        </m:ctrlPr>
                      </m:naryPr>
                      <m:sub>
                        <m:r>
                          <m:rPr>
                            <m:brk m:alnAt="23"/>
                          </m:rPr>
                          <a:rPr lang="fr-FR" sz="2400" b="0" i="1" spc="-1" smtClean="0">
                            <a:solidFill>
                              <a:srgbClr val="376092"/>
                            </a:solidFill>
                            <a:latin typeface="Cambria Math" panose="02040503050406030204" pitchFamily="18" charset="0"/>
                          </a:rPr>
                          <m:t>2</m:t>
                        </m:r>
                        <m:r>
                          <a:rPr lang="fr-FR" sz="2400" b="0" i="1" spc="-1" smtClean="0">
                            <a:solidFill>
                              <a:srgbClr val="376092"/>
                            </a:solidFill>
                            <a:latin typeface="Cambria Math" panose="02040503050406030204" pitchFamily="18" charset="0"/>
                          </a:rPr>
                          <m:t>,5</m:t>
                        </m:r>
                      </m:sub>
                      <m:sup>
                        <m:r>
                          <a:rPr lang="fr-FR" sz="2400" b="0" i="1" spc="-1" smtClean="0">
                            <a:solidFill>
                              <a:srgbClr val="376092"/>
                            </a:solidFill>
                            <a:latin typeface="Cambria Math" panose="02040503050406030204" pitchFamily="18" charset="0"/>
                          </a:rPr>
                          <m:t>4</m:t>
                        </m:r>
                      </m:sup>
                      <m:e>
                        <m:r>
                          <a:rPr lang="fr-FR" sz="2400" b="0" i="1" spc="-1" smtClean="0">
                            <a:solidFill>
                              <a:srgbClr val="376092"/>
                            </a:solidFill>
                            <a:latin typeface="Cambria Math" panose="02040503050406030204" pitchFamily="18" charset="0"/>
                          </a:rPr>
                          <m:t>𝑓</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e>
                        </m:d>
                        <m:r>
                          <a:rPr lang="fr-FR" sz="2400" b="0" i="1" spc="-1" smtClean="0">
                            <a:solidFill>
                              <a:srgbClr val="376092"/>
                            </a:solidFill>
                            <a:latin typeface="Cambria Math" panose="02040503050406030204" pitchFamily="18" charset="0"/>
                          </a:rPr>
                          <m:t>𝑑𝑥</m:t>
                        </m:r>
                      </m:e>
                    </m:nary>
                  </m:oMath>
                </a14:m>
                <a:r>
                  <a:rPr lang="fr-FR" sz="2400" spc="-1" dirty="0">
                    <a:solidFill>
                      <a:srgbClr val="376092"/>
                    </a:solidFill>
                    <a:latin typeface="Calibri"/>
                  </a:rPr>
                  <a:t> = </a:t>
                </a:r>
                <a14:m>
                  <m:oMath xmlns:m="http://schemas.openxmlformats.org/officeDocument/2006/math">
                    <m:nary>
                      <m:naryPr>
                        <m:ctrlPr>
                          <a:rPr lang="fr-FR" sz="2400" i="1" spc="-1">
                            <a:solidFill>
                              <a:srgbClr val="376092"/>
                            </a:solidFill>
                            <a:latin typeface="Cambria Math" panose="02040503050406030204" pitchFamily="18" charset="0"/>
                          </a:rPr>
                        </m:ctrlPr>
                      </m:naryPr>
                      <m:sub>
                        <m:r>
                          <m:rPr>
                            <m:brk m:alnAt="23"/>
                          </m:rPr>
                          <a:rPr lang="fr-FR" sz="2400" i="1" spc="-1">
                            <a:solidFill>
                              <a:srgbClr val="376092"/>
                            </a:solidFill>
                            <a:latin typeface="Cambria Math" panose="02040503050406030204" pitchFamily="18" charset="0"/>
                          </a:rPr>
                          <m:t>2</m:t>
                        </m:r>
                        <m:r>
                          <a:rPr lang="fr-FR" sz="2400" i="1" spc="-1">
                            <a:solidFill>
                              <a:srgbClr val="376092"/>
                            </a:solidFill>
                            <a:latin typeface="Cambria Math" panose="02040503050406030204" pitchFamily="18" charset="0"/>
                          </a:rPr>
                          <m:t>,5</m:t>
                        </m:r>
                      </m:sub>
                      <m:sup>
                        <m:r>
                          <a:rPr lang="fr-FR" sz="2400" i="1" spc="-1">
                            <a:solidFill>
                              <a:srgbClr val="376092"/>
                            </a:solidFill>
                            <a:latin typeface="Cambria Math" panose="02040503050406030204" pitchFamily="18" charset="0"/>
                          </a:rPr>
                          <m:t>4</m:t>
                        </m:r>
                      </m:sup>
                      <m:e>
                        <m:f>
                          <m:fPr>
                            <m:ctrlPr>
                              <a:rPr lang="fr-FR" sz="2400" b="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1</m:t>
                            </m:r>
                          </m:num>
                          <m:den>
                            <m:r>
                              <a:rPr lang="fr-FR" sz="2400" b="0" i="1" spc="-1" smtClean="0">
                                <a:solidFill>
                                  <a:srgbClr val="376092"/>
                                </a:solidFill>
                                <a:latin typeface="Cambria Math" panose="02040503050406030204" pitchFamily="18" charset="0"/>
                              </a:rPr>
                              <m:t>3</m:t>
                            </m:r>
                          </m:den>
                        </m:f>
                        <m:r>
                          <a:rPr lang="fr-FR" sz="2400" i="1" spc="-1">
                            <a:solidFill>
                              <a:srgbClr val="376092"/>
                            </a:solidFill>
                            <a:latin typeface="Cambria Math" panose="02040503050406030204" pitchFamily="18" charset="0"/>
                          </a:rPr>
                          <m:t>𝑑𝑥</m:t>
                        </m:r>
                      </m:e>
                    </m:nary>
                  </m:oMath>
                </a14:m>
                <a:r>
                  <a:rPr lang="fr-FR" sz="2400" spc="-1" dirty="0">
                    <a:solidFill>
                      <a:srgbClr val="376092"/>
                    </a:solidFill>
                    <a:latin typeface="Calibri"/>
                  </a:rPr>
                  <a:t>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 Soit on calcule simplement l’aire du rectangle puisque nous connaissons sa hauteur (1/3) et sa longueur (4 – 2,5)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Dans les deux cas, nous arrivons à la conclusion que P(2,5&lt;= x &lt;= 4) = 1/3 * 1,5 = 0,5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peut noter qu’il s’agit également du ratio entre la longueur du rectangle de base et celle de la probabilité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(5 – 2) * 0,5 = (4 – 2,5). Ceci est normal puisque la hauteur du rectangle est la même dans les deux cas.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On peut donc généraliser : P(c &lt;= x &lt;= d)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i="1" spc="-1" dirty="0">
                            <a:solidFill>
                              <a:srgbClr val="376092"/>
                            </a:solidFill>
                            <a:latin typeface="Cambria Math" panose="02040503050406030204" pitchFamily="18" charset="0"/>
                          </a:rPr>
                          <m:t>𝑑</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𝑐</m:t>
                        </m:r>
                      </m:num>
                      <m:den>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1111" b="-8095"/>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31564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Espérance :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 dans toutes les lois de probabilité, l’espérance est la valeur que l’on s’attend à trouver en moyenne.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définition prend tout son sens ici puisque le calcul de l’espérance est équivalent à la moyenne de l’intervalle.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Pour une loi uniforme U([</a:t>
            </a:r>
            <a:r>
              <a:rPr lang="fr-FR" sz="2400" spc="-1" dirty="0" err="1">
                <a:solidFill>
                  <a:srgbClr val="376092"/>
                </a:solidFill>
                <a:latin typeface="Calibri"/>
              </a:rPr>
              <a:t>a;b</a:t>
            </a:r>
            <a:r>
              <a:rPr lang="fr-FR" sz="2400" spc="-1" dirty="0">
                <a:solidFill>
                  <a:srgbClr val="376092"/>
                </a:solidFill>
                <a:latin typeface="Calibri"/>
              </a:rPr>
              <a:t>]) l’espérance E(X) = (</a:t>
            </a:r>
            <a:r>
              <a:rPr lang="fr-FR" sz="2400" spc="-1" dirty="0" err="1">
                <a:solidFill>
                  <a:srgbClr val="376092"/>
                </a:solidFill>
                <a:latin typeface="Calibri"/>
              </a:rPr>
              <a:t>a+b</a:t>
            </a:r>
            <a:r>
              <a:rPr lang="fr-FR" sz="2400" spc="-1" dirty="0">
                <a:solidFill>
                  <a:srgbClr val="376092"/>
                </a:solidFill>
                <a:latin typeface="Calibri"/>
              </a:rPr>
              <a:t>) / 2</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donc l’espérance dans notre loi uniforme U([2;5])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Graphiquement l’espérance est la valeur qui divise le rectangle représentant notre loi uniforme en 2 :</a:t>
            </a: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2" name="Image 1">
            <a:extLst>
              <a:ext uri="{FF2B5EF4-FFF2-40B4-BE49-F238E27FC236}">
                <a16:creationId xmlns:a16="http://schemas.microsoft.com/office/drawing/2014/main" id="{67C64149-0191-4147-B293-4DCC44A71A3B}"/>
              </a:ext>
            </a:extLst>
          </p:cNvPr>
          <p:cNvPicPr>
            <a:picLocks noChangeAspect="1"/>
          </p:cNvPicPr>
          <p:nvPr/>
        </p:nvPicPr>
        <p:blipFill>
          <a:blip r:embed="rId2"/>
          <a:stretch>
            <a:fillRect/>
          </a:stretch>
        </p:blipFill>
        <p:spPr>
          <a:xfrm>
            <a:off x="719091" y="4787283"/>
            <a:ext cx="7208668" cy="1673441"/>
          </a:xfrm>
          <a:prstGeom prst="rect">
            <a:avLst/>
          </a:prstGeom>
        </p:spPr>
      </p:pic>
    </p:spTree>
    <p:extLst>
      <p:ext uri="{BB962C8B-B14F-4D97-AF65-F5344CB8AC3E}">
        <p14:creationId xmlns:p14="http://schemas.microsoft.com/office/powerpoint/2010/main" val="4144330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Calcul de l'espérance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une loi à valeurs discrètes, nous avons vu que nous faisions la somme des produits valeur * probabilité (xi * pi).</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Ici nous avons des valeurs continues mais le principe reste le même, nous allons juste utiliser une intégrale au lieu d'une somme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 = </a:t>
                </a:r>
                <a14:m>
                  <m:oMath xmlns:m="http://schemas.openxmlformats.org/officeDocument/2006/math">
                    <m:nary>
                      <m:naryPr>
                        <m:limLoc m:val="subSup"/>
                        <m:grow m:val="on"/>
                        <m:ctrlPr>
                          <a:rPr lang="fr-FR" sz="2400" i="1" spc="-1" dirty="0" smtClean="0">
                            <a:solidFill>
                              <a:srgbClr val="376092"/>
                            </a:solidFill>
                            <a:latin typeface="Cambria Math" panose="02040503050406030204" pitchFamily="18" charset="0"/>
                          </a:rPr>
                        </m:ctrlPr>
                      </m:naryPr>
                      <m:sub>
                        <m:r>
                          <a:rPr lang="fr-FR" sz="2400" i="1" spc="-1" dirty="0">
                            <a:solidFill>
                              <a:srgbClr val="376092"/>
                            </a:solidFill>
                            <a:latin typeface="Cambria Math" panose="02040503050406030204" pitchFamily="18" charset="0"/>
                          </a:rPr>
                          <m:t>𝑎</m:t>
                        </m:r>
                      </m:sub>
                      <m:sup>
                        <m:r>
                          <a:rPr lang="fr-FR" sz="2400" i="1" spc="-1" dirty="0">
                            <a:solidFill>
                              <a:srgbClr val="376092"/>
                            </a:solidFill>
                            <a:latin typeface="Cambria Math" panose="02040503050406030204" pitchFamily="18" charset="0"/>
                          </a:rPr>
                          <m:t>𝑏</m:t>
                        </m:r>
                      </m:sup>
                      <m:e>
                        <m:r>
                          <a:rPr lang="fr-FR" sz="2400" b="0" i="1" spc="-1" dirty="0" smtClean="0">
                            <a:solidFill>
                              <a:srgbClr val="376092"/>
                            </a:solidFill>
                            <a:latin typeface="Cambria Math" panose="02040503050406030204" pitchFamily="18" charset="0"/>
                          </a:rPr>
                          <m:t>𝑥</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𝑓</m:t>
                        </m:r>
                        <m:d>
                          <m:dPr>
                            <m:ctrlPr>
                              <a:rPr lang="fr-FR" sz="2400" i="1" spc="-1" dirty="0">
                                <a:solidFill>
                                  <a:srgbClr val="376092"/>
                                </a:solidFill>
                                <a:latin typeface="Cambria Math" panose="02040503050406030204" pitchFamily="18" charset="0"/>
                              </a:rPr>
                            </m:ctrlPr>
                          </m:dPr>
                          <m:e>
                            <m:r>
                              <a:rPr lang="fr-FR" sz="2400" b="0" i="1" spc="-1" dirty="0" smtClean="0">
                                <a:solidFill>
                                  <a:srgbClr val="376092"/>
                                </a:solidFill>
                                <a:latin typeface="Cambria Math" panose="02040503050406030204" pitchFamily="18" charset="0"/>
                              </a:rPr>
                              <m:t>𝑥</m:t>
                            </m:r>
                          </m:e>
                        </m:d>
                        <m:r>
                          <a:rPr lang="fr-FR" sz="2400" i="0" spc="-1" dirty="0">
                            <a:solidFill>
                              <a:srgbClr val="376092"/>
                            </a:solidFill>
                            <a:latin typeface="Cambria Math" panose="02040503050406030204" pitchFamily="18" charset="0"/>
                          </a:rPr>
                          <m:t>ⅆ</m:t>
                        </m:r>
                        <m:r>
                          <a:rPr lang="fr-FR" sz="2400" b="0" i="1" spc="-1" dirty="0" smtClean="0">
                            <a:solidFill>
                              <a:srgbClr val="376092"/>
                            </a:solidFill>
                            <a:latin typeface="Cambria Math" panose="02040503050406030204" pitchFamily="18" charset="0"/>
                          </a:rPr>
                          <m:t>𝑥</m:t>
                        </m:r>
                      </m:e>
                    </m:nary>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f(x) est une fonction constante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i="0" spc="-1" dirty="0">
                            <a:solidFill>
                              <a:srgbClr val="376092"/>
                            </a:solidFill>
                            <a:latin typeface="Cambria Math" panose="02040503050406030204" pitchFamily="18" charset="0"/>
                          </a:rPr>
                          <m:t>1</m:t>
                        </m:r>
                      </m:num>
                      <m:den>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den>
                    </m:f>
                  </m:oMath>
                </a14:m>
                <a:r>
                  <a:rPr lang="fr-FR" sz="2400" spc="-1" dirty="0">
                    <a:solidFill>
                      <a:srgbClr val="376092"/>
                    </a:solidFill>
                    <a:latin typeface="Calibri"/>
                  </a:rPr>
                  <a:t> et ne contient pas x:</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 = </a:t>
                </a:r>
                <a14:m>
                  <m:oMath xmlns:m="http://schemas.openxmlformats.org/officeDocument/2006/math">
                    <m:f>
                      <m:fPr>
                        <m:ctrlPr>
                          <a:rPr lang="fr-FR" sz="2400" i="1" spc="-1" dirty="0">
                            <a:solidFill>
                              <a:srgbClr val="376092"/>
                            </a:solidFill>
                            <a:latin typeface="Cambria Math" panose="02040503050406030204" pitchFamily="18" charset="0"/>
                          </a:rPr>
                        </m:ctrlPr>
                      </m:fPr>
                      <m:num>
                        <m:r>
                          <a:rPr lang="fr-FR" sz="2400" i="0" spc="-1" dirty="0">
                            <a:solidFill>
                              <a:srgbClr val="376092"/>
                            </a:solidFill>
                            <a:latin typeface="Cambria Math" panose="02040503050406030204" pitchFamily="18" charset="0"/>
                          </a:rPr>
                          <m:t>1</m:t>
                        </m:r>
                      </m:num>
                      <m:den>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den>
                    </m:f>
                    <m:sSubSup>
                      <m:sSubSupPr>
                        <m:ctrlPr>
                          <a:rPr lang="fr-FR" sz="2400" i="1" spc="-1" dirty="0">
                            <a:solidFill>
                              <a:srgbClr val="376092"/>
                            </a:solidFill>
                            <a:latin typeface="Cambria Math" panose="02040503050406030204" pitchFamily="18" charset="0"/>
                          </a:rPr>
                        </m:ctrlPr>
                      </m:sSubSupPr>
                      <m:e>
                        <m:d>
                          <m:dPr>
                            <m:begChr m:val="["/>
                            <m:endChr m:val="]"/>
                            <m:ctrlPr>
                              <a:rPr lang="fr-FR" sz="2400" i="1" spc="-1" dirty="0">
                                <a:solidFill>
                                  <a:srgbClr val="376092"/>
                                </a:solidFill>
                                <a:latin typeface="Cambria Math" panose="02040503050406030204" pitchFamily="18" charset="0"/>
                              </a:rPr>
                            </m:ctrlPr>
                          </m:dPr>
                          <m:e>
                            <m:f>
                              <m:fPr>
                                <m:ctrlPr>
                                  <a:rPr lang="fr-FR" sz="2400" i="1" spc="-1" dirty="0">
                                    <a:solidFill>
                                      <a:srgbClr val="376092"/>
                                    </a:solidFill>
                                    <a:latin typeface="Cambria Math" panose="02040503050406030204" pitchFamily="18" charset="0"/>
                                  </a:rPr>
                                </m:ctrlPr>
                              </m:fPr>
                              <m:num>
                                <m:sSup>
                                  <m:sSupPr>
                                    <m:ctrlPr>
                                      <a:rPr lang="fr-FR" sz="2400" i="1" spc="-1" dirty="0">
                                        <a:solidFill>
                                          <a:srgbClr val="376092"/>
                                        </a:solidFill>
                                        <a:latin typeface="Cambria Math" panose="02040503050406030204" pitchFamily="18" charset="0"/>
                                      </a:rPr>
                                    </m:ctrlPr>
                                  </m:sSupPr>
                                  <m:e>
                                    <m:r>
                                      <a:rPr lang="fr-FR" sz="2400" b="0" i="1" spc="-1" dirty="0" smtClean="0">
                                        <a:solidFill>
                                          <a:srgbClr val="376092"/>
                                        </a:solidFill>
                                        <a:latin typeface="Cambria Math" panose="02040503050406030204" pitchFamily="18" charset="0"/>
                                      </a:rPr>
                                      <m:t>𝑥</m:t>
                                    </m:r>
                                  </m:e>
                                  <m:sup>
                                    <m:r>
                                      <a:rPr lang="fr-FR" sz="2400" i="0" spc="-1" dirty="0">
                                        <a:solidFill>
                                          <a:srgbClr val="376092"/>
                                        </a:solidFill>
                                        <a:latin typeface="Cambria Math" panose="02040503050406030204" pitchFamily="18" charset="0"/>
                                      </a:rPr>
                                      <m:t>2</m:t>
                                    </m:r>
                                  </m:sup>
                                </m:sSup>
                              </m:num>
                              <m:den>
                                <m:r>
                                  <a:rPr lang="fr-FR" sz="2400" i="0" spc="-1" dirty="0">
                                    <a:solidFill>
                                      <a:srgbClr val="376092"/>
                                    </a:solidFill>
                                    <a:latin typeface="Cambria Math" panose="02040503050406030204" pitchFamily="18" charset="0"/>
                                  </a:rPr>
                                  <m:t>2</m:t>
                                </m:r>
                              </m:den>
                            </m:f>
                          </m:e>
                        </m:d>
                      </m:e>
                      <m:sub>
                        <m:r>
                          <a:rPr lang="fr-FR" sz="2400" i="1" spc="-1" dirty="0">
                            <a:solidFill>
                              <a:srgbClr val="376092"/>
                            </a:solidFill>
                            <a:latin typeface="Cambria Math" panose="02040503050406030204" pitchFamily="18" charset="0"/>
                          </a:rPr>
                          <m:t>𝑎</m:t>
                        </m:r>
                      </m:sub>
                      <m:sup>
                        <m:r>
                          <a:rPr lang="fr-FR" sz="2400" i="1" spc="-1" dirty="0">
                            <a:solidFill>
                              <a:srgbClr val="376092"/>
                            </a:solidFill>
                            <a:latin typeface="Cambria Math" panose="02040503050406030204" pitchFamily="18" charset="0"/>
                          </a:rPr>
                          <m:t>𝑏</m:t>
                        </m:r>
                      </m:sup>
                    </m:sSubSup>
                    <m:r>
                      <a:rPr lang="fr-FR" sz="2400" i="0" spc="-1" dirty="0">
                        <a:solidFill>
                          <a:srgbClr val="376092"/>
                        </a:solidFill>
                        <a:latin typeface="Cambria Math" panose="02040503050406030204" pitchFamily="18" charset="0"/>
                      </a:rPr>
                      <m:t>=</m:t>
                    </m:r>
                    <m:f>
                      <m:fPr>
                        <m:ctrlPr>
                          <a:rPr lang="fr-FR" sz="2400" i="1" spc="-1" dirty="0">
                            <a:solidFill>
                              <a:srgbClr val="376092"/>
                            </a:solidFill>
                            <a:latin typeface="Cambria Math" panose="02040503050406030204" pitchFamily="18" charset="0"/>
                          </a:rPr>
                        </m:ctrlPr>
                      </m:fPr>
                      <m:num>
                        <m:r>
                          <a:rPr lang="fr-FR" sz="2400" i="0" spc="-1" dirty="0">
                            <a:solidFill>
                              <a:srgbClr val="376092"/>
                            </a:solidFill>
                            <a:latin typeface="Cambria Math" panose="02040503050406030204" pitchFamily="18" charset="0"/>
                          </a:rPr>
                          <m:t>1</m:t>
                        </m:r>
                      </m:num>
                      <m:den>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den>
                    </m:f>
                    <m:f>
                      <m:fPr>
                        <m:ctrlPr>
                          <a:rPr lang="fr-FR" sz="2400" i="1" spc="-1" dirty="0">
                            <a:solidFill>
                              <a:srgbClr val="376092"/>
                            </a:solidFill>
                            <a:latin typeface="Cambria Math" panose="02040503050406030204" pitchFamily="18" charset="0"/>
                          </a:rPr>
                        </m:ctrlPr>
                      </m:fPr>
                      <m:num>
                        <m:sSup>
                          <m:sSupPr>
                            <m:ctrlPr>
                              <a:rPr lang="fr-FR" sz="2400" i="1" spc="-1" dirty="0">
                                <a:solidFill>
                                  <a:srgbClr val="376092"/>
                                </a:solidFill>
                                <a:latin typeface="Cambria Math" panose="02040503050406030204" pitchFamily="18" charset="0"/>
                              </a:rPr>
                            </m:ctrlPr>
                          </m:sSupPr>
                          <m:e>
                            <m:r>
                              <a:rPr lang="fr-FR" sz="2400" i="1" spc="-1" dirty="0">
                                <a:solidFill>
                                  <a:srgbClr val="376092"/>
                                </a:solidFill>
                                <a:latin typeface="Cambria Math" panose="02040503050406030204" pitchFamily="18" charset="0"/>
                              </a:rPr>
                              <m:t>𝑏</m:t>
                            </m:r>
                          </m:e>
                          <m:sup>
                            <m:r>
                              <a:rPr lang="fr-FR" sz="2400" i="0" spc="-1" dirty="0">
                                <a:solidFill>
                                  <a:srgbClr val="376092"/>
                                </a:solidFill>
                                <a:latin typeface="Cambria Math" panose="02040503050406030204" pitchFamily="18" charset="0"/>
                              </a:rPr>
                              <m:t>2</m:t>
                            </m:r>
                          </m:sup>
                        </m:sSup>
                        <m:r>
                          <a:rPr lang="fr-FR" sz="2400" i="0" spc="-1" dirty="0">
                            <a:solidFill>
                              <a:srgbClr val="376092"/>
                            </a:solidFill>
                            <a:latin typeface="Cambria Math" panose="02040503050406030204" pitchFamily="18" charset="0"/>
                          </a:rPr>
                          <m:t>−</m:t>
                        </m:r>
                        <m:sSup>
                          <m:sSupPr>
                            <m:ctrlPr>
                              <a:rPr lang="fr-FR" sz="2400" i="1" spc="-1" dirty="0">
                                <a:solidFill>
                                  <a:srgbClr val="376092"/>
                                </a:solidFill>
                                <a:latin typeface="Cambria Math" panose="02040503050406030204" pitchFamily="18" charset="0"/>
                              </a:rPr>
                            </m:ctrlPr>
                          </m:sSupPr>
                          <m:e>
                            <m:r>
                              <a:rPr lang="fr-FR" sz="2400" i="1" spc="-1" dirty="0">
                                <a:solidFill>
                                  <a:srgbClr val="376092"/>
                                </a:solidFill>
                                <a:latin typeface="Cambria Math" panose="02040503050406030204" pitchFamily="18" charset="0"/>
                              </a:rPr>
                              <m:t>𝑎</m:t>
                            </m:r>
                          </m:e>
                          <m:sup>
                            <m:r>
                              <a:rPr lang="fr-FR" sz="2400" i="0" spc="-1" dirty="0">
                                <a:solidFill>
                                  <a:srgbClr val="376092"/>
                                </a:solidFill>
                                <a:latin typeface="Cambria Math" panose="02040503050406030204" pitchFamily="18" charset="0"/>
                              </a:rPr>
                              <m:t>2</m:t>
                            </m:r>
                          </m:sup>
                        </m:sSup>
                      </m:num>
                      <m:den>
                        <m:r>
                          <a:rPr lang="fr-FR" sz="2400" i="0" spc="-1" dirty="0">
                            <a:solidFill>
                              <a:srgbClr val="376092"/>
                            </a:solidFill>
                            <a:latin typeface="Cambria Math" panose="02040503050406030204" pitchFamily="18" charset="0"/>
                          </a:rPr>
                          <m:t>2</m:t>
                        </m:r>
                      </m:den>
                    </m:f>
                    <m:r>
                      <a:rPr lang="fr-FR" sz="2400" i="0" spc="-1" dirty="0">
                        <a:solidFill>
                          <a:srgbClr val="376092"/>
                        </a:solidFill>
                        <a:latin typeface="Cambria Math" panose="02040503050406030204" pitchFamily="18" charset="0"/>
                      </a:rPr>
                      <m:t>=</m:t>
                    </m:r>
                    <m:f>
                      <m:fPr>
                        <m:ctrlPr>
                          <a:rPr lang="fr-FR" sz="2400" i="1" spc="-1" dirty="0">
                            <a:solidFill>
                              <a:srgbClr val="376092"/>
                            </a:solidFill>
                            <a:latin typeface="Cambria Math" panose="02040503050406030204" pitchFamily="18" charset="0"/>
                          </a:rPr>
                        </m:ctrlPr>
                      </m:fPr>
                      <m:num>
                        <m:r>
                          <a:rPr lang="fr-FR" sz="2400" i="1" spc="-1" dirty="0">
                            <a:solidFill>
                              <a:srgbClr val="376092"/>
                            </a:solidFill>
                            <a:latin typeface="Cambria Math" panose="02040503050406030204" pitchFamily="18" charset="0"/>
                          </a:rPr>
                          <m:t>𝑎</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𝑏</m:t>
                        </m:r>
                      </m:num>
                      <m:den>
                        <m:r>
                          <a:rPr lang="fr-FR" sz="2400" i="0" spc="-1" dirty="0">
                            <a:solidFill>
                              <a:srgbClr val="376092"/>
                            </a:solidFill>
                            <a:latin typeface="Cambria Math" panose="02040503050406030204" pitchFamily="18" charset="0"/>
                          </a:rPr>
                          <m:t>2</m:t>
                        </m:r>
                      </m:den>
                    </m:f>
                  </m:oMath>
                </a14:m>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3768874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E86C-A441-51AD-8D25-D957873297C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4BD47C9-4533-5AE2-F521-E9181CD9F09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uniforme – Exercice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68EC497A-1551-96A9-A631-E9AADD9AA348}"/>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J'attends une livraison prévue entre 10h et 15h.</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Soit X la variable aléatoire associé au temps d'attente en heure à partir de 10h. X suit la loi uniforme sur [0;5]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que le livreur passe avant 12h15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que le livreur passe entre 12h15 et 12h45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9 autres personnes de mon quartier attendent une livraison dans les mêmes conditions.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Donner l'espérance de cette loi.</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J'ai raison de dire qu'en moyenne 5 personnes seront livrées avant 12h30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557918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 Définition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896645"/>
                <a:ext cx="8229240" cy="5229115"/>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normale est une des lois de probabilités les plus utilisée pour modéliser les phénomènes naturels issues de plusieurs événements aléatoires.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Elle est également appelée loi gaussienne, loi de Gauss ou loi de Laplace (1749-1827) – Gauss (1777-1855).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normale est une loi de probabilité absolument continue qui dépend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De son espérance :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𝜇</m:t>
                    </m:r>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De son écart-type :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Densité de probabilité : f(x) = </a:t>
                </a:r>
                <a14:m>
                  <m:oMath xmlns:m="http://schemas.openxmlformats.org/officeDocument/2006/math">
                    <m:f>
                      <m:fPr>
                        <m:ctrlPr>
                          <a:rPr lang="fr-FR" sz="2400" b="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1</m:t>
                        </m:r>
                      </m:num>
                      <m:den>
                        <m:r>
                          <a:rPr lang="fr-FR" sz="2400" b="0" i="1" spc="-1" smtClean="0">
                            <a:solidFill>
                              <a:srgbClr val="376092"/>
                            </a:solidFill>
                            <a:latin typeface="Cambria Math" panose="02040503050406030204" pitchFamily="18" charset="0"/>
                            <a:ea typeface="Cambria Math" panose="02040503050406030204" pitchFamily="18" charset="0"/>
                          </a:rPr>
                          <m:t>𝜎</m:t>
                        </m:r>
                        <m:rad>
                          <m:radPr>
                            <m:degHide m:val="on"/>
                            <m:ctrlPr>
                              <a:rPr lang="fr-FR" sz="2400" b="0" i="1" spc="-1" smtClean="0">
                                <a:solidFill>
                                  <a:srgbClr val="376092"/>
                                </a:solidFill>
                                <a:latin typeface="Cambria Math" panose="02040503050406030204" pitchFamily="18" charset="0"/>
                                <a:ea typeface="Cambria Math" panose="02040503050406030204" pitchFamily="18" charset="0"/>
                              </a:rPr>
                            </m:ctrlPr>
                          </m:radPr>
                          <m:deg/>
                          <m:e>
                            <m:r>
                              <a:rPr lang="fr-FR" sz="2400" b="0" i="1" spc="-1" smtClean="0">
                                <a:solidFill>
                                  <a:srgbClr val="376092"/>
                                </a:solidFill>
                                <a:latin typeface="Cambria Math" panose="02040503050406030204" pitchFamily="18" charset="0"/>
                                <a:ea typeface="Cambria Math" panose="02040503050406030204" pitchFamily="18" charset="0"/>
                              </a:rPr>
                              <m:t>2</m:t>
                            </m:r>
                            <m:r>
                              <a:rPr lang="fr-FR" sz="2400" b="0" i="1" spc="-1" smtClean="0">
                                <a:solidFill>
                                  <a:srgbClr val="376092"/>
                                </a:solidFill>
                                <a:latin typeface="Cambria Math" panose="02040503050406030204" pitchFamily="18" charset="0"/>
                                <a:ea typeface="Cambria Math" panose="02040503050406030204" pitchFamily="18" charset="0"/>
                              </a:rPr>
                              <m:t>𝜋</m:t>
                            </m:r>
                          </m:e>
                        </m:rad>
                      </m:den>
                    </m:f>
                    <m:sSup>
                      <m:sSupPr>
                        <m:ctrlPr>
                          <a:rPr lang="fr-FR" sz="2400" b="0" i="1" spc="-1" smtClean="0">
                            <a:solidFill>
                              <a:srgbClr val="376092"/>
                            </a:solidFill>
                            <a:latin typeface="Cambria Math" panose="02040503050406030204" pitchFamily="18" charset="0"/>
                            <a:ea typeface="Cambria Math" panose="02040503050406030204" pitchFamily="18" charset="0"/>
                          </a:rPr>
                        </m:ctrlPr>
                      </m:sSupPr>
                      <m:e>
                        <m:r>
                          <a:rPr lang="fr-FR" sz="2400" b="0" i="1" spc="-1" smtClean="0">
                            <a:solidFill>
                              <a:srgbClr val="376092"/>
                            </a:solidFill>
                            <a:latin typeface="Cambria Math" panose="02040503050406030204" pitchFamily="18" charset="0"/>
                            <a:ea typeface="Cambria Math" panose="02040503050406030204" pitchFamily="18" charset="0"/>
                          </a:rPr>
                          <m:t>𝑒</m:t>
                        </m:r>
                      </m:e>
                      <m:sup>
                        <m:r>
                          <a:rPr lang="fr-FR" sz="2400" b="0" i="1" spc="-1" smtClean="0">
                            <a:solidFill>
                              <a:srgbClr val="376092"/>
                            </a:solidFill>
                            <a:latin typeface="Cambria Math" panose="02040503050406030204" pitchFamily="18" charset="0"/>
                            <a:ea typeface="Cambria Math" panose="02040503050406030204" pitchFamily="18" charset="0"/>
                          </a:rPr>
                          <m:t>−</m:t>
                        </m:r>
                        <m:f>
                          <m:fPr>
                            <m:ctrlPr>
                              <a:rPr lang="fr-FR" sz="2400" b="0" i="1" spc="-1" smtClean="0">
                                <a:solidFill>
                                  <a:srgbClr val="376092"/>
                                </a:solidFill>
                                <a:latin typeface="Cambria Math" panose="02040503050406030204" pitchFamily="18" charset="0"/>
                                <a:ea typeface="Cambria Math" panose="02040503050406030204" pitchFamily="18" charset="0"/>
                              </a:rPr>
                            </m:ctrlPr>
                          </m:fPr>
                          <m:num>
                            <m:r>
                              <a:rPr lang="fr-FR" sz="2400" b="0" i="1" spc="-1" smtClean="0">
                                <a:solidFill>
                                  <a:srgbClr val="376092"/>
                                </a:solidFill>
                                <a:latin typeface="Cambria Math" panose="02040503050406030204" pitchFamily="18" charset="0"/>
                                <a:ea typeface="Cambria Math" panose="02040503050406030204" pitchFamily="18" charset="0"/>
                              </a:rPr>
                              <m:t>1</m:t>
                            </m:r>
                          </m:num>
                          <m:den>
                            <m:r>
                              <a:rPr lang="fr-FR" sz="2400" b="0" i="1" spc="-1" smtClean="0">
                                <a:solidFill>
                                  <a:srgbClr val="376092"/>
                                </a:solidFill>
                                <a:latin typeface="Cambria Math" panose="02040503050406030204" pitchFamily="18" charset="0"/>
                                <a:ea typeface="Cambria Math" panose="02040503050406030204" pitchFamily="18" charset="0"/>
                              </a:rPr>
                              <m:t>2</m:t>
                            </m:r>
                          </m:den>
                        </m:f>
                        <m:r>
                          <a:rPr lang="fr-FR" sz="2400" b="0" i="1" spc="-1" smtClean="0">
                            <a:solidFill>
                              <a:srgbClr val="376092"/>
                            </a:solidFill>
                            <a:latin typeface="Cambria Math" panose="02040503050406030204" pitchFamily="18" charset="0"/>
                            <a:ea typeface="Cambria Math" panose="02040503050406030204" pitchFamily="18" charset="0"/>
                          </a:rPr>
                          <m:t>(</m:t>
                        </m:r>
                        <m:f>
                          <m:fPr>
                            <m:ctrlPr>
                              <a:rPr lang="fr-FR" sz="2400" b="0" i="1" spc="-1" smtClean="0">
                                <a:solidFill>
                                  <a:srgbClr val="376092"/>
                                </a:solidFill>
                                <a:latin typeface="Cambria Math" panose="02040503050406030204" pitchFamily="18" charset="0"/>
                                <a:ea typeface="Cambria Math" panose="02040503050406030204" pitchFamily="18" charset="0"/>
                              </a:rPr>
                            </m:ctrlPr>
                          </m:fPr>
                          <m:num>
                            <m:r>
                              <a:rPr lang="fr-FR" sz="2400" b="0" i="1" spc="-1" smtClean="0">
                                <a:solidFill>
                                  <a:srgbClr val="376092"/>
                                </a:solidFill>
                                <a:latin typeface="Cambria Math" panose="02040503050406030204" pitchFamily="18" charset="0"/>
                                <a:ea typeface="Cambria Math" panose="02040503050406030204" pitchFamily="18" charset="0"/>
                              </a:rPr>
                              <m:t>𝑥</m:t>
                            </m:r>
                            <m:r>
                              <a:rPr lang="fr-FR" sz="2400" b="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𝜇</m:t>
                            </m:r>
                          </m:num>
                          <m:den>
                            <m:r>
                              <a:rPr lang="fr-FR" sz="2400" b="0" i="1" spc="-1" smtClean="0">
                                <a:solidFill>
                                  <a:srgbClr val="376092"/>
                                </a:solidFill>
                                <a:latin typeface="Cambria Math" panose="02040503050406030204" pitchFamily="18" charset="0"/>
                                <a:ea typeface="Cambria Math" panose="02040503050406030204" pitchFamily="18" charset="0"/>
                              </a:rPr>
                              <m:t>𝜎</m:t>
                            </m:r>
                          </m:den>
                        </m:f>
                        <m:r>
                          <a:rPr lang="fr-FR" sz="2400" b="0" i="1" spc="-1" smtClean="0">
                            <a:solidFill>
                              <a:srgbClr val="376092"/>
                            </a:solidFill>
                            <a:latin typeface="Cambria Math" panose="02040503050406030204" pitchFamily="18" charset="0"/>
                            <a:ea typeface="Cambria Math" panose="02040503050406030204" pitchFamily="18" charset="0"/>
                          </a:rPr>
                          <m:t>)²</m:t>
                        </m:r>
                      </m:sup>
                    </m:sSup>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896645"/>
                <a:ext cx="8229240" cy="5229115"/>
              </a:xfrm>
              <a:prstGeom prst="rect">
                <a:avLst/>
              </a:prstGeom>
              <a:blipFill>
                <a:blip r:embed="rId2"/>
                <a:stretch>
                  <a:fillRect t="-1748" r="-14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02040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 Intervalles : </a:t>
            </a:r>
            <a:endParaRPr lang="en-US" sz="3200" b="0" strike="noStrike" spc="-1" dirty="0">
              <a:solidFill>
                <a:srgbClr val="376092"/>
              </a:solidFill>
              <a:latin typeface="Arial"/>
            </a:endParaRPr>
          </a:p>
        </p:txBody>
      </p:sp>
      <p:sp>
        <p:nvSpPr>
          <p:cNvPr id="136" name="TextShape 2"/>
          <p:cNvSpPr txBox="1"/>
          <p:nvPr/>
        </p:nvSpPr>
        <p:spPr>
          <a:xfrm>
            <a:off x="457200" y="1260629"/>
            <a:ext cx="8229240" cy="4865131"/>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normale s’intéresse à des valeurs continues (P(a&lt;x&lt;</a:t>
            </a:r>
            <a:r>
              <a:rPr lang="fr-FR" sz="2400" spc="-1">
                <a:solidFill>
                  <a:srgbClr val="376092"/>
                </a:solidFill>
                <a:latin typeface="Calibri"/>
              </a:rPr>
              <a:t>b)) </a:t>
            </a:r>
            <a:r>
              <a:rPr lang="fr-FR" sz="2400" spc="-1" dirty="0">
                <a:solidFill>
                  <a:srgbClr val="376092"/>
                </a:solidFill>
                <a:latin typeface="Calibri"/>
              </a:rPr>
              <a:t>alors que la loi binomiale s’intéresse à des valeurs </a:t>
            </a:r>
            <a:r>
              <a:rPr lang="fr-FR" sz="2400" spc="-1">
                <a:solidFill>
                  <a:srgbClr val="376092"/>
                </a:solidFill>
                <a:latin typeface="Calibri"/>
              </a:rPr>
              <a:t>discrètes (P(X=2)).</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Elle est donc préférable lorsque les problèmes deviennent plus compliqués.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Elle travaille sur des intervalles plutôt que sur des valeurs discrètes.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loi normale : P(X=k) = 0 on a donc égalité entre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 &lt; a ) = P(x &lt;= a)</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 &gt; a) = P(x &gt;= a)</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808372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 Représentation :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représenter une loi normale sous Excel.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donner des valeurs de x de 0 à 10 par intervalle de 1/10</a:t>
            </a:r>
            <a:r>
              <a:rPr lang="fr-FR" sz="2400" spc="-1" baseline="30000" dirty="0">
                <a:solidFill>
                  <a:srgbClr val="376092"/>
                </a:solidFill>
                <a:latin typeface="Calibri"/>
              </a:rPr>
              <a:t>ième</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Utilisons la fonction Excel </a:t>
            </a:r>
            <a:r>
              <a:rPr lang="fr-FR" sz="2400" spc="-1" dirty="0" err="1">
                <a:solidFill>
                  <a:srgbClr val="376092"/>
                </a:solidFill>
                <a:latin typeface="Calibri"/>
              </a:rPr>
              <a:t>loi.normale</a:t>
            </a:r>
            <a:r>
              <a:rPr lang="fr-FR" sz="2400" spc="-1" dirty="0">
                <a:solidFill>
                  <a:srgbClr val="376092"/>
                </a:solidFill>
                <a:latin typeface="Calibri"/>
              </a:rPr>
              <a:t> et étudions ses paramètres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X : la valeur du paramètre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Espérance : sommet de la courbe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Ecart-type : Dispersion de la courbe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Cumulative : Est-ce que la courbe doit être cumulative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Modifions ces paramètres et voyons leur influence sur la courbe et notons l’aspect symétrique de la courbe.</a:t>
            </a: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553034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 Représentation :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probabilité de la densité de la courbe est de 1, c’est la surface sous la courbe.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 la courbe est symétrique nous savons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 &lt; espérance) = P(x &gt; espérance) = 0,5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Ceci va nous aider à généraliser pour n’importe quelle valeur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 &lt; a) = 1 – P(x &gt; a)</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 &gt; a) = 1 – P(x &lt; a)</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Reprenons la courbe pour comprendre ces égalités.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également sur la courbe P(a &lt; x &lt; b).</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Voyons que P(a &lt; x &lt; b) = 1  - P(x &lt; a) – P(x &gt; b)</a:t>
            </a: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372273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 Espérance, variance, écart type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784412"/>
                <a:ext cx="8229240" cy="4341348"/>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normale est définie par son espérance et son écart type.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Ces deux informations sont donc initialement données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la variance, on sait qu’il s’agit du carré de l’écart type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V(X) =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r>
                      <a:rPr lang="fr-FR" sz="2400" b="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𝑥</m:t>
                    </m:r>
                    <m:r>
                      <a:rPr lang="fr-FR" sz="2400" b="0" i="1" spc="-1" smtClean="0">
                        <a:solidFill>
                          <a:srgbClr val="376092"/>
                        </a:solidFill>
                        <a:latin typeface="Cambria Math" panose="02040503050406030204" pitchFamily="18" charset="0"/>
                        <a:ea typeface="Cambria Math" panose="02040503050406030204" pitchFamily="18" charset="0"/>
                      </a:rPr>
                      <m:t>)²</m:t>
                    </m:r>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Représenter sous Excel la loi normale : N(10,2)</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784412"/>
                <a:ext cx="8229240" cy="4341348"/>
              </a:xfrm>
              <a:prstGeom prst="rect">
                <a:avLst/>
              </a:prstGeom>
              <a:blipFill>
                <a:blip r:embed="rId2"/>
                <a:stretch>
                  <a:fillRect t="-2247" r="-296"/>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705318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Lecture de la table de loi normale : </a:t>
            </a:r>
            <a:endParaRPr lang="en-US" sz="3200" b="0" strike="noStrike" spc="-1" dirty="0">
              <a:solidFill>
                <a:srgbClr val="376092"/>
              </a:solidFill>
              <a:latin typeface="Arial"/>
            </a:endParaRPr>
          </a:p>
        </p:txBody>
      </p:sp>
      <p:sp>
        <p:nvSpPr>
          <p:cNvPr id="136" name="TextShape 2"/>
          <p:cNvSpPr txBox="1"/>
          <p:nvPr/>
        </p:nvSpPr>
        <p:spPr>
          <a:xfrm>
            <a:off x="457199" y="1207362"/>
            <a:ext cx="8229239" cy="491839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L’aspect symétrique de la loi normale va nous permettre de trouver des équivalences pour nous ramener à un cas du tableau</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Recherchons P(X &lt; - 0,47) et P(X &lt; - 1,72)</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voyons qu’au delà de 3, 99% des cas sont couverts et on peut considérer qu’au-delà de 4, 100% des cas sont couverts par arrondi.</a:t>
            </a: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2015262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par l’exemple : </a:t>
            </a:r>
            <a:endParaRPr lang="en-US" sz="3200" b="0" strike="noStrike" spc="-1" dirty="0">
              <a:solidFill>
                <a:srgbClr val="376092"/>
              </a:solidFill>
              <a:latin typeface="Arial"/>
            </a:endParaRPr>
          </a:p>
        </p:txBody>
      </p:sp>
      <p:sp>
        <p:nvSpPr>
          <p:cNvPr id="136" name="TextShape 2"/>
          <p:cNvSpPr txBox="1"/>
          <p:nvPr/>
        </p:nvSpPr>
        <p:spPr>
          <a:xfrm>
            <a:off x="457199" y="1207362"/>
            <a:ext cx="8229239" cy="491839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Considérons un élevage de poulet. Après 110 jours, un poulet a un poids moyen de 1500g avec un écart-type de 200g.</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normale concernant le poids des poulets est donc N(1500, 200). Les poulets bas de gamme sont ceux qui ont moins de 1300g, les moyens de gamme ont entre 1300 et 1750g, les poulets haut de gamme ont plus de 1750g.</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 est la probabilité lorsque je prends un poulet au hasard d’avoir un poulet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Bas de gamme P(X &lt; 1300)</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Haut de gamme  P(1750 &lt; X)</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Moyen de gamme P(1300 &lt; X &lt; 1750)</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118150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normale par l’exemple : </a:t>
            </a:r>
            <a:endParaRPr lang="en-US" sz="3200" b="0" strike="noStrike" spc="-1" dirty="0">
              <a:solidFill>
                <a:srgbClr val="376092"/>
              </a:solidFill>
              <a:latin typeface="Arial"/>
            </a:endParaRPr>
          </a:p>
        </p:txBody>
      </p:sp>
      <p:sp>
        <p:nvSpPr>
          <p:cNvPr id="136" name="TextShape 2"/>
          <p:cNvSpPr txBox="1"/>
          <p:nvPr/>
        </p:nvSpPr>
        <p:spPr>
          <a:xfrm>
            <a:off x="457199" y="1207362"/>
            <a:ext cx="8229239" cy="491839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J’arrive au marché avec mes poulets et j’en vends 450 avec les répartitions vues ci-dessus. Quel est mon chiffre d’affaires sachant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poulet haut de gamme coûte 12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poulet moyen coûte 10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poulet bas de gamme coûte 8 euros.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pouvons résoudre cette question avec un tableau Excel ce qui va nous permettre de voir comment en modifiant les prix de chaque catégorie on peut influer sur le Chiffre d’affaires.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Donner le poids minimum des 5% de poulets les plus lourds.</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247274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Approximation de la loi binomiale par la loi normale: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199" y="1518082"/>
                <a:ext cx="8229239" cy="460767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binomiale s’appuie sur des valeurs discrètes.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loi normale s’appuie sur des variables à valeur continue.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pouvons avoir des cas où les propriétés de la loi binomiale ne sont pas suffisantes.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Exemple : Vous travaillez pour une entreprise qui produit des guitares et vous êtes responsable de la qualité. Vous savez que 30% des guitares produites ont un défaut. Vous décidez de porter votre analyse sur un échantillon de 100 guitares.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l’aide des propriétés de la loi binomiale, il vous est possible de calculer facilement P(X = 35) =</a:t>
                </a:r>
                <a14:m>
                  <m:oMath xmlns:m="http://schemas.openxmlformats.org/officeDocument/2006/math">
                    <m:sSubSup>
                      <m:sSubSupPr>
                        <m:ctrlPr>
                          <a:rPr lang="fr-FR" sz="2400" i="1" spc="-1" dirty="0">
                            <a:solidFill>
                              <a:srgbClr val="376092"/>
                            </a:solidFill>
                            <a:latin typeface="Cambria Math" panose="02040503050406030204" pitchFamily="18" charset="0"/>
                          </a:rPr>
                        </m:ctrlPr>
                      </m:sSubSupPr>
                      <m:e>
                        <m:r>
                          <a:rPr lang="fr-FR" sz="2400" i="1" spc="-1" dirty="0">
                            <a:solidFill>
                              <a:srgbClr val="376092"/>
                            </a:solidFill>
                            <a:latin typeface="Cambria Math" panose="02040503050406030204" pitchFamily="18" charset="0"/>
                          </a:rPr>
                          <m:t>𝐶</m:t>
                        </m:r>
                      </m:e>
                      <m:sub>
                        <m:r>
                          <a:rPr lang="fr-FR" sz="2400" i="1" spc="-1" dirty="0">
                            <a:solidFill>
                              <a:srgbClr val="376092"/>
                            </a:solidFill>
                            <a:latin typeface="Cambria Math" panose="02040503050406030204" pitchFamily="18" charset="0"/>
                          </a:rPr>
                          <m:t>𝑛</m:t>
                        </m:r>
                      </m:sub>
                      <m:sup>
                        <m:r>
                          <a:rPr lang="fr-FR" sz="2400" i="1" spc="-1" dirty="0">
                            <a:solidFill>
                              <a:srgbClr val="376092"/>
                            </a:solidFill>
                            <a:latin typeface="Cambria Math" panose="02040503050406030204" pitchFamily="18" charset="0"/>
                          </a:rPr>
                          <m:t>𝑘</m:t>
                        </m:r>
                      </m:sup>
                    </m:sSubSup>
                    <m:r>
                      <a:rPr lang="fr-FR" sz="2400" b="0" i="0" spc="-1" dirty="0" smtClean="0">
                        <a:solidFill>
                          <a:srgbClr val="376092"/>
                        </a:solidFill>
                        <a:latin typeface="Cambria Math" panose="02040503050406030204" pitchFamily="18" charset="0"/>
                      </a:rPr>
                      <m:t>∗</m:t>
                    </m:r>
                    <m:r>
                      <m:rPr>
                        <m:sty m:val="p"/>
                      </m:rPr>
                      <a:rPr lang="fr-FR" sz="2400" b="0" i="0" spc="-1" dirty="0" smtClean="0">
                        <a:solidFill>
                          <a:srgbClr val="376092"/>
                        </a:solidFill>
                        <a:latin typeface="Cambria Math" panose="02040503050406030204" pitchFamily="18" charset="0"/>
                      </a:rPr>
                      <m:t>pk</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q</m:t>
                    </m:r>
                    <m:r>
                      <a:rPr lang="fr-FR" sz="2400" b="0" i="0" spc="-1" dirty="0" smtClean="0">
                        <a:solidFill>
                          <a:srgbClr val="376092"/>
                        </a:solidFill>
                        <a:latin typeface="Cambria Math" panose="02040503050406030204" pitchFamily="18" charset="0"/>
                      </a:rPr>
                      <m:t> </m:t>
                    </m:r>
                    <m:r>
                      <m:rPr>
                        <m:sty m:val="p"/>
                      </m:rPr>
                      <a:rPr lang="fr-FR" sz="2400" b="0" i="0" spc="-1" baseline="30000" dirty="0" smtClean="0">
                        <a:solidFill>
                          <a:srgbClr val="376092"/>
                        </a:solidFill>
                        <a:latin typeface="Cambria Math" panose="02040503050406030204" pitchFamily="18" charset="0"/>
                      </a:rPr>
                      <m:t>n</m:t>
                    </m:r>
                    <m:r>
                      <a:rPr lang="fr-FR" sz="2400" b="0" i="0" spc="-1" baseline="30000" dirty="0" smtClean="0">
                        <a:solidFill>
                          <a:srgbClr val="376092"/>
                        </a:solidFill>
                        <a:latin typeface="Cambria Math" panose="02040503050406030204" pitchFamily="18" charset="0"/>
                      </a:rPr>
                      <m:t>−</m:t>
                    </m:r>
                    <m:r>
                      <m:rPr>
                        <m:sty m:val="p"/>
                      </m:rPr>
                      <a:rPr lang="fr-FR" sz="2400" b="0" i="0" spc="-1" baseline="30000" dirty="0" smtClean="0">
                        <a:solidFill>
                          <a:srgbClr val="376092"/>
                        </a:solidFill>
                        <a:latin typeface="Cambria Math" panose="02040503050406030204" pitchFamily="18" charset="0"/>
                      </a:rPr>
                      <m:t>k</m:t>
                    </m:r>
                  </m:oMath>
                </a14:m>
                <a:endParaRPr lang="fr-FR" sz="2400" spc="-1" baseline="30000"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199" y="1518082"/>
                <a:ext cx="8229239" cy="4607677"/>
              </a:xfrm>
              <a:prstGeom prst="rect">
                <a:avLst/>
              </a:prstGeom>
              <a:blipFill>
                <a:blip r:embed="rId2"/>
                <a:stretch>
                  <a:fillRect t="-1984" r="-177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3952078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Approximation de la loi binomiale par la loi normale: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199" y="1518082"/>
                <a:ext cx="8229239" cy="460767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choses se compliquent s’il on cherche à déterminer P(X &lt;= 35) = P(x=0) + P(x=1)+ … + P(x=35)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va donc se baser sur la loi normale pour résoudre ce genre de problème.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très bonne approximation de la loi binomiale B(n, p) est la loi normale N(</a:t>
                </a:r>
                <a:r>
                  <a:rPr lang="fr-FR" sz="2400" spc="-1" dirty="0" err="1">
                    <a:solidFill>
                      <a:srgbClr val="376092"/>
                    </a:solidFill>
                    <a:latin typeface="Calibri"/>
                  </a:rPr>
                  <a:t>np</a:t>
                </a:r>
                <a:r>
                  <a:rPr lang="fr-FR" sz="2400" spc="-1" dirty="0">
                    <a:solidFill>
                      <a:srgbClr val="376092"/>
                    </a:solidFill>
                    <a:latin typeface="Calibri"/>
                  </a:rPr>
                  <a:t>, </a:t>
                </a:r>
                <a14:m>
                  <m:oMath xmlns:m="http://schemas.openxmlformats.org/officeDocument/2006/math">
                    <m:rad>
                      <m:radPr>
                        <m:degHide m:val="on"/>
                        <m:ctrlPr>
                          <a:rPr lang="fr-FR" sz="2400" b="0" i="1" spc="-1" smtClean="0">
                            <a:solidFill>
                              <a:srgbClr val="376092"/>
                            </a:solidFill>
                            <a:latin typeface="Cambria Math" panose="02040503050406030204" pitchFamily="18" charset="0"/>
                            <a:ea typeface="Cambria Math" panose="02040503050406030204" pitchFamily="18" charset="0"/>
                          </a:rPr>
                        </m:ctrlPr>
                      </m:radPr>
                      <m:deg/>
                      <m:e>
                        <m:r>
                          <a:rPr lang="fr-FR" sz="2400" b="0" i="1" spc="-1" smtClean="0">
                            <a:solidFill>
                              <a:srgbClr val="376092"/>
                            </a:solidFill>
                            <a:latin typeface="Cambria Math" panose="02040503050406030204" pitchFamily="18" charset="0"/>
                            <a:ea typeface="Cambria Math" panose="02040503050406030204" pitchFamily="18" charset="0"/>
                          </a:rPr>
                          <m:t>𝑛𝑝</m:t>
                        </m:r>
                        <m:d>
                          <m:dPr>
                            <m:ctrlPr>
                              <a:rPr lang="fr-FR" sz="2400" b="0" i="1" spc="-1" smtClean="0">
                                <a:solidFill>
                                  <a:srgbClr val="376092"/>
                                </a:solidFill>
                                <a:latin typeface="Cambria Math" panose="02040503050406030204" pitchFamily="18" charset="0"/>
                                <a:ea typeface="Cambria Math" panose="02040503050406030204" pitchFamily="18" charset="0"/>
                              </a:rPr>
                            </m:ctrlPr>
                          </m:dPr>
                          <m:e>
                            <m:r>
                              <a:rPr lang="fr-FR" sz="2400" b="0" i="1" spc="-1" smtClean="0">
                                <a:solidFill>
                                  <a:srgbClr val="376092"/>
                                </a:solidFill>
                                <a:latin typeface="Cambria Math" panose="02040503050406030204" pitchFamily="18" charset="0"/>
                                <a:ea typeface="Cambria Math" panose="02040503050406030204" pitchFamily="18" charset="0"/>
                              </a:rPr>
                              <m:t>1−</m:t>
                            </m:r>
                            <m:r>
                              <a:rPr lang="fr-FR" sz="2400" b="0" i="1" spc="-1" smtClean="0">
                                <a:solidFill>
                                  <a:srgbClr val="376092"/>
                                </a:solidFill>
                                <a:latin typeface="Cambria Math" panose="02040503050406030204" pitchFamily="18" charset="0"/>
                                <a:ea typeface="Cambria Math" panose="02040503050406030204" pitchFamily="18" charset="0"/>
                              </a:rPr>
                              <m:t>𝑝</m:t>
                            </m:r>
                          </m:e>
                        </m:d>
                      </m:e>
                    </m:rad>
                  </m:oMath>
                </a14:m>
                <a:r>
                  <a:rPr lang="fr-FR" sz="2400" spc="-1" dirty="0">
                    <a:solidFill>
                      <a:srgbClr val="376092"/>
                    </a:solidFill>
                    <a:latin typeface="Calibri"/>
                  </a:rPr>
                  <a:t>) lorsque: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 &gt;= 30</a:t>
                </a:r>
              </a:p>
              <a:p>
                <a:pPr marL="864000" lvl="1" indent="-324000">
                  <a:spcAft>
                    <a:spcPts val="1134"/>
                  </a:spcAft>
                  <a:buClr>
                    <a:srgbClr val="000000"/>
                  </a:buClr>
                  <a:buSzPct val="45000"/>
                  <a:buFont typeface="Wingdings" charset="2"/>
                  <a:buChar char=""/>
                </a:pPr>
                <a:r>
                  <a:rPr lang="fr-FR" sz="2400" spc="-1" dirty="0" err="1">
                    <a:solidFill>
                      <a:srgbClr val="376092"/>
                    </a:solidFill>
                    <a:latin typeface="Calibri"/>
                  </a:rPr>
                  <a:t>np</a:t>
                </a:r>
                <a:r>
                  <a:rPr lang="fr-FR" sz="2400" spc="-1" dirty="0">
                    <a:solidFill>
                      <a:srgbClr val="376092"/>
                    </a:solidFill>
                    <a:latin typeface="Calibri"/>
                  </a:rPr>
                  <a:t> &gt;= 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n(1-p) &gt;= 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Autrement dit n doit être assez grand et p ne doit pas être trop proche de 0 ou 1.</a:t>
                </a:r>
              </a:p>
              <a:p>
                <a:pPr marL="540000" lvl="1">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199" y="1518082"/>
                <a:ext cx="8229239" cy="4607677"/>
              </a:xfrm>
              <a:prstGeom prst="rect">
                <a:avLst/>
              </a:prstGeom>
              <a:blipFill>
                <a:blip r:embed="rId2"/>
                <a:stretch>
                  <a:fillRect t="-1984" r="-2222" b="-1124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883115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Approximation de la loi binomiale par la loi normale: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199" y="1518082"/>
                <a:ext cx="8229239" cy="460767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Notre loi binomiale B(100, 0,3) porte sur 100 guitare avec 0,3 de probabilité de défaut, vérifions si les conditions sont remplies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 &gt;= 30 : n = 100 OK</a:t>
                </a:r>
              </a:p>
              <a:p>
                <a:pPr marL="864000" lvl="1" indent="-324000">
                  <a:spcAft>
                    <a:spcPts val="1134"/>
                  </a:spcAft>
                  <a:buClr>
                    <a:srgbClr val="000000"/>
                  </a:buClr>
                  <a:buSzPct val="45000"/>
                  <a:buFont typeface="Wingdings" charset="2"/>
                  <a:buChar char=""/>
                </a:pPr>
                <a:r>
                  <a:rPr lang="fr-FR" sz="2400" spc="-1" dirty="0" err="1">
                    <a:solidFill>
                      <a:srgbClr val="376092"/>
                    </a:solidFill>
                    <a:latin typeface="Calibri"/>
                  </a:rPr>
                  <a:t>Np</a:t>
                </a:r>
                <a:r>
                  <a:rPr lang="fr-FR" sz="2400" spc="-1" dirty="0">
                    <a:solidFill>
                      <a:srgbClr val="376092"/>
                    </a:solidFill>
                    <a:latin typeface="Calibri"/>
                  </a:rPr>
                  <a:t> &gt;= 5 : n*p = 100 * 0,3 = 30 OK</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N(1-p) &gt;= 5 : n * q = 100 * 0,7 = 70 OK</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donc possible d’approcher la loi binomiale B(100, 0.3) grâce à la loi normale N (E(x),</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oMath>
                </a14:m>
                <a:r>
                  <a:rPr lang="fr-FR" sz="2400" spc="-1" dirty="0">
                    <a:solidFill>
                      <a:srgbClr val="376092"/>
                    </a:solidFill>
                    <a:latin typeface="Calibri"/>
                  </a:rPr>
                  <a:t>) avec</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 = n * p = 100 * 0,3 = 30</a:t>
                </a:r>
              </a:p>
              <a:p>
                <a:pPr marL="864000" lvl="1" indent="-324000">
                  <a:spcAft>
                    <a:spcPts val="1134"/>
                  </a:spcAft>
                  <a:buClr>
                    <a:srgbClr val="000000"/>
                  </a:buClr>
                  <a:buSzPct val="45000"/>
                  <a:buFont typeface="Wingdings" charset="2"/>
                  <a:buChar char=""/>
                </a:pP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r>
                      <a:rPr lang="fr-FR" sz="2400" i="1" spc="-1" smtClean="0">
                        <a:solidFill>
                          <a:srgbClr val="376092"/>
                        </a:solidFill>
                        <a:latin typeface="Cambria Math" panose="02040503050406030204" pitchFamily="18" charset="0"/>
                        <a:ea typeface="Cambria Math" panose="02040503050406030204" pitchFamily="18" charset="0"/>
                      </a:rPr>
                      <m:t> </m:t>
                    </m:r>
                  </m:oMath>
                </a14:m>
                <a:r>
                  <a:rPr lang="fr-FR" sz="2400" spc="-1" dirty="0">
                    <a:solidFill>
                      <a:srgbClr val="376092"/>
                    </a:solidFill>
                    <a:latin typeface="Calibri"/>
                  </a:rPr>
                  <a:t> = </a:t>
                </a:r>
                <a14:m>
                  <m:oMath xmlns:m="http://schemas.openxmlformats.org/officeDocument/2006/math">
                    <m:rad>
                      <m:radPr>
                        <m:degHide m:val="on"/>
                        <m:ctrlPr>
                          <a:rPr lang="fr-FR" sz="2400" b="0" i="1" spc="-1" smtClean="0">
                            <a:solidFill>
                              <a:srgbClr val="376092"/>
                            </a:solidFill>
                            <a:latin typeface="Cambria Math" panose="02040503050406030204" pitchFamily="18" charset="0"/>
                            <a:ea typeface="Cambria Math" panose="02040503050406030204" pitchFamily="18" charset="0"/>
                          </a:rPr>
                        </m:ctrlPr>
                      </m:radPr>
                      <m:deg/>
                      <m:e>
                        <m:r>
                          <a:rPr lang="fr-FR" sz="2400" b="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𝑛</m:t>
                        </m:r>
                      </m:e>
                    </m:rad>
                    <m:r>
                      <a:rPr lang="fr-FR" sz="2400" b="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𝑝</m:t>
                    </m:r>
                    <m:r>
                      <a:rPr lang="fr-FR" sz="2400" b="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𝑞</m:t>
                    </m:r>
                  </m:oMath>
                </a14:m>
                <a:r>
                  <a:rPr lang="fr-FR" sz="2400" spc="-1" dirty="0">
                    <a:solidFill>
                      <a:srgbClr val="376092"/>
                    </a:solidFill>
                    <a:latin typeface="Calibri"/>
                    <a:ea typeface="Cambria Math" panose="02040503050406030204" pitchFamily="18" charset="0"/>
                  </a:rPr>
                  <a:t>)  = </a:t>
                </a:r>
                <a14:m>
                  <m:oMath xmlns:m="http://schemas.openxmlformats.org/officeDocument/2006/math">
                    <m:rad>
                      <m:radPr>
                        <m:degHide m:val="on"/>
                        <m:ctrlPr>
                          <a:rPr lang="fr-FR" sz="2400" b="0" i="1" spc="-1" smtClean="0">
                            <a:solidFill>
                              <a:srgbClr val="376092"/>
                            </a:solidFill>
                            <a:latin typeface="Cambria Math" panose="02040503050406030204" pitchFamily="18" charset="0"/>
                            <a:ea typeface="Cambria Math" panose="02040503050406030204" pitchFamily="18" charset="0"/>
                          </a:rPr>
                        </m:ctrlPr>
                      </m:radPr>
                      <m:deg/>
                      <m:e>
                        <m:r>
                          <a:rPr lang="fr-FR" sz="2400" b="0" i="1" spc="-1" smtClean="0">
                            <a:solidFill>
                              <a:srgbClr val="376092"/>
                            </a:solidFill>
                            <a:latin typeface="Cambria Math" panose="02040503050406030204" pitchFamily="18" charset="0"/>
                            <a:ea typeface="Cambria Math" panose="02040503050406030204" pitchFamily="18" charset="0"/>
                          </a:rPr>
                          <m:t>100 ∗0,3 ∗0,7</m:t>
                        </m:r>
                      </m:e>
                    </m:rad>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Donc N(30, 4,58) </a:t>
                </a:r>
              </a:p>
              <a:p>
                <a:pPr marL="540000" lvl="1">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199" y="1518082"/>
                <a:ext cx="8229239" cy="4607677"/>
              </a:xfrm>
              <a:prstGeom prst="rect">
                <a:avLst/>
              </a:prstGeom>
              <a:blipFill>
                <a:blip r:embed="rId2"/>
                <a:stretch>
                  <a:fillRect t="-1984" b="-14286"/>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073694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Approximation de la loi binomiale par la loi normale: </a:t>
            </a:r>
            <a:endParaRPr lang="en-US" sz="3200" b="0" strike="noStrike" spc="-1" dirty="0">
              <a:solidFill>
                <a:srgbClr val="376092"/>
              </a:solidFill>
              <a:latin typeface="Arial"/>
            </a:endParaRPr>
          </a:p>
        </p:txBody>
      </p:sp>
      <p:sp>
        <p:nvSpPr>
          <p:cNvPr id="136" name="TextShape 2"/>
          <p:cNvSpPr txBox="1"/>
          <p:nvPr/>
        </p:nvSpPr>
        <p:spPr>
          <a:xfrm>
            <a:off x="457199" y="1518082"/>
            <a:ext cx="8229239" cy="460767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pouvons comparer ces deux lois (B(100, 0,3) et N(30, 4,58) ) sous Excel pour se rendre compte de l’approximation.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Revenons à notre exemple. En loi normale P(X=35) = 0, si je veux une approximation, il faut utiliser un intervalle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P(34,5 &lt; x &lt; 35,5) = p(x &lt; 35,5) – p(x &lt; 34,5) (Tracer une courbe en cas de doute).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cette probabilité à la calculatrice ou avec un </a:t>
            </a:r>
            <a:r>
              <a:rPr lang="fr-FR" sz="2400" spc="-1" dirty="0" err="1">
                <a:solidFill>
                  <a:srgbClr val="376092"/>
                </a:solidFill>
                <a:latin typeface="Calibri"/>
              </a:rPr>
              <a:t>tableaur</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y a 4,84% de chance de tomber sur 35 guitares défectueuses.</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509284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Approximation de la loi binomiale par la loi normale: </a:t>
            </a:r>
            <a:endParaRPr lang="en-US" sz="3200" b="0" strike="noStrike" spc="-1" dirty="0">
              <a:solidFill>
                <a:srgbClr val="376092"/>
              </a:solidFill>
              <a:latin typeface="Arial"/>
            </a:endParaRPr>
          </a:p>
        </p:txBody>
      </p:sp>
      <p:sp>
        <p:nvSpPr>
          <p:cNvPr id="136" name="TextShape 2"/>
          <p:cNvSpPr txBox="1"/>
          <p:nvPr/>
        </p:nvSpPr>
        <p:spPr>
          <a:xfrm>
            <a:off x="457199" y="1482572"/>
            <a:ext cx="8229239" cy="4643188"/>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Cherchons maintenant une approximation pour P(X &lt;= 35).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je veux que 35 soit dans l’intervalle considéré, il faut que je modifie ma probabilité en P(X &lt; 35,5).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avons donc 88,49% de chance d’obtenir au maximum 35 guitares défectueuses sur notre échantillon.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P(X&gt;= 35) soit on refait le calcul, soit on prend le complément P(x &gt;= 35) = 1 – p(x &lt;= 35) = 1 -0,8849 = 0.1151</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avons donc 11,51% de chance d’obtenir au minimum 35 guitares défectueuses sur notre échantillon.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88902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39201-3B50-3C3E-3B15-07172BB50136}"/>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57164A1-8A97-3999-9501-34004E810F4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Somme des variables indépendantes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21C27ABD-2830-FFE6-442B-6497215A3F9A}"/>
                  </a:ext>
                </a:extLst>
              </p:cNvPr>
              <p:cNvSpPr txBox="1"/>
              <p:nvPr/>
            </p:nvSpPr>
            <p:spPr>
              <a:xfrm>
                <a:off x="457200" y="1417320"/>
                <a:ext cx="8229239" cy="4708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X et Y sont deux variables aléatoires indépendantes, on peut définir de nouvelles variables aléatoires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 = X + Y ou alors D = X - Y</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 représente la somme de X et Y (selon le contexte : somme des coûts, somme des temps….), D la différence.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pouvons calculer l'espérance de S et de D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E(S) = E(X) + E(Y) et E(D) = E(X) – E(Y)</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Ainsi que sa variance et son écart-type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V(X + Y) = V(X) + V(Y) et donc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𝜎</m:t>
                    </m:r>
                    <m:d>
                      <m:dPr>
                        <m:ctrlPr>
                          <a:rPr lang="fr-FR" sz="2400" b="0" i="1" spc="-1" smtClean="0">
                            <a:solidFill>
                              <a:srgbClr val="376092"/>
                            </a:solidFill>
                            <a:latin typeface="Cambria Math" panose="02040503050406030204" pitchFamily="18" charset="0"/>
                            <a:ea typeface="Cambria Math" panose="02040503050406030204" pitchFamily="18" charset="0"/>
                          </a:rPr>
                        </m:ctrlPr>
                      </m:dPr>
                      <m:e>
                        <m:r>
                          <m:rPr>
                            <m:sty m:val="p"/>
                          </m:rPr>
                          <a:rPr lang="fr-FR" sz="2400" b="0" i="0" spc="-1" smtClean="0">
                            <a:solidFill>
                              <a:srgbClr val="376092"/>
                            </a:solidFill>
                            <a:latin typeface="Cambria Math" panose="02040503050406030204" pitchFamily="18" charset="0"/>
                            <a:ea typeface="Cambria Math" panose="02040503050406030204" pitchFamily="18" charset="0"/>
                          </a:rPr>
                          <m:t>X</m:t>
                        </m:r>
                        <m:r>
                          <a:rPr lang="fr-FR" sz="2400" b="0" i="0" spc="-1" smtClean="0">
                            <a:solidFill>
                              <a:srgbClr val="376092"/>
                            </a:solidFill>
                            <a:latin typeface="Cambria Math" panose="02040503050406030204" pitchFamily="18" charset="0"/>
                            <a:ea typeface="Cambria Math" panose="02040503050406030204" pitchFamily="18" charset="0"/>
                          </a:rPr>
                          <m:t>+</m:t>
                        </m:r>
                        <m:r>
                          <m:rPr>
                            <m:sty m:val="p"/>
                          </m:rPr>
                          <a:rPr lang="fr-FR" sz="2400" b="0" i="0" spc="-1" smtClean="0">
                            <a:solidFill>
                              <a:srgbClr val="376092"/>
                            </a:solidFill>
                            <a:latin typeface="Cambria Math" panose="02040503050406030204" pitchFamily="18" charset="0"/>
                            <a:ea typeface="Cambria Math" panose="02040503050406030204" pitchFamily="18" charset="0"/>
                          </a:rPr>
                          <m:t>Y</m:t>
                        </m:r>
                      </m:e>
                    </m:d>
                    <m:r>
                      <a:rPr lang="fr-FR" sz="2400" b="0" i="0" spc="-1" smtClean="0">
                        <a:solidFill>
                          <a:srgbClr val="376092"/>
                        </a:solidFill>
                        <a:latin typeface="Cambria Math" panose="02040503050406030204" pitchFamily="18" charset="0"/>
                        <a:ea typeface="Cambria Math" panose="02040503050406030204" pitchFamily="18" charset="0"/>
                      </a:rPr>
                      <m:t>= </m:t>
                    </m:r>
                    <m:rad>
                      <m:radPr>
                        <m:degHide m:val="on"/>
                        <m:ctrlPr>
                          <a:rPr lang="fr-FR" sz="2400" i="1" spc="-1" dirty="0" smtClean="0">
                            <a:solidFill>
                              <a:srgbClr val="376092"/>
                            </a:solidFill>
                            <a:latin typeface="Cambria Math" panose="02040503050406030204" pitchFamily="18" charset="0"/>
                          </a:rPr>
                        </m:ctrlPr>
                      </m:radPr>
                      <m:deg/>
                      <m:e>
                        <m:r>
                          <a:rPr lang="fr-FR" sz="2400" b="0" i="1" spc="-1" dirty="0" smtClean="0">
                            <a:solidFill>
                              <a:srgbClr val="376092"/>
                            </a:solidFill>
                            <a:latin typeface="Cambria Math" panose="02040503050406030204" pitchFamily="18" charset="0"/>
                          </a:rPr>
                          <m:t>𝑉</m:t>
                        </m:r>
                        <m:d>
                          <m:dPr>
                            <m:ctrlPr>
                              <a:rPr lang="fr-FR" sz="2400" i="1" spc="-1" dirty="0">
                                <a:solidFill>
                                  <a:srgbClr val="376092"/>
                                </a:solidFill>
                                <a:latin typeface="Cambria Math" panose="02040503050406030204" pitchFamily="18" charset="0"/>
                              </a:rPr>
                            </m:ctrlPr>
                          </m:dPr>
                          <m:e>
                            <m:r>
                              <a:rPr lang="fr-FR" sz="2400" b="0" i="1" spc="-1" dirty="0" smtClean="0">
                                <a:solidFill>
                                  <a:srgbClr val="376092"/>
                                </a:solidFill>
                                <a:latin typeface="Cambria Math" panose="02040503050406030204" pitchFamily="18" charset="0"/>
                              </a:rPr>
                              <m:t>𝑋</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𝑌</m:t>
                            </m:r>
                          </m:e>
                        </m:d>
                      </m:e>
                    </m:rad>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V(X - Y) = V(X) + V(Y) et donc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𝜎</m:t>
                    </m:r>
                    <m:d>
                      <m:dPr>
                        <m:ctrlPr>
                          <a:rPr lang="fr-FR" sz="2400" i="1" spc="-1">
                            <a:solidFill>
                              <a:srgbClr val="376092"/>
                            </a:solidFill>
                            <a:latin typeface="Cambria Math" panose="02040503050406030204" pitchFamily="18" charset="0"/>
                            <a:ea typeface="Cambria Math" panose="02040503050406030204" pitchFamily="18" charset="0"/>
                          </a:rPr>
                        </m:ctrlPr>
                      </m:dPr>
                      <m:e>
                        <m:r>
                          <m:rPr>
                            <m:sty m:val="p"/>
                          </m:rPr>
                          <a:rPr lang="fr-FR" sz="2400" spc="-1">
                            <a:solidFill>
                              <a:srgbClr val="376092"/>
                            </a:solidFill>
                            <a:latin typeface="Cambria Math" panose="02040503050406030204" pitchFamily="18" charset="0"/>
                            <a:ea typeface="Cambria Math" panose="02040503050406030204" pitchFamily="18" charset="0"/>
                          </a:rPr>
                          <m:t>X</m:t>
                        </m:r>
                        <m:r>
                          <a:rPr lang="fr-FR" sz="2400" b="0" i="0" spc="-1" smtClean="0">
                            <a:solidFill>
                              <a:srgbClr val="376092"/>
                            </a:solidFill>
                            <a:latin typeface="Cambria Math" panose="02040503050406030204" pitchFamily="18" charset="0"/>
                            <a:ea typeface="Cambria Math" panose="02040503050406030204" pitchFamily="18" charset="0"/>
                          </a:rPr>
                          <m:t>−</m:t>
                        </m:r>
                        <m:r>
                          <m:rPr>
                            <m:sty m:val="p"/>
                          </m:rPr>
                          <a:rPr lang="fr-FR" sz="2400" spc="-1">
                            <a:solidFill>
                              <a:srgbClr val="376092"/>
                            </a:solidFill>
                            <a:latin typeface="Cambria Math" panose="02040503050406030204" pitchFamily="18" charset="0"/>
                            <a:ea typeface="Cambria Math" panose="02040503050406030204" pitchFamily="18" charset="0"/>
                          </a:rPr>
                          <m:t>Y</m:t>
                        </m:r>
                      </m:e>
                    </m:d>
                    <m:r>
                      <a:rPr lang="fr-FR" sz="2400" spc="-1">
                        <a:solidFill>
                          <a:srgbClr val="376092"/>
                        </a:solidFill>
                        <a:latin typeface="Cambria Math" panose="02040503050406030204" pitchFamily="18" charset="0"/>
                        <a:ea typeface="Cambria Math" panose="02040503050406030204" pitchFamily="18" charset="0"/>
                      </a:rPr>
                      <m:t>= </m:t>
                    </m:r>
                    <m:rad>
                      <m:radPr>
                        <m:degHide m:val="on"/>
                        <m:ctrlPr>
                          <a:rPr lang="fr-FR" sz="2400" i="1" spc="-1" dirty="0">
                            <a:solidFill>
                              <a:srgbClr val="376092"/>
                            </a:solidFill>
                            <a:latin typeface="Cambria Math" panose="02040503050406030204" pitchFamily="18" charset="0"/>
                          </a:rPr>
                        </m:ctrlPr>
                      </m:radPr>
                      <m:deg/>
                      <m:e>
                        <m:r>
                          <a:rPr lang="fr-FR" sz="2400" i="1" spc="-1" dirty="0">
                            <a:solidFill>
                              <a:srgbClr val="376092"/>
                            </a:solidFill>
                            <a:latin typeface="Cambria Math" panose="02040503050406030204" pitchFamily="18" charset="0"/>
                          </a:rPr>
                          <m:t>𝑉</m:t>
                        </m:r>
                        <m:d>
                          <m:dPr>
                            <m:ctrlPr>
                              <a:rPr lang="fr-FR" sz="2400" i="1" spc="-1" dirty="0">
                                <a:solidFill>
                                  <a:srgbClr val="376092"/>
                                </a:solidFill>
                                <a:latin typeface="Cambria Math" panose="02040503050406030204" pitchFamily="18" charset="0"/>
                              </a:rPr>
                            </m:ctrlPr>
                          </m:dPr>
                          <m:e>
                            <m:r>
                              <a:rPr lang="fr-FR" sz="2400" i="1" spc="-1" dirty="0">
                                <a:solidFill>
                                  <a:srgbClr val="376092"/>
                                </a:solidFill>
                                <a:latin typeface="Cambria Math" panose="02040503050406030204" pitchFamily="18" charset="0"/>
                              </a:rPr>
                              <m:t>𝑋</m:t>
                            </m:r>
                            <m:r>
                              <a:rPr lang="fr-FR" sz="2400" b="0" i="1" spc="-1" dirty="0" smtClean="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𝑌</m:t>
                            </m:r>
                          </m:e>
                        </m:d>
                      </m:e>
                    </m:rad>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21C27ABD-2830-FFE6-442B-6497215A3F9A}"/>
                  </a:ext>
                </a:extLst>
              </p:cNvPr>
              <p:cNvSpPr txBox="1">
                <a:spLocks noRot="1" noChangeAspect="1" noMove="1" noResize="1" noEditPoints="1" noAdjustHandles="1" noChangeArrowheads="1" noChangeShapeType="1" noTextEdit="1"/>
              </p:cNvSpPr>
              <p:nvPr/>
            </p:nvSpPr>
            <p:spPr>
              <a:xfrm>
                <a:off x="457200" y="1417320"/>
                <a:ext cx="8229239" cy="4708440"/>
              </a:xfrm>
              <a:prstGeom prst="rect">
                <a:avLst/>
              </a:prstGeom>
              <a:blipFill>
                <a:blip r:embed="rId2"/>
                <a:stretch>
                  <a:fillRect t="-2073" r="-1926" b="-5570"/>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390614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D17BD-A3C8-9DF0-FA18-108FFE4A4DA9}"/>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82F8EBDC-7421-61EE-2C52-4BEB949765BC}"/>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Somme des variables indépendantes - exo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9E17F057-3533-9894-523E-7665EEFC7BC7}"/>
                  </a:ext>
                </a:extLst>
              </p:cNvPr>
              <p:cNvSpPr txBox="1"/>
              <p:nvPr/>
            </p:nvSpPr>
            <p:spPr>
              <a:xfrm>
                <a:off x="457200" y="1417320"/>
                <a:ext cx="8229239" cy="4708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entreprise comptable traite des factures et des dossiers clients.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 temps de traitement d'une facture est modélisé par une variable aléatoire X d'espérance 25 minutes et de variance 16.</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 temps de traitement d'un dossier est modélisé par une variable aléatoire Y d'espérance 40 minutes et de variance 36. X et Y sont indépendants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note T = X + Y le temps pour traiter une facture et un dossier, calculer E(T), V(T) et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𝜎</m:t>
                    </m:r>
                    <m:r>
                      <a:rPr lang="fr-FR" sz="2400" b="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𝑇</m:t>
                    </m:r>
                    <m:r>
                      <a:rPr lang="fr-FR" sz="2400" b="0" i="1" spc="-1" smtClean="0">
                        <a:solidFill>
                          <a:srgbClr val="376092"/>
                        </a:solidFill>
                        <a:latin typeface="Cambria Math" panose="02040503050406030204" pitchFamily="18" charset="0"/>
                        <a:ea typeface="Cambria Math" panose="02040503050406030204" pitchFamily="18" charset="0"/>
                      </a:rPr>
                      <m:t>)</m:t>
                    </m:r>
                  </m:oMath>
                </a14:m>
                <a:r>
                  <a:rPr lang="fr-FR" sz="2400" spc="-1" dirty="0">
                    <a:solidFill>
                      <a:srgbClr val="376092"/>
                    </a:solidFill>
                    <a:latin typeface="Calibri"/>
                  </a:rPr>
                  <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note D = X-Y, calculer E(D), V(D) et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𝜎</m:t>
                    </m:r>
                    <m:r>
                      <a:rPr lang="fr-FR" sz="2400" i="1" spc="-1">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𝑇</m:t>
                    </m:r>
                    <m:r>
                      <a:rPr lang="fr-FR" sz="2400" i="1" spc="-1">
                        <a:solidFill>
                          <a:srgbClr val="376092"/>
                        </a:solidFill>
                        <a:latin typeface="Cambria Math" panose="02040503050406030204" pitchFamily="18" charset="0"/>
                        <a:ea typeface="Cambria Math" panose="02040503050406030204" pitchFamily="18" charset="0"/>
                      </a:rPr>
                      <m:t>)</m:t>
                    </m:r>
                  </m:oMath>
                </a14:m>
                <a:r>
                  <a:rPr lang="fr-FR" sz="2400" spc="-1" dirty="0">
                    <a:solidFill>
                      <a:srgbClr val="376092"/>
                    </a:solidFill>
                    <a:latin typeface="Calibri"/>
                  </a:rPr>
                  <a:t>.</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9E17F057-3533-9894-523E-7665EEFC7BC7}"/>
                  </a:ext>
                </a:extLst>
              </p:cNvPr>
              <p:cNvSpPr txBox="1">
                <a:spLocks noRot="1" noChangeAspect="1" noMove="1" noResize="1" noEditPoints="1" noAdjustHandles="1" noChangeArrowheads="1" noChangeShapeType="1" noTextEdit="1"/>
              </p:cNvSpPr>
              <p:nvPr/>
            </p:nvSpPr>
            <p:spPr>
              <a:xfrm>
                <a:off x="457200" y="1417320"/>
                <a:ext cx="8229239" cy="4708440"/>
              </a:xfrm>
              <a:prstGeom prst="rect">
                <a:avLst/>
              </a:prstGeom>
              <a:blipFill>
                <a:blip r:embed="rId2"/>
                <a:stretch>
                  <a:fillRect t="-2073" r="-1778" b="-1295"/>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621000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A7F86-43AF-6C58-2043-6AD354AAE89C}"/>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497DD79-5B87-0265-1983-C1EFE1A4944B}"/>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Somme des variables indépendantes et loi normale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EF752F67-0372-372D-2363-D6CB4F16D415}"/>
                  </a:ext>
                </a:extLst>
              </p:cNvPr>
              <p:cNvSpPr txBox="1"/>
              <p:nvPr/>
            </p:nvSpPr>
            <p:spPr>
              <a:xfrm>
                <a:off x="457200" y="1417320"/>
                <a:ext cx="8229239" cy="4708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X est une variable aléatoire qui suit la loi normale N(</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𝜇</m:t>
                    </m:r>
                    <m:r>
                      <a:rPr lang="fr-FR" sz="2400" b="0" i="1" spc="-1" smtClean="0">
                        <a:solidFill>
                          <a:srgbClr val="376092"/>
                        </a:solidFill>
                        <a:latin typeface="Cambria Math" panose="02040503050406030204" pitchFamily="18" charset="0"/>
                        <a:ea typeface="Cambria Math" panose="02040503050406030204" pitchFamily="18" charset="0"/>
                      </a:rPr>
                      <m:t>1,</m:t>
                    </m:r>
                    <m:r>
                      <a:rPr lang="fr-FR" sz="2400" i="1" spc="-1">
                        <a:solidFill>
                          <a:srgbClr val="376092"/>
                        </a:solidFill>
                        <a:latin typeface="Cambria Math" panose="02040503050406030204" pitchFamily="18" charset="0"/>
                        <a:ea typeface="Cambria Math" panose="02040503050406030204" pitchFamily="18" charset="0"/>
                      </a:rPr>
                      <m:t>𝜎</m:t>
                    </m:r>
                    <m:r>
                      <a:rPr lang="fr-FR" sz="2400" b="0" i="1" spc="-1" smtClean="0">
                        <a:solidFill>
                          <a:srgbClr val="376092"/>
                        </a:solidFill>
                        <a:latin typeface="Cambria Math" panose="02040503050406030204" pitchFamily="18" charset="0"/>
                        <a:ea typeface="Cambria Math" panose="02040503050406030204" pitchFamily="18" charset="0"/>
                      </a:rPr>
                      <m:t>1).</m:t>
                    </m:r>
                  </m:oMath>
                </a14:m>
                <a:endParaRPr lang="fr-FR" sz="2400" b="0" spc="-1" dirty="0">
                  <a:solidFill>
                    <a:srgbClr val="376092"/>
                  </a:solidFill>
                  <a:latin typeface="Calibri"/>
                  <a:ea typeface="Cambria Math" panose="02040503050406030204" pitchFamily="18" charset="0"/>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Y est une variable aléatoire qui suit la loi normale N(</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𝜇</m:t>
                    </m:r>
                    <m:r>
                      <a:rPr lang="fr-FR" sz="2400" b="0" i="1" spc="-1" smtClean="0">
                        <a:solidFill>
                          <a:srgbClr val="376092"/>
                        </a:solidFill>
                        <a:latin typeface="Cambria Math" panose="02040503050406030204" pitchFamily="18" charset="0"/>
                        <a:ea typeface="Cambria Math" panose="02040503050406030204" pitchFamily="18" charset="0"/>
                      </a:rPr>
                      <m:t>2</m:t>
                    </m:r>
                    <m:r>
                      <a:rPr lang="fr-FR" sz="2400" i="1" spc="-1">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𝜎</m:t>
                    </m:r>
                    <m:r>
                      <a:rPr lang="fr-FR" sz="2400" b="0" i="1" spc="-1" smtClean="0">
                        <a:solidFill>
                          <a:srgbClr val="376092"/>
                        </a:solidFill>
                        <a:latin typeface="Cambria Math" panose="02040503050406030204" pitchFamily="18" charset="0"/>
                        <a:ea typeface="Cambria Math" panose="02040503050406030204" pitchFamily="18" charset="0"/>
                      </a:rPr>
                      <m:t>2).</m:t>
                    </m:r>
                  </m:oMath>
                </a14:m>
                <a:endParaRPr lang="fr-FR" sz="2400" b="0" spc="-1" dirty="0">
                  <a:solidFill>
                    <a:srgbClr val="376092"/>
                  </a:solidFill>
                  <a:latin typeface="Calibri"/>
                  <a:ea typeface="Cambria Math" panose="02040503050406030204" pitchFamily="18" charset="0"/>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Alors X + Y suit la loi normale N(</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𝜇</m:t>
                    </m:r>
                    <m:r>
                      <a:rPr lang="fr-FR" sz="2400" i="1" spc="-1">
                        <a:solidFill>
                          <a:srgbClr val="376092"/>
                        </a:solidFill>
                        <a:latin typeface="Cambria Math" panose="02040503050406030204" pitchFamily="18" charset="0"/>
                        <a:ea typeface="Cambria Math" panose="02040503050406030204" pitchFamily="18" charset="0"/>
                      </a:rPr>
                      <m:t>1+ </m:t>
                    </m:r>
                    <m:r>
                      <a:rPr lang="fr-FR" sz="2400" i="1" spc="-1">
                        <a:solidFill>
                          <a:srgbClr val="376092"/>
                        </a:solidFill>
                        <a:latin typeface="Cambria Math" panose="02040503050406030204" pitchFamily="18" charset="0"/>
                        <a:ea typeface="Cambria Math" panose="02040503050406030204" pitchFamily="18" charset="0"/>
                      </a:rPr>
                      <m:t>𝜇</m:t>
                    </m:r>
                    <m:r>
                      <a:rPr lang="fr-FR" sz="2400" i="1" spc="-1">
                        <a:solidFill>
                          <a:srgbClr val="376092"/>
                        </a:solidFill>
                        <a:latin typeface="Cambria Math" panose="02040503050406030204" pitchFamily="18" charset="0"/>
                        <a:ea typeface="Cambria Math" panose="02040503050406030204" pitchFamily="18" charset="0"/>
                      </a:rPr>
                      <m:t>2,</m:t>
                    </m:r>
                    <m:rad>
                      <m:radPr>
                        <m:degHide m:val="on"/>
                        <m:ctrlPr>
                          <a:rPr lang="fr-FR" sz="2400" i="1" spc="-1" smtClean="0">
                            <a:solidFill>
                              <a:srgbClr val="376092"/>
                            </a:solidFill>
                            <a:latin typeface="Cambria Math" panose="02040503050406030204" pitchFamily="18" charset="0"/>
                            <a:ea typeface="Cambria Math" panose="02040503050406030204" pitchFamily="18" charset="0"/>
                          </a:rPr>
                        </m:ctrlPr>
                      </m:radPr>
                      <m:deg/>
                      <m:e>
                        <m:r>
                          <a:rPr lang="fr-FR" sz="2400" i="1" spc="-1">
                            <a:solidFill>
                              <a:srgbClr val="376092"/>
                            </a:solidFill>
                            <a:latin typeface="Cambria Math" panose="02040503050406030204" pitchFamily="18" charset="0"/>
                            <a:ea typeface="Cambria Math" panose="02040503050406030204" pitchFamily="18" charset="0"/>
                          </a:rPr>
                          <m:t>𝜎</m:t>
                        </m:r>
                        <m:r>
                          <a:rPr lang="fr-FR" sz="2400" i="1" spc="-1">
                            <a:solidFill>
                              <a:srgbClr val="376092"/>
                            </a:solidFill>
                            <a:latin typeface="Cambria Math" panose="02040503050406030204" pitchFamily="18" charset="0"/>
                            <a:ea typeface="Cambria Math" panose="02040503050406030204" pitchFamily="18" charset="0"/>
                          </a:rPr>
                          <m:t>1²+ </m:t>
                        </m:r>
                        <m:r>
                          <a:rPr lang="fr-FR" sz="2400" i="1" spc="-1">
                            <a:solidFill>
                              <a:srgbClr val="376092"/>
                            </a:solidFill>
                            <a:latin typeface="Cambria Math" panose="02040503050406030204" pitchFamily="18" charset="0"/>
                            <a:ea typeface="Cambria Math" panose="02040503050406030204" pitchFamily="18" charset="0"/>
                          </a:rPr>
                          <m:t>𝜎</m:t>
                        </m:r>
                        <m:r>
                          <a:rPr lang="fr-FR" sz="2400" i="1" spc="-1">
                            <a:solidFill>
                              <a:srgbClr val="376092"/>
                            </a:solidFill>
                            <a:latin typeface="Cambria Math" panose="02040503050406030204" pitchFamily="18" charset="0"/>
                            <a:ea typeface="Cambria Math" panose="02040503050406030204" pitchFamily="18" charset="0"/>
                          </a:rPr>
                          <m:t>2²</m:t>
                        </m:r>
                      </m:e>
                    </m:rad>
                    <m:r>
                      <a:rPr lang="fr-FR" sz="2400" i="1" spc="-1">
                        <a:solidFill>
                          <a:srgbClr val="376092"/>
                        </a:solidFill>
                        <a:latin typeface="Cambria Math" panose="02040503050406030204" pitchFamily="18" charset="0"/>
                        <a:ea typeface="Cambria Math" panose="02040503050406030204" pitchFamily="18" charset="0"/>
                      </a:rPr>
                      <m:t>).</m:t>
                    </m:r>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Considérons que dans notre entreprise X et Y suivent des lois normales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Donner les paramètres des deux lois normales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En déduire la loi normale suivie par X + Y</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pour qu'un dossier et une facture soient traitées en moins de 70 minutes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EF752F67-0372-372D-2363-D6CB4F16D415}"/>
                  </a:ext>
                </a:extLst>
              </p:cNvPr>
              <p:cNvSpPr txBox="1">
                <a:spLocks noRot="1" noChangeAspect="1" noMove="1" noResize="1" noEditPoints="1" noAdjustHandles="1" noChangeArrowheads="1" noChangeShapeType="1" noTextEdit="1"/>
              </p:cNvSpPr>
              <p:nvPr/>
            </p:nvSpPr>
            <p:spPr>
              <a:xfrm>
                <a:off x="457200" y="1417320"/>
                <a:ext cx="8229239" cy="4708440"/>
              </a:xfrm>
              <a:prstGeom prst="rect">
                <a:avLst/>
              </a:prstGeom>
              <a:blipFill>
                <a:blip r:embed="rId2"/>
                <a:stretch>
                  <a:fillRect t="-207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3748139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Théorème central limite : </a:t>
            </a:r>
            <a:endParaRPr lang="en-US" sz="3200" b="0" strike="noStrike" spc="-1" dirty="0">
              <a:solidFill>
                <a:srgbClr val="376092"/>
              </a:solidFill>
              <a:latin typeface="Arial"/>
            </a:endParaRPr>
          </a:p>
        </p:txBody>
      </p:sp>
      <p:sp>
        <p:nvSpPr>
          <p:cNvPr id="136" name="TextShape 2"/>
          <p:cNvSpPr txBox="1"/>
          <p:nvPr/>
        </p:nvSpPr>
        <p:spPr>
          <a:xfrm>
            <a:off x="457199" y="1482572"/>
            <a:ext cx="8229239" cy="4643188"/>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théorème central limite établit la convergence en loi de la somme d'une suite de variables aléatoires vers la loi normale.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suite de variables doit répondre à 2 critères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Les variables doivent venir de la même loi</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Elles doivent être indépendantes entre elles.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Cela permettrait de comprendre pourquoi la loi normale est omniprésente dans la nature.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s'agit en fait de l'addition de nombreux petits phénomènes aléatoire qui conduise à la représentation gaussienne.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192228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Théorème central limite par l'exemple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p:cNvSpPr txBox="1"/>
              <p:nvPr/>
            </p:nvSpPr>
            <p:spPr>
              <a:xfrm>
                <a:off x="457199" y="1482572"/>
                <a:ext cx="8229239" cy="4643188"/>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Supposons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variable X de départ a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une moyenne m</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un écart type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𝜎</m:t>
                    </m:r>
                  </m:oMath>
                </a14:m>
                <a:endParaRPr lang="fr-FR" sz="2400" spc="-1" dirty="0">
                  <a:solidFill>
                    <a:srgbClr val="376092"/>
                  </a:solidFill>
                  <a:latin typeface="Calibri"/>
                  <a:ea typeface="Cambria Math" panose="02040503050406030204" pitchFamily="18" charset="0"/>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On prélève un échantillon de taille n</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On calcule la moyenne de la variable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Selon le théorème central limite, la moyenne de la variable suis la loi normale N (m ; </a:t>
                </a:r>
                <a14:m>
                  <m:oMath xmlns:m="http://schemas.openxmlformats.org/officeDocument/2006/math">
                    <m:f>
                      <m:fPr>
                        <m:ctrlPr>
                          <a:rPr lang="fr-FR" sz="2400" spc="-1" smtClean="0">
                            <a:solidFill>
                              <a:srgbClr val="376092"/>
                            </a:solidFill>
                            <a:latin typeface="Cambria Math" panose="02040503050406030204" pitchFamily="18" charset="0"/>
                          </a:rPr>
                        </m:ctrlPr>
                      </m:fPr>
                      <m:num>
                        <m:r>
                          <a:rPr lang="fr-FR" sz="2400" i="1" spc="-1" smtClean="0">
                            <a:solidFill>
                              <a:srgbClr val="376092"/>
                            </a:solidFill>
                            <a:latin typeface="Cambria Math" panose="02040503050406030204" pitchFamily="18" charset="0"/>
                          </a:rPr>
                          <m:t>𝜎</m:t>
                        </m:r>
                      </m:num>
                      <m:den>
                        <m:rad>
                          <m:radPr>
                            <m:degHide m:val="on"/>
                            <m:ctrlPr>
                              <a:rPr lang="fr-FR" sz="2400" i="1" spc="-1" smtClean="0">
                                <a:solidFill>
                                  <a:srgbClr val="376092"/>
                                </a:solidFill>
                                <a:latin typeface="Cambria Math" panose="02040503050406030204" pitchFamily="18" charset="0"/>
                              </a:rPr>
                            </m:ctrlPr>
                          </m:radPr>
                          <m:deg/>
                          <m:e>
                            <m:r>
                              <a:rPr lang="fr-FR" sz="2400" i="1" spc="-1" smtClean="0">
                                <a:solidFill>
                                  <a:srgbClr val="376092"/>
                                </a:solidFill>
                                <a:latin typeface="Cambria Math" panose="02040503050406030204" pitchFamily="18" charset="0"/>
                              </a:rPr>
                              <m:t>𝑛</m:t>
                            </m:r>
                          </m:e>
                        </m:rad>
                      </m:den>
                    </m:f>
                  </m:oMath>
                </a14:m>
                <a:r>
                  <a:rPr lang="fr-FR" sz="2400" spc="-1" dirty="0">
                    <a:solidFill>
                      <a:srgbClr val="376092"/>
                    </a:solidFill>
                    <a:latin typeface="Calibri"/>
                  </a:rPr>
                  <a:t>)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p:sp>
            <p:nvSpPr>
              <p:cNvPr id="136" name="TextShape 2"/>
              <p:cNvSpPr txBox="1">
                <a:spLocks noRot="1" noChangeAspect="1" noMove="1" noResize="1" noEditPoints="1" noAdjustHandles="1" noChangeArrowheads="1" noChangeShapeType="1" noTextEdit="1"/>
              </p:cNvSpPr>
              <p:nvPr/>
            </p:nvSpPr>
            <p:spPr>
              <a:xfrm>
                <a:off x="457199" y="1482572"/>
                <a:ext cx="8229239" cy="4643188"/>
              </a:xfrm>
              <a:prstGeom prst="rect">
                <a:avLst/>
              </a:prstGeom>
              <a:blipFill>
                <a:blip r:embed="rId2"/>
                <a:stretch>
                  <a:fillRect t="-1969" r="-2000"/>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221498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B377-0702-99F7-FDBD-28422E3037E8}"/>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7763B48-0E1C-A42E-D990-38198318D90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Théorème central limite par l'exemple :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a:extLst>
                  <a:ext uri="{FF2B5EF4-FFF2-40B4-BE49-F238E27FC236}">
                    <a16:creationId xmlns:a16="http://schemas.microsoft.com/office/drawing/2014/main" id="{86D40440-66E7-5851-B1B9-946C7E989AD8}"/>
                  </a:ext>
                </a:extLst>
              </p:cNvPr>
              <p:cNvSpPr txBox="1"/>
              <p:nvPr/>
            </p:nvSpPr>
            <p:spPr>
              <a:xfrm>
                <a:off x="457199" y="1482572"/>
                <a:ext cx="8229239" cy="4643188"/>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entreprise produit des pièces dont la masse moyenne est de 500g, avec un écart type de 10g. On prélève 100 pièces et on calcule la masse moyenne.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Moyenne = 500g</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Ecart-type = </a:t>
                </a:r>
                <a14:m>
                  <m:oMath xmlns:m="http://schemas.openxmlformats.org/officeDocument/2006/math">
                    <m:f>
                      <m:fPr>
                        <m:ctrlPr>
                          <a:rPr lang="fr-FR" sz="2400" spc="-1" dirty="0" smtClean="0">
                            <a:solidFill>
                              <a:srgbClr val="376092"/>
                            </a:solidFill>
                            <a:latin typeface="Cambria Math" panose="02040503050406030204" pitchFamily="18" charset="0"/>
                          </a:rPr>
                        </m:ctrlPr>
                      </m:fPr>
                      <m:num>
                        <m:r>
                          <a:rPr lang="fr-FR" sz="2400" spc="-1" dirty="0">
                            <a:solidFill>
                              <a:srgbClr val="376092"/>
                            </a:solidFill>
                            <a:latin typeface="Cambria Math" panose="02040503050406030204" pitchFamily="18" charset="0"/>
                          </a:rPr>
                          <m:t>10</m:t>
                        </m:r>
                      </m:num>
                      <m:den>
                        <m:rad>
                          <m:radPr>
                            <m:degHide m:val="on"/>
                            <m:ctrlPr>
                              <a:rPr lang="fr-FR" sz="2400" i="1" spc="-1" dirty="0">
                                <a:solidFill>
                                  <a:srgbClr val="376092"/>
                                </a:solidFill>
                                <a:latin typeface="Cambria Math" panose="02040503050406030204" pitchFamily="18" charset="0"/>
                              </a:rPr>
                            </m:ctrlPr>
                          </m:radPr>
                          <m:deg/>
                          <m:e>
                            <m:r>
                              <a:rPr lang="fr-FR" sz="2400" i="0" spc="-1" dirty="0">
                                <a:solidFill>
                                  <a:srgbClr val="376092"/>
                                </a:solidFill>
                                <a:latin typeface="Cambria Math" panose="02040503050406030204" pitchFamily="18" charset="0"/>
                              </a:rPr>
                              <m:t>100</m:t>
                            </m:r>
                          </m:e>
                        </m:rad>
                      </m:den>
                    </m:f>
                  </m:oMath>
                </a14:m>
                <a:r>
                  <a:rPr lang="fr-FR" sz="2400" spc="-1" dirty="0">
                    <a:solidFill>
                      <a:srgbClr val="376092"/>
                    </a:solidFill>
                    <a:latin typeface="Calibri"/>
                  </a:rPr>
                  <a:t> = 1</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moyenne suit donc la loi : N (500;1)</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Simulons dans un tableur le jeté aléatoire de 2 deux, faisons la somme et voyons que si nous répétons l'opération, nous arrivons sur une </a:t>
                </a:r>
                <a:r>
                  <a:rPr lang="fr-FR" sz="2400" spc="-1">
                    <a:solidFill>
                      <a:srgbClr val="376092"/>
                    </a:solidFill>
                    <a:latin typeface="Calibri"/>
                  </a:rPr>
                  <a:t>loi normale.</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p:sp>
            <p:nvSpPr>
              <p:cNvPr id="136" name="TextShape 2">
                <a:extLst>
                  <a:ext uri="{FF2B5EF4-FFF2-40B4-BE49-F238E27FC236}">
                    <a16:creationId xmlns:a16="http://schemas.microsoft.com/office/drawing/2014/main" id="{86D40440-66E7-5851-B1B9-946C7E989AD8}"/>
                  </a:ext>
                </a:extLst>
              </p:cNvPr>
              <p:cNvSpPr txBox="1">
                <a:spLocks noRot="1" noChangeAspect="1" noMove="1" noResize="1" noEditPoints="1" noAdjustHandles="1" noChangeArrowheads="1" noChangeShapeType="1" noTextEdit="1"/>
              </p:cNvSpPr>
              <p:nvPr/>
            </p:nvSpPr>
            <p:spPr>
              <a:xfrm>
                <a:off x="457199" y="1482572"/>
                <a:ext cx="8229239" cy="4643188"/>
              </a:xfrm>
              <a:prstGeom prst="rect">
                <a:avLst/>
              </a:prstGeom>
              <a:blipFill>
                <a:blip r:embed="rId2"/>
                <a:stretch>
                  <a:fillRect t="-1969" r="-133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3125502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7772</TotalTime>
  <Words>2748</Words>
  <Application>Microsoft Office PowerPoint</Application>
  <PresentationFormat>Affichage à l'écran (4:3)</PresentationFormat>
  <Paragraphs>384</Paragraphs>
  <Slides>30</Slides>
  <Notes>0</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30</vt:i4>
      </vt:variant>
    </vt:vector>
  </HeadingPairs>
  <TitlesOfParts>
    <vt:vector size="39" baseType="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321</cp:revision>
  <dcterms:created xsi:type="dcterms:W3CDTF">2012-01-17T22:15:29Z</dcterms:created>
  <dcterms:modified xsi:type="dcterms:W3CDTF">2026-01-30T07:24:13Z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