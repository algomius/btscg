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1" r:id="rId2"/>
    <p:sldMasterId id="2147483674" r:id="rId3"/>
  </p:sldMasterIdLst>
  <p:notesMasterIdLst>
    <p:notesMasterId r:id="rId18"/>
  </p:notesMasterIdLst>
  <p:sldIdLst>
    <p:sldId id="256" r:id="rId4"/>
    <p:sldId id="343" r:id="rId5"/>
    <p:sldId id="376" r:id="rId6"/>
    <p:sldId id="377" r:id="rId7"/>
    <p:sldId id="378" r:id="rId8"/>
    <p:sldId id="379" r:id="rId9"/>
    <p:sldId id="380" r:id="rId10"/>
    <p:sldId id="381" r:id="rId11"/>
    <p:sldId id="382" r:id="rId12"/>
    <p:sldId id="383" r:id="rId13"/>
    <p:sldId id="384" r:id="rId14"/>
    <p:sldId id="385" r:id="rId15"/>
    <p:sldId id="386" r:id="rId16"/>
    <p:sldId id="281" r:id="rId17"/>
  </p:sldIdLst>
  <p:sldSz cx="9144000" cy="6858000" type="screen4x3"/>
  <p:notesSz cx="7559675" cy="106918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Style moyen 4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712" autoAdjust="0"/>
  </p:normalViewPr>
  <p:slideViewPr>
    <p:cSldViewPr snapToGrid="0">
      <p:cViewPr varScale="1">
        <p:scale>
          <a:sx n="156" d="100"/>
          <a:sy n="156" d="100"/>
        </p:scale>
        <p:origin x="1944" y="150"/>
      </p:cViewPr>
      <p:guideLst/>
    </p:cSldViewPr>
  </p:slideViewPr>
  <p:outlineViewPr>
    <p:cViewPr>
      <p:scale>
        <a:sx n="33" d="100"/>
        <a:sy n="33" d="100"/>
      </p:scale>
      <p:origin x="0" y="-39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4D7BB345-1F45-4209-89C2-CEF6D1D81871}" type="datetimeFigureOut">
              <a:rPr lang="fr-FR" smtClean="0"/>
              <a:t>30/01/2026</a:t>
            </a:fld>
            <a:endParaRPr lang="fr-FR"/>
          </a:p>
        </p:txBody>
      </p:sp>
      <p:sp>
        <p:nvSpPr>
          <p:cNvPr id="4" name="Espace réservé de l'image des diapositives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16184EC8-970E-422B-BC5C-6A62245DC653}" type="slidenum">
              <a:rPr lang="fr-FR" smtClean="0"/>
              <a:t>‹N°›</a:t>
            </a:fld>
            <a:endParaRPr lang="fr-FR"/>
          </a:p>
        </p:txBody>
      </p:sp>
    </p:spTree>
    <p:extLst>
      <p:ext uri="{BB962C8B-B14F-4D97-AF65-F5344CB8AC3E}">
        <p14:creationId xmlns:p14="http://schemas.microsoft.com/office/powerpoint/2010/main" val="1169127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8"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9"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4"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5"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7"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8"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9"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1"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3"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5"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6"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8"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9"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0"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1"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33"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4"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5"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6"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7"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8"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6"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8"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0"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1"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3"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6"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7"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9"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0"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1"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4"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5"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7"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8"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0"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1"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2"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3"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5"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6"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7"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8"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9"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80"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98"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0"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2"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3"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5"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7"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8"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9"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1"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3"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6"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7"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9"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0"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2"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3"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4"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5"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7"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8"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9"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0"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1"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2"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18" Type="http://schemas.openxmlformats.org/officeDocument/2006/relationships/image" Target="../media/image3.pn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hyperlink" Target="http://www.showeet.com/terms-of-use/" TargetMode="External"/><Relationship Id="rId2" Type="http://schemas.openxmlformats.org/officeDocument/2006/relationships/slideLayout" Target="../slideLayouts/slideLayout26.xml"/><Relationship Id="rId16" Type="http://schemas.openxmlformats.org/officeDocument/2006/relationships/hyperlink" Target="http://www.showeet.com/" TargetMode="Externa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2.png"/><Relationship Id="rId10" Type="http://schemas.openxmlformats.org/officeDocument/2006/relationships/slideLayout" Target="../slideLayouts/slideLayout34.xml"/><Relationship Id="rId19" Type="http://schemas.openxmlformats.org/officeDocument/2006/relationships/image" Target="../media/image4.emf"/><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hyperlink" Target="http://creativecommons.org/licenses/by-nd/3.0/"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PlaceHolder 1"/>
          <p:cNvSpPr>
            <a:spLocks noGrp="1"/>
          </p:cNvSpPr>
          <p:nvPr>
            <p:ph type="title"/>
          </p:nvPr>
        </p:nvSpPr>
        <p:spPr>
          <a:xfrm>
            <a:off x="1043640" y="4149000"/>
            <a:ext cx="7772040" cy="1469520"/>
          </a:xfrm>
          <a:prstGeom prst="rect">
            <a:avLst/>
          </a:prstGeom>
        </p:spPr>
        <p:txBody>
          <a:bodyPr lIns="90000" tIns="45000" rIns="90000" bIns="45000">
            <a:noAutofit/>
          </a:bodyPr>
          <a:lstStyle/>
          <a:p>
            <a:pPr algn="ctr"/>
            <a:r>
              <a:rPr lang="en-US" sz="4400" b="0" strike="noStrike" spc="-1">
                <a:solidFill>
                  <a:srgbClr val="490A3D"/>
                </a:solidFill>
                <a:latin typeface="Arial"/>
                <a:ea typeface="Arial"/>
              </a:rPr>
              <a:t>Click to edit the title text format</a:t>
            </a:r>
            <a:endParaRPr lang="en-US" sz="4400" b="0" strike="noStrike" spc="-1">
              <a:solidFill>
                <a:srgbClr val="376092"/>
              </a:solidFill>
              <a:latin typeface="Arial"/>
            </a:endParaRPr>
          </a:p>
        </p:txBody>
      </p:sp>
      <p:sp>
        <p:nvSpPr>
          <p:cNvPr id="4" name="PlaceHolder 2"/>
          <p:cNvSpPr>
            <a:spLocks noGrp="1"/>
          </p:cNvSpPr>
          <p:nvPr>
            <p:ph type="body"/>
          </p:nvPr>
        </p:nvSpPr>
        <p:spPr>
          <a:xfrm>
            <a:off x="1043640" y="5733360"/>
            <a:ext cx="7772040" cy="923760"/>
          </a:xfrm>
          <a:prstGeom prst="rect">
            <a:avLst/>
          </a:prstGeom>
        </p:spPr>
        <p:txBody>
          <a:bodyPr lIns="90000" tIns="45000" rIns="90000" bIns="45000">
            <a:noAutofit/>
          </a:bodyPr>
          <a:lstStyle/>
          <a:p>
            <a:pPr marL="432000" indent="-324000" algn="r">
              <a:spcAft>
                <a:spcPts val="1060"/>
              </a:spcAft>
              <a:buClr>
                <a:srgbClr val="000000"/>
              </a:buClr>
              <a:buSzPct val="45000"/>
              <a:buFont typeface="Wingdings" charset="2"/>
              <a:buChar char=""/>
            </a:pPr>
            <a:r>
              <a:rPr lang="en-US" sz="2400" b="0" strike="noStrike" spc="-1">
                <a:solidFill>
                  <a:srgbClr val="808080"/>
                </a:solidFill>
                <a:latin typeface="Arial"/>
                <a:ea typeface="Arial"/>
              </a:rPr>
              <a:t>Click to edit the outline text format</a:t>
            </a:r>
            <a:endParaRPr lang="en-US" sz="2400" b="0" strike="noStrike" spc="-1">
              <a:solidFill>
                <a:srgbClr val="999999"/>
              </a:solidFill>
              <a:latin typeface="Arial"/>
            </a:endParaRPr>
          </a:p>
          <a:p>
            <a:pPr marL="864000" lvl="1" indent="-324000" algn="r">
              <a:spcAft>
                <a:spcPts val="1134"/>
              </a:spcAft>
              <a:buClr>
                <a:srgbClr val="000000"/>
              </a:buClr>
              <a:buSzPct val="45000"/>
              <a:buFont typeface="Wingdings" charset="2"/>
              <a:buChar char=""/>
            </a:pPr>
            <a:r>
              <a:rPr lang="en-US" sz="2400" b="0" strike="noStrike" spc="-1">
                <a:solidFill>
                  <a:srgbClr val="808080"/>
                </a:solidFill>
                <a:latin typeface="Arial"/>
                <a:ea typeface="Arial"/>
              </a:rPr>
              <a:t>Second Outline Level</a:t>
            </a:r>
            <a:endParaRPr lang="en-US" sz="2400" b="0" strike="noStrike" spc="-1">
              <a:solidFill>
                <a:srgbClr val="999999"/>
              </a:solidFill>
              <a:latin typeface="Calibri"/>
            </a:endParaRPr>
          </a:p>
          <a:p>
            <a:pPr marL="1296000" lvl="2" indent="-288000" algn="r">
              <a:spcAft>
                <a:spcPts val="850"/>
              </a:spcAft>
              <a:buClr>
                <a:srgbClr val="000000"/>
              </a:buClr>
              <a:buSzPct val="75000"/>
              <a:buFont typeface="Symbol" charset="2"/>
              <a:buChar char=""/>
            </a:pPr>
            <a:r>
              <a:rPr lang="en-US" sz="2400" b="0" strike="noStrike" spc="-1">
                <a:solidFill>
                  <a:srgbClr val="808080"/>
                </a:solidFill>
                <a:latin typeface="Arial"/>
                <a:ea typeface="Arial"/>
              </a:rPr>
              <a:t>Third Outline Level</a:t>
            </a:r>
            <a:endParaRPr lang="en-US" sz="2400" b="0" strike="noStrike" spc="-1">
              <a:solidFill>
                <a:srgbClr val="999999"/>
              </a:solidFill>
              <a:latin typeface="Calibri"/>
            </a:endParaRPr>
          </a:p>
          <a:p>
            <a:pPr marL="1728000" lvl="3" indent="-216000" algn="r">
              <a:spcAft>
                <a:spcPts val="567"/>
              </a:spcAft>
              <a:buClr>
                <a:srgbClr val="000000"/>
              </a:buClr>
              <a:buSzPct val="45000"/>
              <a:buFont typeface="Wingdings" charset="2"/>
              <a:buChar char=""/>
            </a:pPr>
            <a:r>
              <a:rPr lang="en-US" sz="2400" b="0" strike="noStrike" spc="-1">
                <a:solidFill>
                  <a:srgbClr val="808080"/>
                </a:solidFill>
                <a:latin typeface="Arial"/>
                <a:ea typeface="Arial"/>
              </a:rPr>
              <a:t>Fourth Outline Level</a:t>
            </a:r>
            <a:endParaRPr lang="en-US" sz="2400" b="0" strike="noStrike" spc="-1">
              <a:solidFill>
                <a:srgbClr val="999999"/>
              </a:solidFill>
              <a:latin typeface="Calibri"/>
            </a:endParaRPr>
          </a:p>
          <a:p>
            <a:pPr marL="2160000" lvl="4" indent="-216000" algn="r">
              <a:spcAft>
                <a:spcPts val="283"/>
              </a:spcAft>
              <a:buClr>
                <a:srgbClr val="000000"/>
              </a:buClr>
              <a:buSzPct val="75000"/>
              <a:buFont typeface="Symbol" charset="2"/>
              <a:buChar char=""/>
            </a:pPr>
            <a:r>
              <a:rPr lang="en-US" sz="2400" b="0" strike="noStrike" spc="-1">
                <a:solidFill>
                  <a:srgbClr val="808080"/>
                </a:solidFill>
                <a:latin typeface="Arial"/>
                <a:ea typeface="Arial"/>
              </a:rPr>
              <a:t>Fifth Outline Level</a:t>
            </a:r>
            <a:endParaRPr lang="en-US" sz="2400" b="0" strike="noStrike" spc="-1">
              <a:solidFill>
                <a:srgbClr val="999999"/>
              </a:solidFill>
              <a:latin typeface="Calibri"/>
            </a:endParaRPr>
          </a:p>
          <a:p>
            <a:pPr marL="2592000" lvl="5"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Sixth Outline Level</a:t>
            </a:r>
            <a:endParaRPr lang="en-US" sz="2400" b="0" strike="noStrike" spc="-1">
              <a:solidFill>
                <a:srgbClr val="999999"/>
              </a:solidFill>
              <a:latin typeface="Calibri"/>
            </a:endParaRPr>
          </a:p>
          <a:p>
            <a:pPr marL="3024000" lvl="6"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Seventh Outline Level</a:t>
            </a:r>
            <a:endParaRPr lang="en-US" sz="2400" b="0" strike="noStrike" spc="-1">
              <a:solidFill>
                <a:srgbClr val="999999"/>
              </a:solidFill>
              <a:latin typeface="Calibri"/>
            </a:endParaRPr>
          </a:p>
          <a:p>
            <a:pPr marL="3456000" lvl="7"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Eighth Outline Level</a:t>
            </a:r>
            <a:endParaRPr lang="en-US" sz="2400" b="0" strike="noStrike" spc="-1">
              <a:solidFill>
                <a:srgbClr val="999999"/>
              </a:solidFill>
              <a:latin typeface="Calibri"/>
            </a:endParaRPr>
          </a:p>
          <a:p>
            <a:pPr marL="3888000" lvl="8"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Ninth Outline LevelClick to edit Master subtitle style</a:t>
            </a:r>
            <a:endParaRPr lang="en-US" sz="2400" b="0" strike="noStrike" spc="-1">
              <a:solidFill>
                <a:srgbClr val="999999"/>
              </a:solidFill>
              <a:latin typeface="Calibri"/>
            </a:endParaRPr>
          </a:p>
        </p:txBody>
      </p:sp>
      <p:pic>
        <p:nvPicPr>
          <p:cNvPr id="2" name="Picture 2"/>
          <p:cNvPicPr/>
          <p:nvPr/>
        </p:nvPicPr>
        <p:blipFill>
          <a:blip r:embed="rId14"/>
          <a:stretch/>
        </p:blipFill>
        <p:spPr>
          <a:xfrm>
            <a:off x="-420840" y="-143640"/>
            <a:ext cx="9984960" cy="405396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680"/>
            <a:ext cx="8229240" cy="1142640"/>
          </a:xfrm>
          <a:prstGeom prst="rect">
            <a:avLst/>
          </a:prstGeom>
        </p:spPr>
        <p:txBody>
          <a:bodyPr lIns="90000" tIns="45000" rIns="90000" bIns="45000">
            <a:noAutofit/>
          </a:bodyPr>
          <a:lstStyle/>
          <a:p>
            <a:pPr algn="ctr"/>
            <a:r>
              <a:rPr lang="en-US" sz="3200" b="1" strike="noStrike" spc="-1">
                <a:solidFill>
                  <a:srgbClr val="490A3D"/>
                </a:solidFill>
                <a:latin typeface="Arial"/>
                <a:ea typeface="Arial"/>
              </a:rPr>
              <a:t>Click to edit the title text format</a:t>
            </a:r>
            <a:endParaRPr lang="en-US" sz="3200" b="0" strike="noStrike" spc="-1">
              <a:solidFill>
                <a:srgbClr val="376092"/>
              </a:solidFill>
              <a:latin typeface="Arial"/>
            </a:endParaRPr>
          </a:p>
        </p:txBody>
      </p:sp>
      <p:sp>
        <p:nvSpPr>
          <p:cNvPr id="40" name="PlaceHolder 2"/>
          <p:cNvSpPr>
            <a:spLocks noGrp="1"/>
          </p:cNvSpPr>
          <p:nvPr>
            <p:ph type="body"/>
          </p:nvPr>
        </p:nvSpPr>
        <p:spPr>
          <a:xfrm>
            <a:off x="457200" y="1600200"/>
            <a:ext cx="8229240" cy="4525560"/>
          </a:xfrm>
          <a:prstGeom prst="rect">
            <a:avLst/>
          </a:prstGeom>
        </p:spPr>
        <p:txBody>
          <a:bodyPr lIns="90000" tIns="45000" rIns="90000" bIns="45000">
            <a:noAutofit/>
          </a:bodyPr>
          <a:lstStyle/>
          <a:p>
            <a:pPr marL="432000" indent="-324000">
              <a:spcAft>
                <a:spcPts val="1060"/>
              </a:spcAft>
              <a:buClr>
                <a:srgbClr val="000000"/>
              </a:buClr>
              <a:buSzPct val="45000"/>
              <a:buFont typeface="Wingdings" charset="2"/>
              <a:buChar char=""/>
            </a:pPr>
            <a:r>
              <a:rPr lang="en-US" sz="2400" b="0" strike="noStrike" spc="-1">
                <a:solidFill>
                  <a:srgbClr val="490A3D"/>
                </a:solidFill>
                <a:latin typeface="Arial"/>
                <a:ea typeface="Arial"/>
              </a:rPr>
              <a:t>Click to edit the outline text format</a:t>
            </a:r>
            <a:endParaRPr lang="en-US" sz="2400" b="0" strike="noStrike" spc="-1">
              <a:solidFill>
                <a:srgbClr val="376092"/>
              </a:solidFill>
              <a:latin typeface="Arial"/>
            </a:endParaRPr>
          </a:p>
          <a:p>
            <a:pPr marL="864000" lvl="1" indent="-324000">
              <a:spcAft>
                <a:spcPts val="1134"/>
              </a:spcAft>
              <a:buClr>
                <a:srgbClr val="000000"/>
              </a:buClr>
              <a:buSzPct val="45000"/>
              <a:buFont typeface="Wingdings" charset="2"/>
              <a:buChar char=""/>
            </a:pPr>
            <a:r>
              <a:rPr lang="en-US" sz="2200" b="0" strike="noStrike" spc="-1">
                <a:solidFill>
                  <a:srgbClr val="490A3D"/>
                </a:solidFill>
                <a:latin typeface="Arial"/>
                <a:ea typeface="Arial"/>
              </a:rPr>
              <a:t>Second Outline Level</a:t>
            </a:r>
            <a:endParaRPr lang="en-US" sz="2200" b="0" strike="noStrike" spc="-1">
              <a:solidFill>
                <a:srgbClr val="376092"/>
              </a:solidFill>
              <a:latin typeface="Calibri"/>
            </a:endParaRPr>
          </a:p>
          <a:p>
            <a:pPr marL="1296000" lvl="2" indent="-288000">
              <a:spcAft>
                <a:spcPts val="850"/>
              </a:spcAft>
              <a:buClr>
                <a:srgbClr val="000000"/>
              </a:buClr>
              <a:buSzPct val="75000"/>
              <a:buFont typeface="Symbol" charset="2"/>
              <a:buChar char=""/>
            </a:pPr>
            <a:r>
              <a:rPr lang="en-US" sz="2000" b="0" strike="noStrike" spc="-1">
                <a:solidFill>
                  <a:srgbClr val="490A3D"/>
                </a:solidFill>
                <a:latin typeface="Arial"/>
                <a:ea typeface="Arial"/>
              </a:rPr>
              <a:t>Third Outline Level</a:t>
            </a:r>
            <a:endParaRPr lang="en-US" sz="2000" b="0" strike="noStrike" spc="-1">
              <a:solidFill>
                <a:srgbClr val="376092"/>
              </a:solidFill>
              <a:latin typeface="Calibri"/>
            </a:endParaRPr>
          </a:p>
          <a:p>
            <a:pPr marL="1728000" lvl="3" indent="-216000">
              <a:spcAft>
                <a:spcPts val="567"/>
              </a:spcAft>
              <a:buClr>
                <a:srgbClr val="000000"/>
              </a:buClr>
              <a:buSzPct val="45000"/>
              <a:buFont typeface="Wingdings" charset="2"/>
              <a:buChar char=""/>
            </a:pPr>
            <a:r>
              <a:rPr lang="en-US" sz="1800" b="0" strike="noStrike" spc="-1">
                <a:solidFill>
                  <a:srgbClr val="490A3D"/>
                </a:solidFill>
                <a:latin typeface="Arial"/>
                <a:ea typeface="Arial"/>
              </a:rPr>
              <a:t>Fourth Outline Level</a:t>
            </a:r>
            <a:endParaRPr lang="en-US" sz="1800" b="0" strike="noStrike" spc="-1">
              <a:solidFill>
                <a:srgbClr val="376092"/>
              </a:solidFill>
              <a:latin typeface="Calibri"/>
            </a:endParaRPr>
          </a:p>
          <a:p>
            <a:pPr marL="2160000" lvl="4" indent="-216000">
              <a:spcAft>
                <a:spcPts val="283"/>
              </a:spcAft>
              <a:buClr>
                <a:srgbClr val="000000"/>
              </a:buClr>
              <a:buSzPct val="75000"/>
              <a:buFont typeface="Symbol" charset="2"/>
              <a:buChar char=""/>
            </a:pPr>
            <a:r>
              <a:rPr lang="en-US" sz="1600" b="0" strike="noStrike" spc="-1">
                <a:solidFill>
                  <a:srgbClr val="490A3D"/>
                </a:solidFill>
                <a:latin typeface="Arial"/>
                <a:ea typeface="Arial"/>
              </a:rPr>
              <a:t>Fifth Outline Level</a:t>
            </a:r>
            <a:endParaRPr lang="en-US" sz="1600" b="0" strike="noStrike" spc="-1">
              <a:solidFill>
                <a:srgbClr val="376092"/>
              </a:solidFill>
              <a:latin typeface="Calibri"/>
            </a:endParaRPr>
          </a:p>
          <a:p>
            <a:pPr marL="2592000" lvl="5" indent="-216000">
              <a:spcAft>
                <a:spcPts val="283"/>
              </a:spcAft>
              <a:buClr>
                <a:srgbClr val="000000"/>
              </a:buClr>
              <a:buSzPct val="45000"/>
              <a:buFont typeface="Wingdings" charset="2"/>
              <a:buChar char=""/>
            </a:pPr>
            <a:r>
              <a:rPr lang="en-US" sz="1500" b="0" strike="noStrike" spc="-1">
                <a:solidFill>
                  <a:srgbClr val="490A3D"/>
                </a:solidFill>
                <a:latin typeface="Arial"/>
                <a:ea typeface="Arial"/>
              </a:rPr>
              <a:t>Sixth Outline Level</a:t>
            </a:r>
            <a:endParaRPr lang="en-US" sz="1500" b="0" strike="noStrike" spc="-1">
              <a:solidFill>
                <a:srgbClr val="376092"/>
              </a:solidFill>
              <a:latin typeface="Calibri"/>
            </a:endParaRPr>
          </a:p>
          <a:p>
            <a:pPr marL="3024000" lvl="6" indent="-216000">
              <a:spcAft>
                <a:spcPts val="283"/>
              </a:spcAft>
              <a:buClr>
                <a:srgbClr val="000000"/>
              </a:buClr>
              <a:buSzPct val="45000"/>
              <a:buFont typeface="Wingdings" charset="2"/>
              <a:buChar char=""/>
            </a:pPr>
            <a:r>
              <a:rPr lang="en-US" sz="1400" b="0" strike="noStrike" spc="-1">
                <a:solidFill>
                  <a:srgbClr val="490A3D"/>
                </a:solidFill>
                <a:latin typeface="Arial"/>
                <a:ea typeface="Arial"/>
              </a:rPr>
              <a:t>Seventh Outline Level</a:t>
            </a:r>
            <a:endParaRPr lang="en-US" sz="1400" b="0" strike="noStrike" spc="-1">
              <a:solidFill>
                <a:srgbClr val="376092"/>
              </a:solidFill>
              <a:latin typeface="Calibri"/>
            </a:endParaRPr>
          </a:p>
          <a:p>
            <a:pPr marL="3456000" lvl="7" indent="-216000">
              <a:spcAft>
                <a:spcPts val="283"/>
              </a:spcAft>
              <a:buClr>
                <a:srgbClr val="000000"/>
              </a:buClr>
              <a:buSzPct val="45000"/>
              <a:buFont typeface="Wingdings" charset="2"/>
              <a:buChar char=""/>
            </a:pPr>
            <a:r>
              <a:rPr lang="en-US" sz="1300" b="0" strike="noStrike" spc="-1">
                <a:solidFill>
                  <a:srgbClr val="490A3D"/>
                </a:solidFill>
                <a:latin typeface="Arial"/>
                <a:ea typeface="Arial"/>
              </a:rPr>
              <a:t>Eighth Outline Level</a:t>
            </a:r>
            <a:endParaRPr lang="en-US" sz="1300" b="0" strike="noStrike" spc="-1">
              <a:solidFill>
                <a:srgbClr val="376092"/>
              </a:solidFill>
              <a:latin typeface="Calibri"/>
            </a:endParaRPr>
          </a:p>
          <a:p>
            <a:pPr marL="3888000" lvl="8" indent="-216000">
              <a:spcAft>
                <a:spcPts val="283"/>
              </a:spcAft>
              <a:buClr>
                <a:srgbClr val="000000"/>
              </a:buClr>
              <a:buSzPct val="45000"/>
              <a:buFont typeface="Wingdings" charset="2"/>
              <a:buChar char=""/>
            </a:pPr>
            <a:r>
              <a:rPr lang="en-US" sz="1200" b="0" strike="noStrike" spc="-1">
                <a:solidFill>
                  <a:srgbClr val="490A3D"/>
                </a:solidFill>
                <a:latin typeface="Arial"/>
                <a:ea typeface="Arial"/>
              </a:rPr>
              <a:t>Ninth Outline Level</a:t>
            </a:r>
            <a:endParaRPr lang="en-US" sz="1200" b="0" strike="noStrike" spc="-1">
              <a:solidFill>
                <a:srgbClr val="376092"/>
              </a:solidFill>
              <a:latin typeface="Calibri"/>
            </a:endParaRPr>
          </a:p>
        </p:txBody>
      </p:sp>
      <p:sp>
        <p:nvSpPr>
          <p:cNvPr id="41" name="PlaceHolder 3"/>
          <p:cNvSpPr>
            <a:spLocks noGrp="1"/>
          </p:cNvSpPr>
          <p:nvPr>
            <p:ph type="dt"/>
          </p:nvPr>
        </p:nvSpPr>
        <p:spPr>
          <a:xfrm>
            <a:off x="457200" y="6356520"/>
            <a:ext cx="2133360" cy="364680"/>
          </a:xfrm>
          <a:prstGeom prst="rect">
            <a:avLst/>
          </a:prstGeom>
        </p:spPr>
        <p:txBody>
          <a:bodyPr lIns="90000" tIns="45000" rIns="90000" bIns="45000">
            <a:noAutofit/>
          </a:bodyPr>
          <a:lstStyle/>
          <a:p>
            <a:endParaRPr lang="fr-FR" sz="1200" b="0" strike="noStrike" spc="-1">
              <a:latin typeface="Times New Roman"/>
            </a:endParaRPr>
          </a:p>
        </p:txBody>
      </p:sp>
      <p:sp>
        <p:nvSpPr>
          <p:cNvPr id="42" name="PlaceHolder 4"/>
          <p:cNvSpPr>
            <a:spLocks noGrp="1"/>
          </p:cNvSpPr>
          <p:nvPr>
            <p:ph type="ftr"/>
          </p:nvPr>
        </p:nvSpPr>
        <p:spPr>
          <a:xfrm>
            <a:off x="3124080" y="6356520"/>
            <a:ext cx="2895120" cy="364680"/>
          </a:xfrm>
          <a:prstGeom prst="rect">
            <a:avLst/>
          </a:prstGeom>
        </p:spPr>
        <p:txBody>
          <a:bodyPr lIns="90000" tIns="45000" rIns="90000" bIns="45000">
            <a:noAutofit/>
          </a:bodyPr>
          <a:lstStyle/>
          <a:p>
            <a:pPr algn="ctr"/>
            <a:endParaRPr lang="fr-FR" sz="1200" b="0" strike="noStrike" spc="-1">
              <a:solidFill>
                <a:srgbClr val="B3B3B3"/>
              </a:solidFill>
              <a:latin typeface="Arial"/>
            </a:endParaRPr>
          </a:p>
        </p:txBody>
      </p:sp>
      <p:sp>
        <p:nvSpPr>
          <p:cNvPr id="43" name="PlaceHolder 5"/>
          <p:cNvSpPr>
            <a:spLocks noGrp="1"/>
          </p:cNvSpPr>
          <p:nvPr>
            <p:ph type="sldNum"/>
          </p:nvPr>
        </p:nvSpPr>
        <p:spPr>
          <a:xfrm>
            <a:off x="6553080" y="6356520"/>
            <a:ext cx="2133360" cy="364680"/>
          </a:xfrm>
          <a:prstGeom prst="rect">
            <a:avLst/>
          </a:prstGeom>
        </p:spPr>
        <p:txBody>
          <a:bodyPr lIns="90000" tIns="45000" rIns="90000" bIns="45000">
            <a:noAutofit/>
          </a:bodyPr>
          <a:lstStyle/>
          <a:p>
            <a:pPr algn="r"/>
            <a:fld id="{A5C73E94-B7FC-4C8D-BFA3-E33D91AB40A9}" type="slidenum">
              <a:rPr lang="fr-FR" sz="1200" b="0" strike="noStrike" spc="-1">
                <a:solidFill>
                  <a:srgbClr val="B3B3B3"/>
                </a:solidFill>
                <a:latin typeface="Arial"/>
                <a:ea typeface="Arial"/>
              </a:rPr>
              <a:t>‹N°›</a:t>
            </a:fld>
            <a:endParaRPr lang="fr-FR" sz="1200" b="0" strike="noStrike" spc="-1">
              <a:latin typeface="Times New Roman"/>
            </a:endParaRPr>
          </a:p>
        </p:txBody>
      </p:sp>
      <p:sp>
        <p:nvSpPr>
          <p:cNvPr id="44" name="Line 6"/>
          <p:cNvSpPr/>
          <p:nvPr/>
        </p:nvSpPr>
        <p:spPr>
          <a:xfrm>
            <a:off x="467280" y="6309000"/>
            <a:ext cx="8209080" cy="0"/>
          </a:xfrm>
          <a:prstGeom prst="line">
            <a:avLst/>
          </a:prstGeom>
          <a:ln w="9360">
            <a:solidFill>
              <a:srgbClr val="BFBFBF"/>
            </a:solidFill>
            <a:round/>
          </a:ln>
        </p:spPr>
        <p:style>
          <a:lnRef idx="0">
            <a:scrgbClr r="0" g="0" b="0"/>
          </a:lnRef>
          <a:fillRef idx="0">
            <a:scrgbClr r="0" g="0" b="0"/>
          </a:fillRef>
          <a:effectRef idx="0">
            <a:scrgbClr r="0" g="0" b="0"/>
          </a:effectRef>
          <a:fontRef idx="minor"/>
        </p:style>
        <p:txBody>
          <a:bodyPr/>
          <a:lstStyle/>
          <a:p>
            <a:endParaRPr lang="fr-F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 name="CustomShape 1"/>
          <p:cNvSpPr/>
          <p:nvPr/>
        </p:nvSpPr>
        <p:spPr>
          <a:xfrm>
            <a:off x="360" y="360"/>
            <a:ext cx="9143640" cy="6857640"/>
          </a:xfrm>
          <a:prstGeom prst="rect">
            <a:avLst/>
          </a:prstGeom>
          <a:gradFill rotWithShape="0">
            <a:gsLst>
              <a:gs pos="0">
                <a:srgbClr val="FFFFFF"/>
              </a:gs>
              <a:gs pos="100000">
                <a:srgbClr val="D9D9D9"/>
              </a:gs>
            </a:gsLst>
            <a:path path="circle">
              <a:fillToRect l="50000" t="30000" r="50000" b="70000"/>
            </a:path>
          </a:gradFill>
          <a:ln w="9360">
            <a:solidFill>
              <a:srgbClr val="FFFFFF"/>
            </a:solidFill>
            <a:miter/>
          </a:ln>
        </p:spPr>
        <p:style>
          <a:lnRef idx="0">
            <a:scrgbClr r="0" g="0" b="0"/>
          </a:lnRef>
          <a:fillRef idx="0">
            <a:scrgbClr r="0" g="0" b="0"/>
          </a:fillRef>
          <a:effectRef idx="0">
            <a:scrgbClr r="0" g="0" b="0"/>
          </a:effectRef>
          <a:fontRef idx="minor"/>
        </p:style>
        <p:txBody>
          <a:bodyPr/>
          <a:lstStyle/>
          <a:p>
            <a:endParaRPr lang="fr-FR"/>
          </a:p>
        </p:txBody>
      </p:sp>
      <p:sp>
        <p:nvSpPr>
          <p:cNvPr id="82" name="PlaceHolder 2"/>
          <p:cNvSpPr>
            <a:spLocks noGrp="1"/>
          </p:cNvSpPr>
          <p:nvPr>
            <p:ph type="title"/>
          </p:nvPr>
        </p:nvSpPr>
        <p:spPr>
          <a:xfrm>
            <a:off x="685800" y="2130120"/>
            <a:ext cx="7772400" cy="1470240"/>
          </a:xfrm>
          <a:prstGeom prst="rect">
            <a:avLst/>
          </a:prstGeom>
        </p:spPr>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fr-FR" sz="3600" b="0" strike="noStrike" spc="-1">
                <a:solidFill>
                  <a:srgbClr val="000000"/>
                </a:solidFill>
                <a:latin typeface="Arial"/>
              </a:rPr>
              <a:t>Cliquez pour éditer le format du texte-titre</a:t>
            </a:r>
          </a:p>
        </p:txBody>
      </p:sp>
      <p:sp>
        <p:nvSpPr>
          <p:cNvPr id="83" name="PlaceHolder 3"/>
          <p:cNvSpPr>
            <a:spLocks noGrp="1"/>
          </p:cNvSpPr>
          <p:nvPr>
            <p:ph type="body"/>
          </p:nvPr>
        </p:nvSpPr>
        <p:spPr>
          <a:xfrm>
            <a:off x="457200" y="1604520"/>
            <a:ext cx="8229240" cy="3977640"/>
          </a:xfrm>
          <a:prstGeom prst="rect">
            <a:avLst/>
          </a:prstGeom>
        </p:spPr>
        <p:txBody>
          <a:bodyPr lIns="0" tIns="0" rIns="0" bIns="0">
            <a:noAutofit/>
          </a:bodyPr>
          <a:lstStyle/>
          <a:p>
            <a:pPr marL="342720" indent="-342720">
              <a:spcBef>
                <a:spcPts val="598"/>
              </a:spcBef>
              <a:buClr>
                <a:srgbClr val="000000"/>
              </a:buClr>
              <a:buFont typeface="Arial"/>
              <a:buChar char="•"/>
              <a:tabLst>
                <a:tab pos="571320" algn="l"/>
                <a:tab pos="1485720" algn="l"/>
                <a:tab pos="2400120" algn="l"/>
                <a:tab pos="3314520" algn="l"/>
                <a:tab pos="4228920" algn="l"/>
                <a:tab pos="5143320" algn="l"/>
                <a:tab pos="6057720" algn="l"/>
                <a:tab pos="6972120" algn="l"/>
                <a:tab pos="7886520" algn="l"/>
                <a:tab pos="8800920" algn="l"/>
                <a:tab pos="9715320" algn="l"/>
              </a:tabLst>
            </a:pPr>
            <a:r>
              <a:rPr lang="fr-FR" sz="2400" b="0" strike="noStrike" spc="-1">
                <a:solidFill>
                  <a:srgbClr val="000000"/>
                </a:solidFill>
                <a:latin typeface="Arial"/>
              </a:rPr>
              <a:t>Cliquez pour éditer le format du plan de texte</a:t>
            </a:r>
          </a:p>
          <a:p>
            <a:pPr marL="742680" lvl="1" indent="-285480">
              <a:spcBef>
                <a:spcPts val="499"/>
              </a:spcBef>
              <a:buClr>
                <a:srgbClr val="000000"/>
              </a:buClr>
              <a:buFont typeface="Arial"/>
              <a:buChar char="–"/>
              <a:tabLst>
                <a:tab pos="171360" algn="l"/>
                <a:tab pos="1085760" algn="l"/>
                <a:tab pos="2000160" algn="l"/>
                <a:tab pos="2914560" algn="l"/>
                <a:tab pos="3828960" algn="l"/>
                <a:tab pos="4743360" algn="l"/>
                <a:tab pos="5657760" algn="l"/>
                <a:tab pos="6572160" algn="l"/>
                <a:tab pos="7486560" algn="l"/>
                <a:tab pos="8400960" algn="l"/>
                <a:tab pos="9315360" algn="l"/>
              </a:tabLst>
            </a:pPr>
            <a:r>
              <a:rPr lang="fr-FR" sz="2000" b="0" strike="noStrike" spc="-1">
                <a:solidFill>
                  <a:srgbClr val="000000"/>
                </a:solidFill>
                <a:latin typeface="Arial"/>
              </a:rPr>
              <a:t>Second niveau de plan</a:t>
            </a:r>
          </a:p>
          <a:p>
            <a:pPr marL="1143000" lvl="2" indent="-228600">
              <a:spcBef>
                <a:spcPts val="448"/>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 pos="8915400" algn="l"/>
              </a:tabLst>
            </a:pPr>
            <a:r>
              <a:rPr lang="fr-FR" sz="1800" b="0" strike="noStrike" spc="-1">
                <a:solidFill>
                  <a:srgbClr val="000000"/>
                </a:solidFill>
                <a:latin typeface="Arial"/>
              </a:rPr>
              <a:t>Troisième niveau de plan</a:t>
            </a:r>
          </a:p>
          <a:p>
            <a:pPr marL="1600200" lvl="3" indent="-228600">
              <a:spcBef>
                <a:spcPts val="400"/>
              </a:spcBef>
              <a:buClr>
                <a:srgbClr val="000000"/>
              </a:buClr>
              <a:buFont typeface="Arial"/>
              <a:buChar char="–"/>
              <a:tabLst>
                <a:tab pos="228600" algn="l"/>
                <a:tab pos="1143000" algn="l"/>
                <a:tab pos="2057400" algn="l"/>
                <a:tab pos="2971800" algn="l"/>
                <a:tab pos="3886200" algn="l"/>
                <a:tab pos="4800600" algn="l"/>
                <a:tab pos="5715000" algn="l"/>
                <a:tab pos="6629400" algn="l"/>
                <a:tab pos="7543800" algn="l"/>
                <a:tab pos="8458200" algn="l"/>
              </a:tabLst>
            </a:pPr>
            <a:r>
              <a:rPr lang="fr-FR" sz="1600" b="0" strike="noStrike" spc="-1">
                <a:solidFill>
                  <a:srgbClr val="000000"/>
                </a:solidFill>
                <a:latin typeface="Arial"/>
              </a:rPr>
              <a:t>Quatrième niveau de plan</a:t>
            </a:r>
          </a:p>
          <a:p>
            <a:pPr marL="2057400" lvl="4"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Cinquième niveau de plan</a:t>
            </a:r>
          </a:p>
          <a:p>
            <a:pPr marL="2057400" lvl="5"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Sixième niveau de plan</a:t>
            </a:r>
          </a:p>
          <a:p>
            <a:pPr marL="2057400" lvl="6"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Septième niveau de plan</a:t>
            </a:r>
          </a:p>
        </p:txBody>
      </p:sp>
      <p:sp>
        <p:nvSpPr>
          <p:cNvPr id="84" name="Line 4"/>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txBody>
          <a:bodyPr/>
          <a:lstStyle/>
          <a:p>
            <a:endParaRPr lang="fr-FR"/>
          </a:p>
        </p:txBody>
      </p:sp>
      <p:sp>
        <p:nvSpPr>
          <p:cNvPr id="85" name="CustomShape 5"/>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fr-FR"/>
          </a:p>
        </p:txBody>
      </p:sp>
      <p:sp>
        <p:nvSpPr>
          <p:cNvPr id="86" name="CustomShape 6"/>
          <p:cNvSpPr/>
          <p:nvPr/>
        </p:nvSpPr>
        <p:spPr>
          <a:xfrm>
            <a:off x="3995640" y="6596280"/>
            <a:ext cx="5004000" cy="2462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spAutoFit/>
          </a:bodyPr>
          <a:lstStyle/>
          <a:p>
            <a:pPr>
              <a:lnSpc>
                <a:spcPct val="100000"/>
              </a:lnSpc>
            </a:pPr>
            <a:r>
              <a:rPr lang="fr-FR" sz="1000" b="0" strike="noStrike" spc="-1">
                <a:solidFill>
                  <a:srgbClr val="009999"/>
                </a:solidFill>
                <a:latin typeface="Arial"/>
                <a:hlinkClick r:id="rId14"/>
              </a:rPr>
              <a:t>http://creativecommons.org/licenses/by-nd/3.0/</a:t>
            </a:r>
            <a:r>
              <a:rPr lang="fr-FR" sz="1000" b="0" strike="noStrike" spc="-1">
                <a:latin typeface="Arial"/>
              </a:rPr>
              <a:t> </a:t>
            </a:r>
          </a:p>
        </p:txBody>
      </p:sp>
      <p:sp>
        <p:nvSpPr>
          <p:cNvPr id="87" name="Line 7"/>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txBody>
          <a:bodyPr/>
          <a:lstStyle/>
          <a:p>
            <a:endParaRPr lang="fr-FR"/>
          </a:p>
        </p:txBody>
      </p:sp>
      <p:sp>
        <p:nvSpPr>
          <p:cNvPr id="88" name="CustomShape 8"/>
          <p:cNvSpPr/>
          <p:nvPr/>
        </p:nvSpPr>
        <p:spPr>
          <a:xfrm>
            <a:off x="299880" y="1700640"/>
            <a:ext cx="2832120" cy="17398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spAutoFit/>
          </a:bodyPr>
          <a:lstStyle/>
          <a:p>
            <a:pPr>
              <a:lnSpc>
                <a:spcPct val="100000"/>
              </a:lnSpc>
            </a:pPr>
            <a:r>
              <a:rPr lang="en-GB" sz="1800" b="1" strike="noStrike" spc="-1">
                <a:solidFill>
                  <a:srgbClr val="4E2169"/>
                </a:solidFill>
                <a:latin typeface="Arial"/>
              </a:rPr>
              <a:t>You can use this </a:t>
            </a:r>
            <a:r>
              <a:rPr lang="en-GB" sz="1800" b="1" strike="noStrike" spc="-1">
                <a:solidFill>
                  <a:srgbClr val="AD5B84"/>
                </a:solidFill>
                <a:latin typeface="Arial"/>
              </a:rPr>
              <a:t>OpenOffice Impress</a:t>
            </a:r>
            <a:r>
              <a:rPr lang="en-GB" sz="1800" b="1" strike="noStrike" spc="-1">
                <a:solidFill>
                  <a:srgbClr val="4E2169"/>
                </a:solidFill>
                <a:latin typeface="Arial"/>
              </a:rPr>
              <a:t> template for </a:t>
            </a:r>
            <a:endParaRPr lang="fr-FR" sz="1800" b="0" strike="noStrike" spc="-1">
              <a:latin typeface="Arial"/>
            </a:endParaRPr>
          </a:p>
          <a:p>
            <a:pPr>
              <a:lnSpc>
                <a:spcPct val="100000"/>
              </a:lnSpc>
            </a:pPr>
            <a:r>
              <a:rPr lang="en-GB" sz="1800" b="1" strike="noStrike" spc="-1">
                <a:solidFill>
                  <a:srgbClr val="4E2169"/>
                </a:solidFill>
                <a:latin typeface="Arial"/>
              </a:rPr>
              <a:t>your personal, educational and business presentations.</a:t>
            </a:r>
            <a:endParaRPr lang="fr-FR" sz="1800" b="0" strike="noStrike" spc="-1">
              <a:latin typeface="Arial"/>
            </a:endParaRPr>
          </a:p>
        </p:txBody>
      </p:sp>
      <p:sp>
        <p:nvSpPr>
          <p:cNvPr id="89" name="CustomShape 9"/>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pPr>
            <a:r>
              <a:rPr lang="en-US" sz="2800" b="1" strike="noStrike" spc="-1">
                <a:solidFill>
                  <a:srgbClr val="4E2169"/>
                </a:solidFill>
                <a:latin typeface="Arial"/>
              </a:rPr>
              <a:t>Conditions of use</a:t>
            </a:r>
            <a:endParaRPr lang="fr-FR" sz="2800" b="0" strike="noStrike" spc="-1">
              <a:latin typeface="Arial"/>
            </a:endParaRPr>
          </a:p>
        </p:txBody>
      </p:sp>
      <p:sp>
        <p:nvSpPr>
          <p:cNvPr id="90" name="CustomShape 10"/>
          <p:cNvSpPr/>
          <p:nvPr/>
        </p:nvSpPr>
        <p:spPr>
          <a:xfrm>
            <a:off x="250920" y="4617360"/>
            <a:ext cx="2736720" cy="423000"/>
          </a:xfrm>
          <a:prstGeom prst="rect">
            <a:avLst/>
          </a:prstGeom>
          <a:gradFill rotWithShape="0">
            <a:gsLst>
              <a:gs pos="0">
                <a:srgbClr val="FFA7A4"/>
              </a:gs>
              <a:gs pos="100000">
                <a:srgbClr val="FFE5E5"/>
              </a:gs>
            </a:gsLst>
            <a:lin ang="16200000"/>
          </a:gradFill>
          <a:ln w="9360">
            <a:solidFill>
              <a:srgbClr val="BE4B48"/>
            </a:solidFill>
            <a:round/>
          </a:ln>
        </p:spPr>
        <p:style>
          <a:lnRef idx="0">
            <a:scrgbClr r="0" g="0" b="0"/>
          </a:lnRef>
          <a:fillRef idx="0">
            <a:scrgbClr r="0" g="0" b="0"/>
          </a:fillRef>
          <a:effectRef idx="0">
            <a:scrgbClr r="0" g="0" b="0"/>
          </a:effectRef>
          <a:fontRef idx="minor"/>
        </p:style>
        <p:txBody>
          <a:bodyPr/>
          <a:lstStyle/>
          <a:p>
            <a:endParaRPr lang="fr-FR"/>
          </a:p>
        </p:txBody>
      </p:sp>
      <p:sp>
        <p:nvSpPr>
          <p:cNvPr id="91" name="CustomShape 11"/>
          <p:cNvSpPr/>
          <p:nvPr/>
        </p:nvSpPr>
        <p:spPr>
          <a:xfrm>
            <a:off x="299880" y="3644640"/>
            <a:ext cx="2831760" cy="1338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0" strike="noStrike" spc="-1">
                <a:solidFill>
                  <a:srgbClr val="000000"/>
                </a:solidFill>
                <a:latin typeface="Calibri"/>
              </a:rPr>
              <a:t>The copyright statement we require you to include when you use our material is:</a:t>
            </a:r>
            <a:endParaRPr lang="fr-FR" sz="1600" b="0" strike="noStrike" spc="-1">
              <a:latin typeface="Arial"/>
            </a:endParaRPr>
          </a:p>
          <a:p>
            <a:br/>
            <a:r>
              <a:rPr lang="fr-FR" sz="1800" b="0" strike="noStrike" spc="-1">
                <a:solidFill>
                  <a:srgbClr val="C00000"/>
                </a:solidFill>
                <a:latin typeface="Calibri"/>
              </a:rPr>
              <a:t>© Copyright Showeet.com</a:t>
            </a:r>
            <a:endParaRPr lang="fr-FR" sz="1800" b="0" strike="noStrike" spc="-1">
              <a:latin typeface="Arial"/>
            </a:endParaRPr>
          </a:p>
        </p:txBody>
      </p:sp>
      <p:pic>
        <p:nvPicPr>
          <p:cNvPr id="92" name="Image 1"/>
          <p:cNvPicPr/>
          <p:nvPr/>
        </p:nvPicPr>
        <p:blipFill>
          <a:blip r:embed="rId15"/>
          <a:stretch/>
        </p:blipFill>
        <p:spPr>
          <a:xfrm>
            <a:off x="335160" y="5410440"/>
            <a:ext cx="2323800" cy="961560"/>
          </a:xfrm>
          <a:prstGeom prst="rect">
            <a:avLst/>
          </a:prstGeom>
          <a:ln w="0">
            <a:noFill/>
          </a:ln>
        </p:spPr>
      </p:pic>
      <p:sp>
        <p:nvSpPr>
          <p:cNvPr id="93" name="CustomShape 12"/>
          <p:cNvSpPr/>
          <p:nvPr/>
        </p:nvSpPr>
        <p:spPr>
          <a:xfrm>
            <a:off x="625680" y="6157440"/>
            <a:ext cx="1759680" cy="547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r>
              <a:rPr lang="fr-FR" sz="1000" b="0" strike="noStrike" spc="-1">
                <a:solidFill>
                  <a:srgbClr val="000000"/>
                </a:solidFill>
                <a:latin typeface="Calibri"/>
                <a:hlinkClick r:id="rId16"/>
              </a:rPr>
              <a:t>http://www.showeet.com</a:t>
            </a:r>
            <a:endParaRPr lang="fr-FR" sz="1000" b="0" strike="noStrike" spc="-1">
              <a:latin typeface="Arial"/>
            </a:endParaRPr>
          </a:p>
          <a:p>
            <a:endParaRPr lang="fr-FR" sz="1000" b="0" strike="noStrike" spc="-1">
              <a:latin typeface="Arial"/>
            </a:endParaRPr>
          </a:p>
          <a:p>
            <a:r>
              <a:rPr lang="fr-FR" sz="1000" b="0" strike="noStrike" spc="-1">
                <a:solidFill>
                  <a:srgbClr val="000000"/>
                </a:solidFill>
                <a:latin typeface="Calibri"/>
              </a:rPr>
              <a:t>Contact: Showeet@ymail.com </a:t>
            </a:r>
            <a:endParaRPr lang="fr-FR" sz="1000" b="0" strike="noStrike" spc="-1">
              <a:latin typeface="Arial"/>
            </a:endParaRPr>
          </a:p>
        </p:txBody>
      </p:sp>
      <p:sp>
        <p:nvSpPr>
          <p:cNvPr id="94" name="CustomShape 13"/>
          <p:cNvSpPr/>
          <p:nvPr/>
        </p:nvSpPr>
        <p:spPr>
          <a:xfrm>
            <a:off x="3995640" y="1448280"/>
            <a:ext cx="4716000" cy="51346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1" strike="noStrike" spc="-1">
                <a:solidFill>
                  <a:srgbClr val="000000"/>
                </a:solidFill>
                <a:latin typeface="Calibri"/>
              </a:rPr>
              <a:t>With the use of this free </a:t>
            </a:r>
            <a:r>
              <a:rPr lang="en-US" sz="1600" b="1" strike="noStrike" spc="-1">
                <a:solidFill>
                  <a:srgbClr val="0070C0"/>
                </a:solidFill>
                <a:latin typeface="Calibri"/>
              </a:rPr>
              <a:t>template </a:t>
            </a:r>
            <a:r>
              <a:rPr lang="en-US" sz="1600" b="1" strike="noStrike" spc="-1">
                <a:solidFill>
                  <a:srgbClr val="000000"/>
                </a:solidFill>
                <a:latin typeface="Calibri"/>
              </a:rPr>
              <a:t>you accept the following use and license conditions.</a:t>
            </a:r>
            <a:endParaRPr lang="fr-FR" sz="1600" b="0" strike="noStrike" spc="-1">
              <a:latin typeface="Arial"/>
            </a:endParaRPr>
          </a:p>
          <a:p>
            <a:endParaRPr lang="fr-FR" sz="1600" b="0" strike="noStrike" spc="-1">
              <a:latin typeface="Arial"/>
            </a:endParaRPr>
          </a:p>
          <a:p>
            <a:r>
              <a:rPr lang="en-US" sz="1200" b="0" strike="noStrike" spc="-1">
                <a:solidFill>
                  <a:srgbClr val="000000"/>
                </a:solidFill>
                <a:latin typeface="Calibri"/>
              </a:rPr>
              <a:t>You</a:t>
            </a:r>
            <a:r>
              <a:rPr lang="fr-FR" sz="1200" b="0" strike="noStrike" spc="-1">
                <a:solidFill>
                  <a:srgbClr val="000000"/>
                </a:solidFill>
                <a:latin typeface="Calibri"/>
              </a:rPr>
              <a:t> are </a:t>
            </a:r>
            <a:r>
              <a:rPr lang="en-US" sz="1200" b="0" strike="noStrike" spc="-1">
                <a:solidFill>
                  <a:srgbClr val="000000"/>
                </a:solidFill>
                <a:latin typeface="Calibri"/>
              </a:rPr>
              <a:t>free</a:t>
            </a:r>
            <a:r>
              <a:rPr lang="fr-FR" sz="1200" b="0" strike="noStrike" spc="-1">
                <a:solidFill>
                  <a:srgbClr val="000000"/>
                </a:solidFill>
                <a:latin typeface="Calibri"/>
              </a:rPr>
              <a:t>:</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To Share</a:t>
            </a:r>
            <a:r>
              <a:rPr lang="en-US" sz="1200" b="0" strike="noStrike" spc="-1">
                <a:solidFill>
                  <a:srgbClr val="000000"/>
                </a:solidFill>
                <a:latin typeface="Calibri"/>
              </a:rPr>
              <a:t> — to copy, distribute and transmit the work</a:t>
            </a:r>
            <a:endParaRPr lang="fr-FR" sz="1200" b="0" strike="noStrike" spc="-1">
              <a:latin typeface="Arial"/>
            </a:endParaRPr>
          </a:p>
          <a:p>
            <a:r>
              <a:rPr lang="en-US" sz="1200" b="0" strike="noStrike" spc="-1">
                <a:solidFill>
                  <a:srgbClr val="000000"/>
                </a:solidFill>
                <a:latin typeface="Calibri"/>
              </a:rPr>
              <a:t>Under the following conditions:</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Attribution</a:t>
            </a:r>
            <a:r>
              <a:rPr lang="en-US" sz="1200" b="0" strike="noStrike" spc="-1">
                <a:solidFill>
                  <a:srgbClr val="000000"/>
                </a:solidFill>
                <a:latin typeface="Calibri"/>
              </a:rPr>
              <a:t> — You must attribute the work in the manner specified by the author or licensor (but not in any way that suggests that they endorse you or your use of the work).</a:t>
            </a:r>
            <a:endParaRPr lang="fr-FR" sz="1200" b="0" strike="noStrike" spc="-1">
              <a:latin typeface="Arial"/>
            </a:endParaRPr>
          </a:p>
          <a:p>
            <a:r>
              <a:rPr lang="en-US" sz="1400" b="1" strike="noStrike" spc="-1">
                <a:solidFill>
                  <a:srgbClr val="000000"/>
                </a:solidFill>
                <a:latin typeface="Calibri"/>
              </a:rPr>
              <a:t>No Derivative Works</a:t>
            </a:r>
            <a:r>
              <a:rPr lang="en-US" sz="1200" b="0" strike="noStrike" spc="-1">
                <a:solidFill>
                  <a:srgbClr val="000000"/>
                </a:solidFill>
                <a:latin typeface="Calibri"/>
              </a:rPr>
              <a:t> — You may not alter, transform, or build upon this work.</a:t>
            </a:r>
            <a:endParaRPr lang="fr-FR" sz="1200" b="0" strike="noStrike" spc="-1">
              <a:latin typeface="Arial"/>
            </a:endParaRPr>
          </a:p>
          <a:p>
            <a:endParaRPr lang="fr-FR" sz="1200" b="0" strike="noStrike" spc="-1">
              <a:latin typeface="Arial"/>
            </a:endParaRPr>
          </a:p>
          <a:p>
            <a:r>
              <a:rPr lang="en-US" sz="1050" b="0" strike="noStrike" spc="-1">
                <a:solidFill>
                  <a:srgbClr val="000000"/>
                </a:solidFill>
                <a:latin typeface="Calibri"/>
              </a:rPr>
              <a:t>For any  distribution, you must make clear to others the license terms of this work. The best way to do this is with a link to this web page: </a:t>
            </a:r>
            <a:r>
              <a:rPr lang="en-US" sz="1050" b="0" strike="noStrike" spc="-1">
                <a:solidFill>
                  <a:srgbClr val="000000"/>
                </a:solidFill>
                <a:latin typeface="Calibri"/>
                <a:hlinkClick r:id="rId17"/>
              </a:rPr>
              <a:t>http://www.showeet.com/terms-of-use/</a:t>
            </a:r>
            <a:r>
              <a:rPr lang="en-US" sz="1050" b="0" strike="noStrike" spc="-1">
                <a:solidFill>
                  <a:srgbClr val="000000"/>
                </a:solidFill>
                <a:latin typeface="Calibri"/>
              </a:rPr>
              <a:t> </a:t>
            </a:r>
            <a:br/>
            <a:br/>
            <a:r>
              <a:rPr lang="en-US" sz="1050" b="0" strike="noStrike" spc="-1">
                <a:solidFill>
                  <a:srgbClr val="000000"/>
                </a:solidFill>
                <a:latin typeface="Calibri"/>
              </a:rPr>
              <a:t>Any of the conditions can be waived if you get permission from showeet.com</a:t>
            </a:r>
            <a:endParaRPr lang="fr-FR" sz="1050" b="0" strike="noStrike" spc="-1">
              <a:latin typeface="Arial"/>
            </a:endParaRPr>
          </a:p>
          <a:p>
            <a:r>
              <a:rPr lang="en-US" sz="1050" b="0" strike="noStrike" spc="-1">
                <a:solidFill>
                  <a:srgbClr val="000000"/>
                </a:solidFill>
                <a:latin typeface="Calibri"/>
              </a:rPr>
              <a:t>In no event shall </a:t>
            </a:r>
            <a:r>
              <a:rPr lang="en-US" sz="1050" b="0" u="sng" strike="noStrike" spc="-1">
                <a:solidFill>
                  <a:srgbClr val="000000"/>
                </a:solidFill>
                <a:uFillTx/>
                <a:latin typeface="Calibri"/>
              </a:rPr>
              <a:t>Showeet.com</a:t>
            </a:r>
            <a:r>
              <a:rPr lang="en-US" sz="1050" b="0" strike="noStrike" spc="-1">
                <a:solidFill>
                  <a:srgbClr val="000000"/>
                </a:solidFill>
                <a:latin typeface="Calibri"/>
              </a:rPr>
              <a:t> be liable for any indirect, special or consequential damages arising out of or in connection with the use of the template, diagram or map.</a:t>
            </a:r>
            <a:endParaRPr lang="fr-FR" sz="1050" b="0" strike="noStrike" spc="-1">
              <a:latin typeface="Arial"/>
            </a:endParaRPr>
          </a:p>
        </p:txBody>
      </p:sp>
      <p:pic>
        <p:nvPicPr>
          <p:cNvPr id="95" name="Image 94"/>
          <p:cNvPicPr/>
          <p:nvPr/>
        </p:nvPicPr>
        <p:blipFill>
          <a:blip r:embed="rId18"/>
          <a:stretch/>
        </p:blipFill>
        <p:spPr>
          <a:xfrm>
            <a:off x="3732840" y="971640"/>
            <a:ext cx="1798200" cy="435960"/>
          </a:xfrm>
          <a:prstGeom prst="rect">
            <a:avLst/>
          </a:prstGeom>
          <a:ln w="0">
            <a:noFill/>
          </a:ln>
        </p:spPr>
      </p:pic>
      <p:pic>
        <p:nvPicPr>
          <p:cNvPr id="96" name="Image 95"/>
          <p:cNvPicPr/>
          <p:nvPr/>
        </p:nvPicPr>
        <p:blipFill>
          <a:blip r:embed="rId19"/>
          <a:stretch/>
        </p:blipFill>
        <p:spPr>
          <a:xfrm>
            <a:off x="3616560" y="3693960"/>
            <a:ext cx="303120" cy="9676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TextShape 1"/>
          <p:cNvSpPr txBox="1"/>
          <p:nvPr/>
        </p:nvSpPr>
        <p:spPr>
          <a:xfrm>
            <a:off x="435006" y="4149000"/>
            <a:ext cx="8380674" cy="1469520"/>
          </a:xfrm>
          <a:prstGeom prst="rect">
            <a:avLst/>
          </a:prstGeom>
          <a:noFill/>
          <a:ln w="0">
            <a:noFill/>
          </a:ln>
        </p:spPr>
        <p:txBody>
          <a:bodyPr lIns="0" tIns="0" rIns="0" bIns="0" anchor="ctr">
            <a:noAutofit/>
          </a:bodyPr>
          <a:lstStyle/>
          <a:p>
            <a:pPr algn="r"/>
            <a:r>
              <a:rPr lang="fr-FR" sz="4400" spc="-1" dirty="0">
                <a:solidFill>
                  <a:srgbClr val="376092"/>
                </a:solidFill>
                <a:latin typeface="Arial"/>
              </a:rPr>
              <a:t>Fonctions de référence</a:t>
            </a:r>
            <a:br>
              <a:rPr dirty="0"/>
            </a:br>
            <a:endParaRPr lang="en-US" sz="4400" spc="-1" dirty="0">
              <a:solidFill>
                <a:srgbClr val="376092"/>
              </a:solidFill>
              <a:latin typeface="Arial"/>
            </a:endParaRPr>
          </a:p>
        </p:txBody>
      </p:sp>
      <p:sp>
        <p:nvSpPr>
          <p:cNvPr id="134" name="TextShape 2"/>
          <p:cNvSpPr txBox="1"/>
          <p:nvPr/>
        </p:nvSpPr>
        <p:spPr>
          <a:xfrm>
            <a:off x="1043640" y="5733360"/>
            <a:ext cx="7772040" cy="923760"/>
          </a:xfrm>
          <a:prstGeom prst="rect">
            <a:avLst/>
          </a:prstGeom>
          <a:noFill/>
          <a:ln w="0">
            <a:noFill/>
          </a:ln>
        </p:spPr>
        <p:txBody>
          <a:bodyPr lIns="0" tIns="0" rIns="0" bIns="0">
            <a:noAutofit/>
          </a:bodyPr>
          <a:lstStyle/>
          <a:p>
            <a:pPr marL="432000" indent="-324000" algn="r">
              <a:spcAft>
                <a:spcPts val="1060"/>
              </a:spcAft>
              <a:buClr>
                <a:srgbClr val="000000"/>
              </a:buClr>
              <a:buSzPct val="45000"/>
              <a:buFont typeface="Wingdings" charset="2"/>
              <a:buChar char=""/>
            </a:pPr>
            <a:r>
              <a:rPr lang="fr-FR" sz="2400" b="0" strike="noStrike" spc="-1" dirty="0">
                <a:solidFill>
                  <a:srgbClr val="999999"/>
                </a:solidFill>
                <a:latin typeface="Arial"/>
              </a:rPr>
              <a:t>Philippe Schlegel</a:t>
            </a:r>
            <a:endParaRPr lang="en-US" sz="2400" b="0" strike="noStrike" spc="-1" dirty="0">
              <a:solidFill>
                <a:srgbClr val="999999"/>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Fonctions de référence :</a:t>
            </a:r>
            <a:endParaRPr lang="en-US" sz="3200" b="0" strike="noStrike" spc="-1" dirty="0">
              <a:solidFill>
                <a:srgbClr val="376092"/>
              </a:solidFill>
              <a:latin typeface="Arial"/>
            </a:endParaRPr>
          </a:p>
        </p:txBody>
      </p:sp>
      <p:sp>
        <p:nvSpPr>
          <p:cNvPr id="140" name="TextShape 2"/>
          <p:cNvSpPr txBox="1"/>
          <p:nvPr/>
        </p:nvSpPr>
        <p:spPr>
          <a:xfrm>
            <a:off x="457200" y="1677880"/>
            <a:ext cx="8229240" cy="444788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Fonctions affines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Fonctions polynomiales de degrés 2</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Fonction logarithme népérien</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Fonction exponentielle</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Cas concrets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Questions</a:t>
            </a: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131673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Fonctions affines : </a:t>
            </a:r>
            <a:endParaRPr lang="en-US" sz="3200" b="0" strike="noStrike" spc="-1" dirty="0">
              <a:solidFill>
                <a:srgbClr val="376092"/>
              </a:solidFill>
              <a:latin typeface="Arial"/>
            </a:endParaRPr>
          </a:p>
        </p:txBody>
      </p:sp>
      <mc:AlternateContent xmlns:mc="http://schemas.openxmlformats.org/markup-compatibility/2006">
        <mc:Choice xmlns:a14="http://schemas.microsoft.com/office/drawing/2010/main" Requires="a14">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Une fonction affine f est définie sur l'intervalle </a:t>
                </a:r>
                <a14:m>
                  <m:oMath xmlns:m="http://schemas.openxmlformats.org/officeDocument/2006/math">
                    <m:r>
                      <a:rPr lang="fr-FR" sz="2400" spc="-1" smtClean="0">
                        <a:solidFill>
                          <a:srgbClr val="376092"/>
                        </a:solidFill>
                        <a:latin typeface="Cambria Math" panose="02040503050406030204" pitchFamily="18" charset="0"/>
                      </a:rPr>
                      <m:t>ℝ</m:t>
                    </m:r>
                  </m:oMath>
                </a14:m>
                <a:r>
                  <a:rPr lang="fr-FR" sz="2400" spc="-1" dirty="0">
                    <a:solidFill>
                      <a:srgbClr val="376092"/>
                    </a:solidFill>
                    <a:latin typeface="Calibri"/>
                  </a:rPr>
                  <a:t> par la forme f(x) = a * x + b</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a : coefficient directeur de la droite (pente)</a:t>
                </a:r>
              </a:p>
              <a:p>
                <a:pPr marL="1321200" lvl="2" indent="-324000">
                  <a:spcAft>
                    <a:spcPts val="1134"/>
                  </a:spcAft>
                  <a:buClr>
                    <a:srgbClr val="000000"/>
                  </a:buClr>
                  <a:buSzPct val="45000"/>
                  <a:buFont typeface="Wingdings" charset="2"/>
                  <a:buChar char=""/>
                </a:pPr>
                <a:r>
                  <a:rPr lang="fr-FR" sz="2400" spc="-1" dirty="0">
                    <a:solidFill>
                      <a:srgbClr val="376092"/>
                    </a:solidFill>
                    <a:latin typeface="Calibri"/>
                  </a:rPr>
                  <a:t>a positif, la droite est croissante</a:t>
                </a:r>
              </a:p>
              <a:p>
                <a:pPr marL="1321200" lvl="2" indent="-324000">
                  <a:spcAft>
                    <a:spcPts val="1134"/>
                  </a:spcAft>
                  <a:buClr>
                    <a:srgbClr val="000000"/>
                  </a:buClr>
                  <a:buSzPct val="45000"/>
                  <a:buFont typeface="Wingdings" charset="2"/>
                  <a:buChar char=""/>
                </a:pPr>
                <a:r>
                  <a:rPr lang="fr-FR" sz="2400" spc="-1" dirty="0">
                    <a:solidFill>
                      <a:srgbClr val="376092"/>
                    </a:solidFill>
                    <a:latin typeface="Calibri"/>
                  </a:rPr>
                  <a:t>a négatif, la droite est décroissante</a:t>
                </a:r>
              </a:p>
              <a:p>
                <a:pPr marL="1321200" lvl="2" indent="-324000">
                  <a:spcAft>
                    <a:spcPts val="1134"/>
                  </a:spcAft>
                  <a:buClr>
                    <a:srgbClr val="000000"/>
                  </a:buClr>
                  <a:buSzPct val="45000"/>
                  <a:buFont typeface="Wingdings" charset="2"/>
                  <a:buChar char=""/>
                </a:pPr>
                <a:r>
                  <a:rPr lang="fr-FR" sz="2400" spc="-1" dirty="0">
                    <a:solidFill>
                      <a:srgbClr val="376092"/>
                    </a:solidFill>
                    <a:latin typeface="Calibri"/>
                  </a:rPr>
                  <a:t>a = 0, la droite est horizontale</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b : ordonnée à l'origine (f(0) = b)</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 Il est possible de retrouver la fonction liée à une droite en connaissant deux de ses points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a = </a:t>
                </a:r>
                <a14:m>
                  <m:oMath xmlns:m="http://schemas.openxmlformats.org/officeDocument/2006/math">
                    <m:f>
                      <m:fPr>
                        <m:ctrlPr>
                          <a:rPr lang="fr-FR" sz="2400" spc="-1" dirty="0" smtClean="0">
                            <a:solidFill>
                              <a:srgbClr val="376092"/>
                            </a:solidFill>
                            <a:latin typeface="Cambria Math" panose="02040503050406030204" pitchFamily="18" charset="0"/>
                          </a:rPr>
                        </m:ctrlPr>
                      </m:fPr>
                      <m:num>
                        <m:r>
                          <a:rPr lang="fr-FR" sz="2400" i="1" spc="-1" dirty="0">
                            <a:solidFill>
                              <a:srgbClr val="376092"/>
                            </a:solidFill>
                            <a:latin typeface="Cambria Math" panose="02040503050406030204" pitchFamily="18" charset="0"/>
                          </a:rPr>
                          <m:t>𝑓</m:t>
                        </m:r>
                        <m:d>
                          <m:dPr>
                            <m:ctrlPr>
                              <a:rPr lang="fr-FR" sz="2400" i="1" spc="-1" dirty="0">
                                <a:solidFill>
                                  <a:srgbClr val="376092"/>
                                </a:solidFill>
                                <a:latin typeface="Cambria Math" panose="02040503050406030204" pitchFamily="18" charset="0"/>
                              </a:rPr>
                            </m:ctrlPr>
                          </m:dPr>
                          <m:e>
                            <m:r>
                              <m:rPr>
                                <m:sty m:val="p"/>
                              </m:rPr>
                              <a:rPr lang="fr-FR" sz="2400" b="0" i="0" spc="-1" dirty="0" smtClean="0">
                                <a:solidFill>
                                  <a:srgbClr val="376092"/>
                                </a:solidFill>
                                <a:latin typeface="Cambria Math" panose="02040503050406030204" pitchFamily="18" charset="0"/>
                              </a:rPr>
                              <m:t>p</m:t>
                            </m:r>
                            <m:r>
                              <a:rPr lang="fr-FR" sz="2400" b="0" i="0" spc="-1" dirty="0" smtClean="0">
                                <a:solidFill>
                                  <a:srgbClr val="376092"/>
                                </a:solidFill>
                                <a:latin typeface="Cambria Math" panose="02040503050406030204" pitchFamily="18" charset="0"/>
                              </a:rPr>
                              <m:t>2</m:t>
                            </m:r>
                          </m:e>
                        </m:d>
                        <m:r>
                          <a:rPr lang="fr-FR" sz="2400" i="0" spc="-1" dirty="0">
                            <a:solidFill>
                              <a:srgbClr val="376092"/>
                            </a:solidFill>
                            <a:latin typeface="Cambria Math" panose="02040503050406030204" pitchFamily="18" charset="0"/>
                          </a:rPr>
                          <m:t>−</m:t>
                        </m:r>
                        <m:r>
                          <a:rPr lang="fr-FR" sz="2400" b="0" i="1" spc="-1" dirty="0" smtClean="0">
                            <a:solidFill>
                              <a:srgbClr val="376092"/>
                            </a:solidFill>
                            <a:latin typeface="Cambria Math" panose="02040503050406030204" pitchFamily="18" charset="0"/>
                          </a:rPr>
                          <m:t>𝑓</m:t>
                        </m:r>
                        <m:d>
                          <m:dPr>
                            <m:ctrlPr>
                              <a:rPr lang="fr-FR" sz="2400" i="1" spc="-1" dirty="0">
                                <a:solidFill>
                                  <a:srgbClr val="376092"/>
                                </a:solidFill>
                                <a:latin typeface="Cambria Math" panose="02040503050406030204" pitchFamily="18" charset="0"/>
                              </a:rPr>
                            </m:ctrlPr>
                          </m:dPr>
                          <m:e>
                            <m:r>
                              <a:rPr lang="fr-FR" sz="2400" i="1" spc="-1" dirty="0">
                                <a:solidFill>
                                  <a:srgbClr val="376092"/>
                                </a:solidFill>
                                <a:latin typeface="Cambria Math" panose="02040503050406030204" pitchFamily="18" charset="0"/>
                              </a:rPr>
                              <m:t>𝑝</m:t>
                            </m:r>
                            <m:r>
                              <a:rPr lang="fr-FR" sz="2400" i="0" spc="-1" dirty="0">
                                <a:solidFill>
                                  <a:srgbClr val="376092"/>
                                </a:solidFill>
                                <a:latin typeface="Cambria Math" panose="02040503050406030204" pitchFamily="18" charset="0"/>
                              </a:rPr>
                              <m:t>1</m:t>
                            </m:r>
                          </m:e>
                        </m:d>
                      </m:num>
                      <m:den>
                        <m:r>
                          <a:rPr lang="fr-FR" sz="2400" i="1" spc="-1" dirty="0">
                            <a:solidFill>
                              <a:srgbClr val="376092"/>
                            </a:solidFill>
                            <a:latin typeface="Cambria Math" panose="02040503050406030204" pitchFamily="18" charset="0"/>
                          </a:rPr>
                          <m:t>𝑝</m:t>
                        </m:r>
                        <m:r>
                          <a:rPr lang="fr-FR" sz="2400" i="0" spc="-1" dirty="0">
                            <a:solidFill>
                              <a:srgbClr val="376092"/>
                            </a:solidFill>
                            <a:latin typeface="Cambria Math" panose="02040503050406030204" pitchFamily="18" charset="0"/>
                          </a:rPr>
                          <m:t>2−</m:t>
                        </m:r>
                        <m:r>
                          <a:rPr lang="fr-FR" sz="2400" i="1" spc="-1" dirty="0">
                            <a:solidFill>
                              <a:srgbClr val="376092"/>
                            </a:solidFill>
                            <a:latin typeface="Cambria Math" panose="02040503050406030204" pitchFamily="18" charset="0"/>
                          </a:rPr>
                          <m:t>𝑝</m:t>
                        </m:r>
                        <m:r>
                          <a:rPr lang="fr-FR" sz="2400" b="0" i="1" spc="-1" dirty="0" smtClean="0">
                            <a:solidFill>
                              <a:srgbClr val="376092"/>
                            </a:solidFill>
                            <a:latin typeface="Cambria Math" panose="02040503050406030204" pitchFamily="18" charset="0"/>
                          </a:rPr>
                          <m:t>1</m:t>
                        </m:r>
                      </m:den>
                    </m:f>
                  </m:oMath>
                </a14:m>
                <a:r>
                  <a:rPr lang="fr-FR" sz="2400" spc="-1" dirty="0">
                    <a:solidFill>
                      <a:srgbClr val="376092"/>
                    </a:solidFill>
                    <a:latin typeface="Calibri"/>
                  </a:rPr>
                  <a:t> puis une fois que l'on connait a, on calcule b</a:t>
                </a: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mc:Choice>
        <mc:Fallback>
          <p:sp>
            <p:nvSpPr>
              <p:cNvPr id="136" name="TextShape 2"/>
              <p:cNvSpPr txBox="1">
                <a:spLocks noRot="1" noChangeAspect="1" noMove="1" noResize="1" noEditPoints="1" noAdjustHandles="1" noChangeArrowheads="1" noChangeShapeType="1" noTextEdit="1"/>
              </p:cNvSpPr>
              <p:nvPr/>
            </p:nvSpPr>
            <p:spPr>
              <a:xfrm>
                <a:off x="457200" y="1233996"/>
                <a:ext cx="8229240" cy="4891764"/>
              </a:xfrm>
              <a:prstGeom prst="rect">
                <a:avLst/>
              </a:prstGeom>
              <a:blipFill>
                <a:blip r:embed="rId2"/>
                <a:stretch>
                  <a:fillRect t="-1868" r="-1259" b="-623"/>
                </a:stretch>
              </a:blipFill>
              <a:ln w="0">
                <a:noFill/>
              </a:ln>
            </p:spPr>
            <p:txBody>
              <a:bodyPr/>
              <a:lstStyle/>
              <a:p>
                <a:r>
                  <a:rPr lang="fr-FR">
                    <a:noFill/>
                  </a:rPr>
                  <a:t> </a:t>
                </a:r>
              </a:p>
            </p:txBody>
          </p:sp>
        </mc:Fallback>
      </mc:AlternateContent>
    </p:spTree>
    <p:extLst>
      <p:ext uri="{BB962C8B-B14F-4D97-AF65-F5344CB8AC3E}">
        <p14:creationId xmlns:p14="http://schemas.microsoft.com/office/powerpoint/2010/main" val="2072949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3AFC4-07CF-F2BC-6689-20673325B081}"/>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7EEECAF8-6F10-2698-8DEC-B1FC0BE32C32}"/>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Fonctions affines - exercices : </a:t>
            </a:r>
            <a:endParaRPr lang="en-US" sz="3200" b="0" strike="noStrike" spc="-1" dirty="0">
              <a:solidFill>
                <a:srgbClr val="376092"/>
              </a:solidFill>
              <a:latin typeface="Arial"/>
            </a:endParaRPr>
          </a:p>
        </p:txBody>
      </p:sp>
      <p:sp>
        <p:nvSpPr>
          <p:cNvPr id="136" name="TextShape 2">
            <a:extLst>
              <a:ext uri="{FF2B5EF4-FFF2-40B4-BE49-F238E27FC236}">
                <a16:creationId xmlns:a16="http://schemas.microsoft.com/office/drawing/2014/main" id="{E32E9D37-5330-0E6C-3A34-76CD2D64C620}"/>
              </a:ext>
            </a:extLst>
          </p:cNvPr>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Utilisons une calculatrice ou un tableur pour représenter une fonction affine avec a négatif, positif et nulle. </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Une droite passe par les points suivants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p1 : (x=3, y=8)</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p2 : (x=-1,y=10)</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Calculer la fonction affine de cette droite. </a:t>
            </a: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3648510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8DE2F-A44D-F5AF-B6E8-6C5A86D6F6AE}"/>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FA0FABEF-CB74-13EE-AB6C-0EF90615978B}"/>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Fonctions affines - exercices : </a:t>
            </a:r>
            <a:endParaRPr lang="en-US" sz="3200" b="0" strike="noStrike" spc="-1" dirty="0">
              <a:solidFill>
                <a:srgbClr val="376092"/>
              </a:solidFill>
              <a:latin typeface="Arial"/>
            </a:endParaRPr>
          </a:p>
        </p:txBody>
      </p:sp>
      <p:sp>
        <p:nvSpPr>
          <p:cNvPr id="136" name="TextShape 2">
            <a:extLst>
              <a:ext uri="{FF2B5EF4-FFF2-40B4-BE49-F238E27FC236}">
                <a16:creationId xmlns:a16="http://schemas.microsoft.com/office/drawing/2014/main" id="{60567437-FBDE-436A-8976-F9C9A18B24FA}"/>
              </a:ext>
            </a:extLst>
          </p:cNvPr>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Un abonnement péage vous propose un tarif de 50 euros auxquelles s'ajoutent 3 euros à chaque fois que vous passez par un péage.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Si x est le nombre de péages empruntés, exprimer le prix p(x) en fonction de x.</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Quelle est la nature de cette fonction ?</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Vous avez payé 89 euros, par combien de péages êtes-vous passé ?</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Tracer la droite représentant la fonction et retrouvez graphiquement le résultat.</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Un autre abonnement vous propose un tarif de 80 euros puis 1 euro par passage. Quel est l'abonnement le plus avantageux ?</a:t>
            </a: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1648180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C0889-8A1B-2CEA-66AE-953A3B54DD66}"/>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587B313E-656F-8ECC-2510-3D93BB4B93CF}"/>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Fonctions polynomiales de degrés 2 : </a:t>
            </a:r>
            <a:endParaRPr lang="en-US" sz="3200" b="0" strike="noStrike" spc="-1" dirty="0">
              <a:solidFill>
                <a:srgbClr val="376092"/>
              </a:solidFill>
              <a:latin typeface="Arial"/>
            </a:endParaRPr>
          </a:p>
        </p:txBody>
      </p:sp>
      <mc:AlternateContent xmlns:mc="http://schemas.openxmlformats.org/markup-compatibility/2006">
        <mc:Choice xmlns:a14="http://schemas.microsoft.com/office/drawing/2010/main" Requires="a14">
          <p:sp>
            <p:nvSpPr>
              <p:cNvPr id="136" name="TextShape 2">
                <a:extLst>
                  <a:ext uri="{FF2B5EF4-FFF2-40B4-BE49-F238E27FC236}">
                    <a16:creationId xmlns:a16="http://schemas.microsoft.com/office/drawing/2014/main" id="{8B8034AC-6B78-9C18-5E33-F244CD8C4E16}"/>
                  </a:ext>
                </a:extLst>
              </p:cNvPr>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Une fonction polynomiale f est définie sur l'intervalle </a:t>
                </a:r>
                <a14:m>
                  <m:oMath xmlns:m="http://schemas.openxmlformats.org/officeDocument/2006/math">
                    <m:r>
                      <a:rPr lang="fr-FR" sz="2400" spc="-1">
                        <a:solidFill>
                          <a:srgbClr val="376092"/>
                        </a:solidFill>
                        <a:latin typeface="Cambria Math" panose="02040503050406030204" pitchFamily="18" charset="0"/>
                      </a:rPr>
                      <m:t>ℝ</m:t>
                    </m:r>
                  </m:oMath>
                </a14:m>
                <a:r>
                  <a:rPr lang="fr-FR" sz="2400" spc="-1" dirty="0">
                    <a:solidFill>
                      <a:srgbClr val="376092"/>
                    </a:solidFill>
                    <a:latin typeface="Calibri"/>
                  </a:rPr>
                  <a:t> par la forme f(x) = a * x² + b * x + c (si a = 0, il s'agit d'une fonction affine).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La représentation d'une fonction polynomiale de degrés 2 est une parabole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orientée vers le haut si a est positif</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orientée vers le bas si a est négatif</a:t>
                </a:r>
              </a:p>
              <a:p>
                <a:pPr marL="406800" indent="-324000">
                  <a:spcAft>
                    <a:spcPts val="1134"/>
                  </a:spcAft>
                  <a:buClr>
                    <a:srgbClr val="000000"/>
                  </a:buClr>
                  <a:buSzPct val="45000"/>
                  <a:buFont typeface="Wingdings" charset="2"/>
                  <a:buChar char=""/>
                </a:pPr>
                <a14:m>
                  <m:oMath xmlns:m="http://schemas.openxmlformats.org/officeDocument/2006/math">
                    <m:r>
                      <m:rPr>
                        <m:sty m:val="p"/>
                      </m:rPr>
                      <a:rPr lang="fr-FR" sz="2400" spc="-1" dirty="0" smtClean="0">
                        <a:solidFill>
                          <a:srgbClr val="376092"/>
                        </a:solidFill>
                        <a:latin typeface="Cambria Math" panose="02040503050406030204" pitchFamily="18" charset="0"/>
                      </a:rPr>
                      <m:t>Δ</m:t>
                    </m:r>
                  </m:oMath>
                </a14:m>
                <a:r>
                  <a:rPr lang="fr-FR" sz="2400" spc="-1" dirty="0">
                    <a:solidFill>
                      <a:srgbClr val="376092"/>
                    </a:solidFill>
                    <a:latin typeface="Calibri"/>
                  </a:rPr>
                  <a:t> est le discriminant d'une fonction polynomiale de degrés 2 :</a:t>
                </a:r>
              </a:p>
              <a:p>
                <a:pPr marL="864000" lvl="1" indent="-324000">
                  <a:spcAft>
                    <a:spcPts val="1134"/>
                  </a:spcAft>
                  <a:buClr>
                    <a:srgbClr val="000000"/>
                  </a:buClr>
                  <a:buSzPct val="45000"/>
                  <a:buFont typeface="Wingdings" charset="2"/>
                  <a:buChar char=""/>
                </a:pPr>
                <a14:m>
                  <m:oMath xmlns:m="http://schemas.openxmlformats.org/officeDocument/2006/math">
                    <m:r>
                      <m:rPr>
                        <m:sty m:val="p"/>
                      </m:rPr>
                      <a:rPr lang="fr-FR" sz="2400" spc="-1" dirty="0" smtClean="0">
                        <a:solidFill>
                          <a:srgbClr val="376092"/>
                        </a:solidFill>
                        <a:latin typeface="Cambria Math" panose="02040503050406030204" pitchFamily="18" charset="0"/>
                      </a:rPr>
                      <m:t>Δ</m:t>
                    </m:r>
                  </m:oMath>
                </a14:m>
                <a:r>
                  <a:rPr lang="fr-FR" sz="2400" spc="-1" dirty="0">
                    <a:solidFill>
                      <a:srgbClr val="376092"/>
                    </a:solidFill>
                    <a:latin typeface="Calibri"/>
                  </a:rPr>
                  <a:t> = b² - 4 * a * c</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Le discriminant permet de déterminer les racines (valeurs de x pour lesquels la fonction coupe l'axe des abscisses, où  f(x) =0) du polynôme</a:t>
                </a: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mc:Choice>
        <mc:Fallback>
          <p:sp>
            <p:nvSpPr>
              <p:cNvPr id="136" name="TextShape 2">
                <a:extLst>
                  <a:ext uri="{FF2B5EF4-FFF2-40B4-BE49-F238E27FC236}">
                    <a16:creationId xmlns:a16="http://schemas.microsoft.com/office/drawing/2014/main" id="{8B8034AC-6B78-9C18-5E33-F244CD8C4E16}"/>
                  </a:ext>
                </a:extLst>
              </p:cNvPr>
              <p:cNvSpPr txBox="1">
                <a:spLocks noRot="1" noChangeAspect="1" noMove="1" noResize="1" noEditPoints="1" noAdjustHandles="1" noChangeArrowheads="1" noChangeShapeType="1" noTextEdit="1"/>
              </p:cNvSpPr>
              <p:nvPr/>
            </p:nvSpPr>
            <p:spPr>
              <a:xfrm>
                <a:off x="457200" y="1233996"/>
                <a:ext cx="8229240" cy="4891764"/>
              </a:xfrm>
              <a:prstGeom prst="rect">
                <a:avLst/>
              </a:prstGeom>
              <a:blipFill>
                <a:blip r:embed="rId2"/>
                <a:stretch>
                  <a:fillRect t="-1868" r="-1407" b="-10585"/>
                </a:stretch>
              </a:blipFill>
              <a:ln w="0">
                <a:noFill/>
              </a:ln>
            </p:spPr>
            <p:txBody>
              <a:bodyPr/>
              <a:lstStyle/>
              <a:p>
                <a:r>
                  <a:rPr lang="fr-FR">
                    <a:noFill/>
                  </a:rPr>
                  <a:t> </a:t>
                </a:r>
              </a:p>
            </p:txBody>
          </p:sp>
        </mc:Fallback>
      </mc:AlternateContent>
    </p:spTree>
    <p:extLst>
      <p:ext uri="{BB962C8B-B14F-4D97-AF65-F5344CB8AC3E}">
        <p14:creationId xmlns:p14="http://schemas.microsoft.com/office/powerpoint/2010/main" val="2877140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42B79-C378-C910-1439-7DD7274F5E3E}"/>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4A5D68DF-CC79-BB57-37F3-3A129A2121ED}"/>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Fonctions polynomiales de degrés 2 : </a:t>
            </a:r>
            <a:endParaRPr lang="en-US" sz="3200" b="0" strike="noStrike" spc="-1" dirty="0">
              <a:solidFill>
                <a:srgbClr val="376092"/>
              </a:solidFill>
              <a:latin typeface="Arial"/>
            </a:endParaRPr>
          </a:p>
        </p:txBody>
      </p:sp>
      <mc:AlternateContent xmlns:mc="http://schemas.openxmlformats.org/markup-compatibility/2006">
        <mc:Choice xmlns:a14="http://schemas.microsoft.com/office/drawing/2010/main" Requires="a14">
          <p:sp>
            <p:nvSpPr>
              <p:cNvPr id="136" name="TextShape 2">
                <a:extLst>
                  <a:ext uri="{FF2B5EF4-FFF2-40B4-BE49-F238E27FC236}">
                    <a16:creationId xmlns:a16="http://schemas.microsoft.com/office/drawing/2014/main" id="{1DC068C4-D4B5-6D29-6421-215BF66E9EE1}"/>
                  </a:ext>
                </a:extLst>
              </p:cNvPr>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Selon la valeur de </a:t>
                </a:r>
                <a14:m>
                  <m:oMath xmlns:m="http://schemas.openxmlformats.org/officeDocument/2006/math">
                    <m:r>
                      <m:rPr>
                        <m:sty m:val="p"/>
                      </m:rPr>
                      <a:rPr lang="fr-FR" sz="2400" spc="-1" dirty="0">
                        <a:solidFill>
                          <a:srgbClr val="376092"/>
                        </a:solidFill>
                        <a:latin typeface="Cambria Math" panose="02040503050406030204" pitchFamily="18" charset="0"/>
                      </a:rPr>
                      <m:t>Δ</m:t>
                    </m:r>
                    <m:r>
                      <a:rPr lang="fr-FR" sz="2400" b="0" i="0" spc="-1" dirty="0" smtClean="0">
                        <a:solidFill>
                          <a:srgbClr val="376092"/>
                        </a:solidFill>
                        <a:latin typeface="Cambria Math" panose="02040503050406030204" pitchFamily="18" charset="0"/>
                      </a:rPr>
                      <m:t> :</m:t>
                    </m:r>
                  </m:oMath>
                </a14:m>
                <a:endParaRPr lang="fr-FR" sz="2400" b="0" spc="-1" dirty="0">
                  <a:solidFill>
                    <a:srgbClr val="376092"/>
                  </a:solidFill>
                  <a:latin typeface="Calibri"/>
                </a:endParaRP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Négatif : Pas de racine</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0 : une seule racine : </a:t>
                </a:r>
                <a14:m>
                  <m:oMath xmlns:m="http://schemas.openxmlformats.org/officeDocument/2006/math">
                    <m:f>
                      <m:fPr>
                        <m:ctrlPr>
                          <a:rPr lang="fr-FR" sz="2400" spc="-1" smtClean="0">
                            <a:solidFill>
                              <a:srgbClr val="376092"/>
                            </a:solidFill>
                            <a:latin typeface="Cambria Math" panose="02040503050406030204" pitchFamily="18" charset="0"/>
                          </a:rPr>
                        </m:ctrlPr>
                      </m:fPr>
                      <m:num>
                        <m:r>
                          <a:rPr lang="fr-FR" sz="2400" spc="-1" smtClean="0">
                            <a:solidFill>
                              <a:srgbClr val="376092"/>
                            </a:solidFill>
                            <a:latin typeface="Cambria Math" panose="02040503050406030204" pitchFamily="18" charset="0"/>
                          </a:rPr>
                          <m:t>−</m:t>
                        </m:r>
                        <m:r>
                          <a:rPr lang="fr-FR" sz="2400" i="1" spc="-1" smtClean="0">
                            <a:solidFill>
                              <a:srgbClr val="376092"/>
                            </a:solidFill>
                            <a:latin typeface="Cambria Math" panose="02040503050406030204" pitchFamily="18" charset="0"/>
                          </a:rPr>
                          <m:t>𝑏</m:t>
                        </m:r>
                      </m:num>
                      <m:den>
                        <m:r>
                          <a:rPr lang="fr-FR" sz="2400" i="0" spc="-1" smtClean="0">
                            <a:solidFill>
                              <a:srgbClr val="376092"/>
                            </a:solidFill>
                            <a:latin typeface="Cambria Math" panose="02040503050406030204" pitchFamily="18" charset="0"/>
                          </a:rPr>
                          <m:t>2</m:t>
                        </m:r>
                        <m:r>
                          <a:rPr lang="fr-FR" sz="2400" b="0" i="0" spc="-1" smtClean="0">
                            <a:solidFill>
                              <a:srgbClr val="376092"/>
                            </a:solidFill>
                            <a:latin typeface="Cambria Math" panose="02040503050406030204" pitchFamily="18" charset="0"/>
                          </a:rPr>
                          <m:t> ∗ </m:t>
                        </m:r>
                        <m:r>
                          <a:rPr lang="fr-FR" sz="2400" i="1" spc="-1" smtClean="0">
                            <a:solidFill>
                              <a:srgbClr val="376092"/>
                            </a:solidFill>
                            <a:latin typeface="Cambria Math" panose="02040503050406030204" pitchFamily="18" charset="0"/>
                          </a:rPr>
                          <m:t>𝑎</m:t>
                        </m:r>
                      </m:den>
                    </m:f>
                  </m:oMath>
                </a14:m>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Positif : 2 racines :  </a:t>
                </a:r>
                <a14:m>
                  <m:oMath xmlns:m="http://schemas.openxmlformats.org/officeDocument/2006/math">
                    <m:f>
                      <m:fPr>
                        <m:ctrlPr>
                          <a:rPr lang="fr-FR" sz="2400" spc="-1" dirty="0" smtClean="0">
                            <a:solidFill>
                              <a:srgbClr val="376092"/>
                            </a:solidFill>
                            <a:latin typeface="Cambria Math" panose="02040503050406030204" pitchFamily="18" charset="0"/>
                          </a:rPr>
                        </m:ctrlPr>
                      </m:fPr>
                      <m:num>
                        <m:r>
                          <a:rPr lang="fr-FR" sz="2400" spc="-1" dirty="0">
                            <a:solidFill>
                              <a:srgbClr val="376092"/>
                            </a:solidFill>
                            <a:latin typeface="Cambria Math" panose="02040503050406030204" pitchFamily="18" charset="0"/>
                          </a:rPr>
                          <m:t>−</m:t>
                        </m:r>
                        <m:r>
                          <a:rPr lang="fr-FR" sz="2400" i="1" spc="-1" dirty="0">
                            <a:solidFill>
                              <a:srgbClr val="376092"/>
                            </a:solidFill>
                            <a:latin typeface="Cambria Math" panose="02040503050406030204" pitchFamily="18" charset="0"/>
                          </a:rPr>
                          <m:t>𝑏</m:t>
                        </m:r>
                        <m:r>
                          <a:rPr lang="fr-FR" sz="2400" i="0" spc="-1" dirty="0">
                            <a:solidFill>
                              <a:srgbClr val="376092"/>
                            </a:solidFill>
                            <a:latin typeface="Cambria Math" panose="02040503050406030204" pitchFamily="18" charset="0"/>
                          </a:rPr>
                          <m:t>−</m:t>
                        </m:r>
                        <m:rad>
                          <m:radPr>
                            <m:degHide m:val="on"/>
                            <m:ctrlPr>
                              <a:rPr lang="fr-FR" sz="2400" i="1" spc="-1" dirty="0">
                                <a:solidFill>
                                  <a:srgbClr val="376092"/>
                                </a:solidFill>
                                <a:latin typeface="Cambria Math" panose="02040503050406030204" pitchFamily="18" charset="0"/>
                              </a:rPr>
                            </m:ctrlPr>
                          </m:radPr>
                          <m:deg/>
                          <m:e>
                            <m:r>
                              <m:rPr>
                                <m:sty m:val="p"/>
                              </m:rPr>
                              <a:rPr lang="fr-FR" sz="2400" i="0" spc="-1" dirty="0">
                                <a:solidFill>
                                  <a:srgbClr val="376092"/>
                                </a:solidFill>
                                <a:latin typeface="Cambria Math" panose="02040503050406030204" pitchFamily="18" charset="0"/>
                              </a:rPr>
                              <m:t>Δ</m:t>
                            </m:r>
                          </m:e>
                        </m:rad>
                      </m:num>
                      <m:den>
                        <m:r>
                          <a:rPr lang="fr-FR" sz="2400" i="0" spc="-1" dirty="0">
                            <a:solidFill>
                              <a:srgbClr val="376092"/>
                            </a:solidFill>
                            <a:latin typeface="Cambria Math" panose="02040503050406030204" pitchFamily="18" charset="0"/>
                          </a:rPr>
                          <m:t>2</m:t>
                        </m:r>
                        <m:r>
                          <a:rPr lang="fr-FR" sz="2400" b="0" i="1" spc="-1" dirty="0" smtClean="0">
                            <a:solidFill>
                              <a:srgbClr val="376092"/>
                            </a:solidFill>
                            <a:latin typeface="Cambria Math" panose="02040503050406030204" pitchFamily="18" charset="0"/>
                          </a:rPr>
                          <m:t> ∗</m:t>
                        </m:r>
                        <m:r>
                          <a:rPr lang="fr-FR" sz="2400" b="0" i="1" spc="-1" dirty="0" smtClean="0">
                            <a:solidFill>
                              <a:srgbClr val="376092"/>
                            </a:solidFill>
                            <a:latin typeface="Cambria Math" panose="02040503050406030204" pitchFamily="18" charset="0"/>
                          </a:rPr>
                          <m:t>𝑎</m:t>
                        </m:r>
                      </m:den>
                    </m:f>
                  </m:oMath>
                </a14:m>
                <a:r>
                  <a:rPr lang="fr-FR" sz="2400" spc="-1" dirty="0">
                    <a:solidFill>
                      <a:srgbClr val="376092"/>
                    </a:solidFill>
                    <a:latin typeface="Calibri"/>
                  </a:rPr>
                  <a:t> et </a:t>
                </a:r>
                <a14:m>
                  <m:oMath xmlns:m="http://schemas.openxmlformats.org/officeDocument/2006/math">
                    <m:f>
                      <m:fPr>
                        <m:ctrlPr>
                          <a:rPr lang="fr-FR" sz="2400" i="1" spc="-1" dirty="0">
                            <a:solidFill>
                              <a:srgbClr val="376092"/>
                            </a:solidFill>
                            <a:latin typeface="Cambria Math" panose="02040503050406030204" pitchFamily="18" charset="0"/>
                          </a:rPr>
                        </m:ctrlPr>
                      </m:fPr>
                      <m:num>
                        <m:r>
                          <a:rPr lang="fr-FR" sz="2400" spc="-1" dirty="0">
                            <a:solidFill>
                              <a:srgbClr val="376092"/>
                            </a:solidFill>
                            <a:latin typeface="Cambria Math" panose="02040503050406030204" pitchFamily="18" charset="0"/>
                          </a:rPr>
                          <m:t>−</m:t>
                        </m:r>
                        <m:r>
                          <a:rPr lang="fr-FR" sz="2400" i="1" spc="-1" dirty="0">
                            <a:solidFill>
                              <a:srgbClr val="376092"/>
                            </a:solidFill>
                            <a:latin typeface="Cambria Math" panose="02040503050406030204" pitchFamily="18" charset="0"/>
                          </a:rPr>
                          <m:t>𝑏</m:t>
                        </m:r>
                        <m:r>
                          <a:rPr lang="fr-FR" sz="2400" b="0" i="0" spc="-1" dirty="0" smtClean="0">
                            <a:solidFill>
                              <a:srgbClr val="376092"/>
                            </a:solidFill>
                            <a:latin typeface="Cambria Math" panose="02040503050406030204" pitchFamily="18" charset="0"/>
                          </a:rPr>
                          <m:t>+</m:t>
                        </m:r>
                        <m:rad>
                          <m:radPr>
                            <m:degHide m:val="on"/>
                            <m:ctrlPr>
                              <a:rPr lang="fr-FR" sz="2400" i="1" spc="-1" dirty="0">
                                <a:solidFill>
                                  <a:srgbClr val="376092"/>
                                </a:solidFill>
                                <a:latin typeface="Cambria Math" panose="02040503050406030204" pitchFamily="18" charset="0"/>
                              </a:rPr>
                            </m:ctrlPr>
                          </m:radPr>
                          <m:deg/>
                          <m:e>
                            <m:r>
                              <m:rPr>
                                <m:sty m:val="p"/>
                              </m:rPr>
                              <a:rPr lang="fr-FR" sz="2400" spc="-1" dirty="0">
                                <a:solidFill>
                                  <a:srgbClr val="376092"/>
                                </a:solidFill>
                                <a:latin typeface="Cambria Math" panose="02040503050406030204" pitchFamily="18" charset="0"/>
                              </a:rPr>
                              <m:t>Δ</m:t>
                            </m:r>
                          </m:e>
                        </m:rad>
                      </m:num>
                      <m:den>
                        <m:r>
                          <a:rPr lang="fr-FR" sz="2400" spc="-1" dirty="0">
                            <a:solidFill>
                              <a:srgbClr val="376092"/>
                            </a:solidFill>
                            <a:latin typeface="Cambria Math" panose="02040503050406030204" pitchFamily="18" charset="0"/>
                          </a:rPr>
                          <m:t>2</m:t>
                        </m:r>
                        <m:r>
                          <a:rPr lang="fr-FR" sz="2400" i="1" spc="-1" dirty="0">
                            <a:solidFill>
                              <a:srgbClr val="376092"/>
                            </a:solidFill>
                            <a:latin typeface="Cambria Math" panose="02040503050406030204" pitchFamily="18" charset="0"/>
                          </a:rPr>
                          <m:t> ∗</m:t>
                        </m:r>
                        <m:r>
                          <a:rPr lang="fr-FR" sz="2400" i="1" spc="-1" dirty="0">
                            <a:solidFill>
                              <a:srgbClr val="376092"/>
                            </a:solidFill>
                            <a:latin typeface="Cambria Math" panose="02040503050406030204" pitchFamily="18" charset="0"/>
                          </a:rPr>
                          <m:t>𝑎</m:t>
                        </m:r>
                      </m:den>
                    </m:f>
                  </m:oMath>
                </a14:m>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La valeur du discriminant nous donne aussi une information sur le signe de la fonction :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Négatif : Toujours du même signe que a</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0 : Valeur 0 pour </a:t>
                </a:r>
                <a14:m>
                  <m:oMath xmlns:m="http://schemas.openxmlformats.org/officeDocument/2006/math">
                    <m:f>
                      <m:fPr>
                        <m:ctrlPr>
                          <a:rPr lang="fr-FR" sz="2400" i="1" spc="-1">
                            <a:solidFill>
                              <a:srgbClr val="376092"/>
                            </a:solidFill>
                            <a:latin typeface="Cambria Math" panose="02040503050406030204" pitchFamily="18" charset="0"/>
                          </a:rPr>
                        </m:ctrlPr>
                      </m:fPr>
                      <m:num>
                        <m:r>
                          <a:rPr lang="fr-FR" sz="2400" spc="-1">
                            <a:solidFill>
                              <a:srgbClr val="376092"/>
                            </a:solidFill>
                            <a:latin typeface="Cambria Math" panose="02040503050406030204" pitchFamily="18" charset="0"/>
                          </a:rPr>
                          <m:t>−</m:t>
                        </m:r>
                        <m:r>
                          <a:rPr lang="fr-FR" sz="2400" i="1" spc="-1">
                            <a:solidFill>
                              <a:srgbClr val="376092"/>
                            </a:solidFill>
                            <a:latin typeface="Cambria Math" panose="02040503050406030204" pitchFamily="18" charset="0"/>
                          </a:rPr>
                          <m:t>𝑏</m:t>
                        </m:r>
                      </m:num>
                      <m:den>
                        <m:r>
                          <a:rPr lang="fr-FR" sz="2400" spc="-1">
                            <a:solidFill>
                              <a:srgbClr val="376092"/>
                            </a:solidFill>
                            <a:latin typeface="Cambria Math" panose="02040503050406030204" pitchFamily="18" charset="0"/>
                          </a:rPr>
                          <m:t>2 ∗ </m:t>
                        </m:r>
                        <m:r>
                          <a:rPr lang="fr-FR" sz="2400" i="1" spc="-1">
                            <a:solidFill>
                              <a:srgbClr val="376092"/>
                            </a:solidFill>
                            <a:latin typeface="Cambria Math" panose="02040503050406030204" pitchFamily="18" charset="0"/>
                          </a:rPr>
                          <m:t>𝑎</m:t>
                        </m:r>
                      </m:den>
                    </m:f>
                    <m:r>
                      <a:rPr lang="fr-FR" sz="2400" b="0" i="1" spc="-1" smtClean="0">
                        <a:solidFill>
                          <a:srgbClr val="376092"/>
                        </a:solidFill>
                        <a:latin typeface="Cambria Math" panose="02040503050406030204" pitchFamily="18" charset="0"/>
                      </a:rPr>
                      <m:t> </m:t>
                    </m:r>
                  </m:oMath>
                </a14:m>
                <a:r>
                  <a:rPr lang="fr-FR" sz="2400" spc="-1" dirty="0">
                    <a:solidFill>
                      <a:srgbClr val="376092"/>
                    </a:solidFill>
                    <a:latin typeface="Calibri"/>
                  </a:rPr>
                  <a:t>et le même signe que a le reste</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Positif : signe de a à l'extérieur des racines, -a à l'intérieur</a:t>
                </a:r>
                <a:endParaRPr lang="en-US" sz="2400" b="0" strike="noStrike" spc="-1" dirty="0">
                  <a:solidFill>
                    <a:srgbClr val="376092"/>
                  </a:solidFill>
                  <a:latin typeface="Calibri"/>
                </a:endParaRPr>
              </a:p>
            </p:txBody>
          </p:sp>
        </mc:Choice>
        <mc:Fallback>
          <p:sp>
            <p:nvSpPr>
              <p:cNvPr id="136" name="TextShape 2">
                <a:extLst>
                  <a:ext uri="{FF2B5EF4-FFF2-40B4-BE49-F238E27FC236}">
                    <a16:creationId xmlns:a16="http://schemas.microsoft.com/office/drawing/2014/main" id="{1DC068C4-D4B5-6D29-6421-215BF66E9EE1}"/>
                  </a:ext>
                </a:extLst>
              </p:cNvPr>
              <p:cNvSpPr txBox="1">
                <a:spLocks noRot="1" noChangeAspect="1" noMove="1" noResize="1" noEditPoints="1" noAdjustHandles="1" noChangeArrowheads="1" noChangeShapeType="1" noTextEdit="1"/>
              </p:cNvSpPr>
              <p:nvPr/>
            </p:nvSpPr>
            <p:spPr>
              <a:xfrm>
                <a:off x="457200" y="1233996"/>
                <a:ext cx="8229240" cy="4891764"/>
              </a:xfrm>
              <a:prstGeom prst="rect">
                <a:avLst/>
              </a:prstGeom>
              <a:blipFill>
                <a:blip r:embed="rId2"/>
                <a:stretch>
                  <a:fillRect t="-1868" b="-2242"/>
                </a:stretch>
              </a:blipFill>
              <a:ln w="0">
                <a:noFill/>
              </a:ln>
            </p:spPr>
            <p:txBody>
              <a:bodyPr/>
              <a:lstStyle/>
              <a:p>
                <a:r>
                  <a:rPr lang="fr-FR">
                    <a:noFill/>
                  </a:rPr>
                  <a:t> </a:t>
                </a:r>
              </a:p>
            </p:txBody>
          </p:sp>
        </mc:Fallback>
      </mc:AlternateContent>
    </p:spTree>
    <p:extLst>
      <p:ext uri="{BB962C8B-B14F-4D97-AF65-F5344CB8AC3E}">
        <p14:creationId xmlns:p14="http://schemas.microsoft.com/office/powerpoint/2010/main" val="529181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B300C-824C-4327-E864-337CD93B63A7}"/>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0DCBC276-53DA-490D-840F-14A7D0C0AADC}"/>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Fonctions polynomiales de degrés 2 : </a:t>
            </a:r>
            <a:endParaRPr lang="en-US" sz="3200" b="0" strike="noStrike" spc="-1" dirty="0">
              <a:solidFill>
                <a:srgbClr val="376092"/>
              </a:solidFill>
              <a:latin typeface="Arial"/>
            </a:endParaRPr>
          </a:p>
        </p:txBody>
      </p:sp>
      <p:sp>
        <p:nvSpPr>
          <p:cNvPr id="136" name="TextShape 2">
            <a:extLst>
              <a:ext uri="{FF2B5EF4-FFF2-40B4-BE49-F238E27FC236}">
                <a16:creationId xmlns:a16="http://schemas.microsoft.com/office/drawing/2014/main" id="{94124141-C67E-3150-E40F-740020818BD8}"/>
              </a:ext>
            </a:extLst>
          </p:cNvPr>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On peut dresser un tableau de signe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Dressons le tableau de signe pour la fonction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f(x) = 4x² - 2x +0,25 </a:t>
            </a:r>
          </a:p>
          <a:p>
            <a:pPr marL="406800" indent="-324000">
              <a:spcAft>
                <a:spcPts val="1134"/>
              </a:spcAft>
              <a:buClr>
                <a:srgbClr val="000000"/>
              </a:buClr>
              <a:buSzPct val="45000"/>
              <a:buFont typeface="Wingdings" charset="2"/>
              <a:buChar char=""/>
            </a:pPr>
            <a:endParaRPr lang="en-US" sz="2400" b="0" strike="noStrike" spc="-1" dirty="0">
              <a:solidFill>
                <a:srgbClr val="376092"/>
              </a:solidFill>
              <a:latin typeface="Calibri"/>
            </a:endParaRPr>
          </a:p>
        </p:txBody>
      </p:sp>
      <mc:AlternateContent xmlns:mc="http://schemas.openxmlformats.org/markup-compatibility/2006">
        <mc:Choice xmlns:a14="http://schemas.microsoft.com/office/drawing/2010/main" Requires="a14">
          <p:graphicFrame>
            <p:nvGraphicFramePr>
              <p:cNvPr id="2" name="Tableau 1">
                <a:extLst>
                  <a:ext uri="{FF2B5EF4-FFF2-40B4-BE49-F238E27FC236}">
                    <a16:creationId xmlns:a16="http://schemas.microsoft.com/office/drawing/2014/main" id="{FACED2D3-C17E-F8C1-85CA-C51B62CDF4DF}"/>
                  </a:ext>
                </a:extLst>
              </p:cNvPr>
              <p:cNvGraphicFramePr>
                <a:graphicFrameLocks noGrp="1"/>
              </p:cNvGraphicFramePr>
              <p:nvPr>
                <p:extLst>
                  <p:ext uri="{D42A27DB-BD31-4B8C-83A1-F6EECF244321}">
                    <p14:modId xmlns:p14="http://schemas.microsoft.com/office/powerpoint/2010/main" val="1047611151"/>
                  </p:ext>
                </p:extLst>
              </p:nvPr>
            </p:nvGraphicFramePr>
            <p:xfrm>
              <a:off x="558458" y="1844995"/>
              <a:ext cx="8127984" cy="741680"/>
            </p:xfrm>
            <a:graphic>
              <a:graphicData uri="http://schemas.openxmlformats.org/drawingml/2006/table">
                <a:tbl>
                  <a:tblPr firstRow="1" bandRow="1">
                    <a:tableStyleId>{5C22544A-7EE6-4342-B048-85BDC9FD1C3A}</a:tableStyleId>
                  </a:tblPr>
                  <a:tblGrid>
                    <a:gridCol w="1015998">
                      <a:extLst>
                        <a:ext uri="{9D8B030D-6E8A-4147-A177-3AD203B41FA5}">
                          <a16:colId xmlns:a16="http://schemas.microsoft.com/office/drawing/2014/main" val="3316938313"/>
                        </a:ext>
                      </a:extLst>
                    </a:gridCol>
                    <a:gridCol w="1015998">
                      <a:extLst>
                        <a:ext uri="{9D8B030D-6E8A-4147-A177-3AD203B41FA5}">
                          <a16:colId xmlns:a16="http://schemas.microsoft.com/office/drawing/2014/main" val="1221523304"/>
                        </a:ext>
                      </a:extLst>
                    </a:gridCol>
                    <a:gridCol w="1015998">
                      <a:extLst>
                        <a:ext uri="{9D8B030D-6E8A-4147-A177-3AD203B41FA5}">
                          <a16:colId xmlns:a16="http://schemas.microsoft.com/office/drawing/2014/main" val="726203971"/>
                        </a:ext>
                      </a:extLst>
                    </a:gridCol>
                    <a:gridCol w="1015998">
                      <a:extLst>
                        <a:ext uri="{9D8B030D-6E8A-4147-A177-3AD203B41FA5}">
                          <a16:colId xmlns:a16="http://schemas.microsoft.com/office/drawing/2014/main" val="1026511247"/>
                        </a:ext>
                      </a:extLst>
                    </a:gridCol>
                    <a:gridCol w="1015998">
                      <a:extLst>
                        <a:ext uri="{9D8B030D-6E8A-4147-A177-3AD203B41FA5}">
                          <a16:colId xmlns:a16="http://schemas.microsoft.com/office/drawing/2014/main" val="3050641316"/>
                        </a:ext>
                      </a:extLst>
                    </a:gridCol>
                    <a:gridCol w="1015998">
                      <a:extLst>
                        <a:ext uri="{9D8B030D-6E8A-4147-A177-3AD203B41FA5}">
                          <a16:colId xmlns:a16="http://schemas.microsoft.com/office/drawing/2014/main" val="3460176134"/>
                        </a:ext>
                      </a:extLst>
                    </a:gridCol>
                    <a:gridCol w="1015998">
                      <a:extLst>
                        <a:ext uri="{9D8B030D-6E8A-4147-A177-3AD203B41FA5}">
                          <a16:colId xmlns:a16="http://schemas.microsoft.com/office/drawing/2014/main" val="3340309319"/>
                        </a:ext>
                      </a:extLst>
                    </a:gridCol>
                    <a:gridCol w="1015998">
                      <a:extLst>
                        <a:ext uri="{9D8B030D-6E8A-4147-A177-3AD203B41FA5}">
                          <a16:colId xmlns:a16="http://schemas.microsoft.com/office/drawing/2014/main" val="570304289"/>
                        </a:ext>
                      </a:extLst>
                    </a:gridCol>
                  </a:tblGrid>
                  <a:tr h="370840">
                    <a:tc>
                      <a:txBody>
                        <a:bodyPr/>
                        <a:lstStyle/>
                        <a:p>
                          <a:pPr algn="ctr"/>
                          <a:r>
                            <a:rPr lang="fr-FR" dirty="0"/>
                            <a:t>x</a:t>
                          </a:r>
                        </a:p>
                      </a:txBody>
                      <a:tcPr/>
                    </a:tc>
                    <a:tc>
                      <a:txBody>
                        <a:bodyPr/>
                        <a:lstStyle/>
                        <a:p>
                          <a:pPr algn="ctr"/>
                          <a14:m>
                            <m:oMathPara xmlns:m="http://schemas.openxmlformats.org/officeDocument/2006/math">
                              <m:oMathParaPr>
                                <m:jc m:val="centerGroup"/>
                              </m:oMathParaPr>
                              <m:oMath xmlns:m="http://schemas.openxmlformats.org/officeDocument/2006/math">
                                <m:r>
                                  <a:rPr lang="fr-FR" dirty="0" smtClean="0">
                                    <a:latin typeface="Cambria Math" panose="02040503050406030204" pitchFamily="18" charset="0"/>
                                  </a:rPr>
                                  <m:t>−</m:t>
                                </m:r>
                                <m:r>
                                  <a:rPr lang="fr-FR" i="0" dirty="0">
                                    <a:latin typeface="Cambria Math" panose="02040503050406030204" pitchFamily="18" charset="0"/>
                                  </a:rPr>
                                  <m:t>∞</m:t>
                                </m:r>
                              </m:oMath>
                            </m:oMathPara>
                          </a14:m>
                          <a:endParaRPr lang="fr-FR" dirty="0"/>
                        </a:p>
                      </a:txBody>
                      <a:tcPr/>
                    </a:tc>
                    <a:tc>
                      <a:txBody>
                        <a:bodyPr/>
                        <a:lstStyle/>
                        <a:p>
                          <a:pPr algn="ctr"/>
                          <a:endParaRPr lang="fr-FR" dirty="0"/>
                        </a:p>
                      </a:txBody>
                      <a:tcPr/>
                    </a:tc>
                    <a:tc>
                      <a:txBody>
                        <a:bodyPr/>
                        <a:lstStyle/>
                        <a:p>
                          <a:pPr algn="ctr"/>
                          <a:r>
                            <a:rPr lang="fr-FR" dirty="0"/>
                            <a:t>r1</a:t>
                          </a:r>
                        </a:p>
                      </a:txBody>
                      <a:tcPr/>
                    </a:tc>
                    <a:tc>
                      <a:txBody>
                        <a:bodyPr/>
                        <a:lstStyle/>
                        <a:p>
                          <a:pPr algn="ctr"/>
                          <a:endParaRPr lang="fr-FR"/>
                        </a:p>
                      </a:txBody>
                      <a:tcPr/>
                    </a:tc>
                    <a:tc>
                      <a:txBody>
                        <a:bodyPr/>
                        <a:lstStyle/>
                        <a:p>
                          <a:pPr algn="ctr"/>
                          <a:r>
                            <a:rPr lang="fr-FR" dirty="0"/>
                            <a:t>r2</a:t>
                          </a:r>
                        </a:p>
                      </a:txBody>
                      <a:tcPr/>
                    </a:tc>
                    <a:tc>
                      <a:txBody>
                        <a:bodyPr/>
                        <a:lstStyle/>
                        <a:p>
                          <a:pPr algn="ctr"/>
                          <a:endParaRPr lang="fr-FR"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fr-FR" i="0" dirty="0" smtClean="0">
                                    <a:latin typeface="Cambria Math" panose="02040503050406030204" pitchFamily="18" charset="0"/>
                                  </a:rPr>
                                  <m:t>+</m:t>
                                </m:r>
                                <m:r>
                                  <a:rPr lang="fr-FR" i="0" dirty="0">
                                    <a:latin typeface="Cambria Math" panose="02040503050406030204" pitchFamily="18" charset="0"/>
                                  </a:rPr>
                                  <m:t>∞</m:t>
                                </m:r>
                              </m:oMath>
                            </m:oMathPara>
                          </a14:m>
                          <a:endParaRPr lang="fr-FR" dirty="0"/>
                        </a:p>
                      </a:txBody>
                      <a:tcPr/>
                    </a:tc>
                    <a:extLst>
                      <a:ext uri="{0D108BD9-81ED-4DB2-BD59-A6C34878D82A}">
                        <a16:rowId xmlns:a16="http://schemas.microsoft.com/office/drawing/2014/main" val="4286369762"/>
                      </a:ext>
                    </a:extLst>
                  </a:tr>
                  <a:tr h="370840">
                    <a:tc>
                      <a:txBody>
                        <a:bodyPr/>
                        <a:lstStyle/>
                        <a:p>
                          <a:pPr algn="ctr"/>
                          <a:r>
                            <a:rPr lang="fr-FR" dirty="0"/>
                            <a:t>f(x)</a:t>
                          </a:r>
                        </a:p>
                      </a:txBody>
                      <a:tcPr/>
                    </a:tc>
                    <a:tc>
                      <a:txBody>
                        <a:bodyPr/>
                        <a:lstStyle/>
                        <a:p>
                          <a:pPr algn="ctr"/>
                          <a:endParaRPr lang="fr-FR"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dirty="0"/>
                            <a:t>signe a</a:t>
                          </a:r>
                        </a:p>
                      </a:txBody>
                      <a:tcPr/>
                    </a:tc>
                    <a:tc>
                      <a:txBody>
                        <a:bodyPr/>
                        <a:lstStyle/>
                        <a:p>
                          <a:pPr algn="ctr"/>
                          <a:r>
                            <a:rPr lang="fr-FR" dirty="0"/>
                            <a:t>0</a:t>
                          </a:r>
                        </a:p>
                      </a:txBody>
                      <a:tcPr/>
                    </a:tc>
                    <a:tc>
                      <a:txBody>
                        <a:bodyPr/>
                        <a:lstStyle/>
                        <a:p>
                          <a:pPr algn="ctr"/>
                          <a:r>
                            <a:rPr lang="fr-FR" dirty="0"/>
                            <a:t>signe -a</a:t>
                          </a:r>
                        </a:p>
                      </a:txBody>
                      <a:tcPr/>
                    </a:tc>
                    <a:tc>
                      <a:txBody>
                        <a:bodyPr/>
                        <a:lstStyle/>
                        <a:p>
                          <a:pPr algn="ctr"/>
                          <a:r>
                            <a:rPr lang="fr-FR" dirty="0"/>
                            <a:t>0</a:t>
                          </a:r>
                        </a:p>
                      </a:txBody>
                      <a:tcPr/>
                    </a:tc>
                    <a:tc>
                      <a:txBody>
                        <a:bodyPr/>
                        <a:lstStyle/>
                        <a:p>
                          <a:pPr algn="ctr"/>
                          <a:r>
                            <a:rPr lang="fr-FR" dirty="0"/>
                            <a:t>signe a</a:t>
                          </a:r>
                        </a:p>
                      </a:txBody>
                      <a:tcPr/>
                    </a:tc>
                    <a:tc>
                      <a:txBody>
                        <a:bodyPr/>
                        <a:lstStyle/>
                        <a:p>
                          <a:pPr algn="ctr"/>
                          <a:endParaRPr lang="fr-FR" dirty="0"/>
                        </a:p>
                      </a:txBody>
                      <a:tcPr/>
                    </a:tc>
                    <a:extLst>
                      <a:ext uri="{0D108BD9-81ED-4DB2-BD59-A6C34878D82A}">
                        <a16:rowId xmlns:a16="http://schemas.microsoft.com/office/drawing/2014/main" val="2719704349"/>
                      </a:ext>
                    </a:extLst>
                  </a:tr>
                </a:tbl>
              </a:graphicData>
            </a:graphic>
          </p:graphicFrame>
        </mc:Choice>
        <mc:Fallback>
          <p:graphicFrame>
            <p:nvGraphicFramePr>
              <p:cNvPr id="2" name="Tableau 1">
                <a:extLst>
                  <a:ext uri="{FF2B5EF4-FFF2-40B4-BE49-F238E27FC236}">
                    <a16:creationId xmlns:a16="http://schemas.microsoft.com/office/drawing/2014/main" id="{FACED2D3-C17E-F8C1-85CA-C51B62CDF4DF}"/>
                  </a:ext>
                </a:extLst>
              </p:cNvPr>
              <p:cNvGraphicFramePr>
                <a:graphicFrameLocks noGrp="1"/>
              </p:cNvGraphicFramePr>
              <p:nvPr>
                <p:extLst>
                  <p:ext uri="{D42A27DB-BD31-4B8C-83A1-F6EECF244321}">
                    <p14:modId xmlns:p14="http://schemas.microsoft.com/office/powerpoint/2010/main" val="1047611151"/>
                  </p:ext>
                </p:extLst>
              </p:nvPr>
            </p:nvGraphicFramePr>
            <p:xfrm>
              <a:off x="558458" y="1844995"/>
              <a:ext cx="8127984" cy="741680"/>
            </p:xfrm>
            <a:graphic>
              <a:graphicData uri="http://schemas.openxmlformats.org/drawingml/2006/table">
                <a:tbl>
                  <a:tblPr firstRow="1" bandRow="1">
                    <a:tableStyleId>{5C22544A-7EE6-4342-B048-85BDC9FD1C3A}</a:tableStyleId>
                  </a:tblPr>
                  <a:tblGrid>
                    <a:gridCol w="1015998">
                      <a:extLst>
                        <a:ext uri="{9D8B030D-6E8A-4147-A177-3AD203B41FA5}">
                          <a16:colId xmlns:a16="http://schemas.microsoft.com/office/drawing/2014/main" val="3316938313"/>
                        </a:ext>
                      </a:extLst>
                    </a:gridCol>
                    <a:gridCol w="1015998">
                      <a:extLst>
                        <a:ext uri="{9D8B030D-6E8A-4147-A177-3AD203B41FA5}">
                          <a16:colId xmlns:a16="http://schemas.microsoft.com/office/drawing/2014/main" val="1221523304"/>
                        </a:ext>
                      </a:extLst>
                    </a:gridCol>
                    <a:gridCol w="1015998">
                      <a:extLst>
                        <a:ext uri="{9D8B030D-6E8A-4147-A177-3AD203B41FA5}">
                          <a16:colId xmlns:a16="http://schemas.microsoft.com/office/drawing/2014/main" val="726203971"/>
                        </a:ext>
                      </a:extLst>
                    </a:gridCol>
                    <a:gridCol w="1015998">
                      <a:extLst>
                        <a:ext uri="{9D8B030D-6E8A-4147-A177-3AD203B41FA5}">
                          <a16:colId xmlns:a16="http://schemas.microsoft.com/office/drawing/2014/main" val="1026511247"/>
                        </a:ext>
                      </a:extLst>
                    </a:gridCol>
                    <a:gridCol w="1015998">
                      <a:extLst>
                        <a:ext uri="{9D8B030D-6E8A-4147-A177-3AD203B41FA5}">
                          <a16:colId xmlns:a16="http://schemas.microsoft.com/office/drawing/2014/main" val="3050641316"/>
                        </a:ext>
                      </a:extLst>
                    </a:gridCol>
                    <a:gridCol w="1015998">
                      <a:extLst>
                        <a:ext uri="{9D8B030D-6E8A-4147-A177-3AD203B41FA5}">
                          <a16:colId xmlns:a16="http://schemas.microsoft.com/office/drawing/2014/main" val="3460176134"/>
                        </a:ext>
                      </a:extLst>
                    </a:gridCol>
                    <a:gridCol w="1015998">
                      <a:extLst>
                        <a:ext uri="{9D8B030D-6E8A-4147-A177-3AD203B41FA5}">
                          <a16:colId xmlns:a16="http://schemas.microsoft.com/office/drawing/2014/main" val="3340309319"/>
                        </a:ext>
                      </a:extLst>
                    </a:gridCol>
                    <a:gridCol w="1015998">
                      <a:extLst>
                        <a:ext uri="{9D8B030D-6E8A-4147-A177-3AD203B41FA5}">
                          <a16:colId xmlns:a16="http://schemas.microsoft.com/office/drawing/2014/main" val="570304289"/>
                        </a:ext>
                      </a:extLst>
                    </a:gridCol>
                  </a:tblGrid>
                  <a:tr h="370840">
                    <a:tc>
                      <a:txBody>
                        <a:bodyPr/>
                        <a:lstStyle/>
                        <a:p>
                          <a:pPr algn="ctr"/>
                          <a:r>
                            <a:rPr lang="fr-FR" dirty="0"/>
                            <a:t>x</a:t>
                          </a:r>
                        </a:p>
                      </a:txBody>
                      <a:tcPr/>
                    </a:tc>
                    <a:tc>
                      <a:txBody>
                        <a:bodyPr/>
                        <a:lstStyle/>
                        <a:p>
                          <a:endParaRPr lang="fr-FR"/>
                        </a:p>
                      </a:txBody>
                      <a:tcPr>
                        <a:blipFill>
                          <a:blip r:embed="rId2"/>
                          <a:stretch>
                            <a:fillRect l="-100599" t="-8065" r="-601796" b="-120968"/>
                          </a:stretch>
                        </a:blipFill>
                      </a:tcPr>
                    </a:tc>
                    <a:tc>
                      <a:txBody>
                        <a:bodyPr/>
                        <a:lstStyle/>
                        <a:p>
                          <a:pPr algn="ctr"/>
                          <a:endParaRPr lang="fr-FR" dirty="0"/>
                        </a:p>
                      </a:txBody>
                      <a:tcPr/>
                    </a:tc>
                    <a:tc>
                      <a:txBody>
                        <a:bodyPr/>
                        <a:lstStyle/>
                        <a:p>
                          <a:pPr algn="ctr"/>
                          <a:r>
                            <a:rPr lang="fr-FR" dirty="0"/>
                            <a:t>r1</a:t>
                          </a:r>
                        </a:p>
                      </a:txBody>
                      <a:tcPr/>
                    </a:tc>
                    <a:tc>
                      <a:txBody>
                        <a:bodyPr/>
                        <a:lstStyle/>
                        <a:p>
                          <a:pPr algn="ctr"/>
                          <a:endParaRPr lang="fr-FR"/>
                        </a:p>
                      </a:txBody>
                      <a:tcPr/>
                    </a:tc>
                    <a:tc>
                      <a:txBody>
                        <a:bodyPr/>
                        <a:lstStyle/>
                        <a:p>
                          <a:pPr algn="ctr"/>
                          <a:r>
                            <a:rPr lang="fr-FR" dirty="0"/>
                            <a:t>r2</a:t>
                          </a:r>
                        </a:p>
                      </a:txBody>
                      <a:tcPr/>
                    </a:tc>
                    <a:tc>
                      <a:txBody>
                        <a:bodyPr/>
                        <a:lstStyle/>
                        <a:p>
                          <a:pPr algn="ctr"/>
                          <a:endParaRPr lang="fr-FR" dirty="0"/>
                        </a:p>
                      </a:txBody>
                      <a:tcPr/>
                    </a:tc>
                    <a:tc>
                      <a:txBody>
                        <a:bodyPr/>
                        <a:lstStyle/>
                        <a:p>
                          <a:endParaRPr lang="fr-FR"/>
                        </a:p>
                      </a:txBody>
                      <a:tcPr>
                        <a:blipFill>
                          <a:blip r:embed="rId2"/>
                          <a:stretch>
                            <a:fillRect l="-699401" t="-8065" r="-2994" b="-120968"/>
                          </a:stretch>
                        </a:blipFill>
                      </a:tcPr>
                    </a:tc>
                    <a:extLst>
                      <a:ext uri="{0D108BD9-81ED-4DB2-BD59-A6C34878D82A}">
                        <a16:rowId xmlns:a16="http://schemas.microsoft.com/office/drawing/2014/main" val="4286369762"/>
                      </a:ext>
                    </a:extLst>
                  </a:tr>
                  <a:tr h="370840">
                    <a:tc>
                      <a:txBody>
                        <a:bodyPr/>
                        <a:lstStyle/>
                        <a:p>
                          <a:pPr algn="ctr"/>
                          <a:r>
                            <a:rPr lang="fr-FR" dirty="0"/>
                            <a:t>f(x)</a:t>
                          </a:r>
                        </a:p>
                      </a:txBody>
                      <a:tcPr/>
                    </a:tc>
                    <a:tc>
                      <a:txBody>
                        <a:bodyPr/>
                        <a:lstStyle/>
                        <a:p>
                          <a:pPr algn="ctr"/>
                          <a:endParaRPr lang="fr-FR"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dirty="0"/>
                            <a:t>signe a</a:t>
                          </a:r>
                        </a:p>
                      </a:txBody>
                      <a:tcPr/>
                    </a:tc>
                    <a:tc>
                      <a:txBody>
                        <a:bodyPr/>
                        <a:lstStyle/>
                        <a:p>
                          <a:pPr algn="ctr"/>
                          <a:r>
                            <a:rPr lang="fr-FR" dirty="0"/>
                            <a:t>0</a:t>
                          </a:r>
                        </a:p>
                      </a:txBody>
                      <a:tcPr/>
                    </a:tc>
                    <a:tc>
                      <a:txBody>
                        <a:bodyPr/>
                        <a:lstStyle/>
                        <a:p>
                          <a:pPr algn="ctr"/>
                          <a:r>
                            <a:rPr lang="fr-FR" dirty="0"/>
                            <a:t>signe -a</a:t>
                          </a:r>
                        </a:p>
                      </a:txBody>
                      <a:tcPr/>
                    </a:tc>
                    <a:tc>
                      <a:txBody>
                        <a:bodyPr/>
                        <a:lstStyle/>
                        <a:p>
                          <a:pPr algn="ctr"/>
                          <a:r>
                            <a:rPr lang="fr-FR" dirty="0"/>
                            <a:t>0</a:t>
                          </a:r>
                        </a:p>
                      </a:txBody>
                      <a:tcPr/>
                    </a:tc>
                    <a:tc>
                      <a:txBody>
                        <a:bodyPr/>
                        <a:lstStyle/>
                        <a:p>
                          <a:pPr algn="ctr"/>
                          <a:r>
                            <a:rPr lang="fr-FR" dirty="0"/>
                            <a:t>signe a</a:t>
                          </a:r>
                        </a:p>
                      </a:txBody>
                      <a:tcPr/>
                    </a:tc>
                    <a:tc>
                      <a:txBody>
                        <a:bodyPr/>
                        <a:lstStyle/>
                        <a:p>
                          <a:pPr algn="ctr"/>
                          <a:endParaRPr lang="fr-FR" dirty="0"/>
                        </a:p>
                      </a:txBody>
                      <a:tcPr/>
                    </a:tc>
                    <a:extLst>
                      <a:ext uri="{0D108BD9-81ED-4DB2-BD59-A6C34878D82A}">
                        <a16:rowId xmlns:a16="http://schemas.microsoft.com/office/drawing/2014/main" val="2719704349"/>
                      </a:ext>
                    </a:extLst>
                  </a:tr>
                </a:tbl>
              </a:graphicData>
            </a:graphic>
          </p:graphicFrame>
        </mc:Fallback>
      </mc:AlternateContent>
    </p:spTree>
    <p:extLst>
      <p:ext uri="{BB962C8B-B14F-4D97-AF65-F5344CB8AC3E}">
        <p14:creationId xmlns:p14="http://schemas.microsoft.com/office/powerpoint/2010/main" val="1025268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BCD87-D02F-E517-9535-AAF1FD9D3489}"/>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5D3994D3-4BA2-E610-E209-42857CBB2D43}"/>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Fonctions polynomiales de degrés 2 : </a:t>
            </a:r>
            <a:endParaRPr lang="en-US" sz="3200" b="0" strike="noStrike" spc="-1" dirty="0">
              <a:solidFill>
                <a:srgbClr val="376092"/>
              </a:solidFill>
              <a:latin typeface="Arial"/>
            </a:endParaRPr>
          </a:p>
        </p:txBody>
      </p:sp>
      <p:sp>
        <p:nvSpPr>
          <p:cNvPr id="136" name="TextShape 2">
            <a:extLst>
              <a:ext uri="{FF2B5EF4-FFF2-40B4-BE49-F238E27FC236}">
                <a16:creationId xmlns:a16="http://schemas.microsoft.com/office/drawing/2014/main" id="{16E9664E-CA13-87BB-7E7C-CD1941077F21}"/>
              </a:ext>
            </a:extLst>
          </p:cNvPr>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Notre entreprise fabrique des casques HIFI. Si elle produit x casques, la fonction qui détermine le coût de production est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C(x) = 0,5x² + 20x + 500</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Chaque casque est vendu 80 euros, la recette est donc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R(x) = 80 * x</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On considère x compris entre 0</a:t>
            </a:r>
            <a:r>
              <a:rPr lang="fr-FR" sz="2400" spc="-1" baseline="30000" dirty="0">
                <a:solidFill>
                  <a:srgbClr val="376092"/>
                </a:solidFill>
                <a:latin typeface="Calibri"/>
              </a:rPr>
              <a:t> </a:t>
            </a:r>
            <a:r>
              <a:rPr lang="fr-FR" sz="2400" spc="-1" dirty="0">
                <a:solidFill>
                  <a:srgbClr val="376092"/>
                </a:solidFill>
                <a:latin typeface="Calibri"/>
              </a:rPr>
              <a:t> et 200.</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Tracer les deux fonctions et déterminer visuellement le seuil de rentabilité.</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Déterminer la fonction bénéfice B(x) = R(x) – C(x)</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Donnez le tableau de signe de la fonction B(x) </a:t>
            </a:r>
          </a:p>
          <a:p>
            <a:pPr marL="406800" indent="-324000">
              <a:spcAft>
                <a:spcPts val="1134"/>
              </a:spcAft>
              <a:buClr>
                <a:srgbClr val="000000"/>
              </a:buClr>
              <a:buSzPct val="45000"/>
              <a:buFont typeface="Wingdings"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847916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C753C-BE81-42D1-24C2-B5D8A0DC530F}"/>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5300F8BD-6ABD-ECA9-558B-571803670BDA}"/>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Fonction logarithme népérien : </a:t>
            </a:r>
            <a:endParaRPr lang="en-US" sz="3200" b="0" strike="noStrike" spc="-1" dirty="0">
              <a:solidFill>
                <a:srgbClr val="376092"/>
              </a:solidFill>
              <a:latin typeface="Arial"/>
            </a:endParaRPr>
          </a:p>
        </p:txBody>
      </p:sp>
      <mc:AlternateContent xmlns:mc="http://schemas.openxmlformats.org/markup-compatibility/2006">
        <mc:Choice xmlns:a14="http://schemas.microsoft.com/office/drawing/2010/main" Requires="a14">
          <p:sp>
            <p:nvSpPr>
              <p:cNvPr id="136" name="TextShape 2">
                <a:extLst>
                  <a:ext uri="{FF2B5EF4-FFF2-40B4-BE49-F238E27FC236}">
                    <a16:creationId xmlns:a16="http://schemas.microsoft.com/office/drawing/2014/main" id="{257D375F-18E8-A34E-F4AE-C5398DD21D72}"/>
                  </a:ext>
                </a:extLst>
              </p:cNvPr>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La fonction ln est définie sur ]0;</a:t>
                </a:r>
                <a14:m>
                  <m:oMath xmlns:m="http://schemas.openxmlformats.org/officeDocument/2006/math">
                    <m:r>
                      <a:rPr lang="fr-FR" sz="2400" spc="-1" dirty="0" smtClean="0">
                        <a:solidFill>
                          <a:srgbClr val="376092"/>
                        </a:solidFill>
                        <a:latin typeface="Cambria Math" panose="02040503050406030204" pitchFamily="18" charset="0"/>
                      </a:rPr>
                      <m:t>+</m:t>
                    </m:r>
                    <m:r>
                      <a:rPr lang="fr-FR" sz="2400" i="0" spc="-1" dirty="0" smtClean="0">
                        <a:solidFill>
                          <a:srgbClr val="376092"/>
                        </a:solidFill>
                        <a:latin typeface="Cambria Math" panose="02040503050406030204" pitchFamily="18" charset="0"/>
                      </a:rPr>
                      <m:t>∞</m:t>
                    </m:r>
                  </m:oMath>
                </a14:m>
                <a:r>
                  <a:rPr lang="fr-FR" sz="2400" spc="-1" dirty="0">
                    <a:solidFill>
                      <a:srgbClr val="376092"/>
                    </a:solidFill>
                    <a:latin typeface="Calibri"/>
                  </a:rPr>
                  <a:t> [ et est strictement croissante sur cet intervalle.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ln d'un nombre négatif ou ln(0) ne sont pas définis.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Quelques valeurs remarquables : ln(e) = 1 et ln(1) = 0</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La fonction ln est la fonction réciproque de la fonction exponentielle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Si ln(y) = x alors e </a:t>
                </a:r>
                <a:r>
                  <a:rPr lang="fr-FR" sz="2400" spc="-1" baseline="30000" dirty="0">
                    <a:solidFill>
                      <a:srgbClr val="376092"/>
                    </a:solidFill>
                    <a:latin typeface="Calibri"/>
                  </a:rPr>
                  <a:t>ln(y) </a:t>
                </a:r>
                <a:r>
                  <a:rPr lang="fr-FR" sz="2400" spc="-1" dirty="0">
                    <a:solidFill>
                      <a:srgbClr val="376092"/>
                    </a:solidFill>
                    <a:latin typeface="Calibri"/>
                  </a:rPr>
                  <a:t>= e </a:t>
                </a:r>
                <a:r>
                  <a:rPr lang="fr-FR" sz="2400" spc="-1" baseline="30000" dirty="0">
                    <a:solidFill>
                      <a:srgbClr val="376092"/>
                    </a:solidFill>
                    <a:latin typeface="Calibri"/>
                  </a:rPr>
                  <a:t>x </a:t>
                </a:r>
                <a:r>
                  <a:rPr lang="fr-FR" sz="2400" spc="-1" dirty="0">
                    <a:solidFill>
                      <a:srgbClr val="376092"/>
                    </a:solidFill>
                    <a:latin typeface="Calibri"/>
                  </a:rPr>
                  <a:t> et donc y = e </a:t>
                </a:r>
                <a:r>
                  <a:rPr lang="fr-FR" sz="2400" spc="-1" baseline="30000" dirty="0">
                    <a:solidFill>
                      <a:srgbClr val="376092"/>
                    </a:solidFill>
                    <a:latin typeface="Calibri"/>
                  </a:rPr>
                  <a:t>x </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Pour tout réels a &gt; 0 et b &gt; 0 et n entier relatif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ln(ab) = ln(a) + ln(b) et ln(a</a:t>
                </a:r>
                <a:r>
                  <a:rPr lang="fr-FR" sz="2400" spc="-1" baseline="30000" dirty="0">
                    <a:solidFill>
                      <a:srgbClr val="376092"/>
                    </a:solidFill>
                    <a:latin typeface="Calibri"/>
                  </a:rPr>
                  <a:t>n</a:t>
                </a:r>
                <a:r>
                  <a:rPr lang="fr-FR" sz="2400" spc="-1" dirty="0">
                    <a:solidFill>
                      <a:srgbClr val="376092"/>
                    </a:solidFill>
                    <a:latin typeface="Calibri"/>
                  </a:rPr>
                  <a:t>) = n * ln(a)</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ln(</a:t>
                </a:r>
                <a14:m>
                  <m:oMath xmlns:m="http://schemas.openxmlformats.org/officeDocument/2006/math">
                    <m:f>
                      <m:fPr>
                        <m:ctrlPr>
                          <a:rPr lang="fr-FR" sz="2400" spc="-1" dirty="0" smtClean="0">
                            <a:solidFill>
                              <a:srgbClr val="376092"/>
                            </a:solidFill>
                            <a:latin typeface="Cambria Math" panose="02040503050406030204" pitchFamily="18" charset="0"/>
                          </a:rPr>
                        </m:ctrlPr>
                      </m:fPr>
                      <m:num>
                        <m:r>
                          <a:rPr lang="fr-FR" sz="2400" spc="-1" dirty="0" smtClean="0">
                            <a:solidFill>
                              <a:srgbClr val="376092"/>
                            </a:solidFill>
                            <a:latin typeface="Cambria Math" panose="02040503050406030204" pitchFamily="18" charset="0"/>
                          </a:rPr>
                          <m:t>1</m:t>
                        </m:r>
                      </m:num>
                      <m:den>
                        <m:r>
                          <a:rPr lang="fr-FR" sz="2400" b="0" i="1" spc="-1" dirty="0" smtClean="0">
                            <a:solidFill>
                              <a:srgbClr val="376092"/>
                            </a:solidFill>
                            <a:latin typeface="Cambria Math" panose="02040503050406030204" pitchFamily="18" charset="0"/>
                          </a:rPr>
                          <m:t>𝑎</m:t>
                        </m:r>
                      </m:den>
                    </m:f>
                  </m:oMath>
                </a14:m>
                <a:r>
                  <a:rPr lang="fr-FR" sz="2400" spc="-1" dirty="0">
                    <a:solidFill>
                      <a:srgbClr val="376092"/>
                    </a:solidFill>
                    <a:latin typeface="Calibri"/>
                  </a:rPr>
                  <a:t>) = - ln(a) et ln(</a:t>
                </a:r>
                <a14:m>
                  <m:oMath xmlns:m="http://schemas.openxmlformats.org/officeDocument/2006/math">
                    <m:f>
                      <m:fPr>
                        <m:ctrlPr>
                          <a:rPr lang="fr-FR" sz="2400" i="1" spc="-1" dirty="0">
                            <a:solidFill>
                              <a:srgbClr val="376092"/>
                            </a:solidFill>
                            <a:latin typeface="Cambria Math" panose="02040503050406030204" pitchFamily="18" charset="0"/>
                          </a:rPr>
                        </m:ctrlPr>
                      </m:fPr>
                      <m:num>
                        <m:r>
                          <m:rPr>
                            <m:sty m:val="p"/>
                          </m:rPr>
                          <a:rPr lang="fr-FR" sz="2400" b="0" i="0" spc="-1" dirty="0" smtClean="0">
                            <a:solidFill>
                              <a:srgbClr val="376092"/>
                            </a:solidFill>
                            <a:latin typeface="Cambria Math" panose="02040503050406030204" pitchFamily="18" charset="0"/>
                          </a:rPr>
                          <m:t>a</m:t>
                        </m:r>
                      </m:num>
                      <m:den>
                        <m:r>
                          <a:rPr lang="fr-FR" sz="2400" b="0" i="1" spc="-1" dirty="0" smtClean="0">
                            <a:solidFill>
                              <a:srgbClr val="376092"/>
                            </a:solidFill>
                            <a:latin typeface="Cambria Math" panose="02040503050406030204" pitchFamily="18" charset="0"/>
                          </a:rPr>
                          <m:t>𝑏</m:t>
                        </m:r>
                      </m:den>
                    </m:f>
                  </m:oMath>
                </a14:m>
                <a:r>
                  <a:rPr lang="fr-FR" sz="2400" spc="-1" dirty="0">
                    <a:solidFill>
                      <a:srgbClr val="376092"/>
                    </a:solidFill>
                    <a:latin typeface="Calibri"/>
                  </a:rPr>
                  <a:t>) = ln(a) – ln(b) </a:t>
                </a:r>
              </a:p>
              <a:p>
                <a:pPr marL="406800" indent="-324000">
                  <a:spcAft>
                    <a:spcPts val="1134"/>
                  </a:spcAft>
                  <a:buClr>
                    <a:srgbClr val="000000"/>
                  </a:buClr>
                  <a:buSzPct val="45000"/>
                  <a:buFont typeface="Wingdings" charset="2"/>
                  <a:buChar char=""/>
                </a:pPr>
                <a:endParaRPr lang="en-US" sz="2400" b="0" strike="noStrike" spc="-1" dirty="0">
                  <a:solidFill>
                    <a:srgbClr val="376092"/>
                  </a:solidFill>
                  <a:latin typeface="Calibri"/>
                </a:endParaRPr>
              </a:p>
            </p:txBody>
          </p:sp>
        </mc:Choice>
        <mc:Fallback>
          <p:sp>
            <p:nvSpPr>
              <p:cNvPr id="136" name="TextShape 2">
                <a:extLst>
                  <a:ext uri="{FF2B5EF4-FFF2-40B4-BE49-F238E27FC236}">
                    <a16:creationId xmlns:a16="http://schemas.microsoft.com/office/drawing/2014/main" id="{257D375F-18E8-A34E-F4AE-C5398DD21D72}"/>
                  </a:ext>
                </a:extLst>
              </p:cNvPr>
              <p:cNvSpPr txBox="1">
                <a:spLocks noRot="1" noChangeAspect="1" noMove="1" noResize="1" noEditPoints="1" noAdjustHandles="1" noChangeArrowheads="1" noChangeShapeType="1" noTextEdit="1"/>
              </p:cNvSpPr>
              <p:nvPr/>
            </p:nvSpPr>
            <p:spPr>
              <a:xfrm>
                <a:off x="457200" y="1233996"/>
                <a:ext cx="8229240" cy="4891764"/>
              </a:xfrm>
              <a:prstGeom prst="rect">
                <a:avLst/>
              </a:prstGeom>
              <a:blipFill>
                <a:blip r:embed="rId2"/>
                <a:stretch>
                  <a:fillRect t="-1868" b="-125"/>
                </a:stretch>
              </a:blipFill>
              <a:ln w="0">
                <a:noFill/>
              </a:ln>
            </p:spPr>
            <p:txBody>
              <a:bodyPr/>
              <a:lstStyle/>
              <a:p>
                <a:r>
                  <a:rPr lang="fr-FR">
                    <a:noFill/>
                  </a:rPr>
                  <a:t> </a:t>
                </a:r>
              </a:p>
            </p:txBody>
          </p:sp>
        </mc:Fallback>
      </mc:AlternateContent>
    </p:spTree>
    <p:extLst>
      <p:ext uri="{BB962C8B-B14F-4D97-AF65-F5344CB8AC3E}">
        <p14:creationId xmlns:p14="http://schemas.microsoft.com/office/powerpoint/2010/main" val="10762053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5B5FE-22FF-7090-932F-0DDE6A5650A0}"/>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2E184187-DE5B-7AC0-8A98-1538D2AC8CF8}"/>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Fonction logarithme népérien – exercice : </a:t>
            </a:r>
            <a:endParaRPr lang="en-US" sz="3200" b="0" strike="noStrike" spc="-1" dirty="0">
              <a:solidFill>
                <a:srgbClr val="376092"/>
              </a:solidFill>
              <a:latin typeface="Arial"/>
            </a:endParaRPr>
          </a:p>
        </p:txBody>
      </p:sp>
      <p:sp>
        <p:nvSpPr>
          <p:cNvPr id="136" name="TextShape 2">
            <a:extLst>
              <a:ext uri="{FF2B5EF4-FFF2-40B4-BE49-F238E27FC236}">
                <a16:creationId xmlns:a16="http://schemas.microsoft.com/office/drawing/2014/main" id="{A1B979A8-28D7-684A-E6A1-39AB8D1069F1}"/>
              </a:ext>
            </a:extLst>
          </p:cNvPr>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Calculons quelques équations en utilisant ln, commençons systématiquement par déterminer l'ensemble de définition de l'équation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2 * ln (x) = 0</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4 * ln (1 + x) = 1</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 ln(2 * x) = 0</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(x + 1) * ln (x ) = 0</a:t>
            </a: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100114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9776B-ACEF-4ED1-03C4-75046F89C288}"/>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964DBCB5-FDB7-A815-5C5F-CB91883DB08E}"/>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Fonction exponentielle : </a:t>
            </a:r>
            <a:endParaRPr lang="en-US" sz="3200" b="0" strike="noStrike" spc="-1" dirty="0">
              <a:solidFill>
                <a:srgbClr val="376092"/>
              </a:solidFill>
              <a:latin typeface="Arial"/>
            </a:endParaRPr>
          </a:p>
        </p:txBody>
      </p:sp>
      <mc:AlternateContent xmlns:mc="http://schemas.openxmlformats.org/markup-compatibility/2006">
        <mc:Choice xmlns:a14="http://schemas.microsoft.com/office/drawing/2010/main" Requires="a14">
          <p:sp>
            <p:nvSpPr>
              <p:cNvPr id="136" name="TextShape 2">
                <a:extLst>
                  <a:ext uri="{FF2B5EF4-FFF2-40B4-BE49-F238E27FC236}">
                    <a16:creationId xmlns:a16="http://schemas.microsoft.com/office/drawing/2014/main" id="{77551E75-F600-4421-FF6A-FAC9146FE2D0}"/>
                  </a:ext>
                </a:extLst>
              </p:cNvPr>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La fonction exponentielle (e</a:t>
                </a:r>
                <a:r>
                  <a:rPr lang="fr-FR" sz="2400" spc="-1" baseline="30000" dirty="0">
                    <a:solidFill>
                      <a:srgbClr val="376092"/>
                    </a:solidFill>
                    <a:latin typeface="Calibri"/>
                  </a:rPr>
                  <a:t>x</a:t>
                </a:r>
                <a:r>
                  <a:rPr lang="fr-FR" sz="2400" spc="-1" dirty="0">
                    <a:solidFill>
                      <a:srgbClr val="376092"/>
                    </a:solidFill>
                    <a:latin typeface="Calibri"/>
                  </a:rPr>
                  <a:t>) est définie sur </a:t>
                </a:r>
                <a14:m>
                  <m:oMath xmlns:m="http://schemas.openxmlformats.org/officeDocument/2006/math">
                    <m:r>
                      <a:rPr lang="fr-FR" sz="2400" spc="-1" smtClean="0">
                        <a:solidFill>
                          <a:srgbClr val="376092"/>
                        </a:solidFill>
                        <a:latin typeface="Cambria Math" panose="02040503050406030204" pitchFamily="18" charset="0"/>
                      </a:rPr>
                      <m:t>ℝ</m:t>
                    </m:r>
                  </m:oMath>
                </a14:m>
                <a:r>
                  <a:rPr lang="fr-FR" sz="2400" spc="-1" dirty="0">
                    <a:solidFill>
                      <a:srgbClr val="376092"/>
                    </a:solidFill>
                    <a:latin typeface="Calibri"/>
                  </a:rPr>
                  <a:t> et est strictement croissante sur cet intervalle.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Pour tout réel x, e</a:t>
                </a:r>
                <a:r>
                  <a:rPr lang="fr-FR" sz="2400" spc="-1" baseline="30000" dirty="0">
                    <a:solidFill>
                      <a:srgbClr val="376092"/>
                    </a:solidFill>
                    <a:latin typeface="Calibri"/>
                  </a:rPr>
                  <a:t>x </a:t>
                </a:r>
                <a:r>
                  <a:rPr lang="fr-FR" sz="2400" spc="-1" dirty="0">
                    <a:solidFill>
                      <a:srgbClr val="376092"/>
                    </a:solidFill>
                    <a:latin typeface="Calibri"/>
                  </a:rPr>
                  <a:t>&gt; 0 et ln(e</a:t>
                </a:r>
                <a:r>
                  <a:rPr lang="fr-FR" sz="2400" spc="-1" baseline="30000" dirty="0">
                    <a:solidFill>
                      <a:srgbClr val="376092"/>
                    </a:solidFill>
                    <a:latin typeface="Calibri"/>
                  </a:rPr>
                  <a:t>x</a:t>
                </a:r>
                <a:r>
                  <a:rPr lang="fr-FR" sz="2400" spc="-1" dirty="0">
                    <a:solidFill>
                      <a:srgbClr val="376092"/>
                    </a:solidFill>
                    <a:latin typeface="Calibri"/>
                  </a:rPr>
                  <a:t>) = x</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Pour tout réel x &gt; 0, e </a:t>
                </a:r>
                <a:r>
                  <a:rPr lang="fr-FR" sz="2400" spc="-1" baseline="30000" dirty="0">
                    <a:solidFill>
                      <a:srgbClr val="376092"/>
                    </a:solidFill>
                    <a:latin typeface="Calibri"/>
                  </a:rPr>
                  <a:t>ln(x) </a:t>
                </a:r>
                <a:r>
                  <a:rPr lang="fr-FR" sz="2400" spc="-1" dirty="0">
                    <a:solidFill>
                      <a:srgbClr val="376092"/>
                    </a:solidFill>
                    <a:latin typeface="Calibri"/>
                  </a:rPr>
                  <a:t>= x</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Si e</a:t>
                </a:r>
                <a:r>
                  <a:rPr lang="fr-FR" sz="2400" spc="-1" baseline="30000" dirty="0">
                    <a:solidFill>
                      <a:srgbClr val="376092"/>
                    </a:solidFill>
                    <a:latin typeface="Calibri"/>
                  </a:rPr>
                  <a:t>x</a:t>
                </a:r>
                <a:r>
                  <a:rPr lang="fr-FR" sz="2400" spc="-1" dirty="0">
                    <a:solidFill>
                      <a:srgbClr val="376092"/>
                    </a:solidFill>
                    <a:latin typeface="Calibri"/>
                  </a:rPr>
                  <a:t> = y alors ln(e</a:t>
                </a:r>
                <a:r>
                  <a:rPr lang="fr-FR" sz="2400" spc="-1" baseline="30000" dirty="0">
                    <a:solidFill>
                      <a:srgbClr val="376092"/>
                    </a:solidFill>
                    <a:latin typeface="Calibri"/>
                  </a:rPr>
                  <a:t>x</a:t>
                </a:r>
                <a:r>
                  <a:rPr lang="fr-FR" sz="2400" spc="-1" dirty="0">
                    <a:solidFill>
                      <a:srgbClr val="376092"/>
                    </a:solidFill>
                    <a:latin typeface="Calibri"/>
                  </a:rPr>
                  <a:t>) = ln(y) et donc x = ln(y) </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Pour tout réels a &gt; 0 et b &gt; 0 et n entier relatif :</a:t>
                </a:r>
              </a:p>
              <a:p>
                <a:pPr marL="864000" lvl="1" indent="-324000">
                  <a:spcAft>
                    <a:spcPts val="1134"/>
                  </a:spcAft>
                  <a:buClr>
                    <a:srgbClr val="000000"/>
                  </a:buClr>
                  <a:buSzPct val="45000"/>
                  <a:buFont typeface="Wingdings" charset="2"/>
                  <a:buChar char=""/>
                </a:pPr>
                <a:r>
                  <a:rPr lang="fr-FR" sz="2400" spc="-1" dirty="0" err="1">
                    <a:solidFill>
                      <a:srgbClr val="376092"/>
                    </a:solidFill>
                    <a:latin typeface="Calibri"/>
                  </a:rPr>
                  <a:t>e</a:t>
                </a:r>
                <a:r>
                  <a:rPr lang="fr-FR" sz="2400" spc="-1" baseline="30000" dirty="0" err="1">
                    <a:solidFill>
                      <a:srgbClr val="376092"/>
                    </a:solidFill>
                    <a:latin typeface="Calibri"/>
                  </a:rPr>
                  <a:t>ab</a:t>
                </a:r>
                <a:r>
                  <a:rPr lang="fr-FR" sz="2400" spc="-1" dirty="0">
                    <a:solidFill>
                      <a:srgbClr val="376092"/>
                    </a:solidFill>
                    <a:latin typeface="Calibri"/>
                  </a:rPr>
                  <a:t> = </a:t>
                </a:r>
                <a:r>
                  <a:rPr lang="fr-FR" sz="2400" spc="-1" dirty="0" err="1">
                    <a:solidFill>
                      <a:srgbClr val="376092"/>
                    </a:solidFill>
                    <a:latin typeface="Calibri"/>
                  </a:rPr>
                  <a:t>e</a:t>
                </a:r>
                <a:r>
                  <a:rPr lang="fr-FR" sz="2400" spc="-1" baseline="30000" dirty="0" err="1">
                    <a:solidFill>
                      <a:srgbClr val="376092"/>
                    </a:solidFill>
                    <a:latin typeface="Calibri"/>
                  </a:rPr>
                  <a:t>a</a:t>
                </a:r>
                <a:r>
                  <a:rPr lang="fr-FR" sz="2400" spc="-1" dirty="0">
                    <a:solidFill>
                      <a:srgbClr val="376092"/>
                    </a:solidFill>
                    <a:latin typeface="Calibri"/>
                  </a:rPr>
                  <a:t> * </a:t>
                </a:r>
                <a:r>
                  <a:rPr lang="fr-FR" sz="2400" spc="-1" dirty="0" err="1">
                    <a:solidFill>
                      <a:srgbClr val="376092"/>
                    </a:solidFill>
                    <a:latin typeface="Calibri"/>
                  </a:rPr>
                  <a:t>e</a:t>
                </a:r>
                <a:r>
                  <a:rPr lang="fr-FR" sz="2400" spc="-1" baseline="30000" dirty="0" err="1">
                    <a:solidFill>
                      <a:srgbClr val="376092"/>
                    </a:solidFill>
                    <a:latin typeface="Calibri"/>
                  </a:rPr>
                  <a:t>b</a:t>
                </a:r>
                <a:r>
                  <a:rPr lang="fr-FR" sz="2400" spc="-1" dirty="0">
                    <a:solidFill>
                      <a:srgbClr val="376092"/>
                    </a:solidFill>
                    <a:latin typeface="Calibri"/>
                  </a:rPr>
                  <a:t> et (</a:t>
                </a:r>
                <a:r>
                  <a:rPr lang="fr-FR" sz="2400" spc="-1" dirty="0" err="1">
                    <a:solidFill>
                      <a:srgbClr val="376092"/>
                    </a:solidFill>
                    <a:latin typeface="Calibri"/>
                  </a:rPr>
                  <a:t>e</a:t>
                </a:r>
                <a:r>
                  <a:rPr lang="fr-FR" sz="2400" spc="-1" baseline="30000" dirty="0" err="1">
                    <a:solidFill>
                      <a:srgbClr val="376092"/>
                    </a:solidFill>
                    <a:latin typeface="Calibri"/>
                  </a:rPr>
                  <a:t>a</a:t>
                </a:r>
                <a:r>
                  <a:rPr lang="fr-FR" sz="2400" spc="-1" dirty="0">
                    <a:solidFill>
                      <a:srgbClr val="376092"/>
                    </a:solidFill>
                    <a:latin typeface="Calibri"/>
                  </a:rPr>
                  <a:t>)</a:t>
                </a:r>
                <a:r>
                  <a:rPr lang="fr-FR" sz="2400" spc="-1" baseline="30000" dirty="0">
                    <a:solidFill>
                      <a:srgbClr val="376092"/>
                    </a:solidFill>
                    <a:latin typeface="Calibri"/>
                  </a:rPr>
                  <a:t>n </a:t>
                </a:r>
                <a:r>
                  <a:rPr lang="fr-FR" sz="2400" spc="-1" dirty="0">
                    <a:solidFill>
                      <a:srgbClr val="376092"/>
                    </a:solidFill>
                    <a:latin typeface="Calibri"/>
                  </a:rPr>
                  <a:t>= </a:t>
                </a:r>
                <a:r>
                  <a:rPr lang="fr-FR" sz="2400" spc="-1" dirty="0" err="1">
                    <a:solidFill>
                      <a:srgbClr val="376092"/>
                    </a:solidFill>
                    <a:latin typeface="Calibri"/>
                  </a:rPr>
                  <a:t>e</a:t>
                </a:r>
                <a:r>
                  <a:rPr lang="fr-FR" sz="2400" spc="-1" baseline="30000" dirty="0" err="1">
                    <a:solidFill>
                      <a:srgbClr val="376092"/>
                    </a:solidFill>
                    <a:latin typeface="Calibri"/>
                  </a:rPr>
                  <a:t>an</a:t>
                </a:r>
                <a:r>
                  <a:rPr lang="fr-FR" sz="2400" spc="-1" baseline="30000" dirty="0">
                    <a:solidFill>
                      <a:srgbClr val="376092"/>
                    </a:solidFill>
                    <a:latin typeface="Calibri"/>
                  </a:rPr>
                  <a:t> </a:t>
                </a:r>
              </a:p>
              <a:p>
                <a:pPr marL="864000" lvl="1" indent="-324000">
                  <a:spcAft>
                    <a:spcPts val="1134"/>
                  </a:spcAft>
                  <a:buClr>
                    <a:srgbClr val="000000"/>
                  </a:buClr>
                  <a:buSzPct val="45000"/>
                  <a:buFont typeface="Wingdings" charset="2"/>
                  <a:buChar char=""/>
                </a:pPr>
                <a14:m>
                  <m:oMath xmlns:m="http://schemas.openxmlformats.org/officeDocument/2006/math">
                    <m:f>
                      <m:fPr>
                        <m:ctrlPr>
                          <a:rPr lang="fr-FR" sz="2400" i="1" spc="-1" dirty="0">
                            <a:solidFill>
                              <a:srgbClr val="376092"/>
                            </a:solidFill>
                            <a:latin typeface="Cambria Math" panose="02040503050406030204" pitchFamily="18" charset="0"/>
                          </a:rPr>
                        </m:ctrlPr>
                      </m:fPr>
                      <m:num>
                        <m:r>
                          <a:rPr lang="fr-FR" sz="2400" spc="-1" dirty="0">
                            <a:solidFill>
                              <a:srgbClr val="376092"/>
                            </a:solidFill>
                            <a:latin typeface="Cambria Math" panose="02040503050406030204" pitchFamily="18" charset="0"/>
                          </a:rPr>
                          <m:t>1</m:t>
                        </m:r>
                      </m:num>
                      <m:den>
                        <m:r>
                          <a:rPr lang="fr-FR" sz="2400" b="0" i="1" spc="-1" dirty="0" smtClean="0">
                            <a:solidFill>
                              <a:srgbClr val="376092"/>
                            </a:solidFill>
                            <a:latin typeface="Cambria Math" panose="02040503050406030204" pitchFamily="18" charset="0"/>
                          </a:rPr>
                          <m:t>𝑒</m:t>
                        </m:r>
                        <m:r>
                          <a:rPr lang="fr-FR" sz="2400" b="0" i="1" spc="-1" dirty="0" smtClean="0">
                            <a:solidFill>
                              <a:srgbClr val="376092"/>
                            </a:solidFill>
                            <a:latin typeface="Cambria Math" panose="02040503050406030204" pitchFamily="18" charset="0"/>
                          </a:rPr>
                          <m:t> </m:t>
                        </m:r>
                        <m:r>
                          <a:rPr lang="fr-FR" sz="2400" i="1" spc="-1" baseline="30000" dirty="0">
                            <a:solidFill>
                              <a:srgbClr val="376092"/>
                            </a:solidFill>
                            <a:latin typeface="Cambria Math" panose="02040503050406030204" pitchFamily="18" charset="0"/>
                          </a:rPr>
                          <m:t>𝑎</m:t>
                        </m:r>
                      </m:den>
                    </m:f>
                  </m:oMath>
                </a14:m>
                <a:r>
                  <a:rPr lang="fr-FR" sz="2400" spc="-1" dirty="0">
                    <a:solidFill>
                      <a:srgbClr val="376092"/>
                    </a:solidFill>
                    <a:latin typeface="Calibri"/>
                  </a:rPr>
                  <a:t> = e</a:t>
                </a:r>
                <a:r>
                  <a:rPr lang="fr-FR" sz="2400" spc="-1" baseline="30000" dirty="0">
                    <a:solidFill>
                      <a:srgbClr val="376092"/>
                    </a:solidFill>
                    <a:latin typeface="Calibri"/>
                  </a:rPr>
                  <a:t>-a</a:t>
                </a:r>
                <a:r>
                  <a:rPr lang="fr-FR" sz="2400" spc="-1" dirty="0">
                    <a:solidFill>
                      <a:srgbClr val="376092"/>
                    </a:solidFill>
                    <a:latin typeface="Calibri"/>
                  </a:rPr>
                  <a:t> et </a:t>
                </a:r>
                <a14:m>
                  <m:oMath xmlns:m="http://schemas.openxmlformats.org/officeDocument/2006/math">
                    <m:f>
                      <m:fPr>
                        <m:ctrlPr>
                          <a:rPr lang="fr-FR" sz="2400" i="1" spc="-1" dirty="0">
                            <a:solidFill>
                              <a:srgbClr val="376092"/>
                            </a:solidFill>
                            <a:latin typeface="Cambria Math" panose="02040503050406030204" pitchFamily="18" charset="0"/>
                          </a:rPr>
                        </m:ctrlPr>
                      </m:fPr>
                      <m:num>
                        <m:r>
                          <m:rPr>
                            <m:nor/>
                          </m:rPr>
                          <a:rPr lang="fr-FR" sz="2400" spc="-1" dirty="0">
                            <a:solidFill>
                              <a:srgbClr val="376092"/>
                            </a:solidFill>
                            <a:latin typeface="Calibri"/>
                          </a:rPr>
                          <m:t>e</m:t>
                        </m:r>
                        <m:r>
                          <m:rPr>
                            <m:nor/>
                          </m:rPr>
                          <a:rPr lang="fr-FR" sz="2400" spc="-1" baseline="30000" dirty="0">
                            <a:solidFill>
                              <a:srgbClr val="376092"/>
                            </a:solidFill>
                            <a:latin typeface="Calibri"/>
                          </a:rPr>
                          <m:t>a</m:t>
                        </m:r>
                      </m:num>
                      <m:den>
                        <m:r>
                          <m:rPr>
                            <m:nor/>
                          </m:rPr>
                          <a:rPr lang="fr-FR" sz="2400" spc="-1" dirty="0">
                            <a:solidFill>
                              <a:srgbClr val="376092"/>
                            </a:solidFill>
                            <a:latin typeface="Calibri"/>
                          </a:rPr>
                          <m:t>e</m:t>
                        </m:r>
                        <m:r>
                          <m:rPr>
                            <m:nor/>
                          </m:rPr>
                          <a:rPr lang="fr-FR" sz="2400" spc="-1" baseline="30000" dirty="0">
                            <a:solidFill>
                              <a:srgbClr val="376092"/>
                            </a:solidFill>
                            <a:latin typeface="Calibri"/>
                          </a:rPr>
                          <m:t>b</m:t>
                        </m:r>
                      </m:den>
                    </m:f>
                  </m:oMath>
                </a14:m>
                <a:r>
                  <a:rPr lang="fr-FR" sz="2400" spc="-1" dirty="0">
                    <a:solidFill>
                      <a:srgbClr val="376092"/>
                    </a:solidFill>
                    <a:latin typeface="Calibri"/>
                  </a:rPr>
                  <a:t> = </a:t>
                </a:r>
                <a:r>
                  <a:rPr lang="fr-FR" sz="2400" spc="-1" dirty="0" err="1">
                    <a:solidFill>
                      <a:srgbClr val="376092"/>
                    </a:solidFill>
                    <a:latin typeface="Calibri"/>
                  </a:rPr>
                  <a:t>e</a:t>
                </a:r>
                <a:r>
                  <a:rPr lang="fr-FR" sz="2400" spc="-1" baseline="30000" dirty="0" err="1">
                    <a:solidFill>
                      <a:srgbClr val="376092"/>
                    </a:solidFill>
                    <a:latin typeface="Calibri"/>
                  </a:rPr>
                  <a:t>a</a:t>
                </a:r>
                <a:r>
                  <a:rPr lang="fr-FR" sz="2400" spc="-1" baseline="30000" dirty="0">
                    <a:solidFill>
                      <a:srgbClr val="376092"/>
                    </a:solidFill>
                    <a:latin typeface="Calibri"/>
                  </a:rPr>
                  <a:t>-b</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en-US" sz="2400" b="0" strike="noStrike" spc="-1" dirty="0">
                  <a:solidFill>
                    <a:srgbClr val="376092"/>
                  </a:solidFill>
                  <a:latin typeface="Calibri"/>
                </a:endParaRPr>
              </a:p>
            </p:txBody>
          </p:sp>
        </mc:Choice>
        <mc:Fallback>
          <p:sp>
            <p:nvSpPr>
              <p:cNvPr id="136" name="TextShape 2">
                <a:extLst>
                  <a:ext uri="{FF2B5EF4-FFF2-40B4-BE49-F238E27FC236}">
                    <a16:creationId xmlns:a16="http://schemas.microsoft.com/office/drawing/2014/main" id="{77551E75-F600-4421-FF6A-FAC9146FE2D0}"/>
                  </a:ext>
                </a:extLst>
              </p:cNvPr>
              <p:cNvSpPr txBox="1">
                <a:spLocks noRot="1" noChangeAspect="1" noMove="1" noResize="1" noEditPoints="1" noAdjustHandles="1" noChangeArrowheads="1" noChangeShapeType="1" noTextEdit="1"/>
              </p:cNvSpPr>
              <p:nvPr/>
            </p:nvSpPr>
            <p:spPr>
              <a:xfrm>
                <a:off x="457200" y="1233996"/>
                <a:ext cx="8229240" cy="4891764"/>
              </a:xfrm>
              <a:prstGeom prst="rect">
                <a:avLst/>
              </a:prstGeom>
              <a:blipFill>
                <a:blip r:embed="rId2"/>
                <a:stretch>
                  <a:fillRect t="-1868"/>
                </a:stretch>
              </a:blipFill>
              <a:ln w="0">
                <a:noFill/>
              </a:ln>
            </p:spPr>
            <p:txBody>
              <a:bodyPr/>
              <a:lstStyle/>
              <a:p>
                <a:r>
                  <a:rPr lang="fr-FR">
                    <a:noFill/>
                  </a:rPr>
                  <a:t> </a:t>
                </a:r>
              </a:p>
            </p:txBody>
          </p:sp>
        </mc:Fallback>
      </mc:AlternateContent>
    </p:spTree>
    <p:extLst>
      <p:ext uri="{BB962C8B-B14F-4D97-AF65-F5344CB8AC3E}">
        <p14:creationId xmlns:p14="http://schemas.microsoft.com/office/powerpoint/2010/main" val="1530811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D2523-F136-1684-37DD-E242EDABB2E1}"/>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A359F523-2864-E62A-4FBA-F5FD69177F3B}"/>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Fonction exponentielle - exercice : </a:t>
            </a:r>
            <a:endParaRPr lang="en-US" sz="3200" b="0" strike="noStrike" spc="-1" dirty="0">
              <a:solidFill>
                <a:srgbClr val="376092"/>
              </a:solidFill>
              <a:latin typeface="Arial"/>
            </a:endParaRPr>
          </a:p>
        </p:txBody>
      </p:sp>
      <p:sp>
        <p:nvSpPr>
          <p:cNvPr id="136" name="TextShape 2">
            <a:extLst>
              <a:ext uri="{FF2B5EF4-FFF2-40B4-BE49-F238E27FC236}">
                <a16:creationId xmlns:a16="http://schemas.microsoft.com/office/drawing/2014/main" id="{E169E020-A785-0386-E23C-5F2C5A2776F4}"/>
              </a:ext>
            </a:extLst>
          </p:cNvPr>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Calculons quelques équations en utilisant ln, commençons systématiquement par déterminer l'ensemble de définition de l'équation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e</a:t>
            </a:r>
            <a:r>
              <a:rPr lang="fr-FR" sz="2400" spc="-1" baseline="30000" dirty="0">
                <a:solidFill>
                  <a:srgbClr val="376092"/>
                </a:solidFill>
                <a:latin typeface="Calibri"/>
              </a:rPr>
              <a:t>x</a:t>
            </a:r>
            <a:r>
              <a:rPr lang="fr-FR" sz="2400" spc="-1" dirty="0">
                <a:solidFill>
                  <a:srgbClr val="376092"/>
                </a:solidFill>
                <a:latin typeface="Calibri"/>
              </a:rPr>
              <a:t> = 7</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e</a:t>
            </a:r>
            <a:r>
              <a:rPr lang="fr-FR" sz="2400" spc="-1" baseline="30000" dirty="0">
                <a:solidFill>
                  <a:srgbClr val="376092"/>
                </a:solidFill>
                <a:latin typeface="Calibri"/>
              </a:rPr>
              <a:t>2x</a:t>
            </a:r>
            <a:r>
              <a:rPr lang="fr-FR" sz="2400" spc="-1" dirty="0">
                <a:solidFill>
                  <a:srgbClr val="376092"/>
                </a:solidFill>
                <a:latin typeface="Calibri"/>
              </a:rPr>
              <a:t> = 5</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e</a:t>
            </a:r>
            <a:r>
              <a:rPr lang="fr-FR" sz="2400" spc="-1" baseline="30000" dirty="0">
                <a:solidFill>
                  <a:srgbClr val="376092"/>
                </a:solidFill>
                <a:latin typeface="Calibri"/>
              </a:rPr>
              <a:t>x-3</a:t>
            </a:r>
            <a:r>
              <a:rPr lang="fr-FR" sz="2400" spc="-1" dirty="0">
                <a:solidFill>
                  <a:srgbClr val="376092"/>
                </a:solidFill>
                <a:latin typeface="Calibri"/>
              </a:rPr>
              <a:t> = 1</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e</a:t>
            </a:r>
            <a:r>
              <a:rPr lang="fr-FR" sz="2400" spc="-1" baseline="30000" dirty="0">
                <a:solidFill>
                  <a:srgbClr val="376092"/>
                </a:solidFill>
                <a:latin typeface="Calibri"/>
              </a:rPr>
              <a:t>2x</a:t>
            </a:r>
            <a:r>
              <a:rPr lang="fr-FR" sz="2400" spc="-1" dirty="0">
                <a:solidFill>
                  <a:srgbClr val="376092"/>
                </a:solidFill>
                <a:latin typeface="Calibri"/>
              </a:rPr>
              <a:t> = e</a:t>
            </a:r>
            <a:r>
              <a:rPr lang="fr-FR" sz="2400" spc="-1" baseline="30000" dirty="0">
                <a:solidFill>
                  <a:srgbClr val="376092"/>
                </a:solidFill>
                <a:latin typeface="Calibri"/>
              </a:rPr>
              <a:t>5</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309483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TextShape 1"/>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dirty="0">
                <a:solidFill>
                  <a:srgbClr val="376092"/>
                </a:solidFill>
                <a:latin typeface="Arial"/>
              </a:rPr>
              <a:t>Bilan</a:t>
            </a:r>
            <a:endParaRPr lang="en-US" sz="3200" b="0" strike="noStrike" spc="-1" dirty="0">
              <a:solidFill>
                <a:srgbClr val="376092"/>
              </a:solidFill>
              <a:latin typeface="Arial"/>
            </a:endParaRPr>
          </a:p>
        </p:txBody>
      </p:sp>
      <p:sp>
        <p:nvSpPr>
          <p:cNvPr id="186" name="TextShape 2"/>
          <p:cNvSpPr txBox="1"/>
          <p:nvPr/>
        </p:nvSpPr>
        <p:spPr>
          <a:xfrm>
            <a:off x="457200" y="1600200"/>
            <a:ext cx="8229240" cy="52538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Résumé des notions abordées.</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Questions.</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Difficultés particulières ?</a:t>
            </a:r>
            <a:endParaRPr lang="en-US" sz="2400" b="0" strike="noStrike" spc="-1" dirty="0">
              <a:solidFill>
                <a:srgbClr val="376092"/>
              </a:solidFill>
              <a:latin typeface="Arial"/>
            </a:endParaRPr>
          </a:p>
          <a:p>
            <a:pPr marL="1022400" lvl="2">
              <a:spcAft>
                <a:spcPts val="1060"/>
              </a:spcAft>
              <a:buClr>
                <a:srgbClr val="000000"/>
              </a:buClr>
              <a:buSzPct val="45000"/>
            </a:pPr>
            <a:r>
              <a:rPr lang="fr-FR" sz="2400" spc="-1" dirty="0">
                <a:solidFill>
                  <a:srgbClr val="376092"/>
                </a:solidFill>
                <a:latin typeface="Arial"/>
              </a:rPr>
              <a:t>				</a:t>
            </a:r>
            <a:endParaRPr lang="en-US" sz="2400" b="0" strike="noStrike" spc="-1" dirty="0">
              <a:solidFill>
                <a:srgbClr val="376092"/>
              </a:solidFill>
              <a:latin typeface="Arial"/>
            </a:endParaRPr>
          </a:p>
          <a:p>
            <a:pPr marL="1296000" lvl="2"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7845</TotalTime>
  <Words>1034</Words>
  <Application>Microsoft Office PowerPoint</Application>
  <PresentationFormat>Affichage à l'écran (4:3)</PresentationFormat>
  <Paragraphs>115</Paragraphs>
  <Slides>14</Slides>
  <Notes>0</Notes>
  <HiddenSlides>0</HiddenSlides>
  <MMClips>0</MMClips>
  <ScaleCrop>false</ScaleCrop>
  <HeadingPairs>
    <vt:vector size="6" baseType="variant">
      <vt:variant>
        <vt:lpstr>Polices utilisées</vt:lpstr>
      </vt:variant>
      <vt:variant>
        <vt:i4>6</vt:i4>
      </vt:variant>
      <vt:variant>
        <vt:lpstr>Thème</vt:lpstr>
      </vt:variant>
      <vt:variant>
        <vt:i4>3</vt:i4>
      </vt:variant>
      <vt:variant>
        <vt:lpstr>Titres des diapositives</vt:lpstr>
      </vt:variant>
      <vt:variant>
        <vt:i4>14</vt:i4>
      </vt:variant>
    </vt:vector>
  </HeadingPairs>
  <TitlesOfParts>
    <vt:vector size="23" baseType="lpstr">
      <vt:lpstr>Arial</vt:lpstr>
      <vt:lpstr>Calibri</vt:lpstr>
      <vt:lpstr>Cambria Math</vt:lpstr>
      <vt:lpstr>Symbol</vt:lpstr>
      <vt:lpstr>Times New Roman</vt:lpstr>
      <vt:lpstr>Wingdings</vt:lpstr>
      <vt:lpstr>Office Theme</vt:lpstr>
      <vt:lpstr>Office Theme</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1-0020 - Template - Clean Wavy (blue)</dc:title>
  <dc:subject/>
  <dc:creator/>
  <dc:description>Free template released by Showeet.</dc:description>
  <cp:lastModifiedBy>SCHLEGEL Philippe</cp:lastModifiedBy>
  <cp:revision>323</cp:revision>
  <dcterms:created xsi:type="dcterms:W3CDTF">2012-01-17T22:15:29Z</dcterms:created>
  <dcterms:modified xsi:type="dcterms:W3CDTF">2026-01-30T08:39:38Z</dcterms:modified>
  <dc:language>fr-FR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ategory">
    <vt:lpwstr>Templates</vt:lpwstr>
  </property>
  <property fmtid="{D5CDD505-2E9C-101B-9397-08002B2CF9AE}" pid="3" name="Conditions of use">
    <vt:lpwstr>http://creativecommons.org/licenses/by-nd/3.0/</vt:lpwstr>
  </property>
  <property fmtid="{D5CDD505-2E9C-101B-9397-08002B2CF9AE}" pid="4" name="Copyright">
    <vt:lpwstr>© Copyright Showeet.com</vt:lpwstr>
  </property>
  <property fmtid="{D5CDD505-2E9C-101B-9397-08002B2CF9AE}" pid="5" name="ID">
    <vt:lpwstr>#1-0020</vt:lpwstr>
  </property>
  <property fmtid="{D5CDD505-2E9C-101B-9397-08002B2CF9AE}" pid="6" name="Source">
    <vt:lpwstr>http://www.showeet.com</vt:lpwstr>
  </property>
</Properties>
</file>