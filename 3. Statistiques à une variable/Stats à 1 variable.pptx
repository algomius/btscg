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27"/>
  </p:notesMasterIdLst>
  <p:sldIdLst>
    <p:sldId id="256" r:id="rId4"/>
    <p:sldId id="343" r:id="rId5"/>
    <p:sldId id="257" r:id="rId6"/>
    <p:sldId id="344" r:id="rId7"/>
    <p:sldId id="345" r:id="rId8"/>
    <p:sldId id="382" r:id="rId9"/>
    <p:sldId id="397" r:id="rId10"/>
    <p:sldId id="398" r:id="rId11"/>
    <p:sldId id="399" r:id="rId12"/>
    <p:sldId id="383" r:id="rId13"/>
    <p:sldId id="384" r:id="rId14"/>
    <p:sldId id="393" r:id="rId15"/>
    <p:sldId id="385" r:id="rId16"/>
    <p:sldId id="388" r:id="rId17"/>
    <p:sldId id="389" r:id="rId18"/>
    <p:sldId id="401" r:id="rId19"/>
    <p:sldId id="390" r:id="rId20"/>
    <p:sldId id="391" r:id="rId21"/>
    <p:sldId id="392" r:id="rId22"/>
    <p:sldId id="394" r:id="rId23"/>
    <p:sldId id="396" r:id="rId24"/>
    <p:sldId id="400" r:id="rId25"/>
    <p:sldId id="281" r:id="rId26"/>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2" autoAdjust="0"/>
  </p:normalViewPr>
  <p:slideViewPr>
    <p:cSldViewPr snapToGrid="0">
      <p:cViewPr varScale="1">
        <p:scale>
          <a:sx n="156" d="100"/>
          <a:sy n="156" d="100"/>
        </p:scale>
        <p:origin x="1944" y="150"/>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Classeur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Valeur et moyenne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lineChart>
        <c:grouping val="standard"/>
        <c:varyColors val="0"/>
        <c:ser>
          <c:idx val="0"/>
          <c:order val="0"/>
          <c:tx>
            <c:strRef>
              <c:f>Feuil1!$B$18</c:f>
              <c:strCache>
                <c:ptCount val="1"/>
                <c:pt idx="0">
                  <c:v>Achat</c:v>
                </c:pt>
              </c:strCache>
            </c:strRef>
          </c:tx>
          <c:spPr>
            <a:ln w="28575" cap="rnd">
              <a:solidFill>
                <a:schemeClr val="accent1"/>
              </a:solidFill>
              <a:round/>
            </a:ln>
            <a:effectLst/>
          </c:spPr>
          <c:marker>
            <c:symbol val="none"/>
          </c:marker>
          <c:cat>
            <c:numRef>
              <c:f>Feuil1!$C$17:$E$17</c:f>
              <c:numCache>
                <c:formatCode>m/d/yyyy</c:formatCode>
                <c:ptCount val="3"/>
                <c:pt idx="0">
                  <c:v>44217</c:v>
                </c:pt>
                <c:pt idx="1">
                  <c:v>44301</c:v>
                </c:pt>
                <c:pt idx="2">
                  <c:v>44470</c:v>
                </c:pt>
              </c:numCache>
            </c:numRef>
          </c:cat>
          <c:val>
            <c:numRef>
              <c:f>Feuil1!$C$18:$E$18</c:f>
              <c:numCache>
                <c:formatCode>General</c:formatCode>
                <c:ptCount val="3"/>
                <c:pt idx="0">
                  <c:v>503</c:v>
                </c:pt>
                <c:pt idx="1">
                  <c:v>560</c:v>
                </c:pt>
                <c:pt idx="2">
                  <c:v>635</c:v>
                </c:pt>
              </c:numCache>
            </c:numRef>
          </c:val>
          <c:smooth val="0"/>
          <c:extLst>
            <c:ext xmlns:c16="http://schemas.microsoft.com/office/drawing/2014/chart" uri="{C3380CC4-5D6E-409C-BE32-E72D297353CC}">
              <c16:uniqueId val="{00000000-24C5-4334-9D75-8695F9A75B9D}"/>
            </c:ext>
          </c:extLst>
        </c:ser>
        <c:ser>
          <c:idx val="1"/>
          <c:order val="1"/>
          <c:tx>
            <c:strRef>
              <c:f>Feuil1!$B$19</c:f>
              <c:strCache>
                <c:ptCount val="1"/>
                <c:pt idx="0">
                  <c:v>Moyenne</c:v>
                </c:pt>
              </c:strCache>
            </c:strRef>
          </c:tx>
          <c:spPr>
            <a:ln w="28575" cap="rnd">
              <a:solidFill>
                <a:schemeClr val="accent2"/>
              </a:solidFill>
              <a:round/>
            </a:ln>
            <a:effectLst/>
          </c:spPr>
          <c:marker>
            <c:symbol val="none"/>
          </c:marker>
          <c:cat>
            <c:numRef>
              <c:f>Feuil1!$C$17:$E$17</c:f>
              <c:numCache>
                <c:formatCode>m/d/yyyy</c:formatCode>
                <c:ptCount val="3"/>
                <c:pt idx="0">
                  <c:v>44217</c:v>
                </c:pt>
                <c:pt idx="1">
                  <c:v>44301</c:v>
                </c:pt>
                <c:pt idx="2">
                  <c:v>44470</c:v>
                </c:pt>
              </c:numCache>
            </c:numRef>
          </c:cat>
          <c:val>
            <c:numRef>
              <c:f>Feuil1!$C$19:$E$19</c:f>
              <c:numCache>
                <c:formatCode>General</c:formatCode>
                <c:ptCount val="3"/>
                <c:pt idx="0">
                  <c:v>566</c:v>
                </c:pt>
                <c:pt idx="1">
                  <c:v>566</c:v>
                </c:pt>
                <c:pt idx="2">
                  <c:v>566</c:v>
                </c:pt>
              </c:numCache>
            </c:numRef>
          </c:val>
          <c:smooth val="0"/>
          <c:extLst>
            <c:ext xmlns:c16="http://schemas.microsoft.com/office/drawing/2014/chart" uri="{C3380CC4-5D6E-409C-BE32-E72D297353CC}">
              <c16:uniqueId val="{00000001-24C5-4334-9D75-8695F9A75B9D}"/>
            </c:ext>
          </c:extLst>
        </c:ser>
        <c:dLbls>
          <c:showLegendKey val="0"/>
          <c:showVal val="0"/>
          <c:showCatName val="0"/>
          <c:showSerName val="0"/>
          <c:showPercent val="0"/>
          <c:showBubbleSize val="0"/>
        </c:dLbls>
        <c:smooth val="0"/>
        <c:axId val="1276615280"/>
        <c:axId val="1276607792"/>
      </c:lineChart>
      <c:dateAx>
        <c:axId val="1276615280"/>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276607792"/>
        <c:crosses val="autoZero"/>
        <c:auto val="1"/>
        <c:lblOffset val="100"/>
        <c:baseTimeUnit val="months"/>
      </c:dateAx>
      <c:valAx>
        <c:axId val="127660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276615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26/02/2025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xlsx"/><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6.emf"/><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Statistiques</a:t>
            </a:r>
            <a:br>
              <a:rPr dirty="0"/>
            </a:br>
            <a:r>
              <a:rPr lang="fr-FR" sz="4400" spc="-1" dirty="0">
                <a:solidFill>
                  <a:srgbClr val="376092"/>
                </a:solidFill>
                <a:latin typeface="Arial"/>
              </a:rPr>
              <a:t>Statistiques à 1 variable</a:t>
            </a:r>
            <a:endParaRPr lang="en-US" sz="4400"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endParaRPr lang="fr-FR" sz="2400" b="0" strike="noStrike" spc="-1" dirty="0">
              <a:solidFill>
                <a:srgbClr val="999999"/>
              </a:solidFill>
              <a:latin typeface="Arial"/>
            </a:endParaRPr>
          </a:p>
          <a:p>
            <a:pPr marL="108000" algn="r">
              <a:spcAft>
                <a:spcPts val="1060"/>
              </a:spcAft>
              <a:buClr>
                <a:srgbClr val="000000"/>
              </a:buClr>
              <a:buSzPct val="45000"/>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Statistiques à 1 variable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 sont les statistiques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Représenter graphiquement les séries statistiques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Calculer la moyenne et la médiane</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Calculer les quartiles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Calculer l'étendue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Calculer la variance et l'écart type</a:t>
            </a:r>
          </a:p>
          <a:p>
            <a:pPr marL="108000">
              <a:spcAft>
                <a:spcPts val="1060"/>
              </a:spcAft>
              <a:buClr>
                <a:srgbClr val="000000"/>
              </a:buClr>
              <a:buSzPct val="45000"/>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Que sont les statistiques ?</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statistique est une discipline qui étudie les phénomènes à travers la collecte de données, leur analyse, l’interprétation des résultats et leur présentation.</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C’est à la fois une branche</a:t>
            </a:r>
            <a:r>
              <a:rPr lang="fr-FR" sz="2400" spc="-1" dirty="0">
                <a:solidFill>
                  <a:srgbClr val="376092"/>
                </a:solidFill>
                <a:latin typeface="Calibri"/>
              </a:rPr>
              <a:t> des mathématiques appliquées, une méthode et un ensemble de techniques.</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La statistique fait partie de la science des données (Data Science). C’est un secteur en plein essor.</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statistique s’appuie sur la théorie des probabilités.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Elle est utilisée dans des domaines très variés : l’économie, la biologie, le management, l’informatique, la santé….</a:t>
            </a:r>
            <a:endParaRPr lang="en-US" sz="2400" b="0" strike="noStrike" spc="-1" dirty="0">
              <a:solidFill>
                <a:srgbClr val="376092"/>
              </a:solidFill>
              <a:latin typeface="Calibri"/>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Que sont les statistiques ?</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 travail du statisticien consiste à fournir des outils d’aide à la décision en se basant sur l’ensemble des données collectées.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applique donc des règles et des méthodes pour extraire des données importantes mais aussi pour les rendre compréhensibles.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 nombre croissant des données traitées pousse naturellement le statisticien à se tourner vers l’outils informatique.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doit allier ses connaissances en mathématiques avec des notions d’informatique.</a:t>
            </a: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3452051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Quelques exemples d’utilisation des statistiques ?</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Prévision météo.</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Démographie/recensement.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Marketing : sondage d’opinion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Production industrielle : estimation des rebuts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Santé : propagation d’une épidémie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Bourse : analyse technique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Informatique : Interpolation</a:t>
            </a: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1478549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a:t>
            </a:r>
            <a:endParaRPr lang="en-US" sz="3200" b="0" strike="noStrike" spc="-1" dirty="0">
              <a:solidFill>
                <a:srgbClr val="376092"/>
              </a:solidFill>
              <a:latin typeface="Arial"/>
            </a:endParaRPr>
          </a:p>
        </p:txBody>
      </p:sp>
      <p:sp>
        <p:nvSpPr>
          <p:cNvPr id="136" name="TextShape 2"/>
          <p:cNvSpPr txBox="1"/>
          <p:nvPr/>
        </p:nvSpPr>
        <p:spPr>
          <a:xfrm>
            <a:off x="457200" y="1012054"/>
            <a:ext cx="8229240" cy="5113706"/>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En statistique, nous nous appuyons souvent sur des séries de nombres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Température sur une année.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Cours d'une action sur un mois.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Notes des étudiants à un partiel.</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C'est que nous appelons une série statistique.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En termes de représentation, il s'agit d'une suite de nombres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17 – 20 – 5 – 6 – 8 – 11 – 12 – 13 -15</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Le travail du statis</a:t>
            </a:r>
            <a:r>
              <a:rPr lang="fr-FR" sz="2400" spc="-1" dirty="0">
                <a:solidFill>
                  <a:srgbClr val="376092"/>
                </a:solidFill>
                <a:latin typeface="Calibri"/>
              </a:rPr>
              <a:t>ticien est de tirer un maximum d'information sur cette série.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voudrions avoir une idée globale de la représentation de ces nombres.</a:t>
            </a: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422321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0748B-1082-7C57-F3F8-63E34C3225FF}"/>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FCA5E855-343E-8E68-FE17-1B423F1348D2}"/>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Représentation graphique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DD947CD7-EF84-A666-798A-84BC3FD4F15E}"/>
              </a:ext>
            </a:extLst>
          </p:cNvPr>
          <p:cNvSpPr txBox="1"/>
          <p:nvPr/>
        </p:nvSpPr>
        <p:spPr>
          <a:xfrm>
            <a:off x="457200" y="1012054"/>
            <a:ext cx="8229240" cy="5113706"/>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L'outil graphique nous permet d'avoir une bonne première appréciation d'une série statistique.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existe plusieurs types de graphiques pour s'adapter à toutes les situations.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Représentons la série ci-dessous avec un diagramme en barres:</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Représentons la série ci-dessous avec un diagramme sectoriel:</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Imaginons que le montant des ventes pour cette société s'élève à 1 250 000 d'euros. Donnez le montant des ventes par région du monde </a:t>
            </a:r>
            <a:endParaRPr lang="en-US" sz="2400" b="0" strike="noStrike" spc="-1" dirty="0">
              <a:solidFill>
                <a:srgbClr val="376092"/>
              </a:solidFill>
              <a:latin typeface="Calibri"/>
            </a:endParaRPr>
          </a:p>
        </p:txBody>
      </p:sp>
      <p:graphicFrame>
        <p:nvGraphicFramePr>
          <p:cNvPr id="2" name="Tableau 1">
            <a:extLst>
              <a:ext uri="{FF2B5EF4-FFF2-40B4-BE49-F238E27FC236}">
                <a16:creationId xmlns:a16="http://schemas.microsoft.com/office/drawing/2014/main" id="{BAE77DED-2832-9D6E-922F-1B88CB9A7A18}"/>
              </a:ext>
            </a:extLst>
          </p:cNvPr>
          <p:cNvGraphicFramePr>
            <a:graphicFrameLocks noGrp="1"/>
          </p:cNvGraphicFramePr>
          <p:nvPr>
            <p:extLst>
              <p:ext uri="{D42A27DB-BD31-4B8C-83A1-F6EECF244321}">
                <p14:modId xmlns:p14="http://schemas.microsoft.com/office/powerpoint/2010/main" val="4133117098"/>
              </p:ext>
            </p:extLst>
          </p:nvPr>
        </p:nvGraphicFramePr>
        <p:xfrm>
          <a:off x="536980" y="3277535"/>
          <a:ext cx="8229599" cy="302930"/>
        </p:xfrm>
        <a:graphic>
          <a:graphicData uri="http://schemas.openxmlformats.org/drawingml/2006/table">
            <a:tbl>
              <a:tblPr/>
              <a:tblGrid>
                <a:gridCol w="959279">
                  <a:extLst>
                    <a:ext uri="{9D8B030D-6E8A-4147-A177-3AD203B41FA5}">
                      <a16:colId xmlns:a16="http://schemas.microsoft.com/office/drawing/2014/main" val="3369666965"/>
                    </a:ext>
                  </a:extLst>
                </a:gridCol>
                <a:gridCol w="605860">
                  <a:extLst>
                    <a:ext uri="{9D8B030D-6E8A-4147-A177-3AD203B41FA5}">
                      <a16:colId xmlns:a16="http://schemas.microsoft.com/office/drawing/2014/main" val="1531989019"/>
                    </a:ext>
                  </a:extLst>
                </a:gridCol>
                <a:gridCol w="605860">
                  <a:extLst>
                    <a:ext uri="{9D8B030D-6E8A-4147-A177-3AD203B41FA5}">
                      <a16:colId xmlns:a16="http://schemas.microsoft.com/office/drawing/2014/main" val="333999817"/>
                    </a:ext>
                  </a:extLst>
                </a:gridCol>
                <a:gridCol w="605860">
                  <a:extLst>
                    <a:ext uri="{9D8B030D-6E8A-4147-A177-3AD203B41FA5}">
                      <a16:colId xmlns:a16="http://schemas.microsoft.com/office/drawing/2014/main" val="1651295995"/>
                    </a:ext>
                  </a:extLst>
                </a:gridCol>
                <a:gridCol w="605860">
                  <a:extLst>
                    <a:ext uri="{9D8B030D-6E8A-4147-A177-3AD203B41FA5}">
                      <a16:colId xmlns:a16="http://schemas.microsoft.com/office/drawing/2014/main" val="2866954349"/>
                    </a:ext>
                  </a:extLst>
                </a:gridCol>
                <a:gridCol w="605860">
                  <a:extLst>
                    <a:ext uri="{9D8B030D-6E8A-4147-A177-3AD203B41FA5}">
                      <a16:colId xmlns:a16="http://schemas.microsoft.com/office/drawing/2014/main" val="1162126158"/>
                    </a:ext>
                  </a:extLst>
                </a:gridCol>
                <a:gridCol w="605860">
                  <a:extLst>
                    <a:ext uri="{9D8B030D-6E8A-4147-A177-3AD203B41FA5}">
                      <a16:colId xmlns:a16="http://schemas.microsoft.com/office/drawing/2014/main" val="1849783938"/>
                    </a:ext>
                  </a:extLst>
                </a:gridCol>
                <a:gridCol w="605860">
                  <a:extLst>
                    <a:ext uri="{9D8B030D-6E8A-4147-A177-3AD203B41FA5}">
                      <a16:colId xmlns:a16="http://schemas.microsoft.com/office/drawing/2014/main" val="353221048"/>
                    </a:ext>
                  </a:extLst>
                </a:gridCol>
                <a:gridCol w="605860">
                  <a:extLst>
                    <a:ext uri="{9D8B030D-6E8A-4147-A177-3AD203B41FA5}">
                      <a16:colId xmlns:a16="http://schemas.microsoft.com/office/drawing/2014/main" val="1676322779"/>
                    </a:ext>
                  </a:extLst>
                </a:gridCol>
                <a:gridCol w="605860">
                  <a:extLst>
                    <a:ext uri="{9D8B030D-6E8A-4147-A177-3AD203B41FA5}">
                      <a16:colId xmlns:a16="http://schemas.microsoft.com/office/drawing/2014/main" val="3478657183"/>
                    </a:ext>
                  </a:extLst>
                </a:gridCol>
                <a:gridCol w="605860">
                  <a:extLst>
                    <a:ext uri="{9D8B030D-6E8A-4147-A177-3AD203B41FA5}">
                      <a16:colId xmlns:a16="http://schemas.microsoft.com/office/drawing/2014/main" val="2131262662"/>
                    </a:ext>
                  </a:extLst>
                </a:gridCol>
                <a:gridCol w="605860">
                  <a:extLst>
                    <a:ext uri="{9D8B030D-6E8A-4147-A177-3AD203B41FA5}">
                      <a16:colId xmlns:a16="http://schemas.microsoft.com/office/drawing/2014/main" val="3111493834"/>
                    </a:ext>
                  </a:extLst>
                </a:gridCol>
                <a:gridCol w="605860">
                  <a:extLst>
                    <a:ext uri="{9D8B030D-6E8A-4147-A177-3AD203B41FA5}">
                      <a16:colId xmlns:a16="http://schemas.microsoft.com/office/drawing/2014/main" val="2978520289"/>
                    </a:ext>
                  </a:extLst>
                </a:gridCol>
              </a:tblGrid>
              <a:tr h="151465">
                <a:tc>
                  <a:txBody>
                    <a:bodyPr/>
                    <a:lstStyle/>
                    <a:p>
                      <a:pPr algn="ctr" fontAlgn="b"/>
                      <a:r>
                        <a:rPr lang="fr-FR" sz="900" b="0" i="0" u="none" strike="noStrike">
                          <a:solidFill>
                            <a:srgbClr val="FFFFFF"/>
                          </a:solidFill>
                          <a:effectLst/>
                          <a:latin typeface="Aptos Narrow" panose="020B0004020202020204" pitchFamily="34" charset="0"/>
                        </a:rPr>
                        <a:t> </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FFFFFF"/>
                          </a:solidFill>
                          <a:effectLst/>
                          <a:latin typeface="Aptos Narrow" panose="020B0004020202020204" pitchFamily="34" charset="0"/>
                        </a:rPr>
                        <a:t>Janvier</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FFFFFF"/>
                          </a:solidFill>
                          <a:effectLst/>
                          <a:latin typeface="Aptos Narrow" panose="020B0004020202020204" pitchFamily="34" charset="0"/>
                        </a:rPr>
                        <a:t>Février</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FFFFFF"/>
                          </a:solidFill>
                          <a:effectLst/>
                          <a:latin typeface="Aptos Narrow" panose="020B0004020202020204" pitchFamily="34" charset="0"/>
                        </a:rPr>
                        <a:t>Mars</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FFFFFF"/>
                          </a:solidFill>
                          <a:effectLst/>
                          <a:latin typeface="Aptos Narrow" panose="020B0004020202020204" pitchFamily="34" charset="0"/>
                        </a:rPr>
                        <a:t>Avril</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FFFFFF"/>
                          </a:solidFill>
                          <a:effectLst/>
                          <a:latin typeface="Aptos Narrow" panose="020B0004020202020204" pitchFamily="34" charset="0"/>
                        </a:rPr>
                        <a:t>Mai</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FFFFFF"/>
                          </a:solidFill>
                          <a:effectLst/>
                          <a:latin typeface="Aptos Narrow" panose="020B0004020202020204" pitchFamily="34" charset="0"/>
                        </a:rPr>
                        <a:t>Juin</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FFFFFF"/>
                          </a:solidFill>
                          <a:effectLst/>
                          <a:latin typeface="Aptos Narrow" panose="020B0004020202020204" pitchFamily="34" charset="0"/>
                        </a:rPr>
                        <a:t>Juillet</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FFFFFF"/>
                          </a:solidFill>
                          <a:effectLst/>
                          <a:latin typeface="Aptos Narrow" panose="020B0004020202020204" pitchFamily="34" charset="0"/>
                        </a:rPr>
                        <a:t>Août</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FFFFFF"/>
                          </a:solidFill>
                          <a:effectLst/>
                          <a:latin typeface="Aptos Narrow" panose="020B0004020202020204" pitchFamily="34" charset="0"/>
                        </a:rPr>
                        <a:t>Septembre</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FFFFFF"/>
                          </a:solidFill>
                          <a:effectLst/>
                          <a:latin typeface="Aptos Narrow" panose="020B0004020202020204" pitchFamily="34" charset="0"/>
                        </a:rPr>
                        <a:t>Octobre</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FFFFFF"/>
                          </a:solidFill>
                          <a:effectLst/>
                          <a:latin typeface="Aptos Narrow" panose="020B0004020202020204" pitchFamily="34" charset="0"/>
                        </a:rPr>
                        <a:t>Novembre</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FFFFFF"/>
                          </a:solidFill>
                          <a:effectLst/>
                          <a:latin typeface="Aptos Narrow" panose="020B0004020202020204" pitchFamily="34" charset="0"/>
                        </a:rPr>
                        <a:t>Décembre</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083517417"/>
                  </a:ext>
                </a:extLst>
              </a:tr>
              <a:tr h="151465">
                <a:tc>
                  <a:txBody>
                    <a:bodyPr/>
                    <a:lstStyle/>
                    <a:p>
                      <a:pPr algn="ctr" fontAlgn="b"/>
                      <a:r>
                        <a:rPr lang="fr-FR" sz="900" b="0" i="0" u="none" strike="noStrike">
                          <a:solidFill>
                            <a:srgbClr val="FFFFFF"/>
                          </a:solidFill>
                          <a:effectLst/>
                          <a:latin typeface="Aptos Narrow" panose="020B0004020202020204" pitchFamily="34" charset="0"/>
                        </a:rPr>
                        <a:t>Montant des ventes</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900" b="0" i="0" u="none" strike="noStrike">
                          <a:solidFill>
                            <a:srgbClr val="000000"/>
                          </a:solidFill>
                          <a:effectLst/>
                          <a:latin typeface="Aptos Narrow" panose="020B0004020202020204" pitchFamily="34" charset="0"/>
                        </a:rPr>
                        <a:t>100</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900" b="0" i="0" u="none" strike="noStrike">
                          <a:solidFill>
                            <a:srgbClr val="000000"/>
                          </a:solidFill>
                          <a:effectLst/>
                          <a:latin typeface="Aptos Narrow" panose="020B0004020202020204" pitchFamily="34" charset="0"/>
                        </a:rPr>
                        <a:t>85</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900" b="0" i="0" u="none" strike="noStrike">
                          <a:solidFill>
                            <a:srgbClr val="000000"/>
                          </a:solidFill>
                          <a:effectLst/>
                          <a:latin typeface="Aptos Narrow" panose="020B0004020202020204" pitchFamily="34" charset="0"/>
                        </a:rPr>
                        <a:t>104</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900" b="0" i="0" u="none" strike="noStrike">
                          <a:solidFill>
                            <a:srgbClr val="000000"/>
                          </a:solidFill>
                          <a:effectLst/>
                          <a:latin typeface="Aptos Narrow" panose="020B0004020202020204" pitchFamily="34" charset="0"/>
                        </a:rPr>
                        <a:t>120</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900" b="0" i="0" u="none" strike="noStrike">
                          <a:solidFill>
                            <a:srgbClr val="000000"/>
                          </a:solidFill>
                          <a:effectLst/>
                          <a:latin typeface="Aptos Narrow" panose="020B0004020202020204" pitchFamily="34" charset="0"/>
                        </a:rPr>
                        <a:t>130</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900" b="0" i="0" u="none" strike="noStrike">
                          <a:solidFill>
                            <a:srgbClr val="000000"/>
                          </a:solidFill>
                          <a:effectLst/>
                          <a:latin typeface="Aptos Narrow" panose="020B0004020202020204" pitchFamily="34" charset="0"/>
                        </a:rPr>
                        <a:t>190</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900" b="0" i="0" u="none" strike="noStrike">
                          <a:solidFill>
                            <a:srgbClr val="000000"/>
                          </a:solidFill>
                          <a:effectLst/>
                          <a:latin typeface="Aptos Narrow" panose="020B0004020202020204" pitchFamily="34" charset="0"/>
                        </a:rPr>
                        <a:t>210</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900" b="0" i="0" u="none" strike="noStrike">
                          <a:solidFill>
                            <a:srgbClr val="000000"/>
                          </a:solidFill>
                          <a:effectLst/>
                          <a:latin typeface="Aptos Narrow" panose="020B0004020202020204" pitchFamily="34" charset="0"/>
                        </a:rPr>
                        <a:t>220</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900" b="0" i="0" u="none" strike="noStrike">
                          <a:solidFill>
                            <a:srgbClr val="000000"/>
                          </a:solidFill>
                          <a:effectLst/>
                          <a:latin typeface="Aptos Narrow" panose="020B0004020202020204" pitchFamily="34" charset="0"/>
                        </a:rPr>
                        <a:t>190</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900" b="0" i="0" u="none" strike="noStrike">
                          <a:solidFill>
                            <a:srgbClr val="000000"/>
                          </a:solidFill>
                          <a:effectLst/>
                          <a:latin typeface="Aptos Narrow" panose="020B0004020202020204" pitchFamily="34" charset="0"/>
                        </a:rPr>
                        <a:t>120</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900" b="0" i="0" u="none" strike="noStrike">
                          <a:solidFill>
                            <a:srgbClr val="000000"/>
                          </a:solidFill>
                          <a:effectLst/>
                          <a:latin typeface="Aptos Narrow" panose="020B0004020202020204" pitchFamily="34" charset="0"/>
                        </a:rPr>
                        <a:t>90</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900" b="0" i="0" u="none" strike="noStrike" dirty="0">
                          <a:solidFill>
                            <a:srgbClr val="000000"/>
                          </a:solidFill>
                          <a:effectLst/>
                          <a:latin typeface="Aptos Narrow" panose="020B0004020202020204" pitchFamily="34" charset="0"/>
                        </a:rPr>
                        <a:t>80</a:t>
                      </a:r>
                    </a:p>
                  </a:txBody>
                  <a:tcPr marL="7573" marR="7573" marT="75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1312708"/>
                  </a:ext>
                </a:extLst>
              </a:tr>
            </a:tbl>
          </a:graphicData>
        </a:graphic>
      </p:graphicFrame>
      <p:graphicFrame>
        <p:nvGraphicFramePr>
          <p:cNvPr id="3" name="Tableau 2">
            <a:extLst>
              <a:ext uri="{FF2B5EF4-FFF2-40B4-BE49-F238E27FC236}">
                <a16:creationId xmlns:a16="http://schemas.microsoft.com/office/drawing/2014/main" id="{AF83B1E6-BE32-0FB1-CA1C-7466140508C7}"/>
              </a:ext>
            </a:extLst>
          </p:cNvPr>
          <p:cNvGraphicFramePr>
            <a:graphicFrameLocks noGrp="1"/>
          </p:cNvGraphicFramePr>
          <p:nvPr>
            <p:extLst>
              <p:ext uri="{D42A27DB-BD31-4B8C-83A1-F6EECF244321}">
                <p14:modId xmlns:p14="http://schemas.microsoft.com/office/powerpoint/2010/main" val="4886586"/>
              </p:ext>
            </p:extLst>
          </p:nvPr>
        </p:nvGraphicFramePr>
        <p:xfrm>
          <a:off x="536980" y="4281612"/>
          <a:ext cx="5283201" cy="381000"/>
        </p:xfrm>
        <a:graphic>
          <a:graphicData uri="http://schemas.openxmlformats.org/drawingml/2006/table">
            <a:tbl>
              <a:tblPr/>
              <a:tblGrid>
                <a:gridCol w="1205052">
                  <a:extLst>
                    <a:ext uri="{9D8B030D-6E8A-4147-A177-3AD203B41FA5}">
                      <a16:colId xmlns:a16="http://schemas.microsoft.com/office/drawing/2014/main" val="4159178028"/>
                    </a:ext>
                  </a:extLst>
                </a:gridCol>
                <a:gridCol w="1128943">
                  <a:extLst>
                    <a:ext uri="{9D8B030D-6E8A-4147-A177-3AD203B41FA5}">
                      <a16:colId xmlns:a16="http://schemas.microsoft.com/office/drawing/2014/main" val="1162236475"/>
                    </a:ext>
                  </a:extLst>
                </a:gridCol>
                <a:gridCol w="1056006">
                  <a:extLst>
                    <a:ext uri="{9D8B030D-6E8A-4147-A177-3AD203B41FA5}">
                      <a16:colId xmlns:a16="http://schemas.microsoft.com/office/drawing/2014/main" val="2875335813"/>
                    </a:ext>
                  </a:extLst>
                </a:gridCol>
                <a:gridCol w="367858">
                  <a:extLst>
                    <a:ext uri="{9D8B030D-6E8A-4147-A177-3AD203B41FA5}">
                      <a16:colId xmlns:a16="http://schemas.microsoft.com/office/drawing/2014/main" val="4089181853"/>
                    </a:ext>
                  </a:extLst>
                </a:gridCol>
                <a:gridCol w="482021">
                  <a:extLst>
                    <a:ext uri="{9D8B030D-6E8A-4147-A177-3AD203B41FA5}">
                      <a16:colId xmlns:a16="http://schemas.microsoft.com/office/drawing/2014/main" val="4252489480"/>
                    </a:ext>
                  </a:extLst>
                </a:gridCol>
                <a:gridCol w="558129">
                  <a:extLst>
                    <a:ext uri="{9D8B030D-6E8A-4147-A177-3AD203B41FA5}">
                      <a16:colId xmlns:a16="http://schemas.microsoft.com/office/drawing/2014/main" val="3837365057"/>
                    </a:ext>
                  </a:extLst>
                </a:gridCol>
                <a:gridCol w="485192">
                  <a:extLst>
                    <a:ext uri="{9D8B030D-6E8A-4147-A177-3AD203B41FA5}">
                      <a16:colId xmlns:a16="http://schemas.microsoft.com/office/drawing/2014/main" val="2700399473"/>
                    </a:ext>
                  </a:extLst>
                </a:gridCol>
              </a:tblGrid>
              <a:tr h="190500">
                <a:tc>
                  <a:txBody>
                    <a:bodyPr/>
                    <a:lstStyle/>
                    <a:p>
                      <a:pPr algn="ctr" fontAlgn="b"/>
                      <a:r>
                        <a:rPr lang="fr-FR" sz="1100" b="0" i="0" u="none" strike="noStrike">
                          <a:solidFill>
                            <a:srgbClr val="FFFFFF"/>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Amérique du nord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Amérique du sud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Asie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Europe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Océanie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Afrique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664416967"/>
                  </a:ext>
                </a:extLst>
              </a:tr>
              <a:tr h="190500">
                <a:tc>
                  <a:txBody>
                    <a:bodyPr/>
                    <a:lstStyle/>
                    <a:p>
                      <a:pPr algn="ctr" fontAlgn="b"/>
                      <a:r>
                        <a:rPr lang="fr-FR" sz="1100" b="0" i="0" u="none" strike="noStrike">
                          <a:solidFill>
                            <a:srgbClr val="FFFFFF"/>
                          </a:solidFill>
                          <a:effectLst/>
                          <a:latin typeface="Aptos Narrow" panose="020B0004020202020204" pitchFamily="34" charset="0"/>
                        </a:rPr>
                        <a:t>Ventes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000000"/>
                          </a:solidFill>
                          <a:effectLst/>
                          <a:latin typeface="Aptos Narrow" panose="020B0004020202020204" pitchFamily="34"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100" b="0" i="0" u="none" strike="noStrike">
                          <a:solidFill>
                            <a:srgbClr val="000000"/>
                          </a:solidFill>
                          <a:effectLst/>
                          <a:latin typeface="Aptos Narrow" panose="020B000402020202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100" b="0" i="0" u="none" strike="noStrike">
                          <a:solidFill>
                            <a:srgbClr val="000000"/>
                          </a:solidFill>
                          <a:effectLst/>
                          <a:latin typeface="Aptos Narrow" panose="020B000402020202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100" b="0" i="0" u="none" strike="noStrike">
                          <a:solidFill>
                            <a:srgbClr val="000000"/>
                          </a:solidFill>
                          <a:effectLst/>
                          <a:latin typeface="Aptos Narrow" panose="020B0004020202020204" pitchFamily="34" charset="0"/>
                        </a:rPr>
                        <a:t>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100" b="0" i="0" u="none" strike="noStrike">
                          <a:solidFill>
                            <a:srgbClr val="000000"/>
                          </a:solidFill>
                          <a:effectLst/>
                          <a:latin typeface="Aptos Narrow" panose="020B0004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100" b="0" i="0" u="none" strike="noStrike" dirty="0">
                          <a:solidFill>
                            <a:srgbClr val="000000"/>
                          </a:solidFill>
                          <a:effectLst/>
                          <a:latin typeface="Aptos Narrow" panose="020B00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8297982"/>
                  </a:ext>
                </a:extLst>
              </a:tr>
            </a:tbl>
          </a:graphicData>
        </a:graphic>
      </p:graphicFrame>
    </p:spTree>
    <p:extLst>
      <p:ext uri="{BB962C8B-B14F-4D97-AF65-F5344CB8AC3E}">
        <p14:creationId xmlns:p14="http://schemas.microsoft.com/office/powerpoint/2010/main" val="4056248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50AC8-A3A2-DD87-3003-A701AB518AD7}"/>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71BDACCB-2F70-883F-7D2F-6BF44F88FD08}"/>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Représentation graphique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BCF17E65-610B-C841-3AEA-B281CB95D80F}"/>
              </a:ext>
            </a:extLst>
          </p:cNvPr>
          <p:cNvSpPr txBox="1"/>
          <p:nvPr/>
        </p:nvSpPr>
        <p:spPr>
          <a:xfrm>
            <a:off x="457200" y="1012054"/>
            <a:ext cx="8229240" cy="5113706"/>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Parfois la nature des données nous oriente vers un graphique plutôt qu'un autre :</a:t>
            </a:r>
          </a:p>
          <a:p>
            <a:pPr marL="864000" lvl="1" indent="-324000">
              <a:spcAft>
                <a:spcPts val="1134"/>
              </a:spcAft>
              <a:buClr>
                <a:srgbClr val="000000"/>
              </a:buClr>
              <a:buSzPct val="45000"/>
              <a:buFont typeface="Wingdings" charset="2"/>
              <a:buChar char=""/>
            </a:pPr>
            <a:r>
              <a:rPr lang="en-US" sz="2400" b="0" strike="noStrike" spc="-1" dirty="0">
                <a:solidFill>
                  <a:srgbClr val="376092"/>
                </a:solidFill>
                <a:latin typeface="Calibri"/>
              </a:rPr>
              <a:t>Données </a:t>
            </a:r>
            <a:r>
              <a:rPr lang="en-US" sz="2400" b="0" strike="noStrike" spc="-1" dirty="0" err="1">
                <a:solidFill>
                  <a:srgbClr val="376092"/>
                </a:solidFill>
                <a:latin typeface="Calibri"/>
              </a:rPr>
              <a:t>discrètes</a:t>
            </a:r>
            <a:r>
              <a:rPr lang="en-US" sz="2400" b="0" strike="noStrike" spc="-1" dirty="0">
                <a:solidFill>
                  <a:srgbClr val="376092"/>
                </a:solidFill>
                <a:latin typeface="Calibri"/>
              </a:rPr>
              <a:t> : Ce </a:t>
            </a:r>
            <a:r>
              <a:rPr lang="en-US" sz="2400" b="0" strike="noStrike" spc="-1" dirty="0" err="1">
                <a:solidFill>
                  <a:srgbClr val="376092"/>
                </a:solidFill>
                <a:latin typeface="Calibri"/>
              </a:rPr>
              <a:t>sont</a:t>
            </a:r>
            <a:r>
              <a:rPr lang="en-US" sz="2400" b="0" strike="noStrike" spc="-1" dirty="0">
                <a:solidFill>
                  <a:srgbClr val="376092"/>
                </a:solidFill>
                <a:latin typeface="Calibri"/>
              </a:rPr>
              <a:t> les </a:t>
            </a:r>
            <a:r>
              <a:rPr lang="en-US" sz="2400" b="0" strike="noStrike" spc="-1" dirty="0" err="1">
                <a:solidFill>
                  <a:srgbClr val="376092"/>
                </a:solidFill>
                <a:latin typeface="Calibri"/>
              </a:rPr>
              <a:t>valeurs</a:t>
            </a:r>
            <a:r>
              <a:rPr lang="en-US" sz="2400" b="0" strike="noStrike" spc="-1" dirty="0">
                <a:solidFill>
                  <a:srgbClr val="376092"/>
                </a:solidFill>
                <a:latin typeface="Calibri"/>
              </a:rPr>
              <a:t> </a:t>
            </a:r>
            <a:r>
              <a:rPr lang="en-US" sz="2400" b="0" strike="noStrike" spc="-1" dirty="0" err="1">
                <a:solidFill>
                  <a:srgbClr val="376092"/>
                </a:solidFill>
                <a:latin typeface="Calibri"/>
              </a:rPr>
              <a:t>distinctes</a:t>
            </a:r>
            <a:r>
              <a:rPr lang="en-US" sz="2400" b="0" strike="noStrike" spc="-1" dirty="0">
                <a:solidFill>
                  <a:srgbClr val="376092"/>
                </a:solidFill>
                <a:latin typeface="Calibri"/>
              </a:rPr>
              <a:t> (</a:t>
            </a:r>
            <a:r>
              <a:rPr lang="en-US" sz="2400" b="0" strike="noStrike" spc="-1" dirty="0" err="1">
                <a:solidFill>
                  <a:srgbClr val="376092"/>
                </a:solidFill>
                <a:latin typeface="Calibri"/>
              </a:rPr>
              <a:t>nombre</a:t>
            </a:r>
            <a:r>
              <a:rPr lang="en-US" sz="2400" b="0" strike="noStrike" spc="-1" dirty="0">
                <a:solidFill>
                  <a:srgbClr val="376092"/>
                </a:solidFill>
                <a:latin typeface="Calibri"/>
              </a:rPr>
              <a:t> </a:t>
            </a:r>
            <a:r>
              <a:rPr lang="en-US" sz="2400" b="0" strike="noStrike" spc="-1" dirty="0" err="1">
                <a:solidFill>
                  <a:srgbClr val="376092"/>
                </a:solidFill>
                <a:latin typeface="Calibri"/>
              </a:rPr>
              <a:t>d'enfants</a:t>
            </a:r>
            <a:r>
              <a:rPr lang="en-US" sz="2400" b="0" strike="noStrike" spc="-1" dirty="0">
                <a:solidFill>
                  <a:srgbClr val="376092"/>
                </a:solidFill>
                <a:latin typeface="Calibri"/>
              </a:rPr>
              <a:t> par </a:t>
            </a:r>
            <a:r>
              <a:rPr lang="en-US" sz="2400" b="0" strike="noStrike" spc="-1" dirty="0" err="1">
                <a:solidFill>
                  <a:srgbClr val="376092"/>
                </a:solidFill>
                <a:latin typeface="Calibri"/>
              </a:rPr>
              <a:t>famille</a:t>
            </a:r>
            <a:r>
              <a:rPr lang="en-US" sz="2400" b="0" strike="noStrike" spc="-1" dirty="0">
                <a:solidFill>
                  <a:srgbClr val="376092"/>
                </a:solidFill>
                <a:latin typeface="Calibri"/>
              </a:rPr>
              <a:t>, </a:t>
            </a:r>
            <a:r>
              <a:rPr lang="en-US" sz="2400" b="0" strike="noStrike" spc="-1" dirty="0" err="1">
                <a:solidFill>
                  <a:srgbClr val="376092"/>
                </a:solidFill>
                <a:latin typeface="Calibri"/>
              </a:rPr>
              <a:t>âge</a:t>
            </a:r>
            <a:r>
              <a:rPr lang="en-US" sz="2400" b="0" strike="noStrike" spc="-1" dirty="0">
                <a:solidFill>
                  <a:srgbClr val="376092"/>
                </a:solidFill>
                <a:latin typeface="Calibri"/>
              </a:rPr>
              <a:t> des </a:t>
            </a:r>
            <a:r>
              <a:rPr lang="en-US" sz="2400" b="0" strike="noStrike" spc="-1" dirty="0" err="1">
                <a:solidFill>
                  <a:srgbClr val="376092"/>
                </a:solidFill>
                <a:latin typeface="Calibri"/>
              </a:rPr>
              <a:t>personnes</a:t>
            </a:r>
            <a:r>
              <a:rPr lang="en-US" sz="2400" b="0" strike="noStrike" spc="-1" dirty="0">
                <a:solidFill>
                  <a:srgbClr val="376092"/>
                </a:solidFill>
                <a:latin typeface="Calibri"/>
              </a:rPr>
              <a:t>).</a:t>
            </a:r>
          </a:p>
          <a:p>
            <a:pPr marL="1321200" lvl="2" indent="-324000">
              <a:spcAft>
                <a:spcPts val="1134"/>
              </a:spcAft>
              <a:buClr>
                <a:srgbClr val="000000"/>
              </a:buClr>
              <a:buSzPct val="45000"/>
              <a:buFont typeface="Wingdings" charset="2"/>
              <a:buChar char=""/>
            </a:pPr>
            <a:r>
              <a:rPr lang="en-US" sz="2400" spc="-1" dirty="0" err="1">
                <a:solidFill>
                  <a:srgbClr val="376092"/>
                </a:solidFill>
                <a:latin typeface="Calibri"/>
              </a:rPr>
              <a:t>Diagramme</a:t>
            </a:r>
            <a:r>
              <a:rPr lang="en-US" sz="2400" spc="-1" dirty="0">
                <a:solidFill>
                  <a:srgbClr val="376092"/>
                </a:solidFill>
                <a:latin typeface="Calibri"/>
              </a:rPr>
              <a:t> </a:t>
            </a:r>
            <a:r>
              <a:rPr lang="en-US" sz="2400" spc="-1" dirty="0" err="1">
                <a:solidFill>
                  <a:srgbClr val="376092"/>
                </a:solidFill>
                <a:latin typeface="Calibri"/>
              </a:rPr>
              <a:t>en</a:t>
            </a:r>
            <a:r>
              <a:rPr lang="en-US" sz="2400" spc="-1" dirty="0">
                <a:solidFill>
                  <a:srgbClr val="376092"/>
                </a:solidFill>
                <a:latin typeface="Calibri"/>
              </a:rPr>
              <a:t> barres</a:t>
            </a:r>
            <a:endParaRPr lang="en-US" sz="2400" b="0" strike="noStrike" spc="-1" dirty="0">
              <a:solidFill>
                <a:srgbClr val="376092"/>
              </a:solidFill>
              <a:latin typeface="Calibri"/>
            </a:endParaRPr>
          </a:p>
          <a:p>
            <a:pPr marL="864000" lvl="1" indent="-324000">
              <a:spcAft>
                <a:spcPts val="1134"/>
              </a:spcAft>
              <a:buClr>
                <a:srgbClr val="000000"/>
              </a:buClr>
              <a:buSzPct val="45000"/>
              <a:buFont typeface="Wingdings" charset="2"/>
              <a:buChar char=""/>
            </a:pPr>
            <a:r>
              <a:rPr lang="en-US" sz="2400" spc="-1" dirty="0">
                <a:solidFill>
                  <a:srgbClr val="376092"/>
                </a:solidFill>
                <a:latin typeface="Calibri"/>
              </a:rPr>
              <a:t>Données continues : Ce </a:t>
            </a:r>
            <a:r>
              <a:rPr lang="en-US" sz="2400" spc="-1" dirty="0" err="1">
                <a:solidFill>
                  <a:srgbClr val="376092"/>
                </a:solidFill>
                <a:latin typeface="Calibri"/>
              </a:rPr>
              <a:t>sont</a:t>
            </a:r>
            <a:r>
              <a:rPr lang="en-US" sz="2400" spc="-1" dirty="0">
                <a:solidFill>
                  <a:srgbClr val="376092"/>
                </a:solidFill>
                <a:latin typeface="Calibri"/>
              </a:rPr>
              <a:t> des </a:t>
            </a:r>
            <a:r>
              <a:rPr lang="en-US" sz="2400" spc="-1" dirty="0" err="1">
                <a:solidFill>
                  <a:srgbClr val="376092"/>
                </a:solidFill>
                <a:latin typeface="Calibri"/>
              </a:rPr>
              <a:t>valeurs</a:t>
            </a:r>
            <a:r>
              <a:rPr lang="en-US" sz="2400" spc="-1" dirty="0">
                <a:solidFill>
                  <a:srgbClr val="376092"/>
                </a:solidFill>
                <a:latin typeface="Calibri"/>
              </a:rPr>
              <a:t> </a:t>
            </a:r>
            <a:r>
              <a:rPr lang="en-US" sz="2400" spc="-1" dirty="0" err="1">
                <a:solidFill>
                  <a:srgbClr val="376092"/>
                </a:solidFill>
                <a:latin typeface="Calibri"/>
              </a:rPr>
              <a:t>contenus</a:t>
            </a:r>
            <a:r>
              <a:rPr lang="en-US" sz="2400" spc="-1" dirty="0">
                <a:solidFill>
                  <a:srgbClr val="376092"/>
                </a:solidFill>
                <a:latin typeface="Calibri"/>
              </a:rPr>
              <a:t> dans un </a:t>
            </a:r>
            <a:r>
              <a:rPr lang="en-US" sz="2400" spc="-1" dirty="0" err="1">
                <a:solidFill>
                  <a:srgbClr val="376092"/>
                </a:solidFill>
                <a:latin typeface="Calibri"/>
              </a:rPr>
              <a:t>intervalle</a:t>
            </a:r>
            <a:r>
              <a:rPr lang="en-US" sz="2400" spc="-1" dirty="0">
                <a:solidFill>
                  <a:srgbClr val="376092"/>
                </a:solidFill>
                <a:latin typeface="Calibri"/>
              </a:rPr>
              <a:t> (taille des </a:t>
            </a:r>
            <a:r>
              <a:rPr lang="en-US" sz="2400" spc="-1" dirty="0" err="1">
                <a:solidFill>
                  <a:srgbClr val="376092"/>
                </a:solidFill>
                <a:latin typeface="Calibri"/>
              </a:rPr>
              <a:t>arbres</a:t>
            </a:r>
            <a:r>
              <a:rPr lang="en-US" sz="2400" spc="-1" dirty="0">
                <a:solidFill>
                  <a:srgbClr val="376092"/>
                </a:solidFill>
                <a:latin typeface="Calibri"/>
              </a:rPr>
              <a:t>, temperatures)</a:t>
            </a:r>
          </a:p>
          <a:p>
            <a:pPr marL="1321200" lvl="2" indent="-324000">
              <a:spcAft>
                <a:spcPts val="1134"/>
              </a:spcAft>
              <a:buClr>
                <a:srgbClr val="000000"/>
              </a:buClr>
              <a:buSzPct val="45000"/>
              <a:buFont typeface="Wingdings" charset="2"/>
              <a:buChar char=""/>
            </a:pPr>
            <a:r>
              <a:rPr lang="en-US" sz="2400" spc="-1" dirty="0" err="1">
                <a:solidFill>
                  <a:srgbClr val="376092"/>
                </a:solidFill>
                <a:latin typeface="Calibri"/>
              </a:rPr>
              <a:t>Histogramme</a:t>
            </a:r>
            <a:endParaRPr lang="en-US" sz="2400" spc="-1" dirty="0">
              <a:solidFill>
                <a:srgbClr val="376092"/>
              </a:solidFill>
              <a:latin typeface="Calibri"/>
            </a:endParaRPr>
          </a:p>
          <a:p>
            <a:pPr marL="406800" indent="-324000">
              <a:spcAft>
                <a:spcPts val="1134"/>
              </a:spcAft>
              <a:buClr>
                <a:srgbClr val="000000"/>
              </a:buClr>
              <a:buSzPct val="45000"/>
              <a:buFont typeface="Wingdings" charset="2"/>
              <a:buChar char=""/>
            </a:pPr>
            <a:r>
              <a:rPr lang="en-US" sz="2400" b="0" strike="noStrike" spc="-1" dirty="0" err="1">
                <a:solidFill>
                  <a:srgbClr val="376092"/>
                </a:solidFill>
                <a:latin typeface="Calibri"/>
              </a:rPr>
              <a:t>Rep</a:t>
            </a:r>
            <a:r>
              <a:rPr lang="en-US" sz="2400" spc="-1" dirty="0" err="1">
                <a:solidFill>
                  <a:srgbClr val="376092"/>
                </a:solidFill>
                <a:latin typeface="Calibri"/>
              </a:rPr>
              <a:t>résentons</a:t>
            </a:r>
            <a:r>
              <a:rPr lang="en-US" sz="2400" spc="-1" dirty="0">
                <a:solidFill>
                  <a:srgbClr val="376092"/>
                </a:solidFill>
                <a:latin typeface="Calibri"/>
              </a:rPr>
              <a:t> sous </a:t>
            </a:r>
            <a:r>
              <a:rPr lang="en-US" sz="2400" spc="-1" dirty="0" err="1">
                <a:solidFill>
                  <a:srgbClr val="376092"/>
                </a:solidFill>
                <a:latin typeface="Calibri"/>
              </a:rPr>
              <a:t>forme</a:t>
            </a:r>
            <a:r>
              <a:rPr lang="en-US" sz="2400" spc="-1" dirty="0">
                <a:solidFill>
                  <a:srgbClr val="376092"/>
                </a:solidFill>
                <a:latin typeface="Calibri"/>
              </a:rPr>
              <a:t> </a:t>
            </a:r>
            <a:r>
              <a:rPr lang="en-US" sz="2400" spc="-1" dirty="0" err="1">
                <a:solidFill>
                  <a:srgbClr val="376092"/>
                </a:solidFill>
                <a:latin typeface="Calibri"/>
              </a:rPr>
              <a:t>d'histogramme</a:t>
            </a:r>
            <a:r>
              <a:rPr lang="en-US" sz="2400" spc="-1" dirty="0">
                <a:solidFill>
                  <a:srgbClr val="376092"/>
                </a:solidFill>
                <a:latin typeface="Calibri"/>
              </a:rPr>
              <a:t> la </a:t>
            </a:r>
            <a:r>
              <a:rPr lang="en-US" sz="2400" spc="-1" dirty="0" err="1">
                <a:solidFill>
                  <a:srgbClr val="376092"/>
                </a:solidFill>
                <a:latin typeface="Calibri"/>
              </a:rPr>
              <a:t>série</a:t>
            </a:r>
            <a:r>
              <a:rPr lang="en-US" sz="2400" spc="-1" dirty="0">
                <a:solidFill>
                  <a:srgbClr val="376092"/>
                </a:solidFill>
                <a:latin typeface="Calibri"/>
              </a:rPr>
              <a:t> </a:t>
            </a:r>
            <a:r>
              <a:rPr lang="en-US" sz="2400" spc="-1" dirty="0" err="1">
                <a:solidFill>
                  <a:srgbClr val="376092"/>
                </a:solidFill>
                <a:latin typeface="Calibri"/>
              </a:rPr>
              <a:t>suivante</a:t>
            </a:r>
            <a:r>
              <a:rPr lang="en-US" sz="2400" spc="-1" dirty="0">
                <a:solidFill>
                  <a:srgbClr val="376092"/>
                </a:solidFill>
                <a:latin typeface="Calibri"/>
              </a:rPr>
              <a:t> :</a:t>
            </a:r>
          </a:p>
          <a:p>
            <a:pPr marL="406800" indent="-324000">
              <a:spcAft>
                <a:spcPts val="1134"/>
              </a:spcAft>
              <a:buClr>
                <a:srgbClr val="000000"/>
              </a:buClr>
              <a:buSzPct val="45000"/>
              <a:buFont typeface="Wingdings" charset="2"/>
              <a:buChar char=""/>
            </a:pPr>
            <a:endParaRPr lang="en-US" sz="2400" spc="-1" dirty="0">
              <a:solidFill>
                <a:srgbClr val="376092"/>
              </a:solidFill>
              <a:latin typeface="Calibri"/>
            </a:endParaRPr>
          </a:p>
          <a:p>
            <a:pPr marL="406800" indent="-324000">
              <a:spcAft>
                <a:spcPts val="1134"/>
              </a:spcAft>
              <a:buClr>
                <a:srgbClr val="000000"/>
              </a:buClr>
              <a:buSzPct val="45000"/>
              <a:buFont typeface="Wingdings" charset="2"/>
              <a:buChar char=""/>
            </a:pPr>
            <a:r>
              <a:rPr lang="en-US" sz="2400" spc="-1" dirty="0">
                <a:solidFill>
                  <a:srgbClr val="376092"/>
                </a:solidFill>
                <a:latin typeface="Calibri"/>
              </a:rPr>
              <a:t>Nous </a:t>
            </a:r>
            <a:r>
              <a:rPr lang="en-US" sz="2400" spc="-1" dirty="0" err="1">
                <a:solidFill>
                  <a:srgbClr val="376092"/>
                </a:solidFill>
                <a:latin typeface="Calibri"/>
              </a:rPr>
              <a:t>avons</a:t>
            </a:r>
            <a:r>
              <a:rPr lang="en-US" sz="2400" spc="-1" dirty="0">
                <a:solidFill>
                  <a:srgbClr val="376092"/>
                </a:solidFill>
                <a:latin typeface="Calibri"/>
              </a:rPr>
              <a:t> la </a:t>
            </a:r>
            <a:r>
              <a:rPr lang="en-US" sz="2400" spc="-1" dirty="0" err="1">
                <a:solidFill>
                  <a:srgbClr val="376092"/>
                </a:solidFill>
                <a:latin typeface="Calibri"/>
              </a:rPr>
              <a:t>possibilité</a:t>
            </a:r>
            <a:r>
              <a:rPr lang="en-US" sz="2400" spc="-1" dirty="0">
                <a:solidFill>
                  <a:srgbClr val="376092"/>
                </a:solidFill>
                <a:latin typeface="Calibri"/>
              </a:rPr>
              <a:t> de changer les </a:t>
            </a:r>
            <a:r>
              <a:rPr lang="en-US" sz="2400" spc="-1" dirty="0" err="1">
                <a:solidFill>
                  <a:srgbClr val="376092"/>
                </a:solidFill>
                <a:latin typeface="Calibri"/>
              </a:rPr>
              <a:t>intervalles</a:t>
            </a:r>
            <a:r>
              <a:rPr lang="en-US" sz="2400" spc="-1" dirty="0">
                <a:solidFill>
                  <a:srgbClr val="376092"/>
                </a:solidFill>
                <a:latin typeface="Calibri"/>
              </a:rPr>
              <a:t> du </a:t>
            </a:r>
            <a:r>
              <a:rPr lang="en-US" sz="2400" spc="-1" dirty="0" err="1">
                <a:solidFill>
                  <a:srgbClr val="376092"/>
                </a:solidFill>
                <a:latin typeface="Calibri"/>
              </a:rPr>
              <a:t>graphique</a:t>
            </a:r>
            <a:endParaRPr lang="en-US"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en-US" sz="2400" b="0" strike="noStrike" spc="-1" dirty="0">
              <a:solidFill>
                <a:srgbClr val="376092"/>
              </a:solidFill>
              <a:latin typeface="Calibri"/>
            </a:endParaRPr>
          </a:p>
        </p:txBody>
      </p:sp>
      <p:graphicFrame>
        <p:nvGraphicFramePr>
          <p:cNvPr id="5" name="Tableau 4">
            <a:extLst>
              <a:ext uri="{FF2B5EF4-FFF2-40B4-BE49-F238E27FC236}">
                <a16:creationId xmlns:a16="http://schemas.microsoft.com/office/drawing/2014/main" id="{CEBE9C94-F019-0D0B-F773-F3A8C20D4967}"/>
              </a:ext>
            </a:extLst>
          </p:cNvPr>
          <p:cNvGraphicFramePr>
            <a:graphicFrameLocks noGrp="1"/>
          </p:cNvGraphicFramePr>
          <p:nvPr>
            <p:extLst>
              <p:ext uri="{D42A27DB-BD31-4B8C-83A1-F6EECF244321}">
                <p14:modId xmlns:p14="http://schemas.microsoft.com/office/powerpoint/2010/main" val="3171051084"/>
              </p:ext>
            </p:extLst>
          </p:nvPr>
        </p:nvGraphicFramePr>
        <p:xfrm>
          <a:off x="456836" y="5179405"/>
          <a:ext cx="8229604" cy="374640"/>
        </p:xfrm>
        <a:graphic>
          <a:graphicData uri="http://schemas.openxmlformats.org/drawingml/2006/table">
            <a:tbl>
              <a:tblPr/>
              <a:tblGrid>
                <a:gridCol w="1185462">
                  <a:extLst>
                    <a:ext uri="{9D8B030D-6E8A-4147-A177-3AD203B41FA5}">
                      <a16:colId xmlns:a16="http://schemas.microsoft.com/office/drawing/2014/main" val="3933935097"/>
                    </a:ext>
                  </a:extLst>
                </a:gridCol>
                <a:gridCol w="1110591">
                  <a:extLst>
                    <a:ext uri="{9D8B030D-6E8A-4147-A177-3AD203B41FA5}">
                      <a16:colId xmlns:a16="http://schemas.microsoft.com/office/drawing/2014/main" val="292145612"/>
                    </a:ext>
                  </a:extLst>
                </a:gridCol>
                <a:gridCol w="1038839">
                  <a:extLst>
                    <a:ext uri="{9D8B030D-6E8A-4147-A177-3AD203B41FA5}">
                      <a16:colId xmlns:a16="http://schemas.microsoft.com/office/drawing/2014/main" val="1681533271"/>
                    </a:ext>
                  </a:extLst>
                </a:gridCol>
                <a:gridCol w="399314">
                  <a:extLst>
                    <a:ext uri="{9D8B030D-6E8A-4147-A177-3AD203B41FA5}">
                      <a16:colId xmlns:a16="http://schemas.microsoft.com/office/drawing/2014/main" val="2551116126"/>
                    </a:ext>
                  </a:extLst>
                </a:gridCol>
                <a:gridCol w="474185">
                  <a:extLst>
                    <a:ext uri="{9D8B030D-6E8A-4147-A177-3AD203B41FA5}">
                      <a16:colId xmlns:a16="http://schemas.microsoft.com/office/drawing/2014/main" val="511621855"/>
                    </a:ext>
                  </a:extLst>
                </a:gridCol>
                <a:gridCol w="549056">
                  <a:extLst>
                    <a:ext uri="{9D8B030D-6E8A-4147-A177-3AD203B41FA5}">
                      <a16:colId xmlns:a16="http://schemas.microsoft.com/office/drawing/2014/main" val="4119272322"/>
                    </a:ext>
                  </a:extLst>
                </a:gridCol>
                <a:gridCol w="477305">
                  <a:extLst>
                    <a:ext uri="{9D8B030D-6E8A-4147-A177-3AD203B41FA5}">
                      <a16:colId xmlns:a16="http://schemas.microsoft.com/office/drawing/2014/main" val="1620044258"/>
                    </a:ext>
                  </a:extLst>
                </a:gridCol>
                <a:gridCol w="748713">
                  <a:extLst>
                    <a:ext uri="{9D8B030D-6E8A-4147-A177-3AD203B41FA5}">
                      <a16:colId xmlns:a16="http://schemas.microsoft.com/office/drawing/2014/main" val="1997755319"/>
                    </a:ext>
                  </a:extLst>
                </a:gridCol>
                <a:gridCol w="748713">
                  <a:extLst>
                    <a:ext uri="{9D8B030D-6E8A-4147-A177-3AD203B41FA5}">
                      <a16:colId xmlns:a16="http://schemas.microsoft.com/office/drawing/2014/main" val="1496684257"/>
                    </a:ext>
                  </a:extLst>
                </a:gridCol>
                <a:gridCol w="748713">
                  <a:extLst>
                    <a:ext uri="{9D8B030D-6E8A-4147-A177-3AD203B41FA5}">
                      <a16:colId xmlns:a16="http://schemas.microsoft.com/office/drawing/2014/main" val="2160602044"/>
                    </a:ext>
                  </a:extLst>
                </a:gridCol>
                <a:gridCol w="748713">
                  <a:extLst>
                    <a:ext uri="{9D8B030D-6E8A-4147-A177-3AD203B41FA5}">
                      <a16:colId xmlns:a16="http://schemas.microsoft.com/office/drawing/2014/main" val="916162755"/>
                    </a:ext>
                  </a:extLst>
                </a:gridCol>
              </a:tblGrid>
              <a:tr h="187320">
                <a:tc>
                  <a:txBody>
                    <a:bodyPr/>
                    <a:lstStyle/>
                    <a:p>
                      <a:pPr algn="l" fontAlgn="b"/>
                      <a:r>
                        <a:rPr lang="fr-FR" sz="1100" b="0" i="0" u="none" strike="noStrike">
                          <a:solidFill>
                            <a:srgbClr val="FFFFFF"/>
                          </a:solidFill>
                          <a:effectLst/>
                          <a:latin typeface="Aptos Narrow" panose="020B0004020202020204" pitchFamily="34" charset="0"/>
                        </a:rPr>
                        <a:t>Salarié</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dirty="0">
                          <a:solidFill>
                            <a:srgbClr val="FFFFFF"/>
                          </a:solidFill>
                          <a:effectLst/>
                          <a:latin typeface="Aptos Narrow" panose="020B0004020202020204" pitchFamily="34" charset="0"/>
                        </a:rPr>
                        <a:t>Bob</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Kim</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Jim</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Alison</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John</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Alex</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Ron</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Beth</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Brit</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0" i="0" u="none" strike="noStrike">
                          <a:solidFill>
                            <a:srgbClr val="FFFFFF"/>
                          </a:solidFill>
                          <a:effectLst/>
                          <a:latin typeface="Aptos Narrow" panose="020B0004020202020204" pitchFamily="34" charset="0"/>
                        </a:rPr>
                        <a:t>Jo</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3757070978"/>
                  </a:ext>
                </a:extLst>
              </a:tr>
              <a:tr h="187320">
                <a:tc>
                  <a:txBody>
                    <a:bodyPr/>
                    <a:lstStyle/>
                    <a:p>
                      <a:pPr algn="l" fontAlgn="b"/>
                      <a:r>
                        <a:rPr lang="fr-FR" sz="1100" b="0" i="0" u="none" strike="noStrike">
                          <a:solidFill>
                            <a:srgbClr val="FFFFFF"/>
                          </a:solidFill>
                          <a:effectLst/>
                          <a:latin typeface="Aptos Narrow" panose="020B0004020202020204" pitchFamily="34" charset="0"/>
                        </a:rPr>
                        <a:t>Salaire</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1100" b="0" i="0" u="none" strike="noStrike">
                          <a:solidFill>
                            <a:srgbClr val="000000"/>
                          </a:solidFill>
                          <a:effectLst/>
                          <a:latin typeface="Aptos Narrow" panose="020B0004020202020204" pitchFamily="34" charset="0"/>
                        </a:rPr>
                        <a:t>26000</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52000</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34000</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32000</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44000</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28000</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50000</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47000</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29000</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dirty="0">
                          <a:solidFill>
                            <a:srgbClr val="000000"/>
                          </a:solidFill>
                          <a:effectLst/>
                          <a:latin typeface="Aptos Narrow" panose="020B0004020202020204" pitchFamily="34" charset="0"/>
                        </a:rPr>
                        <a:t>31000</a:t>
                      </a:r>
                    </a:p>
                  </a:txBody>
                  <a:tcPr marL="9366" marR="9366" marT="936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3310058"/>
                  </a:ext>
                </a:extLst>
              </a:tr>
            </a:tbl>
          </a:graphicData>
        </a:graphic>
      </p:graphicFrame>
    </p:spTree>
    <p:extLst>
      <p:ext uri="{BB962C8B-B14F-4D97-AF65-F5344CB8AC3E}">
        <p14:creationId xmlns:p14="http://schemas.microsoft.com/office/powerpoint/2010/main" val="704101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4835E-B1A1-4686-7023-76D3B1C4C9E2}"/>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AF6E95E7-1195-7934-1E2A-E8444D3CD2DE}"/>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Représentation graphique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422420CC-37F7-17FD-87D4-A6223C6A9DD7}"/>
              </a:ext>
            </a:extLst>
          </p:cNvPr>
          <p:cNvSpPr txBox="1"/>
          <p:nvPr/>
        </p:nvSpPr>
        <p:spPr>
          <a:xfrm>
            <a:off x="457200" y="1012054"/>
            <a:ext cx="8229240" cy="5113706"/>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aussi possible d'avoir une vision cumulée des séries statistiques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Commençons par tracer la représentation de la série suivante en nuage de points (fréquentation d'une salle de sport)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maintenant les effectifs cumulés en additionnant Les effectifs en dessous de la fréquentation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Représentons graphiquement les effectifs cumulés</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en-US"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en-US" sz="2400" b="0" strike="noStrike" spc="-1" dirty="0">
              <a:solidFill>
                <a:srgbClr val="376092"/>
              </a:solidFill>
              <a:latin typeface="Calibri"/>
            </a:endParaRPr>
          </a:p>
        </p:txBody>
      </p:sp>
      <p:graphicFrame>
        <p:nvGraphicFramePr>
          <p:cNvPr id="2" name="Objet 1">
            <a:extLst>
              <a:ext uri="{FF2B5EF4-FFF2-40B4-BE49-F238E27FC236}">
                <a16:creationId xmlns:a16="http://schemas.microsoft.com/office/drawing/2014/main" id="{6331C2A8-644A-CA4E-B94D-11E2709D179A}"/>
              </a:ext>
            </a:extLst>
          </p:cNvPr>
          <p:cNvGraphicFramePr>
            <a:graphicFrameLocks noChangeAspect="1"/>
          </p:cNvGraphicFramePr>
          <p:nvPr>
            <p:extLst>
              <p:ext uri="{D42A27DB-BD31-4B8C-83A1-F6EECF244321}">
                <p14:modId xmlns:p14="http://schemas.microsoft.com/office/powerpoint/2010/main" val="3835265633"/>
              </p:ext>
            </p:extLst>
          </p:nvPr>
        </p:nvGraphicFramePr>
        <p:xfrm>
          <a:off x="162628" y="2841540"/>
          <a:ext cx="8672513" cy="371550"/>
        </p:xfrm>
        <a:graphic>
          <a:graphicData uri="http://schemas.openxmlformats.org/presentationml/2006/ole">
            <mc:AlternateContent xmlns:mc="http://schemas.openxmlformats.org/markup-compatibility/2006">
              <mc:Choice xmlns:v="urn:schemas-microsoft-com:vml" Requires="v">
                <p:oleObj name="Worksheet" r:id="rId2" imgW="9115568" imgH="390414" progId="Excel.Sheet.12">
                  <p:embed/>
                </p:oleObj>
              </mc:Choice>
              <mc:Fallback>
                <p:oleObj name="Worksheet" r:id="rId2" imgW="9115568" imgH="390414" progId="Excel.Sheet.12">
                  <p:embed/>
                  <p:pic>
                    <p:nvPicPr>
                      <p:cNvPr id="0" name=""/>
                      <p:cNvPicPr/>
                      <p:nvPr/>
                    </p:nvPicPr>
                    <p:blipFill>
                      <a:blip r:embed="rId3"/>
                      <a:stretch>
                        <a:fillRect/>
                      </a:stretch>
                    </p:blipFill>
                    <p:spPr>
                      <a:xfrm>
                        <a:off x="162628" y="2841540"/>
                        <a:ext cx="8672513" cy="371550"/>
                      </a:xfrm>
                      <a:prstGeom prst="rect">
                        <a:avLst/>
                      </a:prstGeom>
                    </p:spPr>
                  </p:pic>
                </p:oleObj>
              </mc:Fallback>
            </mc:AlternateContent>
          </a:graphicData>
        </a:graphic>
      </p:graphicFrame>
    </p:spTree>
    <p:extLst>
      <p:ext uri="{BB962C8B-B14F-4D97-AF65-F5344CB8AC3E}">
        <p14:creationId xmlns:p14="http://schemas.microsoft.com/office/powerpoint/2010/main" val="2606966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a:t>
            </a:r>
            <a:endParaRPr lang="en-US" sz="3200" b="0" strike="noStrike" spc="-1" dirty="0">
              <a:solidFill>
                <a:srgbClr val="376092"/>
              </a:solidFill>
              <a:latin typeface="Arial"/>
            </a:endParaRPr>
          </a:p>
        </p:txBody>
      </p:sp>
      <p:sp>
        <p:nvSpPr>
          <p:cNvPr id="136" name="TextShape 2"/>
          <p:cNvSpPr txBox="1"/>
          <p:nvPr/>
        </p:nvSpPr>
        <p:spPr>
          <a:xfrm>
            <a:off x="457200" y="1012054"/>
            <a:ext cx="8229240" cy="5113706"/>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donc possible de résumer une série statistique à l'aide de plusieurs indicateurs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moyenne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médiane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L'étendue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L'écart type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Ces indicateurs vont nous donner des informations plus précises sur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position de la série (moyenne, médiane).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dispersion de la série (étendue, écart type).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Naturellement, les indicateurs seront de la même nature que les éléments de la série sur laquelle ils se basent.</a:t>
            </a:r>
          </a:p>
        </p:txBody>
      </p:sp>
    </p:spTree>
    <p:extLst>
      <p:ext uri="{BB962C8B-B14F-4D97-AF65-F5344CB8AC3E}">
        <p14:creationId xmlns:p14="http://schemas.microsoft.com/office/powerpoint/2010/main" val="3373741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 moyenne :</a:t>
            </a:r>
            <a:endParaRPr lang="en-US" sz="3200" b="0" strike="noStrike" spc="-1" dirty="0">
              <a:solidFill>
                <a:srgbClr val="376092"/>
              </a:solidFill>
              <a:latin typeface="Arial"/>
            </a:endParaRPr>
          </a:p>
        </p:txBody>
      </p:sp>
      <p:sp>
        <p:nvSpPr>
          <p:cNvPr id="136" name="TextShape 2"/>
          <p:cNvSpPr txBox="1"/>
          <p:nvPr/>
        </p:nvSpPr>
        <p:spPr>
          <a:xfrm>
            <a:off x="457200" y="1012054"/>
            <a:ext cx="8229240" cy="5113706"/>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moyenne représente une répartition égalitaire.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moyenne est la valeur que prendrait chaque élément de la série statistique sans changer la valeur globale.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Exemple : Bob a acheté 3 actions LVMH cette année :</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Le 21/01/21 pour 503 euros</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Le 15/04/21 pour 560 euros</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Le 01/10/21 pour 635 euros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L'ensemble lui a coûté 503 + 560 + 635 = 1698 euros.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C'est comme si chaque action lui avait coûté 1698 / 3 = 566 euros.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Dans cette exemple 566 est la moyenne : 566 + 566 + 566 = 1698 euros.</a:t>
            </a:r>
          </a:p>
        </p:txBody>
      </p:sp>
    </p:spTree>
    <p:extLst>
      <p:ext uri="{BB962C8B-B14F-4D97-AF65-F5344CB8AC3E}">
        <p14:creationId xmlns:p14="http://schemas.microsoft.com/office/powerpoint/2010/main" val="2105704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 moyenne :</a:t>
            </a:r>
            <a:endParaRPr lang="en-US" sz="3200" b="0" strike="noStrike" spc="-1" dirty="0">
              <a:solidFill>
                <a:srgbClr val="376092"/>
              </a:solidFill>
              <a:latin typeface="Arial"/>
            </a:endParaRPr>
          </a:p>
        </p:txBody>
      </p:sp>
      <p:sp>
        <p:nvSpPr>
          <p:cNvPr id="136" name="TextShape 2"/>
          <p:cNvSpPr txBox="1"/>
          <p:nvPr/>
        </p:nvSpPr>
        <p:spPr>
          <a:xfrm>
            <a:off x="457200" y="1012054"/>
            <a:ext cx="8229240" cy="5113706"/>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possible de représenter la moyenne graphiquement.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cela reprenons les données du cours de la bourse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possible d'utiliser la fonction Excel moyenne().</a:t>
            </a:r>
          </a:p>
        </p:txBody>
      </p:sp>
      <p:pic>
        <p:nvPicPr>
          <p:cNvPr id="3" name="Image 2">
            <a:extLst>
              <a:ext uri="{FF2B5EF4-FFF2-40B4-BE49-F238E27FC236}">
                <a16:creationId xmlns:a16="http://schemas.microsoft.com/office/drawing/2014/main" id="{8B656C49-E4A0-4C32-A418-5F89C4111AE5}"/>
              </a:ext>
            </a:extLst>
          </p:cNvPr>
          <p:cNvPicPr>
            <a:picLocks noChangeAspect="1"/>
          </p:cNvPicPr>
          <p:nvPr/>
        </p:nvPicPr>
        <p:blipFill>
          <a:blip r:embed="rId2"/>
          <a:stretch>
            <a:fillRect/>
          </a:stretch>
        </p:blipFill>
        <p:spPr>
          <a:xfrm>
            <a:off x="1656656" y="2154694"/>
            <a:ext cx="5457825" cy="1019175"/>
          </a:xfrm>
          <a:prstGeom prst="rect">
            <a:avLst/>
          </a:prstGeom>
        </p:spPr>
      </p:pic>
      <p:graphicFrame>
        <p:nvGraphicFramePr>
          <p:cNvPr id="7" name="Graphique 6">
            <a:extLst>
              <a:ext uri="{FF2B5EF4-FFF2-40B4-BE49-F238E27FC236}">
                <a16:creationId xmlns:a16="http://schemas.microsoft.com/office/drawing/2014/main" id="{F2272021-20E8-4CDA-AD2E-05E552025D02}"/>
              </a:ext>
            </a:extLst>
          </p:cNvPr>
          <p:cNvGraphicFramePr>
            <a:graphicFrameLocks/>
          </p:cNvGraphicFramePr>
          <p:nvPr>
            <p:extLst>
              <p:ext uri="{D42A27DB-BD31-4B8C-83A1-F6EECF244321}">
                <p14:modId xmlns:p14="http://schemas.microsoft.com/office/powerpoint/2010/main" val="2591161733"/>
              </p:ext>
            </p:extLst>
          </p:nvPr>
        </p:nvGraphicFramePr>
        <p:xfrm>
          <a:off x="2099568" y="3911243"/>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18815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 moyenne avec coefficient :</a:t>
            </a:r>
            <a:endParaRPr lang="en-US" sz="3200" b="0" strike="noStrike" spc="-1" dirty="0">
              <a:solidFill>
                <a:srgbClr val="376092"/>
              </a:solidFill>
              <a:latin typeface="Arial"/>
            </a:endParaRPr>
          </a:p>
        </p:txBody>
      </p:sp>
      <p:sp>
        <p:nvSpPr>
          <p:cNvPr id="136" name="TextShape 2"/>
          <p:cNvSpPr txBox="1"/>
          <p:nvPr/>
        </p:nvSpPr>
        <p:spPr>
          <a:xfrm>
            <a:off x="457200" y="1012054"/>
            <a:ext cx="8229240" cy="5113706"/>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Les coefficients indiquent que tous les éléments n'ont pas la même valeur.</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Imaginons une série de note qui ont des coefficients différents car les matières sont plus ou moins importantes dans le cursus:</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peut voir le coefficient comme s'il avait reçu plusieurs fois la note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18 coefficient 5 est équivalent à 5 fois la note 18.</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Toutes les notes n'ont donc pas la même pondération pour le calcul de la moyenne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1*4 + 1*18 + 5*7 + 3*17 + 3*12 + 1*11 + 3*14 + 5*18 / 22</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pic>
        <p:nvPicPr>
          <p:cNvPr id="2" name="Image 1">
            <a:extLst>
              <a:ext uri="{FF2B5EF4-FFF2-40B4-BE49-F238E27FC236}">
                <a16:creationId xmlns:a16="http://schemas.microsoft.com/office/drawing/2014/main" id="{7878FE4B-6B9E-4A7C-B1B7-B10794491BEB}"/>
              </a:ext>
            </a:extLst>
          </p:cNvPr>
          <p:cNvPicPr>
            <a:picLocks noChangeAspect="1"/>
          </p:cNvPicPr>
          <p:nvPr/>
        </p:nvPicPr>
        <p:blipFill>
          <a:blip r:embed="rId2"/>
          <a:stretch>
            <a:fillRect/>
          </a:stretch>
        </p:blipFill>
        <p:spPr>
          <a:xfrm>
            <a:off x="904695" y="2883107"/>
            <a:ext cx="7334250" cy="685800"/>
          </a:xfrm>
          <a:prstGeom prst="rect">
            <a:avLst/>
          </a:prstGeom>
        </p:spPr>
      </p:pic>
    </p:spTree>
    <p:extLst>
      <p:ext uri="{BB962C8B-B14F-4D97-AF65-F5344CB8AC3E}">
        <p14:creationId xmlns:p14="http://schemas.microsoft.com/office/powerpoint/2010/main" val="2187563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 médiane :</a:t>
            </a:r>
            <a:endParaRPr lang="en-US" sz="3200" b="0" strike="noStrike" spc="-1" dirty="0">
              <a:solidFill>
                <a:srgbClr val="376092"/>
              </a:solidFill>
              <a:latin typeface="Arial"/>
            </a:endParaRPr>
          </a:p>
        </p:txBody>
      </p:sp>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médiane désigne le milieu de la série statistique ordonnée.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Autrement dit, la valeur médiane est telle qu'il y a autant de valeurs plus petites qu'elle qu'il y a de valeurs plus grandes qu'elle.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ne faut pas confondre médiane et moyenne.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Imaginons une série statistique portant sur l'âge d'une population de 10 personnes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5 – 50 – 45 – 65 – 15 – 62 – 18 – 12 – 75 – 95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Commençons par trier cette série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5 – 12 – 15 – 18 – 45 – 50 – 62 – 65 – 75 – 95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médiane se trouve donc entre 45 et 50 et divise ma série en 2 sous séries de 5 éléments. </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spTree>
    <p:extLst>
      <p:ext uri="{BB962C8B-B14F-4D97-AF65-F5344CB8AC3E}">
        <p14:creationId xmlns:p14="http://schemas.microsoft.com/office/powerpoint/2010/main" val="976228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 médiane :</a:t>
            </a:r>
            <a:endParaRPr lang="en-US" sz="3200" b="0" strike="noStrike" spc="-1" dirty="0">
              <a:solidFill>
                <a:srgbClr val="376092"/>
              </a:solidFill>
              <a:latin typeface="Arial"/>
            </a:endParaRPr>
          </a:p>
        </p:txBody>
      </p:sp>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calculer la médiane, il suffit de prendre la moyenne des valeurs qui entourent la médiane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45 + 50 / 2 = 95 /2 = 47,5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Lorsque le nombre de valeurs est impair, la médiane est égale à l'élément qui sépare la série en deux sous séries de même taille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 5 – 12 – 15 – 18 – </a:t>
            </a:r>
            <a:r>
              <a:rPr lang="fr-FR" sz="2400" spc="-1" dirty="0">
                <a:solidFill>
                  <a:srgbClr val="FF0000"/>
                </a:solidFill>
                <a:latin typeface="Calibri"/>
              </a:rPr>
              <a:t>45</a:t>
            </a:r>
            <a:r>
              <a:rPr lang="fr-FR" sz="2400" spc="-1" dirty="0">
                <a:solidFill>
                  <a:srgbClr val="376092"/>
                </a:solidFill>
                <a:latin typeface="Calibri"/>
              </a:rPr>
              <a:t> – 50 – 62 – 65 – 75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Ici la médiane est 45. Dans la série 4 éléments sont inférieurs à 45, 4 éléments sont supérieurs.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on calcule la moyenne (38,555) on s'aperçoit que la médiane et la moyenne sont différentes.</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spTree>
    <p:extLst>
      <p:ext uri="{BB962C8B-B14F-4D97-AF65-F5344CB8AC3E}">
        <p14:creationId xmlns:p14="http://schemas.microsoft.com/office/powerpoint/2010/main" val="1529565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89E55-6432-E4EB-6F93-7004B48568CD}"/>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716181B4-C1DC-0688-DA36-664B2558B167}"/>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 quartiles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B688128B-0455-1E9A-915E-A2637CA368DB}"/>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médiane divise une série statistique en 2 parties égales, les quartiles la divise en 4.</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Reprenons la série statistique et voyons ce que nous donne la fonction Excel =quartile(plage, indice quartile):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 5 – 12 – 15 – 18 – </a:t>
            </a:r>
            <a:r>
              <a:rPr lang="fr-FR" sz="2400" spc="-1" dirty="0">
                <a:solidFill>
                  <a:srgbClr val="FF0000"/>
                </a:solidFill>
                <a:latin typeface="Calibri"/>
              </a:rPr>
              <a:t>45</a:t>
            </a:r>
            <a:r>
              <a:rPr lang="fr-FR" sz="2400" spc="-1" dirty="0">
                <a:solidFill>
                  <a:srgbClr val="376092"/>
                </a:solidFill>
                <a:latin typeface="Calibri"/>
              </a:rPr>
              <a:t> – 50 – 62 – 65 – 75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Imaginons maintenant que nous voulons utiliser la notion de quartile sur des éléments pondérés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devons dans ce cas recréer la série statistique en dupliquant les notes en fonction de leur pondération</a:t>
            </a: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pic>
        <p:nvPicPr>
          <p:cNvPr id="2" name="Image 1">
            <a:extLst>
              <a:ext uri="{FF2B5EF4-FFF2-40B4-BE49-F238E27FC236}">
                <a16:creationId xmlns:a16="http://schemas.microsoft.com/office/drawing/2014/main" id="{4B874637-4974-00D0-72AB-F4858EFFD31C}"/>
              </a:ext>
            </a:extLst>
          </p:cNvPr>
          <p:cNvPicPr>
            <a:picLocks noChangeAspect="1"/>
          </p:cNvPicPr>
          <p:nvPr/>
        </p:nvPicPr>
        <p:blipFill>
          <a:blip r:embed="rId2"/>
          <a:stretch>
            <a:fillRect/>
          </a:stretch>
        </p:blipFill>
        <p:spPr>
          <a:xfrm>
            <a:off x="266775" y="4358167"/>
            <a:ext cx="8610089" cy="400050"/>
          </a:xfrm>
          <a:prstGeom prst="rect">
            <a:avLst/>
          </a:prstGeom>
        </p:spPr>
      </p:pic>
    </p:spTree>
    <p:extLst>
      <p:ext uri="{BB962C8B-B14F-4D97-AF65-F5344CB8AC3E}">
        <p14:creationId xmlns:p14="http://schemas.microsoft.com/office/powerpoint/2010/main" val="3403462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 l'étendue :</a:t>
            </a:r>
            <a:endParaRPr lang="en-US" sz="3200" b="0" strike="noStrike" spc="-1" dirty="0">
              <a:solidFill>
                <a:srgbClr val="376092"/>
              </a:solidFill>
              <a:latin typeface="Arial"/>
            </a:endParaRPr>
          </a:p>
        </p:txBody>
      </p:sp>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L'étendue va nous donner une information sur la dispersion des données. Sont-elles plutôt regroupées ou au contraire très dispersées.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En effet, les deux séries statistiques suivantes ont la même moyenne et la même médiane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10 – 11 – 12 – 13 – 14 – 15 – 16 – 17</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0 – 6 – 9 – 13 – 14 – 18 – 21 – 27</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L'étendue est la différence entre la plus grande valeur de la série et la plus petite.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l'étendue pour ces deux séries.</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spTree>
    <p:extLst>
      <p:ext uri="{BB962C8B-B14F-4D97-AF65-F5344CB8AC3E}">
        <p14:creationId xmlns:p14="http://schemas.microsoft.com/office/powerpoint/2010/main" val="927327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 l'étendue :</a:t>
            </a:r>
            <a:endParaRPr lang="en-US" sz="3200" b="0" strike="noStrike" spc="-1" dirty="0">
              <a:solidFill>
                <a:srgbClr val="376092"/>
              </a:solidFill>
              <a:latin typeface="Arial"/>
            </a:endParaRPr>
          </a:p>
        </p:txBody>
      </p:sp>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L'étendue de la série 1 : 17 – 10 = 7</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L'étendue de la série 2 : 27 – 0 = 27</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L'étendue est finalement la taille de l'intervalle sur lequel s'étalent les éléments de la série.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L'étendue nous donne bien une idée de la dispersion.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Cette notion est très imparfaite car elle ne tient pas compte de la série statistique au complet. Elle s'appuie uniquement sur les cas limites qui pourraient ne pas être représentatifs de la série.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Un cas limite pourrait être un cas hautement improbable ou même une erreur de mesure.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verrons que l'écart type est plus fiable.</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spTree>
    <p:extLst>
      <p:ext uri="{BB962C8B-B14F-4D97-AF65-F5344CB8AC3E}">
        <p14:creationId xmlns:p14="http://schemas.microsoft.com/office/powerpoint/2010/main" val="910377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 Variance et écart-type :</a:t>
            </a:r>
            <a:endParaRPr lang="en-US" sz="3200" b="0" strike="noStrike" spc="-1" dirty="0">
              <a:solidFill>
                <a:srgbClr val="376092"/>
              </a:solidFill>
              <a:latin typeface="Arial"/>
            </a:endParaRPr>
          </a:p>
        </p:txBody>
      </p:sp>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variance et l'écart-type sont des notions fortement liées.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Ils donnent une idée de la dispersion autour de la moyenne.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cherchons donc à mettre en valeur les écarts à la moyenne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pic>
        <p:nvPicPr>
          <p:cNvPr id="2" name="Image 1">
            <a:extLst>
              <a:ext uri="{FF2B5EF4-FFF2-40B4-BE49-F238E27FC236}">
                <a16:creationId xmlns:a16="http://schemas.microsoft.com/office/drawing/2014/main" id="{C05443D7-C8FE-432E-BDEA-5FCE84864324}"/>
              </a:ext>
            </a:extLst>
          </p:cNvPr>
          <p:cNvPicPr>
            <a:picLocks noChangeAspect="1"/>
          </p:cNvPicPr>
          <p:nvPr/>
        </p:nvPicPr>
        <p:blipFill>
          <a:blip r:embed="rId2"/>
          <a:stretch>
            <a:fillRect/>
          </a:stretch>
        </p:blipFill>
        <p:spPr>
          <a:xfrm>
            <a:off x="368423" y="3101650"/>
            <a:ext cx="8229240" cy="778987"/>
          </a:xfrm>
          <a:prstGeom prst="rect">
            <a:avLst/>
          </a:prstGeom>
        </p:spPr>
      </p:pic>
      <p:pic>
        <p:nvPicPr>
          <p:cNvPr id="3" name="Image 2">
            <a:extLst>
              <a:ext uri="{FF2B5EF4-FFF2-40B4-BE49-F238E27FC236}">
                <a16:creationId xmlns:a16="http://schemas.microsoft.com/office/drawing/2014/main" id="{88A85823-8499-4F0E-8735-5F2200F22B27}"/>
              </a:ext>
            </a:extLst>
          </p:cNvPr>
          <p:cNvPicPr>
            <a:picLocks noChangeAspect="1"/>
          </p:cNvPicPr>
          <p:nvPr/>
        </p:nvPicPr>
        <p:blipFill>
          <a:blip r:embed="rId3"/>
          <a:stretch>
            <a:fillRect/>
          </a:stretch>
        </p:blipFill>
        <p:spPr>
          <a:xfrm>
            <a:off x="2872672" y="3880637"/>
            <a:ext cx="3794459" cy="2612910"/>
          </a:xfrm>
          <a:prstGeom prst="rect">
            <a:avLst/>
          </a:prstGeom>
        </p:spPr>
      </p:pic>
    </p:spTree>
    <p:extLst>
      <p:ext uri="{BB962C8B-B14F-4D97-AF65-F5344CB8AC3E}">
        <p14:creationId xmlns:p14="http://schemas.microsoft.com/office/powerpoint/2010/main" val="2932979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 Variance et écart-type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Les écarts à la moyenne se calculent en faisant la différence entre la moyenne et la valeur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Exemple : valeur 5, moyenne 44,2, écart = 44,2 – 5 = 39,2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Dans le calcul de la variance, cet écart est mis au carré pour supprimer les problèmes de signe.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les valeurs sont pondérées, on multiplie la pondération par l'écart au carré : poids * (moyenne – valeur)²</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somme tous les termes correspondant à chacun des écarts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Enfin, on divise la somme obtenue par la somme des pondérations.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Variance = </a:t>
                </a:r>
                <a14:m>
                  <m:oMath xmlns:m="http://schemas.openxmlformats.org/officeDocument/2006/math">
                    <m:f>
                      <m:fPr>
                        <m:ctrlPr>
                          <a:rPr lang="en-US" sz="240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𝑛</m:t>
                        </m:r>
                        <m:r>
                          <a:rPr lang="fr-FR" sz="2400" b="0" i="1" spc="-1" smtClean="0">
                            <a:solidFill>
                              <a:srgbClr val="376092"/>
                            </a:solidFill>
                            <a:latin typeface="Cambria Math" panose="02040503050406030204" pitchFamily="18" charset="0"/>
                          </a:rPr>
                          <m:t>1∗</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r>
                              <a:rPr lang="fr-FR" sz="2400" b="0" i="1" spc="-1" smtClean="0">
                                <a:solidFill>
                                  <a:srgbClr val="376092"/>
                                </a:solidFill>
                                <a:latin typeface="Cambria Math" panose="02040503050406030204" pitchFamily="18" charset="0"/>
                              </a:rPr>
                              <m:t>1−</m:t>
                            </m:r>
                            <m:r>
                              <a:rPr lang="fr-FR" sz="2400" b="0" i="1" spc="-1" smtClean="0">
                                <a:solidFill>
                                  <a:srgbClr val="376092"/>
                                </a:solidFill>
                                <a:latin typeface="Cambria Math" panose="02040503050406030204" pitchFamily="18" charset="0"/>
                              </a:rPr>
                              <m:t>𝑚𝑜𝑦𝑒𝑛𝑛𝑒</m:t>
                            </m:r>
                          </m:e>
                        </m:d>
                        <m:r>
                          <a:rPr lang="fr-FR" sz="2400" b="0" i="1" spc="-1" smtClean="0">
                            <a:solidFill>
                              <a:srgbClr val="376092"/>
                            </a:solidFill>
                            <a:latin typeface="Cambria Math" panose="02040503050406030204" pitchFamily="18" charset="0"/>
                          </a:rPr>
                          <m:t>²+ …</m:t>
                        </m:r>
                        <m:r>
                          <a:rPr lang="fr-FR" sz="2400" b="0" i="1" spc="-1" smtClean="0">
                            <a:solidFill>
                              <a:srgbClr val="376092"/>
                            </a:solidFill>
                            <a:latin typeface="Cambria Math" panose="02040503050406030204" pitchFamily="18" charset="0"/>
                          </a:rPr>
                          <m:t>𝑛𝑘</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𝑥𝑘</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𝑚𝑜𝑦𝑒𝑛𝑛𝑒</m:t>
                        </m:r>
                        <m:r>
                          <a:rPr lang="fr-FR" sz="2400" b="0" i="1" spc="-1" smtClean="0">
                            <a:solidFill>
                              <a:srgbClr val="376092"/>
                            </a:solidFill>
                            <a:latin typeface="Cambria Math" panose="02040503050406030204" pitchFamily="18" charset="0"/>
                          </a:rPr>
                          <m:t>)²</m:t>
                        </m:r>
                      </m:num>
                      <m:den>
                        <m:r>
                          <a:rPr lang="fr-FR" sz="2400" b="0" i="1" spc="-1" smtClean="0">
                            <a:solidFill>
                              <a:srgbClr val="376092"/>
                            </a:solidFill>
                            <a:latin typeface="Cambria Math" panose="02040503050406030204" pitchFamily="18" charset="0"/>
                          </a:rPr>
                          <m:t>𝑛</m:t>
                        </m:r>
                        <m:r>
                          <a:rPr lang="fr-FR" sz="2400" b="0" i="1" spc="-1" smtClean="0">
                            <a:solidFill>
                              <a:srgbClr val="376092"/>
                            </a:solidFill>
                            <a:latin typeface="Cambria Math" panose="02040503050406030204" pitchFamily="18" charset="0"/>
                          </a:rPr>
                          <m:t>1+ …+</m:t>
                        </m:r>
                        <m:r>
                          <a:rPr lang="fr-FR" sz="2400" b="0" i="1" spc="-1" smtClean="0">
                            <a:solidFill>
                              <a:srgbClr val="376092"/>
                            </a:solidFill>
                            <a:latin typeface="Cambria Math" panose="02040503050406030204" pitchFamily="18" charset="0"/>
                          </a:rPr>
                          <m:t>𝑛𝑘</m:t>
                        </m:r>
                      </m:den>
                    </m:f>
                  </m:oMath>
                </a14:m>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69506"/>
                <a:ext cx="8229240" cy="4856253"/>
              </a:xfrm>
              <a:prstGeom prst="rect">
                <a:avLst/>
              </a:prstGeom>
              <a:blipFill>
                <a:blip r:embed="rId2"/>
                <a:stretch>
                  <a:fillRect t="-1882" r="-370" b="-6399"/>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038920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 Variance et écart-type :</a:t>
            </a:r>
            <a:endParaRPr lang="en-US" sz="3200" b="0" strike="noStrike" spc="-1" dirty="0">
              <a:solidFill>
                <a:srgbClr val="376092"/>
              </a:solidFill>
              <a:latin typeface="Arial"/>
            </a:endParaRPr>
          </a:p>
        </p:txBody>
      </p:sp>
      <mc:AlternateContent xmlns:mc="http://schemas.openxmlformats.org/markup-compatibility/2006">
        <mc:Choice xmlns:a14="http://schemas.microsoft.com/office/drawing/2010/main" Requires="a14">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Les calculs de variance peuvent être fait facilement sous Excel</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 calcul de l'écart-type découle naturellement de la variance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Ecart-type : </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𝜎</m:t>
                    </m:r>
                  </m:oMath>
                </a14:m>
                <a:r>
                  <a:rPr lang="fr-FR" sz="2400" spc="-1" dirty="0">
                    <a:solidFill>
                      <a:srgbClr val="376092"/>
                    </a:solidFill>
                    <a:latin typeface="Calibri"/>
                  </a:rPr>
                  <a:t> = </a:t>
                </a:r>
                <a14:m>
                  <m:oMath xmlns:m="http://schemas.openxmlformats.org/officeDocument/2006/math">
                    <m:rad>
                      <m:radPr>
                        <m:degHide m:val="on"/>
                        <m:ctrlPr>
                          <a:rPr lang="fr-FR" sz="2400" i="1" spc="-1" dirty="0" smtClean="0">
                            <a:solidFill>
                              <a:srgbClr val="376092"/>
                            </a:solidFill>
                            <a:latin typeface="Cambria Math" panose="02040503050406030204" pitchFamily="18" charset="0"/>
                          </a:rPr>
                        </m:ctrlPr>
                      </m:radPr>
                      <m:deg/>
                      <m:e>
                        <m:r>
                          <a:rPr lang="fr-FR" sz="2400" i="1" spc="-1" dirty="0">
                            <a:solidFill>
                              <a:srgbClr val="376092"/>
                            </a:solidFill>
                            <a:latin typeface="Cambria Math" panose="02040503050406030204" pitchFamily="18" charset="0"/>
                          </a:rPr>
                          <m:t>𝑣</m:t>
                        </m:r>
                        <m:r>
                          <a:rPr lang="fr-FR" sz="2400" b="0" i="1" spc="-1" dirty="0" smtClean="0">
                            <a:solidFill>
                              <a:srgbClr val="376092"/>
                            </a:solidFill>
                            <a:latin typeface="Cambria Math" panose="02040503050406030204" pitchFamily="18" charset="0"/>
                          </a:rPr>
                          <m:t>𝑎𝑟𝑖𝑎𝑛𝑐𝑒</m:t>
                        </m:r>
                      </m:e>
                    </m:rad>
                  </m:oMath>
                </a14:m>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On peut utiliser la fonction racine() sous Excel</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L'écart type correspond à la moyenne des distances à la moyenne, plus il est élevé, plus la dispersion est grande.</a:t>
                </a: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mc:Choice>
        <mc:Fallback>
          <p:sp>
            <p:nvSpPr>
              <p:cNvPr id="136" name="TextShape 2"/>
              <p:cNvSpPr txBox="1">
                <a:spLocks noRot="1" noChangeAspect="1" noMove="1" noResize="1" noEditPoints="1" noAdjustHandles="1" noChangeArrowheads="1" noChangeShapeType="1" noTextEdit="1"/>
              </p:cNvSpPr>
              <p:nvPr/>
            </p:nvSpPr>
            <p:spPr>
              <a:xfrm>
                <a:off x="457200" y="1269506"/>
                <a:ext cx="8229240" cy="4856253"/>
              </a:xfrm>
              <a:prstGeom prst="rect">
                <a:avLst/>
              </a:prstGeom>
              <a:blipFill>
                <a:blip r:embed="rId2"/>
                <a:stretch>
                  <a:fillRect t="-1882" r="-963" b="-2760"/>
                </a:stretch>
              </a:blipFill>
              <a:ln w="0">
                <a:noFill/>
              </a:ln>
            </p:spPr>
            <p:txBody>
              <a:bodyPr/>
              <a:lstStyle/>
              <a:p>
                <a:r>
                  <a:rPr lang="fr-FR">
                    <a:noFill/>
                  </a:rPr>
                  <a:t> </a:t>
                </a:r>
              </a:p>
            </p:txBody>
          </p:sp>
        </mc:Fallback>
      </mc:AlternateContent>
      <p:pic>
        <p:nvPicPr>
          <p:cNvPr id="2" name="Image 1">
            <a:extLst>
              <a:ext uri="{FF2B5EF4-FFF2-40B4-BE49-F238E27FC236}">
                <a16:creationId xmlns:a16="http://schemas.microsoft.com/office/drawing/2014/main" id="{E5F716EE-CAC6-4A91-9F6E-A91E750F96E2}"/>
              </a:ext>
            </a:extLst>
          </p:cNvPr>
          <p:cNvPicPr>
            <a:picLocks noChangeAspect="1"/>
          </p:cNvPicPr>
          <p:nvPr/>
        </p:nvPicPr>
        <p:blipFill>
          <a:blip r:embed="rId3"/>
          <a:stretch>
            <a:fillRect/>
          </a:stretch>
        </p:blipFill>
        <p:spPr>
          <a:xfrm>
            <a:off x="572250" y="1773371"/>
            <a:ext cx="8114190" cy="1595705"/>
          </a:xfrm>
          <a:prstGeom prst="rect">
            <a:avLst/>
          </a:prstGeom>
        </p:spPr>
      </p:pic>
    </p:spTree>
    <p:extLst>
      <p:ext uri="{BB962C8B-B14F-4D97-AF65-F5344CB8AC3E}">
        <p14:creationId xmlns:p14="http://schemas.microsoft.com/office/powerpoint/2010/main" val="3615808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65BEA-59BF-CEFD-D194-A62E7835D0D6}"/>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8CC85AB2-A8BD-B32D-7A0F-4BD938A629EF}"/>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Série statistique – Variance et écart-type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6AE2B07D-E8ED-43DD-41F0-A4DA3C5EB178}"/>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possible de calculer simplement l'écart type avec une calculatrice ou avec un tableur comme Excel (fonction =ECARTYPE.STANDARD())</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Utilisons les séries statistiques suivantes pour déterminer les différences entre 2 groupes d'élèves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Calculer les moyennes et les écart types des deux étudiants ci-dessus.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Que pouvez-vous en conclure ?</a:t>
            </a:r>
          </a:p>
          <a:p>
            <a:pPr marL="82800">
              <a:spcAft>
                <a:spcPts val="1134"/>
              </a:spcAft>
              <a:buClr>
                <a:srgbClr val="000000"/>
              </a:buClr>
              <a:buSzPct val="45000"/>
            </a:pPr>
            <a:r>
              <a:rPr lang="fr-FR" sz="2400" spc="-1" dirty="0">
                <a:solidFill>
                  <a:srgbClr val="376092"/>
                </a:solidFill>
                <a:latin typeface="Calibri"/>
              </a:rPr>
              <a:t> </a:t>
            </a:r>
          </a:p>
          <a:p>
            <a:pPr marL="82800">
              <a:spcAft>
                <a:spcPts val="1134"/>
              </a:spcAft>
              <a:buClr>
                <a:srgbClr val="000000"/>
              </a:buClr>
              <a:buSzPct val="45000"/>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graphicFrame>
        <p:nvGraphicFramePr>
          <p:cNvPr id="3" name="Tableau 2">
            <a:extLst>
              <a:ext uri="{FF2B5EF4-FFF2-40B4-BE49-F238E27FC236}">
                <a16:creationId xmlns:a16="http://schemas.microsoft.com/office/drawing/2014/main" id="{DA46D4D2-1D45-0A8E-0FC0-31D6D6A58DD4}"/>
              </a:ext>
            </a:extLst>
          </p:cNvPr>
          <p:cNvGraphicFramePr>
            <a:graphicFrameLocks noGrp="1"/>
          </p:cNvGraphicFramePr>
          <p:nvPr/>
        </p:nvGraphicFramePr>
        <p:xfrm>
          <a:off x="457200" y="3691493"/>
          <a:ext cx="8229599" cy="343376"/>
        </p:xfrm>
        <a:graphic>
          <a:graphicData uri="http://schemas.openxmlformats.org/drawingml/2006/table">
            <a:tbl>
              <a:tblPr/>
              <a:tblGrid>
                <a:gridCol w="1086605">
                  <a:extLst>
                    <a:ext uri="{9D8B030D-6E8A-4147-A177-3AD203B41FA5}">
                      <a16:colId xmlns:a16="http://schemas.microsoft.com/office/drawing/2014/main" val="344307641"/>
                    </a:ext>
                  </a:extLst>
                </a:gridCol>
                <a:gridCol w="1017977">
                  <a:extLst>
                    <a:ext uri="{9D8B030D-6E8A-4147-A177-3AD203B41FA5}">
                      <a16:colId xmlns:a16="http://schemas.microsoft.com/office/drawing/2014/main" val="791113976"/>
                    </a:ext>
                  </a:extLst>
                </a:gridCol>
                <a:gridCol w="952209">
                  <a:extLst>
                    <a:ext uri="{9D8B030D-6E8A-4147-A177-3AD203B41FA5}">
                      <a16:colId xmlns:a16="http://schemas.microsoft.com/office/drawing/2014/main" val="2789748662"/>
                    </a:ext>
                  </a:extLst>
                </a:gridCol>
                <a:gridCol w="366015">
                  <a:extLst>
                    <a:ext uri="{9D8B030D-6E8A-4147-A177-3AD203B41FA5}">
                      <a16:colId xmlns:a16="http://schemas.microsoft.com/office/drawing/2014/main" val="604288487"/>
                    </a:ext>
                  </a:extLst>
                </a:gridCol>
                <a:gridCol w="434642">
                  <a:extLst>
                    <a:ext uri="{9D8B030D-6E8A-4147-A177-3AD203B41FA5}">
                      <a16:colId xmlns:a16="http://schemas.microsoft.com/office/drawing/2014/main" val="3222015635"/>
                    </a:ext>
                  </a:extLst>
                </a:gridCol>
                <a:gridCol w="503270">
                  <a:extLst>
                    <a:ext uri="{9D8B030D-6E8A-4147-A177-3AD203B41FA5}">
                      <a16:colId xmlns:a16="http://schemas.microsoft.com/office/drawing/2014/main" val="2059047274"/>
                    </a:ext>
                  </a:extLst>
                </a:gridCol>
                <a:gridCol w="437501">
                  <a:extLst>
                    <a:ext uri="{9D8B030D-6E8A-4147-A177-3AD203B41FA5}">
                      <a16:colId xmlns:a16="http://schemas.microsoft.com/office/drawing/2014/main" val="3326989429"/>
                    </a:ext>
                  </a:extLst>
                </a:gridCol>
                <a:gridCol w="686276">
                  <a:extLst>
                    <a:ext uri="{9D8B030D-6E8A-4147-A177-3AD203B41FA5}">
                      <a16:colId xmlns:a16="http://schemas.microsoft.com/office/drawing/2014/main" val="979790625"/>
                    </a:ext>
                  </a:extLst>
                </a:gridCol>
                <a:gridCol w="686276">
                  <a:extLst>
                    <a:ext uri="{9D8B030D-6E8A-4147-A177-3AD203B41FA5}">
                      <a16:colId xmlns:a16="http://schemas.microsoft.com/office/drawing/2014/main" val="2542823449"/>
                    </a:ext>
                  </a:extLst>
                </a:gridCol>
                <a:gridCol w="686276">
                  <a:extLst>
                    <a:ext uri="{9D8B030D-6E8A-4147-A177-3AD203B41FA5}">
                      <a16:colId xmlns:a16="http://schemas.microsoft.com/office/drawing/2014/main" val="2482897106"/>
                    </a:ext>
                  </a:extLst>
                </a:gridCol>
                <a:gridCol w="686276">
                  <a:extLst>
                    <a:ext uri="{9D8B030D-6E8A-4147-A177-3AD203B41FA5}">
                      <a16:colId xmlns:a16="http://schemas.microsoft.com/office/drawing/2014/main" val="3938577077"/>
                    </a:ext>
                  </a:extLst>
                </a:gridCol>
                <a:gridCol w="686276">
                  <a:extLst>
                    <a:ext uri="{9D8B030D-6E8A-4147-A177-3AD203B41FA5}">
                      <a16:colId xmlns:a16="http://schemas.microsoft.com/office/drawing/2014/main" val="3272800651"/>
                    </a:ext>
                  </a:extLst>
                </a:gridCol>
              </a:tblGrid>
              <a:tr h="171688">
                <a:tc>
                  <a:txBody>
                    <a:bodyPr/>
                    <a:lstStyle/>
                    <a:p>
                      <a:pPr algn="l" fontAlgn="b"/>
                      <a:r>
                        <a:rPr lang="fr-FR" sz="1000" b="0" i="0" u="none" strike="noStrike">
                          <a:solidFill>
                            <a:srgbClr val="FFFFFF"/>
                          </a:solidFill>
                          <a:effectLst/>
                          <a:latin typeface="Aptos Narrow" panose="020B0004020202020204" pitchFamily="34" charset="0"/>
                        </a:rPr>
                        <a:t>Notes Etudiants 1</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1000" b="0" i="0" u="none" strike="noStrike">
                          <a:solidFill>
                            <a:srgbClr val="000000"/>
                          </a:solidFill>
                          <a:effectLst/>
                          <a:latin typeface="Aptos Narrow" panose="020B0004020202020204" pitchFamily="34" charset="0"/>
                        </a:rPr>
                        <a:t>18</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20</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2</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3</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8</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10</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20</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4</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5</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15</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5</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4548820"/>
                  </a:ext>
                </a:extLst>
              </a:tr>
              <a:tr h="171688">
                <a:tc>
                  <a:txBody>
                    <a:bodyPr/>
                    <a:lstStyle/>
                    <a:p>
                      <a:pPr algn="l" fontAlgn="b"/>
                      <a:r>
                        <a:rPr lang="fr-FR" sz="1000" b="0" i="0" u="none" strike="noStrike">
                          <a:solidFill>
                            <a:srgbClr val="FFFFFF"/>
                          </a:solidFill>
                          <a:effectLst/>
                          <a:latin typeface="Aptos Narrow" panose="020B0004020202020204" pitchFamily="34" charset="0"/>
                        </a:rPr>
                        <a:t>Notes Etudiants 2</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1000" b="0" i="0" u="none" strike="noStrike">
                          <a:solidFill>
                            <a:srgbClr val="000000"/>
                          </a:solidFill>
                          <a:effectLst/>
                          <a:latin typeface="Aptos Narrow" panose="020B0004020202020204" pitchFamily="34" charset="0"/>
                        </a:rPr>
                        <a:t>11</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9</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13</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8</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11</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12</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9</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7</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11</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a:solidFill>
                            <a:srgbClr val="000000"/>
                          </a:solidFill>
                          <a:effectLst/>
                          <a:latin typeface="Aptos Narrow" panose="020B0004020202020204" pitchFamily="34" charset="0"/>
                        </a:rPr>
                        <a:t>9</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000" b="0" i="0" u="none" strike="noStrike" dirty="0">
                          <a:solidFill>
                            <a:srgbClr val="000000"/>
                          </a:solidFill>
                          <a:effectLst/>
                          <a:latin typeface="Aptos Narrow" panose="020B0004020202020204" pitchFamily="34" charset="0"/>
                        </a:rPr>
                        <a:t>10</a:t>
                      </a:r>
                    </a:p>
                  </a:txBody>
                  <a:tcPr marL="8584" marR="8584" marT="85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6656357"/>
                  </a:ext>
                </a:extLst>
              </a:tr>
            </a:tbl>
          </a:graphicData>
        </a:graphic>
      </p:graphicFrame>
    </p:spTree>
    <p:extLst>
      <p:ext uri="{BB962C8B-B14F-4D97-AF65-F5344CB8AC3E}">
        <p14:creationId xmlns:p14="http://schemas.microsoft.com/office/powerpoint/2010/main" val="2954918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Bilan</a:t>
            </a:r>
            <a:endParaRPr lang="en-US" sz="3200" b="0" strike="noStrike" spc="-1" dirty="0">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745</TotalTime>
  <Words>1816</Words>
  <Application>Microsoft Office PowerPoint</Application>
  <PresentationFormat>Affichage à l'écran (4:3)</PresentationFormat>
  <Paragraphs>346</Paragraphs>
  <Slides>23</Slides>
  <Notes>0</Notes>
  <HiddenSlides>0</HiddenSlides>
  <MMClips>0</MMClips>
  <ScaleCrop>false</ScaleCrop>
  <HeadingPairs>
    <vt:vector size="8" baseType="variant">
      <vt:variant>
        <vt:lpstr>Polices utilisées</vt:lpstr>
      </vt:variant>
      <vt:variant>
        <vt:i4>7</vt:i4>
      </vt:variant>
      <vt:variant>
        <vt:lpstr>Thème</vt:lpstr>
      </vt:variant>
      <vt:variant>
        <vt:i4>3</vt:i4>
      </vt:variant>
      <vt:variant>
        <vt:lpstr>Serveurs OLE incorporés</vt:lpstr>
      </vt:variant>
      <vt:variant>
        <vt:i4>1</vt:i4>
      </vt:variant>
      <vt:variant>
        <vt:lpstr>Titres des diapositives</vt:lpstr>
      </vt:variant>
      <vt:variant>
        <vt:i4>23</vt:i4>
      </vt:variant>
    </vt:vector>
  </HeadingPairs>
  <TitlesOfParts>
    <vt:vector size="34" baseType="lpstr">
      <vt:lpstr>Aptos Narrow</vt:lpstr>
      <vt:lpstr>Arial</vt:lpstr>
      <vt:lpstr>Calibri</vt:lpstr>
      <vt:lpstr>Cambria Math</vt:lpstr>
      <vt:lpstr>Symbol</vt:lpstr>
      <vt:lpstr>Times New Roman</vt:lpstr>
      <vt:lpstr>Wingdings</vt:lpstr>
      <vt:lpstr>Office Theme</vt:lpstr>
      <vt:lpstr>Office Theme</vt:lpstr>
      <vt:lpstr>Office Theme</vt:lpstr>
      <vt:lpstr>Worksheet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316</cp:revision>
  <dcterms:created xsi:type="dcterms:W3CDTF">2012-01-17T22:15:29Z</dcterms:created>
  <dcterms:modified xsi:type="dcterms:W3CDTF">2025-02-26T07:06:26Z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