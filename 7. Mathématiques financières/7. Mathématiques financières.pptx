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31"/>
  </p:notesMasterIdLst>
  <p:sldIdLst>
    <p:sldId id="256" r:id="rId4"/>
    <p:sldId id="257" r:id="rId5"/>
    <p:sldId id="349" r:id="rId6"/>
    <p:sldId id="350" r:id="rId7"/>
    <p:sldId id="351" r:id="rId8"/>
    <p:sldId id="352" r:id="rId9"/>
    <p:sldId id="353" r:id="rId10"/>
    <p:sldId id="355" r:id="rId11"/>
    <p:sldId id="354"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281" r:id="rId30"/>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712" autoAdjust="0"/>
  </p:normalViewPr>
  <p:slideViewPr>
    <p:cSldViewPr snapToGrid="0">
      <p:cViewPr varScale="1">
        <p:scale>
          <a:sx n="106" d="100"/>
          <a:sy n="106" d="100"/>
        </p:scale>
        <p:origin x="1776" y="96"/>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16/06/2025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Mathématiques financières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Mathématiques financières</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Calculer la valeur acquise par un capital placé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la valeur actuelle d'un capital placé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Suites d'annuités constantes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Remboursement d'emprunt par annuité constante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Tableau d'amortissement d'emprunt</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p:sp>
        <p:nvSpPr>
          <p:cNvPr id="140" name="TextShape 2"/>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capital placé à intérêts composés à un taux annuel, produit à la fin de chaque période des intérêts qui viennent s'ajouter au capital :</a:t>
            </a:r>
          </a:p>
          <a:p>
            <a:pPr marL="432000" indent="-324000">
              <a:spcAft>
                <a:spcPts val="1060"/>
              </a:spcAft>
              <a:buClr>
                <a:srgbClr val="000000"/>
              </a:buClr>
              <a:buSzPct val="45000"/>
              <a:buFont typeface="Wingdings" charset="2"/>
              <a:buChar char=""/>
            </a:pPr>
            <a:endParaRPr lang="fr-FR" sz="2400" spc="-1" baseline="-25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51DEC343-1D95-3690-E1BB-4D7755F5DE85}"/>
              </a:ext>
            </a:extLst>
          </p:cNvPr>
          <p:cNvPicPr>
            <a:picLocks noChangeAspect="1"/>
          </p:cNvPicPr>
          <p:nvPr/>
        </p:nvPicPr>
        <p:blipFill>
          <a:blip r:embed="rId2"/>
          <a:stretch>
            <a:fillRect/>
          </a:stretch>
        </p:blipFill>
        <p:spPr>
          <a:xfrm>
            <a:off x="2271712" y="2611395"/>
            <a:ext cx="4295775" cy="3971925"/>
          </a:xfrm>
          <a:prstGeom prst="rect">
            <a:avLst/>
          </a:prstGeom>
        </p:spPr>
      </p:pic>
    </p:spTree>
    <p:extLst>
      <p:ext uri="{BB962C8B-B14F-4D97-AF65-F5344CB8AC3E}">
        <p14:creationId xmlns:p14="http://schemas.microsoft.com/office/powerpoint/2010/main" val="194641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03A45-FA5A-BE73-3CFE-C574EC81E0CA}"/>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9563BB32-BE3A-5EB5-7F4C-07CB926ABB9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E88CCFE2-6EC4-6A54-6CC3-6C7CB6DF5A78}"/>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calculer la valeur acquise </a:t>
            </a: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(capital placé + intérêts)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 C</a:t>
            </a:r>
            <a:r>
              <a:rPr lang="fr-FR" sz="2400" spc="-1" baseline="-25000" dirty="0">
                <a:solidFill>
                  <a:srgbClr val="376092"/>
                </a:solidFill>
                <a:latin typeface="Arial"/>
              </a:rPr>
              <a:t>0</a:t>
            </a:r>
            <a:r>
              <a:rPr lang="fr-FR" sz="2400" spc="-1" dirty="0">
                <a:solidFill>
                  <a:srgbClr val="376092"/>
                </a:solidFill>
                <a:latin typeface="Arial"/>
              </a:rPr>
              <a:t> X (1 + t)</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Avec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valeur actuelle, montant de capital placé initialement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taux d'intérêt périodique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 : nombre de période de placement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(1 + t) est le coefficient multiplicateur. Il permet de garder la somme initiale (100% = 1) et d'ajouter le taux d'intérêt 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1A8C9BD7-9BBE-5721-3B78-BDB26C0449A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050319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D204-73B7-54E8-31C9-4232A056CF5F}"/>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45FEE7D-DF8E-D80A-9B01-BC159A684F8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455D33A5-AED3-D464-3708-2616743A98C8}"/>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un instant pour observer la formule:</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 C</a:t>
            </a:r>
            <a:r>
              <a:rPr lang="fr-FR" sz="2400" spc="-1" baseline="-25000" dirty="0">
                <a:solidFill>
                  <a:srgbClr val="376092"/>
                </a:solidFill>
                <a:latin typeface="Arial"/>
              </a:rPr>
              <a:t>0</a:t>
            </a:r>
            <a:r>
              <a:rPr lang="fr-FR" sz="2400" spc="-1" dirty="0">
                <a:solidFill>
                  <a:srgbClr val="376092"/>
                </a:solidFill>
                <a:latin typeface="Arial"/>
              </a:rPr>
              <a:t> X (1 + t)</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retrouvons ici le terme général d'une suite géométrique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 premier terme C</a:t>
            </a:r>
            <a:r>
              <a:rPr lang="fr-FR" sz="2400" spc="-1" baseline="-25000" dirty="0">
                <a:solidFill>
                  <a:srgbClr val="376092"/>
                </a:solidFill>
                <a:latin typeface="Arial"/>
              </a:rPr>
              <a:t>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 raison (1 + 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Toutes les propriétés des suites géométriques sont donc applicables ici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Passage à une définition par récurrence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Somme des termes d'une suite géométrique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226CA346-7E41-7CA1-6E63-0563E27EBE6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52883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BA896-56D0-966F-7769-9C653E63DBFD}"/>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46351A3D-B908-7939-2251-A91F418A529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DB54FBB5-15FA-099A-A5B9-44E14DBED242}"/>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un instant pour observer la formule:</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 C</a:t>
            </a:r>
            <a:r>
              <a:rPr lang="fr-FR" sz="2400" spc="-1" baseline="-25000" dirty="0">
                <a:solidFill>
                  <a:srgbClr val="376092"/>
                </a:solidFill>
                <a:latin typeface="Arial"/>
              </a:rPr>
              <a:t>0</a:t>
            </a:r>
            <a:r>
              <a:rPr lang="fr-FR" sz="2400" spc="-1" dirty="0">
                <a:solidFill>
                  <a:srgbClr val="376092"/>
                </a:solidFill>
                <a:latin typeface="Arial"/>
              </a:rPr>
              <a:t> X (1 + t)</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la valeur acquise est donc composée de la somme initiale augmentée des intérêts sur n périodes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donc possible de retrouver la somme des intérêts d'une période par une simple soustraction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Total des intérêts sur n périodes = </a:t>
            </a: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 C</a:t>
            </a:r>
            <a:r>
              <a:rPr lang="fr-FR" sz="2400" spc="-1" baseline="-25000" dirty="0">
                <a:solidFill>
                  <a:srgbClr val="376092"/>
                </a:solidFill>
                <a:latin typeface="Arial"/>
              </a:rPr>
              <a:t>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la valeur acquise au bout de 8 ans par un capital de 1000 euros placé à un taux de 3,5%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 cas là, à combien s'élève le montant des intérêts sur les 8 ans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A62DE024-F097-791C-381F-176F3AB459F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28225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41E06-0535-0052-49AB-6A367E8A284F}"/>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2848D6C-AD4C-3F9A-6CBB-49CB2859A064}"/>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0B8E02C3-3784-D133-934D-9FDB8B4E8370}"/>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Parfois nous connaissons le taux d'intérêt annuel mais nous n'avons pas forcément des années pleines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Comment calculer une valeur acquise sur 18 mois alors que je ne connais que le taux annuel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faut alors passer par un taux équivalent au taux annuel mais pour une période plus courte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voulons un taux équivalent mensuel, le nombre de période est 12, il est de 365 pour un taux journalier</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0B8E02C3-3784-D133-934D-9FDB8B4E8370}"/>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1556"/>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980485A0-0CE2-752A-E226-6ECC6A6CAF5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421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A55D-878A-DA19-23A0-5DDA8B5857F4}"/>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6E020251-7D1B-90F4-0A9E-1F180DE712C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7FF354C4-E6FE-5DFA-F235-5A1399B09BEF}"/>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retrouvons ici encore la notion de racine n</a:t>
                </a:r>
                <a:r>
                  <a:rPr lang="fr-FR" sz="2400" spc="-1" baseline="30000" dirty="0">
                    <a:solidFill>
                      <a:srgbClr val="376092"/>
                    </a:solidFill>
                    <a:latin typeface="Arial"/>
                  </a:rPr>
                  <a:t>ième</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effet, le raisonnement est exactement le même que pour trouver un taux d'évolution moyen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7FF354C4-E6FE-5DFA-F235-5A1399B09BEF}"/>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F576F42-3B5B-418F-D8AF-F95E2344827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72D9381D-5DD2-F6BD-53C4-D937BAA67D22}"/>
              </a:ext>
            </a:extLst>
          </p:cNvPr>
          <p:cNvPicPr>
            <a:picLocks noChangeAspect="1"/>
          </p:cNvPicPr>
          <p:nvPr/>
        </p:nvPicPr>
        <p:blipFill>
          <a:blip r:embed="rId3"/>
          <a:stretch>
            <a:fillRect/>
          </a:stretch>
        </p:blipFill>
        <p:spPr>
          <a:xfrm>
            <a:off x="3481154" y="3276600"/>
            <a:ext cx="2181332" cy="3436672"/>
          </a:xfrm>
          <a:prstGeom prst="rect">
            <a:avLst/>
          </a:prstGeom>
        </p:spPr>
      </p:pic>
    </p:spTree>
    <p:extLst>
      <p:ext uri="{BB962C8B-B14F-4D97-AF65-F5344CB8AC3E}">
        <p14:creationId xmlns:p14="http://schemas.microsoft.com/office/powerpoint/2010/main" val="2826733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9CC4-0C53-D1E4-C55B-3FBE48BA10F1}"/>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7858D603-0ED6-ACC5-71FF-71FAF285A1D5}"/>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acquise par un capital placé:</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5715D57C-B03E-13A2-17BA-B974F202D747}"/>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la formule du taux équivalent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le taux mensuel équivalent à un taux annuel de 3,5 %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le taux trimestriel (durée de 3 mois) équivalent à un taux annuel de 3,5%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la valeur acquise au bout de 18 mois par un capital de 1000 euros placé à un taux annuel de 3,5%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la valeur acquise au bout de 42 mois par un capital de 1000 euros placé à un </a:t>
                </a:r>
                <a:r>
                  <a:rPr lang="fr-FR" sz="2400" spc="-1">
                    <a:solidFill>
                      <a:srgbClr val="376092"/>
                    </a:solidFill>
                    <a:latin typeface="Arial"/>
                  </a:rPr>
                  <a:t>taux annuel de </a:t>
                </a:r>
                <a:r>
                  <a:rPr lang="fr-FR" sz="2400" spc="-1" dirty="0">
                    <a:solidFill>
                      <a:srgbClr val="376092"/>
                    </a:solidFill>
                    <a:latin typeface="Arial"/>
                  </a:rPr>
                  <a:t>3,5%</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5715D57C-B03E-13A2-17BA-B974F202D747}"/>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325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86A15242-0DFD-547B-6336-22493DE05A5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340529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81DBD-B025-1A5F-A1EF-0196991BBE47}"/>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2A6AED13-E420-A9FA-734D-27F0A89D0F07}"/>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actuelle d'un capital placé:</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0D303853-02BB-E334-FDAE-E644B857FCB9}"/>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également retrouver la valeur actuelle d'un capital placé en connaissant la valeur acquise et le taux d'intérêt appliqué.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cela, il suffit de reprendre la formule de calcul de la valeur acquise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t>
                </a:r>
                <a:r>
                  <a:rPr lang="fr-FR" sz="2400" spc="-1" baseline="-25000" dirty="0" err="1">
                    <a:solidFill>
                      <a:srgbClr val="376092"/>
                    </a:solidFill>
                    <a:latin typeface="Arial"/>
                  </a:rPr>
                  <a:t>n</a:t>
                </a:r>
                <a:r>
                  <a:rPr lang="fr-FR" sz="2400" spc="-1" dirty="0">
                    <a:solidFill>
                      <a:srgbClr val="376092"/>
                    </a:solidFill>
                    <a:latin typeface="Arial"/>
                  </a:rPr>
                  <a:t> = C</a:t>
                </a:r>
                <a:r>
                  <a:rPr lang="fr-FR" sz="2400" spc="-1" baseline="-25000" dirty="0">
                    <a:solidFill>
                      <a:srgbClr val="376092"/>
                    </a:solidFill>
                    <a:latin typeface="Arial"/>
                  </a:rPr>
                  <a:t>0</a:t>
                </a:r>
                <a:r>
                  <a:rPr lang="fr-FR" sz="2400" spc="-1" dirty="0">
                    <a:solidFill>
                      <a:srgbClr val="376092"/>
                    </a:solidFill>
                    <a:latin typeface="Arial"/>
                  </a:rPr>
                  <a:t> X (1 + t)</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fois, nous cherchons à calculer C</a:t>
                </a:r>
                <a:r>
                  <a:rPr lang="fr-FR" sz="2400" spc="-1" baseline="-25000" dirty="0">
                    <a:solidFill>
                      <a:srgbClr val="376092"/>
                    </a:solidFill>
                    <a:latin typeface="Arial"/>
                  </a:rPr>
                  <a:t>0</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m:rPr>
                            <m:nor/>
                          </m:rPr>
                          <a:rPr lang="fr-FR" sz="2400" spc="-1" dirty="0">
                            <a:solidFill>
                              <a:srgbClr val="376092"/>
                            </a:solidFill>
                          </a:rPr>
                          <m:t>C</m:t>
                        </m:r>
                        <m:r>
                          <m:rPr>
                            <m:nor/>
                          </m:rPr>
                          <a:rPr lang="fr-FR" sz="2400" spc="-1" baseline="-25000" dirty="0">
                            <a:solidFill>
                              <a:srgbClr val="376092"/>
                            </a:solidFill>
                          </a:rPr>
                          <m:t>n</m:t>
                        </m:r>
                      </m:num>
                      <m:den>
                        <m:r>
                          <m:rPr>
                            <m:nor/>
                          </m:rPr>
                          <a:rPr lang="fr-FR" sz="2400" spc="-1" dirty="0">
                            <a:solidFill>
                              <a:srgbClr val="376092"/>
                            </a:solidFill>
                          </a:rPr>
                          <m:t>(1 + </m:t>
                        </m:r>
                        <m:r>
                          <m:rPr>
                            <m:nor/>
                          </m:rPr>
                          <a:rPr lang="fr-FR" sz="2400" spc="-1" dirty="0">
                            <a:solidFill>
                              <a:srgbClr val="376092"/>
                            </a:solidFill>
                          </a:rPr>
                          <m:t>t</m:t>
                        </m:r>
                        <m:r>
                          <m:rPr>
                            <m:nor/>
                          </m:rPr>
                          <a:rPr lang="fr-FR" sz="2400" spc="-1" dirty="0">
                            <a:solidFill>
                              <a:srgbClr val="376092"/>
                            </a:solidFill>
                          </a:rPr>
                          <m:t>)</m:t>
                        </m:r>
                        <m:r>
                          <m:rPr>
                            <m:nor/>
                          </m:rPr>
                          <a:rPr lang="fr-FR" sz="2400" spc="-1" baseline="30000" dirty="0">
                            <a:solidFill>
                              <a:srgbClr val="376092"/>
                            </a:solidFill>
                          </a:rPr>
                          <m:t>n</m:t>
                        </m:r>
                        <m:r>
                          <m:rPr>
                            <m:nor/>
                          </m:rPr>
                          <a:rPr lang="fr-FR" sz="2400" spc="-1" baseline="30000" dirty="0">
                            <a:solidFill>
                              <a:srgbClr val="376092"/>
                            </a:solidFill>
                          </a:rPr>
                          <m:t> </m:t>
                        </m:r>
                      </m:den>
                    </m:f>
                  </m:oMath>
                </a14:m>
                <a:r>
                  <a:rPr lang="fr-FR" sz="2400" spc="-1" dirty="0">
                    <a:solidFill>
                      <a:srgbClr val="376092"/>
                    </a:solidFill>
                    <a:latin typeface="Arial"/>
                  </a:rPr>
                  <a:t> = </a:t>
                </a:r>
                <a14:m>
                  <m:oMath xmlns:m="http://schemas.openxmlformats.org/officeDocument/2006/math">
                    <m:r>
                      <m:rPr>
                        <m:nor/>
                      </m:rPr>
                      <a:rPr lang="fr-FR" sz="2400" spc="-1" dirty="0">
                        <a:solidFill>
                          <a:srgbClr val="376092"/>
                        </a:solidFill>
                      </a:rPr>
                      <m:t>C</m:t>
                    </m:r>
                    <m:r>
                      <m:rPr>
                        <m:nor/>
                      </m:rPr>
                      <a:rPr lang="fr-FR" sz="2400" spc="-1" baseline="-25000" dirty="0">
                        <a:solidFill>
                          <a:srgbClr val="376092"/>
                        </a:solidFill>
                      </a:rPr>
                      <m:t>n</m:t>
                    </m:r>
                  </m:oMath>
                </a14:m>
                <a:r>
                  <a:rPr lang="fr-FR" sz="2400" spc="-1" dirty="0">
                    <a:solidFill>
                      <a:srgbClr val="376092"/>
                    </a:solidFill>
                    <a:latin typeface="Arial"/>
                  </a:rPr>
                  <a:t> X </a:t>
                </a:r>
                <a14:m>
                  <m:oMath xmlns:m="http://schemas.openxmlformats.org/officeDocument/2006/math">
                    <m:r>
                      <m:rPr>
                        <m:nor/>
                      </m:rPr>
                      <a:rPr lang="fr-FR" sz="2400" spc="-1" dirty="0">
                        <a:solidFill>
                          <a:srgbClr val="376092"/>
                        </a:solidFill>
                      </a:rPr>
                      <m:t>(1 + </m:t>
                    </m:r>
                    <m:r>
                      <m:rPr>
                        <m:nor/>
                      </m:rPr>
                      <a:rPr lang="fr-FR" sz="2400" spc="-1" dirty="0">
                        <a:solidFill>
                          <a:srgbClr val="376092"/>
                        </a:solidFill>
                      </a:rPr>
                      <m:t>taux</m:t>
                    </m:r>
                    <m:r>
                      <m:rPr>
                        <m:nor/>
                      </m:rPr>
                      <a:rPr lang="fr-FR" sz="2400" b="0" i="0" spc="-1" dirty="0" smtClean="0">
                        <a:solidFill>
                          <a:srgbClr val="376092"/>
                        </a:solidFill>
                      </a:rPr>
                      <m:t> </m:t>
                    </m:r>
                    <m:r>
                      <m:rPr>
                        <m:nor/>
                      </m:rPr>
                      <a:rPr lang="fr-FR" sz="2400" b="0" i="0" spc="-1" dirty="0" smtClean="0">
                        <a:solidFill>
                          <a:srgbClr val="376092"/>
                        </a:solidFill>
                      </a:rPr>
                      <m:t>p</m:t>
                    </m:r>
                    <m:r>
                      <m:rPr>
                        <m:nor/>
                      </m:rPr>
                      <a:rPr lang="fr-FR" sz="2400" b="0" i="0" spc="-1" dirty="0" smtClean="0">
                        <a:solidFill>
                          <a:srgbClr val="376092"/>
                        </a:solidFill>
                      </a:rPr>
                      <m:t>é</m:t>
                    </m:r>
                    <m:r>
                      <m:rPr>
                        <m:nor/>
                      </m:rPr>
                      <a:rPr lang="fr-FR" sz="2400" b="0" i="0" spc="-1" dirty="0" smtClean="0">
                        <a:solidFill>
                          <a:srgbClr val="376092"/>
                        </a:solidFill>
                      </a:rPr>
                      <m:t>riode</m:t>
                    </m:r>
                    <m:r>
                      <m:rPr>
                        <m:nor/>
                      </m:rPr>
                      <a:rPr lang="fr-FR" sz="2400" spc="-1" dirty="0">
                        <a:solidFill>
                          <a:srgbClr val="376092"/>
                        </a:solidFill>
                      </a:rPr>
                      <m:t>)</m:t>
                    </m:r>
                    <m:r>
                      <m:rPr>
                        <m:nor/>
                      </m:rPr>
                      <a:rPr lang="fr-FR" sz="2400" b="0" i="0" spc="-1" baseline="30000" dirty="0" smtClean="0">
                        <a:solidFill>
                          <a:srgbClr val="376092"/>
                        </a:solidFill>
                      </a:rPr>
                      <m:t>−(</m:t>
                    </m:r>
                    <m:r>
                      <m:rPr>
                        <m:nor/>
                      </m:rPr>
                      <a:rPr lang="fr-FR" sz="2400" b="0" i="0" spc="-1" baseline="30000" dirty="0" smtClean="0">
                        <a:solidFill>
                          <a:srgbClr val="376092"/>
                        </a:solidFill>
                      </a:rPr>
                      <m:t>nombre</m:t>
                    </m:r>
                    <m:r>
                      <m:rPr>
                        <m:nor/>
                      </m:rPr>
                      <a:rPr lang="fr-FR" sz="2400" b="0" i="0" spc="-1" baseline="30000" dirty="0" smtClean="0">
                        <a:solidFill>
                          <a:srgbClr val="376092"/>
                        </a:solidFill>
                      </a:rPr>
                      <m:t> </m:t>
                    </m:r>
                    <m:r>
                      <m:rPr>
                        <m:nor/>
                      </m:rPr>
                      <a:rPr lang="fr-FR" sz="2400" b="0" i="0" spc="-1" baseline="30000" dirty="0" smtClean="0">
                        <a:solidFill>
                          <a:srgbClr val="376092"/>
                        </a:solidFill>
                      </a:rPr>
                      <m:t>p</m:t>
                    </m:r>
                    <m:r>
                      <m:rPr>
                        <m:nor/>
                      </m:rPr>
                      <a:rPr lang="fr-FR" sz="2400" b="0" i="0" spc="-1" baseline="30000" dirty="0" smtClean="0">
                        <a:solidFill>
                          <a:srgbClr val="376092"/>
                        </a:solidFill>
                      </a:rPr>
                      <m:t>é</m:t>
                    </m:r>
                    <m:r>
                      <m:rPr>
                        <m:nor/>
                      </m:rPr>
                      <a:rPr lang="fr-FR" sz="2400" b="0" i="0" spc="-1" baseline="30000" dirty="0" smtClean="0">
                        <a:solidFill>
                          <a:srgbClr val="376092"/>
                        </a:solidFill>
                      </a:rPr>
                      <m:t>riodes</m:t>
                    </m:r>
                    <m:r>
                      <m:rPr>
                        <m:nor/>
                      </m:rPr>
                      <a:rPr lang="fr-FR" sz="2400" b="0" i="0" spc="-1" baseline="30000" dirty="0" smtClean="0">
                        <a:solidFill>
                          <a:srgbClr val="376092"/>
                        </a:solidFill>
                      </a:rPr>
                      <m:t>) </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la valeur actuelle d'un placement à 10% pendant 6 ans qui a généré une valeur acquise de 1771,56 euros.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0D303853-02BB-E334-FDAE-E644B857FCB9}"/>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3111" b="-7935"/>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EDCE9FB4-8D07-4D3A-AECF-052F3EE75A2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33246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80D3-442F-5F82-3C4F-B8F79A0DE8B7}"/>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D3B894C7-6ED9-E61C-3C54-F166979D382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Valeur actuelle d'un capital placé:</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0C13E739-F4C3-7CC2-6F24-7DE5BAC21C91}"/>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période n'est pas complète, il est toujours possible d'utiliser la formule du taux équivalent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t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cherchons a calculer la valeur actuelle d'un placement à 3,58% pendant 50 mois qui a généré une valeur acquise de 9841,66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Commençons par calculer le taux équivalent mensuel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Utilisons maintenant le taux mensuel pour calculer la valeur actuelle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a:t>
                </a:r>
                <a14:m>
                  <m:oMath xmlns:m="http://schemas.openxmlformats.org/officeDocument/2006/math">
                    <m:r>
                      <m:rPr>
                        <m:nor/>
                      </m:rPr>
                      <a:rPr lang="fr-FR" sz="2400" spc="-1" dirty="0">
                        <a:solidFill>
                          <a:srgbClr val="376092"/>
                        </a:solidFill>
                      </a:rPr>
                      <m:t>C</m:t>
                    </m:r>
                    <m:r>
                      <m:rPr>
                        <m:nor/>
                      </m:rPr>
                      <a:rPr lang="fr-FR" sz="2400" spc="-1" baseline="-25000" dirty="0">
                        <a:solidFill>
                          <a:srgbClr val="376092"/>
                        </a:solidFill>
                      </a:rPr>
                      <m:t>n</m:t>
                    </m:r>
                  </m:oMath>
                </a14:m>
                <a:r>
                  <a:rPr lang="fr-FR" sz="2400" spc="-1" dirty="0">
                    <a:solidFill>
                      <a:srgbClr val="376092"/>
                    </a:solidFill>
                    <a:latin typeface="Arial"/>
                  </a:rPr>
                  <a:t> X </a:t>
                </a:r>
                <a14:m>
                  <m:oMath xmlns:m="http://schemas.openxmlformats.org/officeDocument/2006/math">
                    <m:r>
                      <m:rPr>
                        <m:nor/>
                      </m:rPr>
                      <a:rPr lang="fr-FR" sz="2400" spc="-1" dirty="0">
                        <a:solidFill>
                          <a:srgbClr val="376092"/>
                        </a:solidFill>
                      </a:rPr>
                      <m:t>(1 + </m:t>
                    </m:r>
                    <m:r>
                      <m:rPr>
                        <m:nor/>
                      </m:rPr>
                      <a:rPr lang="fr-FR" sz="2400" spc="-1" dirty="0">
                        <a:solidFill>
                          <a:srgbClr val="376092"/>
                        </a:solidFill>
                      </a:rPr>
                      <m:t>taux</m:t>
                    </m:r>
                    <m:r>
                      <m:rPr>
                        <m:nor/>
                      </m:rPr>
                      <a:rPr lang="fr-FR" sz="2400" b="0" i="0" spc="-1" dirty="0" smtClean="0">
                        <a:solidFill>
                          <a:srgbClr val="376092"/>
                        </a:solidFill>
                      </a:rPr>
                      <m:t> </m:t>
                    </m:r>
                    <m:r>
                      <m:rPr>
                        <m:nor/>
                      </m:rPr>
                      <a:rPr lang="fr-FR" sz="2400" b="0" i="0" spc="-1" dirty="0" smtClean="0">
                        <a:solidFill>
                          <a:srgbClr val="376092"/>
                        </a:solidFill>
                      </a:rPr>
                      <m:t>de</m:t>
                    </m:r>
                    <m:r>
                      <m:rPr>
                        <m:nor/>
                      </m:rPr>
                      <a:rPr lang="fr-FR" sz="2400" b="0" i="0" spc="-1" dirty="0" smtClean="0">
                        <a:solidFill>
                          <a:srgbClr val="376092"/>
                        </a:solidFill>
                      </a:rPr>
                      <m:t> </m:t>
                    </m:r>
                    <m:r>
                      <m:rPr>
                        <m:nor/>
                      </m:rPr>
                      <a:rPr lang="fr-FR" sz="2400" b="0" i="0" spc="-1" dirty="0" smtClean="0">
                        <a:solidFill>
                          <a:srgbClr val="376092"/>
                        </a:solidFill>
                      </a:rPr>
                      <m:t>la</m:t>
                    </m:r>
                    <m:r>
                      <m:rPr>
                        <m:nor/>
                      </m:rPr>
                      <a:rPr lang="fr-FR" sz="2400" b="0" i="0" spc="-1" dirty="0" smtClean="0">
                        <a:solidFill>
                          <a:srgbClr val="376092"/>
                        </a:solidFill>
                      </a:rPr>
                      <m:t> </m:t>
                    </m:r>
                    <m:r>
                      <m:rPr>
                        <m:nor/>
                      </m:rPr>
                      <a:rPr lang="fr-FR" sz="2400" b="0" i="0" spc="-1" dirty="0" smtClean="0">
                        <a:solidFill>
                          <a:srgbClr val="376092"/>
                        </a:solidFill>
                      </a:rPr>
                      <m:t>p</m:t>
                    </m:r>
                    <m:r>
                      <m:rPr>
                        <m:nor/>
                      </m:rPr>
                      <a:rPr lang="fr-FR" sz="2400" b="0" i="0" spc="-1" dirty="0" smtClean="0">
                        <a:solidFill>
                          <a:srgbClr val="376092"/>
                        </a:solidFill>
                      </a:rPr>
                      <m:t>é</m:t>
                    </m:r>
                    <m:r>
                      <m:rPr>
                        <m:nor/>
                      </m:rPr>
                      <a:rPr lang="fr-FR" sz="2400" b="0" i="0" spc="-1" dirty="0" smtClean="0">
                        <a:solidFill>
                          <a:srgbClr val="376092"/>
                        </a:solidFill>
                      </a:rPr>
                      <m:t>riode</m:t>
                    </m:r>
                    <m:r>
                      <m:rPr>
                        <m:nor/>
                      </m:rPr>
                      <a:rPr lang="fr-FR" sz="2400" spc="-1" dirty="0">
                        <a:solidFill>
                          <a:srgbClr val="376092"/>
                        </a:solidFill>
                      </a:rPr>
                      <m:t>)</m:t>
                    </m:r>
                    <m:r>
                      <m:rPr>
                        <m:nor/>
                      </m:rPr>
                      <a:rPr lang="fr-FR" sz="2400" b="0" i="0" spc="-1" baseline="30000" dirty="0" smtClean="0">
                        <a:solidFill>
                          <a:srgbClr val="376092"/>
                        </a:solidFill>
                      </a:rPr>
                      <m:t>−(</m:t>
                    </m:r>
                    <m:r>
                      <m:rPr>
                        <m:nor/>
                      </m:rPr>
                      <a:rPr lang="fr-FR" sz="2400" b="0" i="0" spc="-1" baseline="30000" dirty="0" smtClean="0">
                        <a:solidFill>
                          <a:srgbClr val="376092"/>
                        </a:solidFill>
                      </a:rPr>
                      <m:t>nombre</m:t>
                    </m:r>
                    <m:r>
                      <m:rPr>
                        <m:nor/>
                      </m:rPr>
                      <a:rPr lang="fr-FR" sz="2400" b="0" i="0" spc="-1" baseline="30000" dirty="0" smtClean="0">
                        <a:solidFill>
                          <a:srgbClr val="376092"/>
                        </a:solidFill>
                      </a:rPr>
                      <m:t> </m:t>
                    </m:r>
                    <m:r>
                      <m:rPr>
                        <m:nor/>
                      </m:rPr>
                      <a:rPr lang="fr-FR" sz="2400" b="0" i="0" spc="-1" baseline="30000" dirty="0" smtClean="0">
                        <a:solidFill>
                          <a:srgbClr val="376092"/>
                        </a:solidFill>
                      </a:rPr>
                      <m:t>de</m:t>
                    </m:r>
                    <m:r>
                      <m:rPr>
                        <m:nor/>
                      </m:rPr>
                      <a:rPr lang="fr-FR" sz="2400" b="0" i="0" spc="-1" baseline="30000" dirty="0" smtClean="0">
                        <a:solidFill>
                          <a:srgbClr val="376092"/>
                        </a:solidFill>
                      </a:rPr>
                      <m:t> </m:t>
                    </m:r>
                    <m:r>
                      <m:rPr>
                        <m:nor/>
                      </m:rPr>
                      <a:rPr lang="fr-FR" sz="2400" b="0" i="0" spc="-1" baseline="30000" dirty="0" smtClean="0">
                        <a:solidFill>
                          <a:srgbClr val="376092"/>
                        </a:solidFill>
                      </a:rPr>
                      <m:t>p</m:t>
                    </m:r>
                    <m:r>
                      <m:rPr>
                        <m:nor/>
                      </m:rPr>
                      <a:rPr lang="fr-FR" sz="2400" b="0" i="0" spc="-1" baseline="30000" dirty="0" smtClean="0">
                        <a:solidFill>
                          <a:srgbClr val="376092"/>
                        </a:solidFill>
                      </a:rPr>
                      <m:t>é</m:t>
                    </m:r>
                    <m:r>
                      <m:rPr>
                        <m:nor/>
                      </m:rPr>
                      <a:rPr lang="fr-FR" sz="2400" b="0" i="0" spc="-1" baseline="30000" dirty="0" smtClean="0">
                        <a:solidFill>
                          <a:srgbClr val="376092"/>
                        </a:solidFill>
                      </a:rPr>
                      <m:t>riodes</m:t>
                    </m:r>
                    <m:r>
                      <m:rPr>
                        <m:nor/>
                      </m:rPr>
                      <a:rPr lang="fr-FR" sz="2400" b="0" i="0" spc="-1" baseline="30000" dirty="0" smtClean="0">
                        <a:solidFill>
                          <a:srgbClr val="376092"/>
                        </a:solidFill>
                      </a:rPr>
                      <m:t>) </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0C13E739-F4C3-7CC2-6F24-7DE5BAC21C91}"/>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96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F10E2174-AC6E-6A83-060B-5CAED8C971A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651498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AE757-BA15-EFAA-2C29-74BF71B33712}"/>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095CFF1E-4478-D567-9B42-B0992B059AD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 d'annuité constante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2D0E021C-19CC-73EE-72A9-A656B67B79C0}"/>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Sur ces premiers exemples, nous avons toujours un capital de départ mais aucun versement sur la période de prise d'intérêt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Comment calculer une valeur acquise avec des versements constants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calculer la valeur acquise d'un placement de 2000 euros par an sur 5 ans avec un taux de 3,75%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comprendre comment cela fonctionne, prenons un tableur et considérons chaque versement comme un investissement indépendant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cumuler les valeurs acquises par chaque placement pour obtenir la valeur acquise globale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DE02B9B8-0008-6725-554B-6C0FBA10422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250124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2AD9-1322-6F74-203D-D046B8750B40}"/>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65FDACD-D175-76C9-493B-088D1F87A277}"/>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 d'annuité constante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BCE841E0-CA47-2388-7909-43621E7D79AF}"/>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Avec cette approche, nous arrivons sur le tableau suivant: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suffit de cumuler chacune des lignes pour connaitre la valeur acquise pour chaque année.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remarquer que la somme de chaque ligne correspond à la somme de la première colonne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la première colonne, je passe d'un élément au suivant en le multipliant par (1 + 0,0375)</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64DFFA2F-F2D3-6044-5FAB-555925ACC5A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BFA3DE60-D425-5ED5-B8EB-91CB31681726}"/>
              </a:ext>
            </a:extLst>
          </p:cNvPr>
          <p:cNvGraphicFramePr>
            <a:graphicFrameLocks noGrp="1"/>
          </p:cNvGraphicFramePr>
          <p:nvPr>
            <p:extLst>
              <p:ext uri="{D42A27DB-BD31-4B8C-83A1-F6EECF244321}">
                <p14:modId xmlns:p14="http://schemas.microsoft.com/office/powerpoint/2010/main" val="3795488040"/>
              </p:ext>
            </p:extLst>
          </p:nvPr>
        </p:nvGraphicFramePr>
        <p:xfrm>
          <a:off x="1572540" y="2247900"/>
          <a:ext cx="5397502" cy="1333500"/>
        </p:xfrm>
        <a:graphic>
          <a:graphicData uri="http://schemas.openxmlformats.org/drawingml/2006/table">
            <a:tbl>
              <a:tblPr/>
              <a:tblGrid>
                <a:gridCol w="447412">
                  <a:extLst>
                    <a:ext uri="{9D8B030D-6E8A-4147-A177-3AD203B41FA5}">
                      <a16:colId xmlns:a16="http://schemas.microsoft.com/office/drawing/2014/main" val="3742972196"/>
                    </a:ext>
                  </a:extLst>
                </a:gridCol>
                <a:gridCol w="825015">
                  <a:extLst>
                    <a:ext uri="{9D8B030D-6E8A-4147-A177-3AD203B41FA5}">
                      <a16:colId xmlns:a16="http://schemas.microsoft.com/office/drawing/2014/main" val="1474654331"/>
                    </a:ext>
                  </a:extLst>
                </a:gridCol>
                <a:gridCol w="825015">
                  <a:extLst>
                    <a:ext uri="{9D8B030D-6E8A-4147-A177-3AD203B41FA5}">
                      <a16:colId xmlns:a16="http://schemas.microsoft.com/office/drawing/2014/main" val="3468826528"/>
                    </a:ext>
                  </a:extLst>
                </a:gridCol>
                <a:gridCol w="825015">
                  <a:extLst>
                    <a:ext uri="{9D8B030D-6E8A-4147-A177-3AD203B41FA5}">
                      <a16:colId xmlns:a16="http://schemas.microsoft.com/office/drawing/2014/main" val="3136355203"/>
                    </a:ext>
                  </a:extLst>
                </a:gridCol>
                <a:gridCol w="825015">
                  <a:extLst>
                    <a:ext uri="{9D8B030D-6E8A-4147-A177-3AD203B41FA5}">
                      <a16:colId xmlns:a16="http://schemas.microsoft.com/office/drawing/2014/main" val="2736806519"/>
                    </a:ext>
                  </a:extLst>
                </a:gridCol>
                <a:gridCol w="825015">
                  <a:extLst>
                    <a:ext uri="{9D8B030D-6E8A-4147-A177-3AD203B41FA5}">
                      <a16:colId xmlns:a16="http://schemas.microsoft.com/office/drawing/2014/main" val="1217874532"/>
                    </a:ext>
                  </a:extLst>
                </a:gridCol>
                <a:gridCol w="825015">
                  <a:extLst>
                    <a:ext uri="{9D8B030D-6E8A-4147-A177-3AD203B41FA5}">
                      <a16:colId xmlns:a16="http://schemas.microsoft.com/office/drawing/2014/main" val="105104389"/>
                    </a:ext>
                  </a:extLst>
                </a:gridCol>
              </a:tblGrid>
              <a:tr h="190500">
                <a:tc>
                  <a:txBody>
                    <a:bodyPr/>
                    <a:lstStyle/>
                    <a:p>
                      <a:pPr algn="ctr" fontAlgn="b"/>
                      <a:r>
                        <a:rPr lang="fr-FR" sz="1100" b="1" i="0" u="none" strike="noStrike">
                          <a:solidFill>
                            <a:srgbClr val="FFFFFF"/>
                          </a:solidFill>
                          <a:effectLst/>
                          <a:latin typeface="Aptos Narrow" panose="020B0004020202020204" pitchFamily="34" charset="0"/>
                        </a:rPr>
                        <a:t>Année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100" b="1" i="0" u="none" strike="noStrike">
                          <a:solidFill>
                            <a:srgbClr val="FFFFFF"/>
                          </a:solidFill>
                          <a:effectLst/>
                          <a:latin typeface="Aptos Narrow" panose="020B0004020202020204" pitchFamily="34" charset="0"/>
                        </a:rPr>
                        <a:t>Versement 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568204524"/>
                  </a:ext>
                </a:extLst>
              </a:tr>
              <a:tr h="190500">
                <a:tc>
                  <a:txBody>
                    <a:bodyPr/>
                    <a:lstStyle/>
                    <a:p>
                      <a:pPr algn="ctr" fontAlgn="b"/>
                      <a:r>
                        <a:rPr lang="fr-FR" sz="1100" b="0" i="0" u="none" strike="noStrike">
                          <a:solidFill>
                            <a:srgbClr val="000000"/>
                          </a:solidFill>
                          <a:effectLst/>
                          <a:latin typeface="Aptos Narrow" panose="020B00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195344"/>
                  </a:ext>
                </a:extLst>
              </a:tr>
              <a:tr h="190500">
                <a:tc>
                  <a:txBody>
                    <a:bodyPr/>
                    <a:lstStyle/>
                    <a:p>
                      <a:pPr algn="ctr" fontAlgn="b"/>
                      <a:r>
                        <a:rPr lang="fr-FR" sz="1100" b="0" i="0" u="none" strike="noStrike">
                          <a:solidFill>
                            <a:srgbClr val="000000"/>
                          </a:solidFill>
                          <a:effectLst/>
                          <a:latin typeface="Aptos Narrow" panose="020B00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3913769"/>
                  </a:ext>
                </a:extLst>
              </a:tr>
              <a:tr h="190500">
                <a:tc>
                  <a:txBody>
                    <a:bodyPr/>
                    <a:lstStyle/>
                    <a:p>
                      <a:pPr algn="ctr" fontAlgn="b"/>
                      <a:r>
                        <a:rPr lang="fr-FR" sz="1100" b="0"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2152,8125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5124669"/>
                  </a:ext>
                </a:extLst>
              </a:tr>
              <a:tr h="190500">
                <a:tc>
                  <a:txBody>
                    <a:bodyPr/>
                    <a:lstStyle/>
                    <a:p>
                      <a:pPr algn="ctr" fontAlgn="b"/>
                      <a:r>
                        <a:rPr lang="fr-FR" sz="11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2233,542969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2152,8125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4800306"/>
                  </a:ext>
                </a:extLst>
              </a:tr>
              <a:tr h="190500">
                <a:tc>
                  <a:txBody>
                    <a:bodyPr/>
                    <a:lstStyle/>
                    <a:p>
                      <a:pPr algn="ctr" fontAlgn="b"/>
                      <a:r>
                        <a:rPr lang="fr-FR" sz="1100" b="0" i="0" u="none" strike="noStrike">
                          <a:solidFill>
                            <a:srgbClr val="000000"/>
                          </a:solidFill>
                          <a:effectLst/>
                          <a:latin typeface="Aptos Narrow" panose="020B0004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2317,30083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2233,542969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2152,8125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0891012"/>
                  </a:ext>
                </a:extLst>
              </a:tr>
              <a:tr h="190500">
                <a:tc>
                  <a:txBody>
                    <a:bodyPr/>
                    <a:lstStyle/>
                    <a:p>
                      <a:pPr algn="ctr" fontAlgn="b"/>
                      <a:r>
                        <a:rPr lang="fr-FR" sz="11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2404,199611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2317,30083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2233,542969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2152,8125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a:solidFill>
                            <a:srgbClr val="000000"/>
                          </a:solidFill>
                          <a:effectLst/>
                          <a:latin typeface="Aptos Narrow" panose="020B0004020202020204" pitchFamily="34" charset="0"/>
                        </a:rPr>
                        <a:t>2075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1100" b="0" i="0" u="none" strike="noStrike" dirty="0">
                          <a:solidFill>
                            <a:srgbClr val="000000"/>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0997729"/>
                  </a:ext>
                </a:extLst>
              </a:tr>
            </a:tbl>
          </a:graphicData>
        </a:graphic>
      </p:graphicFrame>
    </p:spTree>
    <p:extLst>
      <p:ext uri="{BB962C8B-B14F-4D97-AF65-F5344CB8AC3E}">
        <p14:creationId xmlns:p14="http://schemas.microsoft.com/office/powerpoint/2010/main" val="4235652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5DC7-C825-FAD9-8956-6B4E4541BB1B}"/>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CD79CC55-90A6-677E-DADB-29DE3C4242A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 d'annuité constante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EC26EBA8-31BD-8BAD-7C0F-444B8B8E24C7}"/>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je passe d'un élément au suivant en multipliant toujours par la même valeur, je me trouve en présence d'une suite géométrique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 premier terme 2000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 raison (1 + 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ce cas là je cherche à calculer la somme des premiers termes de cette suite.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tombe bien, je connais la formule pour calculer la suite des termes d'une suite géométrique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Somme = premier terme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strike="noStrike" spc="-1" dirty="0">
                                <a:solidFill>
                                  <a:srgbClr val="376092"/>
                                </a:solidFill>
                                <a:latin typeface="Cambria Math" panose="02040503050406030204" pitchFamily="18" charset="0"/>
                              </a:rPr>
                              <m:t>1</m:t>
                            </m:r>
                            <m:r>
                              <a:rPr lang="fr-FR" sz="2400" b="0" i="0" strike="noStrike" spc="-1" dirty="0">
                                <a:solidFill>
                                  <a:srgbClr val="376092"/>
                                </a:solidFill>
                                <a:latin typeface="Cambria Math" panose="02040503050406030204" pitchFamily="18" charset="0"/>
                              </a:rPr>
                              <m:t>−</m:t>
                            </m:r>
                            <m:sSup>
                              <m:sSupPr>
                                <m:ctrlPr>
                                  <a:rPr lang="fr-FR" sz="2400" b="0" i="1" strike="noStrike" spc="-1" dirty="0">
                                    <a:solidFill>
                                      <a:srgbClr val="376092"/>
                                    </a:solidFill>
                                    <a:latin typeface="Cambria Math" panose="02040503050406030204" pitchFamily="18" charset="0"/>
                                  </a:rPr>
                                </m:ctrlPr>
                              </m:sSupPr>
                              <m:e>
                                <m:r>
                                  <a:rPr lang="fr-FR" sz="2400" b="0" i="1" strike="noStrike" spc="-1" dirty="0" smtClean="0">
                                    <a:solidFill>
                                      <a:srgbClr val="376092"/>
                                    </a:solidFill>
                                    <a:latin typeface="Cambria Math" panose="02040503050406030204" pitchFamily="18" charset="0"/>
                                  </a:rPr>
                                  <m:t>𝑟𝑎𝑖𝑠𝑜𝑛</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num>
                          <m:den>
                            <m:r>
                              <a:rPr lang="fr-FR" sz="2400" b="0" i="0" strike="noStrike" spc="-1" dirty="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𝑟𝑎𝑖𝑠𝑜𝑛</m:t>
                            </m:r>
                          </m:den>
                        </m:f>
                      </m:e>
                    </m:d>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la formule pour vérifier nos résultats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EC26EBA8-31BD-8BAD-7C0F-444B8B8E24C7}"/>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10202"/>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48E69146-32C5-30BF-EC71-4E8CF73A3B1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498583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0FC1-DA25-8FCB-2B54-9324C3C19425}"/>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9C75F95F-8919-FECD-7CBD-4391AAA31B91}"/>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 d'annuité constante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5A8AA10B-1AA0-9EF7-BD27-270102DCDEE5}"/>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cas des annuités constantes, généralisons la formule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Somme = premier terme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strike="noStrike" spc="-1" dirty="0">
                                <a:solidFill>
                                  <a:srgbClr val="376092"/>
                                </a:solidFill>
                                <a:latin typeface="Cambria Math" panose="02040503050406030204" pitchFamily="18" charset="0"/>
                              </a:rPr>
                              <m:t>1</m:t>
                            </m:r>
                            <m:r>
                              <a:rPr lang="fr-FR" sz="2400" b="0" i="0" strike="noStrike" spc="-1" dirty="0">
                                <a:solidFill>
                                  <a:srgbClr val="376092"/>
                                </a:solidFill>
                                <a:latin typeface="Cambria Math" panose="02040503050406030204" pitchFamily="18" charset="0"/>
                              </a:rPr>
                              <m:t>−</m:t>
                            </m:r>
                            <m:sSup>
                              <m:sSupPr>
                                <m:ctrlPr>
                                  <a:rPr lang="fr-FR" sz="2400" b="0" i="1" strike="noStrike" spc="-1" dirty="0">
                                    <a:solidFill>
                                      <a:srgbClr val="376092"/>
                                    </a:solidFill>
                                    <a:latin typeface="Cambria Math" panose="02040503050406030204" pitchFamily="18" charset="0"/>
                                  </a:rPr>
                                </m:ctrlPr>
                              </m:sSupPr>
                              <m:e>
                                <m:r>
                                  <a:rPr lang="fr-FR" sz="2400" b="0" i="1" strike="noStrike" spc="-1" dirty="0" smtClean="0">
                                    <a:solidFill>
                                      <a:srgbClr val="376092"/>
                                    </a:solidFill>
                                    <a:latin typeface="Cambria Math" panose="02040503050406030204" pitchFamily="18" charset="0"/>
                                  </a:rPr>
                                  <m:t>𝑟𝑎𝑖𝑠𝑜𝑛</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num>
                          <m:den>
                            <m:r>
                              <a:rPr lang="fr-FR" sz="2400" b="0" i="0" strike="noStrike" spc="-1" dirty="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𝑟𝑎𝑖𝑠𝑜𝑛</m:t>
                            </m:r>
                          </m:den>
                        </m:f>
                      </m:e>
                    </m:d>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Valeur acquise</a:t>
                </a:r>
                <a:r>
                  <a:rPr lang="fr-FR" sz="2400" b="0" strike="noStrike" spc="-1" dirty="0">
                    <a:solidFill>
                      <a:srgbClr val="376092"/>
                    </a:solidFill>
                    <a:latin typeface="Arial"/>
                  </a:rPr>
                  <a:t> = annuité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strike="noStrike" spc="-1" dirty="0">
                                <a:solidFill>
                                  <a:srgbClr val="376092"/>
                                </a:solidFill>
                                <a:latin typeface="Cambria Math" panose="02040503050406030204" pitchFamily="18" charset="0"/>
                              </a:rPr>
                              <m:t>1</m:t>
                            </m:r>
                            <m:r>
                              <a:rPr lang="fr-FR" sz="2400" b="0" i="0" strike="noStrike" spc="-1" dirty="0">
                                <a:solidFill>
                                  <a:srgbClr val="376092"/>
                                </a:solidFill>
                                <a:latin typeface="Cambria Math" panose="02040503050406030204" pitchFamily="18" charset="0"/>
                              </a:rPr>
                              <m:t>−</m:t>
                            </m:r>
                            <m:sSup>
                              <m:sSupPr>
                                <m:ctrlPr>
                                  <a:rPr lang="fr-FR" sz="2400" b="0" i="1" strike="noStrike" spc="-1" dirty="0">
                                    <a:solidFill>
                                      <a:srgbClr val="376092"/>
                                    </a:solidFill>
                                    <a:latin typeface="Cambria Math" panose="02040503050406030204" pitchFamily="18" charset="0"/>
                                  </a:rPr>
                                </m:ctrlPr>
                              </m:sSupPr>
                              <m:e>
                                <m:r>
                                  <a:rPr lang="fr-FR" sz="2400" b="0" i="1" strike="noStrike" spc="-1" dirty="0" smtClean="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𝑡</m:t>
                                </m:r>
                                <m:r>
                                  <a:rPr lang="fr-FR" sz="2400" b="0" i="1" strike="noStrike" spc="-1" dirty="0" smtClean="0">
                                    <a:solidFill>
                                      <a:srgbClr val="376092"/>
                                    </a:solidFill>
                                    <a:latin typeface="Cambria Math" panose="02040503050406030204" pitchFamily="18" charset="0"/>
                                  </a:rPr>
                                  <m:t>)</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num>
                          <m:den>
                            <m:r>
                              <a:rPr lang="fr-FR" sz="2400" b="0" i="0" strike="noStrike" spc="-1" dirty="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𝑡</m:t>
                            </m:r>
                            <m:r>
                              <a:rPr lang="fr-FR" sz="2400" b="0" i="1" strike="noStrike" spc="-1" dirty="0" smtClean="0">
                                <a:solidFill>
                                  <a:srgbClr val="376092"/>
                                </a:solidFill>
                                <a:latin typeface="Cambria Math" panose="02040503050406030204" pitchFamily="18" charset="0"/>
                              </a:rPr>
                              <m:t>)</m:t>
                            </m:r>
                          </m:den>
                        </m:f>
                      </m:e>
                    </m:d>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rPr>
                  <a:t>Valeur acquise = annuité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strike="noStrike" spc="-1" dirty="0">
                                <a:solidFill>
                                  <a:srgbClr val="376092"/>
                                </a:solidFill>
                                <a:latin typeface="Cambria Math" panose="02040503050406030204" pitchFamily="18" charset="0"/>
                              </a:rPr>
                              <m:t>1</m:t>
                            </m:r>
                            <m:r>
                              <a:rPr lang="fr-FR" sz="2400" b="0" i="0" strike="noStrike" spc="-1" dirty="0">
                                <a:solidFill>
                                  <a:srgbClr val="376092"/>
                                </a:solidFill>
                                <a:latin typeface="Cambria Math" panose="02040503050406030204" pitchFamily="18" charset="0"/>
                              </a:rPr>
                              <m:t>−</m:t>
                            </m:r>
                            <m:sSup>
                              <m:sSupPr>
                                <m:ctrlPr>
                                  <a:rPr lang="fr-FR" sz="2400" b="0" i="1" strike="noStrike" spc="-1" dirty="0">
                                    <a:solidFill>
                                      <a:srgbClr val="376092"/>
                                    </a:solidFill>
                                    <a:latin typeface="Cambria Math" panose="02040503050406030204" pitchFamily="18" charset="0"/>
                                  </a:rPr>
                                </m:ctrlPr>
                              </m:sSupPr>
                              <m:e>
                                <m:r>
                                  <a:rPr lang="fr-FR" sz="2400" b="0" i="1" strike="noStrike" spc="-1" dirty="0" smtClean="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𝑡</m:t>
                                </m:r>
                                <m:r>
                                  <a:rPr lang="fr-FR" sz="2400" b="0" i="1" strike="noStrike" spc="-1" dirty="0" smtClean="0">
                                    <a:solidFill>
                                      <a:srgbClr val="376092"/>
                                    </a:solidFill>
                                    <a:latin typeface="Cambria Math" panose="02040503050406030204" pitchFamily="18" charset="0"/>
                                  </a:rPr>
                                  <m:t>)</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num>
                          <m:den>
                            <m:r>
                              <a:rPr lang="fr-FR" sz="2400" b="0" i="1" strike="noStrike" spc="-1" dirty="0" smtClean="0">
                                <a:solidFill>
                                  <a:srgbClr val="376092"/>
                                </a:solidFill>
                                <a:latin typeface="Cambria Math" panose="02040503050406030204" pitchFamily="18" charset="0"/>
                              </a:rPr>
                              <m:t>−</m:t>
                            </m:r>
                            <m:r>
                              <a:rPr lang="fr-FR" sz="2400" b="0" i="1" strike="noStrike" spc="-1" dirty="0" smtClean="0">
                                <a:solidFill>
                                  <a:srgbClr val="376092"/>
                                </a:solidFill>
                                <a:latin typeface="Cambria Math" panose="02040503050406030204" pitchFamily="18" charset="0"/>
                              </a:rPr>
                              <m:t>𝑡</m:t>
                            </m:r>
                          </m:den>
                        </m:f>
                      </m:e>
                    </m:d>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rPr>
                  <a:t>Valeur acquise = annuité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sSup>
                              <m:sSupPr>
                                <m:ctrlPr>
                                  <a:rPr lang="fr-FR" sz="2400" b="0" i="1" strike="noStrike" spc="-1" dirty="0">
                                    <a:solidFill>
                                      <a:srgbClr val="376092"/>
                                    </a:solidFill>
                                    <a:latin typeface="Cambria Math" panose="02040503050406030204" pitchFamily="18" charset="0"/>
                                  </a:rPr>
                                </m:ctrlPr>
                              </m:sSupPr>
                              <m:e>
                                <m:r>
                                  <a:rPr lang="fr-FR" sz="2400" b="0" i="1" strike="noStrike" spc="-1" dirty="0" smtClean="0">
                                    <a:solidFill>
                                      <a:srgbClr val="376092"/>
                                    </a:solidFill>
                                    <a:latin typeface="Cambria Math" panose="02040503050406030204" pitchFamily="18" charset="0"/>
                                  </a:rPr>
                                  <m:t>(1+</m:t>
                                </m:r>
                                <m:r>
                                  <a:rPr lang="fr-FR" sz="2400" b="0" i="1" strike="noStrike" spc="-1" dirty="0" smtClean="0">
                                    <a:solidFill>
                                      <a:srgbClr val="376092"/>
                                    </a:solidFill>
                                    <a:latin typeface="Cambria Math" panose="02040503050406030204" pitchFamily="18" charset="0"/>
                                  </a:rPr>
                                  <m:t>𝑡</m:t>
                                </m:r>
                                <m:r>
                                  <a:rPr lang="fr-FR" sz="2400" b="0" i="1" strike="noStrike" spc="-1" dirty="0" smtClean="0">
                                    <a:solidFill>
                                      <a:srgbClr val="376092"/>
                                    </a:solidFill>
                                    <a:latin typeface="Cambria Math" panose="02040503050406030204" pitchFamily="18" charset="0"/>
                                  </a:rPr>
                                  <m:t>)</m:t>
                                </m:r>
                              </m:e>
                              <m:sup>
                                <m:r>
                                  <a:rPr lang="fr-FR" sz="2400" b="0" i="1" strike="noStrike" spc="-1" dirty="0">
                                    <a:solidFill>
                                      <a:srgbClr val="376092"/>
                                    </a:solidFill>
                                    <a:latin typeface="Cambria Math" panose="02040503050406030204" pitchFamily="18" charset="0"/>
                                  </a:rPr>
                                  <m:t>𝑛</m:t>
                                </m:r>
                                <m:r>
                                  <a:rPr lang="fr-FR" sz="2400" b="0" i="1" strike="noStrike" spc="-1" dirty="0" smtClean="0">
                                    <a:solidFill>
                                      <a:srgbClr val="376092"/>
                                    </a:solidFill>
                                    <a:latin typeface="Cambria Math" panose="02040503050406030204" pitchFamily="18" charset="0"/>
                                  </a:rPr>
                                  <m:t>𝑜𝑚𝑏𝑟𝑒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𝑑𝑒</m:t>
                                </m:r>
                                <m:r>
                                  <a:rPr lang="fr-FR" sz="2400" b="0" i="1" strike="noStrike" spc="-1" dirty="0" smtClean="0">
                                    <a:solidFill>
                                      <a:srgbClr val="376092"/>
                                    </a:solidFill>
                                    <a:latin typeface="Cambria Math" panose="02040503050406030204" pitchFamily="18" charset="0"/>
                                  </a:rPr>
                                  <m:t> </m:t>
                                </m:r>
                                <m:r>
                                  <a:rPr lang="fr-FR" sz="2400" b="0" i="1" strike="noStrike" spc="-1" dirty="0" smtClean="0">
                                    <a:solidFill>
                                      <a:srgbClr val="376092"/>
                                    </a:solidFill>
                                    <a:latin typeface="Cambria Math" panose="02040503050406030204" pitchFamily="18" charset="0"/>
                                  </a:rPr>
                                  <m:t>𝑡𝑒𝑟𝑚𝑒𝑠</m:t>
                                </m:r>
                              </m:sup>
                            </m:sSup>
                            <m:r>
                              <a:rPr lang="fr-FR" sz="2400" b="0" i="1" strike="noStrike" spc="-1" dirty="0" smtClean="0">
                                <a:solidFill>
                                  <a:srgbClr val="376092"/>
                                </a:solidFill>
                                <a:latin typeface="Cambria Math" panose="02040503050406030204" pitchFamily="18" charset="0"/>
                              </a:rPr>
                              <m:t> −1</m:t>
                            </m:r>
                          </m:num>
                          <m:den>
                            <m:r>
                              <a:rPr lang="fr-FR" sz="2400" b="0" i="1" strike="noStrike" spc="-1" dirty="0" smtClean="0">
                                <a:solidFill>
                                  <a:srgbClr val="376092"/>
                                </a:solidFill>
                                <a:latin typeface="Cambria Math" panose="02040503050406030204" pitchFamily="18" charset="0"/>
                              </a:rPr>
                              <m:t>𝑡</m:t>
                            </m:r>
                          </m:den>
                        </m:f>
                      </m:e>
                    </m:d>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relation nous permet aussi de calculer l'annuité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annuité = valeur acquise x </a:t>
                </a:r>
                <a14:m>
                  <m:oMath xmlns:m="http://schemas.openxmlformats.org/officeDocument/2006/math">
                    <m:d>
                      <m:dPr>
                        <m:ctrlPr>
                          <a:rPr lang="fr-FR" sz="2400" b="0" i="1" strike="noStrike" spc="-1" dirty="0" smtClean="0">
                            <a:solidFill>
                              <a:srgbClr val="376092"/>
                            </a:solidFill>
                            <a:latin typeface="Cambria Math" panose="02040503050406030204" pitchFamily="18" charset="0"/>
                          </a:rPr>
                        </m:ctrlPr>
                      </m:dPr>
                      <m:e>
                        <m:f>
                          <m:fPr>
                            <m:ctrlPr>
                              <a:rPr lang="fr-FR" sz="2400" b="0" i="1" strike="noStrike" spc="-1" dirty="0">
                                <a:solidFill>
                                  <a:srgbClr val="376092"/>
                                </a:solidFill>
                                <a:latin typeface="Cambria Math" panose="02040503050406030204" pitchFamily="18" charset="0"/>
                              </a:rPr>
                            </m:ctrlPr>
                          </m:fPr>
                          <m:num>
                            <m:r>
                              <a:rPr lang="fr-FR" sz="2400" b="0" i="1" strike="noStrike" spc="-1" dirty="0" smtClean="0">
                                <a:solidFill>
                                  <a:srgbClr val="376092"/>
                                </a:solidFill>
                                <a:latin typeface="Cambria Math" panose="02040503050406030204" pitchFamily="18" charset="0"/>
                              </a:rPr>
                              <m:t>𝑡</m:t>
                            </m:r>
                            <m:r>
                              <a:rPr lang="fr-FR" sz="2400" b="0" i="1" strike="noStrike" spc="-1" dirty="0" smtClean="0">
                                <a:solidFill>
                                  <a:srgbClr val="376092"/>
                                </a:solidFill>
                                <a:latin typeface="Cambria Math" panose="02040503050406030204" pitchFamily="18" charset="0"/>
                              </a:rPr>
                              <m:t> </m:t>
                            </m:r>
                          </m:num>
                          <m:den>
                            <m:sSup>
                              <m:sSupPr>
                                <m:ctrlPr>
                                  <a:rPr lang="fr-FR" sz="2400" i="1" spc="-1" dirty="0">
                                    <a:solidFill>
                                      <a:srgbClr val="376092"/>
                                    </a:solidFill>
                                    <a:latin typeface="Cambria Math" panose="02040503050406030204" pitchFamily="18" charset="0"/>
                                  </a:rPr>
                                </m:ctrlPr>
                              </m:sSupPr>
                              <m:e>
                                <m:r>
                                  <a:rPr lang="fr-FR" sz="2400" i="1" spc="-1" dirty="0">
                                    <a:solidFill>
                                      <a:srgbClr val="376092"/>
                                    </a:solidFill>
                                    <a:latin typeface="Cambria Math" panose="02040503050406030204" pitchFamily="18" charset="0"/>
                                  </a:rPr>
                                  <m:t>(1+</m:t>
                                </m:r>
                                <m:r>
                                  <a:rPr lang="fr-FR" sz="2400" i="1" spc="-1" dirty="0">
                                    <a:solidFill>
                                      <a:srgbClr val="376092"/>
                                    </a:solidFill>
                                    <a:latin typeface="Cambria Math" panose="02040503050406030204" pitchFamily="18" charset="0"/>
                                  </a:rPr>
                                  <m:t>𝑡</m:t>
                                </m:r>
                                <m:r>
                                  <a:rPr lang="fr-FR" sz="2400" i="1" spc="-1" dirty="0">
                                    <a:solidFill>
                                      <a:srgbClr val="376092"/>
                                    </a:solidFill>
                                    <a:latin typeface="Cambria Math" panose="02040503050406030204" pitchFamily="18" charset="0"/>
                                  </a:rPr>
                                  <m:t>)</m:t>
                                </m:r>
                              </m:e>
                              <m:sup>
                                <m:r>
                                  <a:rPr lang="fr-FR" sz="2400" i="1" spc="-1" dirty="0">
                                    <a:solidFill>
                                      <a:srgbClr val="376092"/>
                                    </a:solidFill>
                                    <a:latin typeface="Cambria Math" panose="02040503050406030204" pitchFamily="18" charset="0"/>
                                  </a:rPr>
                                  <m:t>𝑛𝑜𝑚𝑏𝑟𝑒</m:t>
                                </m:r>
                                <m:r>
                                  <a:rPr lang="fr-FR" sz="2400" i="1" spc="-1" dirty="0">
                                    <a:solidFill>
                                      <a:srgbClr val="376092"/>
                                    </a:solidFill>
                                    <a:latin typeface="Cambria Math" panose="02040503050406030204" pitchFamily="18" charset="0"/>
                                  </a:rPr>
                                  <m:t> </m:t>
                                </m:r>
                                <m:r>
                                  <a:rPr lang="fr-FR" sz="2400" i="1" spc="-1" dirty="0">
                                    <a:solidFill>
                                      <a:srgbClr val="376092"/>
                                    </a:solidFill>
                                    <a:latin typeface="Cambria Math" panose="02040503050406030204" pitchFamily="18" charset="0"/>
                                  </a:rPr>
                                  <m:t>𝑑𝑒</m:t>
                                </m:r>
                                <m:r>
                                  <a:rPr lang="fr-FR" sz="2400" i="1" spc="-1" dirty="0">
                                    <a:solidFill>
                                      <a:srgbClr val="376092"/>
                                    </a:solidFill>
                                    <a:latin typeface="Cambria Math" panose="02040503050406030204" pitchFamily="18" charset="0"/>
                                  </a:rPr>
                                  <m:t> </m:t>
                                </m:r>
                                <m:r>
                                  <a:rPr lang="fr-FR" sz="2400" i="1" spc="-1" dirty="0">
                                    <a:solidFill>
                                      <a:srgbClr val="376092"/>
                                    </a:solidFill>
                                    <a:latin typeface="Cambria Math" panose="02040503050406030204" pitchFamily="18" charset="0"/>
                                  </a:rPr>
                                  <m:t>𝑡𝑒𝑟𝑚𝑒𝑠</m:t>
                                </m:r>
                              </m:sup>
                            </m:sSup>
                            <m:r>
                              <a:rPr lang="fr-FR" sz="2400" i="1" spc="-1" dirty="0">
                                <a:solidFill>
                                  <a:srgbClr val="376092"/>
                                </a:solidFill>
                                <a:latin typeface="Cambria Math" panose="02040503050406030204" pitchFamily="18" charset="0"/>
                              </a:rPr>
                              <m:t> −1</m:t>
                            </m:r>
                          </m:den>
                        </m:f>
                      </m:e>
                    </m:d>
                  </m:oMath>
                </a14:m>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5A8AA10B-1AA0-9EF7-BD27-270102DCDEE5}"/>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680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45F438C-75BA-8AB0-5B7A-C215F94D732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32607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F9774-E786-684A-B858-E30B778D4EB3}"/>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30AC21C3-D57A-8876-BA14-8BA68BD2CDD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Suite d'annuité constante - Exercices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9920AFB7-EEFF-B0D3-CD86-50ECA4B60B6D}"/>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verse 1200 euros par an sur un compte rémunéré à 4,56% annuel pendant 10 ans. Quelle est la valeur acquise au moment du dernier versement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verse 100 euros par mois sur un compte rémunéré à 4,56% annuel pendant 10.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Calculer le taux mensuel qui correspond à un taux annuel de 4,56%</a:t>
                </a:r>
              </a:p>
              <a:p>
                <a:pPr marL="1022400" lvl="2">
                  <a:spcAft>
                    <a:spcPts val="1060"/>
                  </a:spcAft>
                  <a:buClr>
                    <a:srgbClr val="000000"/>
                  </a:buClr>
                  <a:buSzPct val="45000"/>
                </a:pPr>
                <a:r>
                  <a:rPr lang="fr-FR" sz="2400" spc="-1" dirty="0">
                    <a:solidFill>
                      <a:srgbClr val="376092"/>
                    </a:solidFill>
                    <a:latin typeface="Arial"/>
                  </a:rPr>
                  <a:t> t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Quelle est la valeur acquise au moment du dernier versement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je ne fais plus aucun versement, quelle est la valeur acquise 10 ans après le dernier versement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9920AFB7-EEFF-B0D3-CD86-50ECA4B60B6D}"/>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12594"/>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D88A9AC8-D3A1-0AA9-A5F3-ACF76BF4126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80253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E73C-E22A-2D10-AA8B-1EDDE51E70DB}"/>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41FB89A7-5ECD-6972-5D43-03F0D1A53C48}"/>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3BAF06E4-A62C-1CC1-8F69-64B3CACE029D}"/>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L'idée est de rembourser un prêt en remboursant toujours la même somme tous les ans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Considérons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 : le nombre d'annuités constantes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le taux du prêt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 vais chercher à calculer la valeur actuelle du capital emprunté ou le montant de la dette avant le premier versement</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8BD419AC-B5F1-E014-BBB8-8670F48CA0C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FFA98653-0D7C-052E-BBD5-270C0DD053CE}"/>
              </a:ext>
            </a:extLst>
          </p:cNvPr>
          <p:cNvPicPr>
            <a:picLocks noChangeAspect="1"/>
          </p:cNvPicPr>
          <p:nvPr/>
        </p:nvPicPr>
        <p:blipFill>
          <a:blip r:embed="rId2"/>
          <a:stretch>
            <a:fillRect/>
          </a:stretch>
        </p:blipFill>
        <p:spPr>
          <a:xfrm>
            <a:off x="-180" y="2229478"/>
            <a:ext cx="9144000" cy="1199522"/>
          </a:xfrm>
          <a:prstGeom prst="rect">
            <a:avLst/>
          </a:prstGeom>
        </p:spPr>
      </p:pic>
    </p:spTree>
    <p:extLst>
      <p:ext uri="{BB962C8B-B14F-4D97-AF65-F5344CB8AC3E}">
        <p14:creationId xmlns:p14="http://schemas.microsoft.com/office/powerpoint/2010/main" val="2547463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7B315-354F-17CE-C80E-1BDDBF8876FD}"/>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485CEC0A-3746-A502-76C6-5F2810DBE01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20757C51-FDE3-9E63-2888-16DE4B2FA393}"/>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calculer la valeur actuelle, je vais ramener toutes les annuités au temps 0 et les additionner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3A992683-CE40-3BF7-3455-9F0F25AE14A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21FBD010-19FA-A67A-FC60-853416981E60}"/>
              </a:ext>
            </a:extLst>
          </p:cNvPr>
          <p:cNvPicPr>
            <a:picLocks noChangeAspect="1"/>
          </p:cNvPicPr>
          <p:nvPr/>
        </p:nvPicPr>
        <p:blipFill>
          <a:blip r:embed="rId2"/>
          <a:stretch>
            <a:fillRect/>
          </a:stretch>
        </p:blipFill>
        <p:spPr>
          <a:xfrm>
            <a:off x="785525" y="2011293"/>
            <a:ext cx="6971532" cy="3905001"/>
          </a:xfrm>
          <a:prstGeom prst="rect">
            <a:avLst/>
          </a:prstGeom>
        </p:spPr>
      </p:pic>
    </p:spTree>
    <p:extLst>
      <p:ext uri="{BB962C8B-B14F-4D97-AF65-F5344CB8AC3E}">
        <p14:creationId xmlns:p14="http://schemas.microsoft.com/office/powerpoint/2010/main" val="1854262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C904-7D98-770F-899F-807E99116DB6}"/>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C179139-62F1-4914-F194-928911E94DA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492B35C3-6F03-9BC7-F34A-FBE15FEA9294}"/>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Somme des  annuités ramenées au temps 0 :</a:t>
                </a:r>
              </a:p>
              <a:p>
                <a:pPr marL="108000">
                  <a:spcAft>
                    <a:spcPts val="1060"/>
                  </a:spcAft>
                  <a:buClr>
                    <a:srgbClr val="000000"/>
                  </a:buClr>
                  <a:buSzPct val="45000"/>
                </a:pPr>
                <a:r>
                  <a:rPr lang="fr-FR" sz="2400" spc="-1" dirty="0">
                    <a:solidFill>
                      <a:srgbClr val="376092"/>
                    </a:solidFill>
                    <a:latin typeface="Arial"/>
                  </a:rPr>
                  <a:t>(1) C</a:t>
                </a:r>
                <a:r>
                  <a:rPr lang="fr-FR" sz="2400" spc="-1" baseline="-25000" dirty="0">
                    <a:solidFill>
                      <a:srgbClr val="376092"/>
                    </a:solidFill>
                    <a:latin typeface="Arial"/>
                  </a:rPr>
                  <a:t>0</a:t>
                </a:r>
                <a:r>
                  <a:rPr lang="fr-FR" sz="2400" spc="-1" dirty="0">
                    <a:solidFill>
                      <a:srgbClr val="376092"/>
                    </a:solidFill>
                    <a:latin typeface="Arial"/>
                  </a:rPr>
                  <a:t> = a.(1 + t)</a:t>
                </a:r>
                <a:r>
                  <a:rPr lang="fr-FR" sz="2400" spc="-1" baseline="30000" dirty="0">
                    <a:solidFill>
                      <a:srgbClr val="376092"/>
                    </a:solidFill>
                    <a:latin typeface="Arial"/>
                  </a:rPr>
                  <a:t>-1 </a:t>
                </a:r>
                <a:r>
                  <a:rPr lang="fr-FR" sz="2400" spc="-1" dirty="0">
                    <a:solidFill>
                      <a:srgbClr val="376092"/>
                    </a:solidFill>
                    <a:latin typeface="Arial"/>
                  </a:rPr>
                  <a:t>+ a.(1 + t)</a:t>
                </a:r>
                <a:r>
                  <a:rPr lang="fr-FR" sz="2400" spc="-1" baseline="30000" dirty="0">
                    <a:solidFill>
                      <a:srgbClr val="376092"/>
                    </a:solidFill>
                    <a:latin typeface="Arial"/>
                  </a:rPr>
                  <a:t>-2 </a:t>
                </a:r>
                <a:r>
                  <a:rPr lang="fr-FR" sz="2400" spc="-1" dirty="0">
                    <a:solidFill>
                      <a:srgbClr val="376092"/>
                    </a:solidFill>
                    <a:latin typeface="Arial"/>
                  </a:rPr>
                  <a:t>+ a.(1 +t)</a:t>
                </a:r>
                <a:r>
                  <a:rPr lang="fr-FR" sz="2400" spc="-1" baseline="30000" dirty="0">
                    <a:solidFill>
                      <a:srgbClr val="376092"/>
                    </a:solidFill>
                    <a:latin typeface="Arial"/>
                  </a:rPr>
                  <a:t>-3 </a:t>
                </a:r>
                <a:r>
                  <a:rPr lang="fr-FR" sz="2400" spc="-1" dirty="0">
                    <a:solidFill>
                      <a:srgbClr val="376092"/>
                    </a:solidFill>
                    <a:latin typeface="Arial"/>
                  </a:rPr>
                  <a:t>+ … + a.(1+t)</a:t>
                </a:r>
                <a:r>
                  <a:rPr lang="fr-FR" sz="2400" spc="-1" baseline="30000" dirty="0">
                    <a:solidFill>
                      <a:srgbClr val="376092"/>
                    </a:solidFill>
                    <a:latin typeface="Arial"/>
                  </a:rPr>
                  <a:t>-n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Actualisons notre valeur actuelle au temps 1 :</a:t>
                </a:r>
              </a:p>
              <a:p>
                <a:pPr marL="108000">
                  <a:spcAft>
                    <a:spcPts val="1060"/>
                  </a:spcAft>
                  <a:buClr>
                    <a:srgbClr val="000000"/>
                  </a:buClr>
                  <a:buSzPct val="45000"/>
                </a:pP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(1+t) = a.(1 + t)</a:t>
                </a:r>
                <a:r>
                  <a:rPr lang="fr-FR" sz="2400" spc="-1" baseline="30000" dirty="0">
                    <a:solidFill>
                      <a:srgbClr val="376092"/>
                    </a:solidFill>
                    <a:latin typeface="Arial"/>
                  </a:rPr>
                  <a:t>0 </a:t>
                </a:r>
                <a:r>
                  <a:rPr lang="fr-FR" sz="2400" spc="-1" dirty="0">
                    <a:solidFill>
                      <a:srgbClr val="376092"/>
                    </a:solidFill>
                    <a:latin typeface="Arial"/>
                  </a:rPr>
                  <a:t>+ a.(1 + t)</a:t>
                </a:r>
                <a:r>
                  <a:rPr lang="fr-FR" sz="2400" spc="-1" baseline="30000" dirty="0">
                    <a:solidFill>
                      <a:srgbClr val="376092"/>
                    </a:solidFill>
                    <a:latin typeface="Arial"/>
                  </a:rPr>
                  <a:t>-1 </a:t>
                </a:r>
                <a:r>
                  <a:rPr lang="fr-FR" sz="2400" spc="-1" dirty="0">
                    <a:solidFill>
                      <a:srgbClr val="376092"/>
                    </a:solidFill>
                    <a:latin typeface="Arial"/>
                  </a:rPr>
                  <a:t>+ a.(1 +t)</a:t>
                </a:r>
                <a:r>
                  <a:rPr lang="fr-FR" sz="2400" spc="-1" baseline="30000" dirty="0">
                    <a:solidFill>
                      <a:srgbClr val="376092"/>
                    </a:solidFill>
                    <a:latin typeface="Arial"/>
                  </a:rPr>
                  <a:t>-2 </a:t>
                </a:r>
                <a:r>
                  <a:rPr lang="fr-FR" sz="2400" spc="-1" dirty="0">
                    <a:solidFill>
                      <a:srgbClr val="376092"/>
                    </a:solidFill>
                    <a:latin typeface="Arial"/>
                  </a:rPr>
                  <a:t>+ … + a.(1+t)</a:t>
                </a:r>
                <a:r>
                  <a:rPr lang="fr-FR" sz="2400" spc="-1" baseline="30000" dirty="0">
                    <a:solidFill>
                      <a:srgbClr val="376092"/>
                    </a:solidFill>
                    <a:latin typeface="Arial"/>
                  </a:rPr>
                  <a:t>-n+1</a:t>
                </a:r>
              </a:p>
              <a:p>
                <a:pPr marL="108000">
                  <a:spcAft>
                    <a:spcPts val="1060"/>
                  </a:spcAft>
                  <a:buClr>
                    <a:srgbClr val="000000"/>
                  </a:buClr>
                  <a:buSzPct val="45000"/>
                </a:pPr>
                <a:r>
                  <a:rPr lang="fr-FR" sz="2400" spc="-1" dirty="0">
                    <a:solidFill>
                      <a:srgbClr val="376092"/>
                    </a:solidFill>
                    <a:latin typeface="Arial"/>
                  </a:rPr>
                  <a:t>(2) C</a:t>
                </a:r>
                <a:r>
                  <a:rPr lang="fr-FR" sz="2400" spc="-1" baseline="-25000" dirty="0">
                    <a:solidFill>
                      <a:srgbClr val="376092"/>
                    </a:solidFill>
                    <a:latin typeface="Arial"/>
                  </a:rPr>
                  <a:t>0</a:t>
                </a:r>
                <a:r>
                  <a:rPr lang="fr-FR" sz="2400" spc="-1" dirty="0">
                    <a:solidFill>
                      <a:srgbClr val="376092"/>
                    </a:solidFill>
                    <a:latin typeface="Arial"/>
                  </a:rPr>
                  <a:t> . (1+t) = a</a:t>
                </a:r>
                <a:r>
                  <a:rPr lang="fr-FR" sz="2400" spc="-1" baseline="30000" dirty="0">
                    <a:solidFill>
                      <a:srgbClr val="376092"/>
                    </a:solidFill>
                    <a:latin typeface="Arial"/>
                  </a:rPr>
                  <a:t> </a:t>
                </a:r>
                <a:r>
                  <a:rPr lang="fr-FR" sz="2400" spc="-1" dirty="0">
                    <a:solidFill>
                      <a:srgbClr val="376092"/>
                    </a:solidFill>
                    <a:latin typeface="Arial"/>
                  </a:rPr>
                  <a:t>+ a.(1 + t)</a:t>
                </a:r>
                <a:r>
                  <a:rPr lang="fr-FR" sz="2400" spc="-1" baseline="30000" dirty="0">
                    <a:solidFill>
                      <a:srgbClr val="376092"/>
                    </a:solidFill>
                    <a:latin typeface="Arial"/>
                  </a:rPr>
                  <a:t>-1 </a:t>
                </a:r>
                <a:r>
                  <a:rPr lang="fr-FR" sz="2400" spc="-1" dirty="0">
                    <a:solidFill>
                      <a:srgbClr val="376092"/>
                    </a:solidFill>
                    <a:latin typeface="Arial"/>
                  </a:rPr>
                  <a:t>+ a.(1 +t)</a:t>
                </a:r>
                <a:r>
                  <a:rPr lang="fr-FR" sz="2400" spc="-1" baseline="30000" dirty="0">
                    <a:solidFill>
                      <a:srgbClr val="376092"/>
                    </a:solidFill>
                    <a:latin typeface="Arial"/>
                  </a:rPr>
                  <a:t>-2 </a:t>
                </a:r>
                <a:r>
                  <a:rPr lang="fr-FR" sz="2400" spc="-1" dirty="0">
                    <a:solidFill>
                      <a:srgbClr val="376092"/>
                    </a:solidFill>
                    <a:latin typeface="Arial"/>
                  </a:rPr>
                  <a:t>+ … + a.(1+t)</a:t>
                </a:r>
                <a:r>
                  <a:rPr lang="fr-FR" sz="2400" spc="-1" baseline="30000" dirty="0">
                    <a:solidFill>
                      <a:srgbClr val="376092"/>
                    </a:solidFill>
                    <a:latin typeface="Arial"/>
                  </a:rPr>
                  <a:t>-n+1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(1) – (2) :</a:t>
                </a:r>
              </a:p>
              <a:p>
                <a:pPr marL="108000">
                  <a:spcAft>
                    <a:spcPts val="1060"/>
                  </a:spcAft>
                  <a:buClr>
                    <a:srgbClr val="000000"/>
                  </a:buClr>
                  <a:buSzPct val="45000"/>
                </a:pPr>
                <a:r>
                  <a:rPr lang="fr-FR" sz="2400" spc="-1" dirty="0">
                    <a:solidFill>
                      <a:srgbClr val="376092"/>
                    </a:solidFill>
                    <a:latin typeface="Arial"/>
                  </a:rPr>
                  <a:t>C</a:t>
                </a:r>
                <a:r>
                  <a:rPr lang="fr-FR" sz="2400" spc="-1" baseline="-25000" dirty="0">
                    <a:solidFill>
                      <a:srgbClr val="376092"/>
                    </a:solidFill>
                    <a:latin typeface="Arial"/>
                  </a:rPr>
                  <a:t>0 </a:t>
                </a:r>
                <a:r>
                  <a:rPr lang="fr-FR" sz="2400" spc="-1" baseline="30000" dirty="0">
                    <a:solidFill>
                      <a:srgbClr val="376092"/>
                    </a:solidFill>
                    <a:latin typeface="Arial"/>
                  </a:rPr>
                  <a:t>- </a:t>
                </a: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(1+t) = a.(1+t)</a:t>
                </a:r>
                <a:r>
                  <a:rPr lang="fr-FR" sz="2400" spc="-1" baseline="30000" dirty="0">
                    <a:solidFill>
                      <a:srgbClr val="376092"/>
                    </a:solidFill>
                    <a:latin typeface="Arial"/>
                  </a:rPr>
                  <a:t>-n </a:t>
                </a:r>
                <a:r>
                  <a:rPr lang="fr-FR" sz="2400" spc="-1" dirty="0">
                    <a:solidFill>
                      <a:srgbClr val="376092"/>
                    </a:solidFill>
                    <a:latin typeface="Arial"/>
                  </a:rPr>
                  <a:t>– a = a .((1+t)</a:t>
                </a:r>
                <a:r>
                  <a:rPr lang="fr-FR" sz="2400" spc="-1" baseline="30000" dirty="0">
                    <a:solidFill>
                      <a:srgbClr val="376092"/>
                    </a:solidFill>
                    <a:latin typeface="Arial"/>
                  </a:rPr>
                  <a:t>-n </a:t>
                </a:r>
                <a:r>
                  <a:rPr lang="fr-FR" sz="2400" spc="-1" dirty="0">
                    <a:solidFill>
                      <a:srgbClr val="376092"/>
                    </a:solidFill>
                    <a:latin typeface="Arial"/>
                  </a:rPr>
                  <a:t>– 1) </a:t>
                </a:r>
                <a:endParaRPr lang="fr-FR" sz="2400" spc="-1" baseline="30000" dirty="0">
                  <a:solidFill>
                    <a:srgbClr val="376092"/>
                  </a:solidFill>
                  <a:latin typeface="Arial"/>
                </a:endParaRPr>
              </a:p>
              <a:p>
                <a:pPr marL="108000">
                  <a:spcAft>
                    <a:spcPts val="1060"/>
                  </a:spcAft>
                  <a:buClr>
                    <a:srgbClr val="000000"/>
                  </a:buClr>
                  <a:buSzPct val="45000"/>
                </a:pPr>
                <a:r>
                  <a:rPr lang="fr-FR" sz="2400" spc="-1" baseline="30000" dirty="0">
                    <a:solidFill>
                      <a:srgbClr val="376092"/>
                    </a:solidFill>
                    <a:latin typeface="Arial"/>
                  </a:rPr>
                  <a:t>- </a:t>
                </a:r>
                <a:r>
                  <a:rPr lang="fr-FR" sz="2400" spc="-1" dirty="0">
                    <a:solidFill>
                      <a:srgbClr val="376092"/>
                    </a:solidFill>
                    <a:latin typeface="Arial"/>
                  </a:rPr>
                  <a:t>C</a:t>
                </a:r>
                <a:r>
                  <a:rPr lang="fr-FR" sz="2400" spc="-1" baseline="-25000" dirty="0">
                    <a:solidFill>
                      <a:srgbClr val="376092"/>
                    </a:solidFill>
                    <a:latin typeface="Arial"/>
                  </a:rPr>
                  <a:t>0</a:t>
                </a:r>
                <a:r>
                  <a:rPr lang="fr-FR" sz="2400" spc="-1" dirty="0">
                    <a:solidFill>
                      <a:srgbClr val="376092"/>
                    </a:solidFill>
                    <a:latin typeface="Arial"/>
                  </a:rPr>
                  <a:t> . t = a .((1+t)</a:t>
                </a:r>
                <a:r>
                  <a:rPr lang="fr-FR" sz="2400" spc="-1" baseline="30000" dirty="0">
                    <a:solidFill>
                      <a:srgbClr val="376092"/>
                    </a:solidFill>
                    <a:latin typeface="Arial"/>
                  </a:rPr>
                  <a:t>-n </a:t>
                </a:r>
                <a:r>
                  <a:rPr lang="fr-FR" sz="2400" spc="-1" dirty="0">
                    <a:solidFill>
                      <a:srgbClr val="376092"/>
                    </a:solidFill>
                    <a:latin typeface="Arial"/>
                  </a:rPr>
                  <a:t>– 1) </a:t>
                </a:r>
                <a:endParaRPr lang="fr-FR" sz="2400" spc="-1" baseline="30000" dirty="0">
                  <a:solidFill>
                    <a:srgbClr val="376092"/>
                  </a:solidFill>
                  <a:latin typeface="Arial"/>
                </a:endParaRPr>
              </a:p>
              <a:p>
                <a:pPr marL="108000">
                  <a:spcAft>
                    <a:spcPts val="1060"/>
                  </a:spcAft>
                  <a:buClr>
                    <a:srgbClr val="000000"/>
                  </a:buClr>
                  <a:buSzPct val="45000"/>
                </a:pPr>
                <a:r>
                  <a:rPr lang="fr-FR" sz="2400" spc="-1" dirty="0">
                    <a:solidFill>
                      <a:srgbClr val="376092"/>
                    </a:solidFill>
                    <a:latin typeface="Arial"/>
                  </a:rPr>
                  <a:t>C</a:t>
                </a:r>
                <a:r>
                  <a:rPr lang="fr-FR" sz="2400" spc="-1" baseline="-25000" dirty="0">
                    <a:solidFill>
                      <a:srgbClr val="376092"/>
                    </a:solidFill>
                    <a:latin typeface="Arial"/>
                  </a:rPr>
                  <a:t>0 </a:t>
                </a:r>
                <a:r>
                  <a:rPr lang="fr-FR" sz="2400" spc="-1" dirty="0">
                    <a:solidFill>
                      <a:srgbClr val="376092"/>
                    </a:solidFill>
                    <a:latin typeface="Arial"/>
                  </a:rPr>
                  <a:t>= </a:t>
                </a:r>
                <a14:m>
                  <m:oMath xmlns:m="http://schemas.openxmlformats.org/officeDocument/2006/math">
                    <m:r>
                      <m:rPr>
                        <m:sty m:val="p"/>
                      </m:rPr>
                      <a:rPr lang="fr-FR" sz="2400" b="0" i="0" spc="-1" dirty="0" smtClean="0">
                        <a:solidFill>
                          <a:srgbClr val="376092"/>
                        </a:solidFill>
                        <a:latin typeface="Cambria Math" panose="02040503050406030204" pitchFamily="18" charset="0"/>
                      </a:rPr>
                      <m:t>a</m:t>
                    </m:r>
                    <m:r>
                      <a:rPr lang="fr-FR" sz="2400" b="0" i="0" spc="-1" dirty="0" smtClean="0">
                        <a:solidFill>
                          <a:srgbClr val="376092"/>
                        </a:solidFill>
                        <a:latin typeface="Cambria Math" panose="02040503050406030204" pitchFamily="18" charset="0"/>
                      </a:rPr>
                      <m:t>.</m:t>
                    </m:r>
                    <m:f>
                      <m:fPr>
                        <m:ctrlPr>
                          <a:rPr lang="fr-FR" sz="2400" i="1" spc="-1" dirty="0" smtClean="0">
                            <a:solidFill>
                              <a:srgbClr val="376092"/>
                            </a:solidFill>
                            <a:latin typeface="Cambria Math" panose="02040503050406030204" pitchFamily="18" charset="0"/>
                          </a:rPr>
                        </m:ctrlPr>
                      </m:fPr>
                      <m:num>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spc="-1" baseline="30000" dirty="0">
                            <a:solidFill>
                              <a:srgbClr val="376092"/>
                            </a:solidFill>
                          </a:rPr>
                          <m:t>n</m:t>
                        </m:r>
                        <m:r>
                          <m:rPr>
                            <m:nor/>
                          </m:rPr>
                          <a:rPr lang="fr-FR" sz="2400" b="0" i="0" spc="-1" baseline="30000" dirty="0" smtClean="0">
                            <a:solidFill>
                              <a:srgbClr val="376092"/>
                            </a:solidFill>
                          </a:rPr>
                          <m:t> </m:t>
                        </m:r>
                        <m:r>
                          <m:rPr>
                            <m:nor/>
                          </m:rPr>
                          <a:rPr lang="fr-FR" sz="2400" spc="-1" dirty="0">
                            <a:solidFill>
                              <a:srgbClr val="376092"/>
                            </a:solidFill>
                          </a:rPr>
                          <m:t>−1)</m:t>
                        </m:r>
                      </m:num>
                      <m:den>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t</m:t>
                        </m:r>
                      </m:den>
                    </m:f>
                  </m:oMath>
                </a14:m>
                <a:r>
                  <a:rPr lang="fr-FR" sz="2400" spc="-1" dirty="0">
                    <a:solidFill>
                      <a:srgbClr val="376092"/>
                    </a:solidFill>
                    <a:latin typeface="Arial"/>
                  </a:rPr>
                  <a:t> = </a:t>
                </a:r>
                <a14:m>
                  <m:oMath xmlns:m="http://schemas.openxmlformats.org/officeDocument/2006/math">
                    <m:r>
                      <m:rPr>
                        <m:sty m:val="p"/>
                      </m:rPr>
                      <a:rPr lang="fr-FR" sz="2400" spc="-1" dirty="0">
                        <a:solidFill>
                          <a:srgbClr val="376092"/>
                        </a:solidFill>
                        <a:latin typeface="Cambria Math" panose="02040503050406030204" pitchFamily="18" charset="0"/>
                      </a:rPr>
                      <m:t>a</m:t>
                    </m:r>
                    <m:r>
                      <a:rPr lang="fr-FR" sz="2400" spc="-1" dirty="0">
                        <a:solidFill>
                          <a:srgbClr val="376092"/>
                        </a:solidFill>
                        <a:latin typeface="Cambria Math" panose="02040503050406030204" pitchFamily="18" charset="0"/>
                      </a:rPr>
                      <m:t>.</m:t>
                    </m:r>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r>
                          <m:rPr>
                            <m:nor/>
                          </m:rPr>
                          <a:rPr lang="fr-FR" sz="2400" spc="-1" baseline="30000" dirty="0">
                            <a:solidFill>
                              <a:srgbClr val="376092"/>
                            </a:solidFill>
                          </a:rPr>
                          <m:t> </m:t>
                        </m:r>
                      </m:num>
                      <m:den>
                        <m:r>
                          <m:rPr>
                            <m:sty m:val="p"/>
                          </m:rPr>
                          <a:rPr lang="fr-FR" sz="2400" spc="-1" dirty="0">
                            <a:solidFill>
                              <a:srgbClr val="376092"/>
                            </a:solidFill>
                            <a:latin typeface="Cambria Math" panose="02040503050406030204" pitchFamily="18" charset="0"/>
                          </a:rPr>
                          <m:t>t</m:t>
                        </m:r>
                      </m:den>
                    </m:f>
                  </m:oMath>
                </a14:m>
                <a:r>
                  <a:rPr lang="fr-FR" sz="2400" spc="-1" dirty="0">
                    <a:solidFill>
                      <a:srgbClr val="376092"/>
                    </a:solidFill>
                  </a:rPr>
                  <a:t> </a:t>
                </a:r>
                <a:endParaRPr lang="fr-FR" sz="2400" spc="-1" baseline="30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492B35C3-6F03-9BC7-F34A-FBE15FEA9294}"/>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l="-889" t="-1763" r="-37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C21F77D9-0AA0-949E-039C-BB055C52E6C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25747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854C0-455B-FA82-99F1-68B14B64E1D4}"/>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BB188BF3-4967-7ED5-BD66-CD0C34B4833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757DAD84-2CB6-2451-486E-3186D7B9C60C}"/>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la formule que nous venons de déterminer :</a:t>
                </a:r>
                <a:endParaRPr lang="fr-FR" sz="2400" spc="-1" baseline="30000" dirty="0">
                  <a:solidFill>
                    <a:srgbClr val="376092"/>
                  </a:solidFill>
                  <a:latin typeface="Arial"/>
                </a:endParaRPr>
              </a:p>
              <a:p>
                <a:pPr marL="108000">
                  <a:spcAft>
                    <a:spcPts val="1060"/>
                  </a:spcAft>
                  <a:buClr>
                    <a:srgbClr val="000000"/>
                  </a:buClr>
                  <a:buSzPct val="45000"/>
                </a:pPr>
                <a:r>
                  <a:rPr lang="fr-FR" sz="2400" spc="-1" dirty="0">
                    <a:solidFill>
                      <a:srgbClr val="376092"/>
                    </a:solidFill>
                    <a:latin typeface="Arial"/>
                  </a:rPr>
                  <a:t>C</a:t>
                </a:r>
                <a:r>
                  <a:rPr lang="fr-FR" sz="2400" spc="-1" baseline="-25000" dirty="0">
                    <a:solidFill>
                      <a:srgbClr val="376092"/>
                    </a:solidFill>
                    <a:latin typeface="Arial"/>
                  </a:rPr>
                  <a:t>0 </a:t>
                </a:r>
                <a:r>
                  <a:rPr lang="fr-FR" sz="2400" spc="-1" dirty="0">
                    <a:solidFill>
                      <a:srgbClr val="376092"/>
                    </a:solidFill>
                    <a:latin typeface="Arial"/>
                  </a:rPr>
                  <a:t>=</a:t>
                </a:r>
                <a14:m>
                  <m:oMath xmlns:m="http://schemas.openxmlformats.org/officeDocument/2006/math">
                    <m:r>
                      <a:rPr lang="fr-FR" sz="2400" i="1" spc="-1" dirty="0" smtClean="0">
                        <a:solidFill>
                          <a:srgbClr val="376092"/>
                        </a:solidFill>
                        <a:latin typeface="Cambria Math" panose="02040503050406030204" pitchFamily="18" charset="0"/>
                      </a:rPr>
                      <m:t> </m:t>
                    </m:r>
                    <m:r>
                      <m:rPr>
                        <m:sty m:val="p"/>
                      </m:rPr>
                      <a:rPr lang="fr-FR" sz="2400" spc="-1" dirty="0">
                        <a:solidFill>
                          <a:srgbClr val="376092"/>
                        </a:solidFill>
                        <a:latin typeface="Cambria Math" panose="02040503050406030204" pitchFamily="18" charset="0"/>
                      </a:rPr>
                      <m:t>a</m:t>
                    </m:r>
                    <m:r>
                      <a:rPr lang="fr-FR" sz="2400" spc="-1" dirty="0">
                        <a:solidFill>
                          <a:srgbClr val="376092"/>
                        </a:solidFill>
                        <a:latin typeface="Cambria Math" panose="02040503050406030204" pitchFamily="18" charset="0"/>
                      </a:rPr>
                      <m:t>.</m:t>
                    </m:r>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r>
                          <m:rPr>
                            <m:nor/>
                          </m:rPr>
                          <a:rPr lang="fr-FR" sz="2400" spc="-1" baseline="30000" dirty="0">
                            <a:solidFill>
                              <a:srgbClr val="376092"/>
                            </a:solidFill>
                          </a:rPr>
                          <m:t> </m:t>
                        </m:r>
                      </m:num>
                      <m:den>
                        <m:r>
                          <m:rPr>
                            <m:sty m:val="p"/>
                          </m:rPr>
                          <a:rPr lang="fr-FR" sz="2400" spc="-1" dirty="0">
                            <a:solidFill>
                              <a:srgbClr val="376092"/>
                            </a:solidFill>
                            <a:latin typeface="Cambria Math" panose="02040503050406030204" pitchFamily="18" charset="0"/>
                          </a:rPr>
                          <m:t>t</m:t>
                        </m:r>
                      </m:den>
                    </m:f>
                  </m:oMath>
                </a14:m>
                <a:endParaRPr lang="fr-FR" sz="2400" spc="-1" dirty="0">
                  <a:solidFill>
                    <a:srgbClr val="376092"/>
                  </a:solidFil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 voudrais connaitre le montant d'un emprunt à un taux de 6,2% remboursé avec une annuité annuelle constante de 214,25 euros sur 10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périodicité de l'emprunt est plus petite que l'année, on utilisera un taux proportionnel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𝑟𝑖𝑜𝑑𝑒𝑠</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𝑑𝑎𝑛𝑠</m:t>
                        </m:r>
                        <m:r>
                          <a:rPr lang="fr-FR" sz="2400" b="0" i="1" spc="-1" dirty="0" smtClean="0">
                            <a:solidFill>
                              <a:srgbClr val="376092"/>
                            </a:solidFill>
                            <a:latin typeface="Cambria Math" panose="02040503050406030204" pitchFamily="18" charset="0"/>
                          </a:rPr>
                          <m:t> </m:t>
                        </m:r>
                        <m:sSup>
                          <m:sSupPr>
                            <m:ctrlPr>
                              <a:rPr lang="fr-FR" sz="2400" b="0" i="1" spc="-1" dirty="0" smtClean="0">
                                <a:solidFill>
                                  <a:srgbClr val="376092"/>
                                </a:solidFill>
                                <a:latin typeface="Cambria Math" panose="02040503050406030204" pitchFamily="18" charset="0"/>
                              </a:rPr>
                            </m:ctrlPr>
                          </m:sSupPr>
                          <m:e>
                            <m:r>
                              <a:rPr lang="fr-FR" sz="2400" b="0" i="1" spc="-1" dirty="0" smtClean="0">
                                <a:solidFill>
                                  <a:srgbClr val="376092"/>
                                </a:solidFill>
                                <a:latin typeface="Cambria Math" panose="02040503050406030204" pitchFamily="18" charset="0"/>
                              </a:rPr>
                              <m:t>𝑙</m:t>
                            </m:r>
                          </m:e>
                          <m:sup>
                            <m:r>
                              <a:rPr lang="fr-FR" sz="2400" b="0" i="1" spc="-1" dirty="0" smtClean="0">
                                <a:solidFill>
                                  <a:srgbClr val="376092"/>
                                </a:solidFill>
                                <a:latin typeface="Cambria Math" panose="02040503050406030204" pitchFamily="18" charset="0"/>
                              </a:rPr>
                              <m:t>′</m:t>
                            </m:r>
                          </m:sup>
                        </m:sSup>
                        <m:r>
                          <a:rPr lang="fr-FR" sz="2400" b="0" i="1" spc="-1" dirty="0" smtClean="0">
                            <a:solidFill>
                              <a:srgbClr val="376092"/>
                            </a:solidFill>
                            <a:latin typeface="Cambria Math" panose="02040503050406030204" pitchFamily="18" charset="0"/>
                          </a:rPr>
                          <m:t>𝑎𝑛𝑛</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𝑒</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un taux mensuel on prendra : t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num>
                      <m:den>
                        <m:r>
                          <a:rPr lang="fr-FR" sz="2400" b="0" i="0" spc="-1" dirty="0" smtClean="0">
                            <a:solidFill>
                              <a:srgbClr val="376092"/>
                            </a:solidFill>
                            <a:latin typeface="Cambria Math" panose="02040503050406030204" pitchFamily="18" charset="0"/>
                          </a:rPr>
                          <m:t>12</m:t>
                        </m:r>
                      </m:den>
                    </m:f>
                  </m:oMath>
                </a14:m>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757DAD84-2CB6-2451-486E-3186D7B9C60C}"/>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l="-889" t="-1763" r="-2222"/>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BC6FA665-7ACD-C7A6-9341-15AD1DE452D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626581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11F84-E063-3871-7835-644E49FD0993}"/>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AE115685-A35F-57B6-9D9B-10034935DC3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9DD7B898-8939-1474-F4B5-5129EBC20097}"/>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d'un prêt immobilier remboursé tous les mois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Mensualité de 1224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Pendant 5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Taux d'emprunt : 6,78%</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partir de ces données nous allons calculer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 nombre de mensualités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 taux mensuel proportionnel au taux annuel de 6,78%</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 montant total de l'emprunt</a:t>
            </a:r>
          </a:p>
          <a:p>
            <a:pPr marL="108000">
              <a:spcAft>
                <a:spcPts val="1060"/>
              </a:spcAft>
              <a:buClr>
                <a:srgbClr val="000000"/>
              </a:buClr>
              <a:buSzPct val="45000"/>
            </a:pPr>
            <a:endParaRPr lang="fr-FR" sz="2400" spc="-1" baseline="30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78AA4CD3-DB90-9B7A-1C0C-F4C5D0D8BC6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80563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47A2-1915-4B75-827E-FD64A25F666A}"/>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5C28F000-25D1-4ECF-2043-DA5372034D1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Remboursement d'emprunt par annuités constantes: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1A807047-EDB1-9A51-DAE4-349434D5E652}"/>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Je peux également utiliser la formule pour calculer une annuité en fonction du montant de l'emprunt :</a:t>
                </a:r>
                <a:endParaRPr lang="fr-FR" sz="2400" spc="-1" baseline="30000" dirty="0">
                  <a:solidFill>
                    <a:srgbClr val="376092"/>
                  </a:solidFill>
                  <a:latin typeface="Arial"/>
                </a:endParaRPr>
              </a:p>
              <a:p>
                <a:pPr marL="108000">
                  <a:spcAft>
                    <a:spcPts val="1060"/>
                  </a:spcAft>
                  <a:buClr>
                    <a:srgbClr val="000000"/>
                  </a:buClr>
                  <a:buSzPct val="45000"/>
                </a:pPr>
                <a:r>
                  <a:rPr lang="fr-FR" sz="2400" spc="-1" dirty="0">
                    <a:solidFill>
                      <a:srgbClr val="376092"/>
                    </a:solidFill>
                    <a:latin typeface="Arial"/>
                  </a:rPr>
                  <a:t> Si C</a:t>
                </a:r>
                <a:r>
                  <a:rPr lang="fr-FR" sz="2400" spc="-1" baseline="-25000" dirty="0">
                    <a:solidFill>
                      <a:srgbClr val="376092"/>
                    </a:solidFill>
                    <a:latin typeface="Arial"/>
                  </a:rPr>
                  <a:t>0 </a:t>
                </a:r>
                <a:r>
                  <a:rPr lang="fr-FR" sz="2400" spc="-1" dirty="0">
                    <a:solidFill>
                      <a:srgbClr val="376092"/>
                    </a:solidFill>
                    <a:latin typeface="Arial"/>
                  </a:rPr>
                  <a:t>=</a:t>
                </a:r>
                <a14:m>
                  <m:oMath xmlns:m="http://schemas.openxmlformats.org/officeDocument/2006/math">
                    <m:r>
                      <a:rPr lang="fr-FR" sz="2400" i="1" spc="-1" dirty="0" smtClean="0">
                        <a:solidFill>
                          <a:srgbClr val="376092"/>
                        </a:solidFill>
                        <a:latin typeface="Cambria Math" panose="02040503050406030204" pitchFamily="18" charset="0"/>
                      </a:rPr>
                      <m:t> </m:t>
                    </m:r>
                    <m:r>
                      <m:rPr>
                        <m:sty m:val="p"/>
                      </m:rPr>
                      <a:rPr lang="fr-FR" sz="2400" spc="-1" dirty="0">
                        <a:solidFill>
                          <a:srgbClr val="376092"/>
                        </a:solidFill>
                        <a:latin typeface="Cambria Math" panose="02040503050406030204" pitchFamily="18" charset="0"/>
                      </a:rPr>
                      <m:t>a</m:t>
                    </m:r>
                    <m:r>
                      <a:rPr lang="fr-FR" sz="2400" spc="-1" dirty="0">
                        <a:solidFill>
                          <a:srgbClr val="376092"/>
                        </a:solidFill>
                        <a:latin typeface="Cambria Math" panose="02040503050406030204" pitchFamily="18" charset="0"/>
                      </a:rPr>
                      <m:t>.</m:t>
                    </m:r>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r>
                          <m:rPr>
                            <m:nor/>
                          </m:rPr>
                          <a:rPr lang="fr-FR" sz="2400" spc="-1" baseline="30000" dirty="0">
                            <a:solidFill>
                              <a:srgbClr val="376092"/>
                            </a:solidFill>
                          </a:rPr>
                          <m:t> </m:t>
                        </m:r>
                      </m:num>
                      <m:den>
                        <m:r>
                          <m:rPr>
                            <m:sty m:val="p"/>
                          </m:rPr>
                          <a:rPr lang="fr-FR" sz="2400" spc="-1" dirty="0">
                            <a:solidFill>
                              <a:srgbClr val="376092"/>
                            </a:solidFill>
                            <a:latin typeface="Cambria Math" panose="02040503050406030204" pitchFamily="18" charset="0"/>
                          </a:rPr>
                          <m:t>t</m:t>
                        </m:r>
                      </m:den>
                    </m:f>
                  </m:oMath>
                </a14:m>
                <a:r>
                  <a:rPr lang="fr-FR" sz="2400" spc="-1" dirty="0">
                    <a:solidFill>
                      <a:srgbClr val="376092"/>
                    </a:solidFill>
                  </a:rPr>
                  <a:t>   alors a = C</a:t>
                </a:r>
                <a:r>
                  <a:rPr lang="fr-FR" sz="2400" spc="-1" baseline="-25000" dirty="0">
                    <a:solidFill>
                      <a:srgbClr val="376092"/>
                    </a:solidFill>
                  </a:rPr>
                  <a:t>0 </a:t>
                </a:r>
                <a:r>
                  <a:rPr lang="fr-FR" sz="2400" spc="-1" dirty="0">
                    <a:solidFill>
                      <a:srgbClr val="376092"/>
                    </a:solidFill>
                  </a:rPr>
                  <a:t>. </a:t>
                </a:r>
                <a14:m>
                  <m:oMath xmlns:m="http://schemas.openxmlformats.org/officeDocument/2006/math">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t</m:t>
                        </m:r>
                        <m:r>
                          <m:rPr>
                            <m:nor/>
                          </m:rPr>
                          <a:rPr lang="fr-FR" sz="2400" spc="-1" baseline="30000" dirty="0">
                            <a:solidFill>
                              <a:srgbClr val="376092"/>
                            </a:solidFill>
                          </a:rPr>
                          <m:t> </m:t>
                        </m:r>
                      </m:num>
                      <m:den>
                        <m:r>
                          <m:rPr>
                            <m:nor/>
                          </m:rPr>
                          <a:rPr lang="fr-FR" sz="2400" spc="-1" dirty="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den>
                    </m:f>
                  </m:oMath>
                </a14:m>
                <a:r>
                  <a:rPr lang="fr-FR" sz="2400" spc="-1" dirty="0">
                    <a:solidFill>
                      <a:srgbClr val="376092"/>
                    </a:solidFill>
                  </a:rPr>
                  <a: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emprunt de 50 000 euros est remboursé par annuités constantes sur 20 ans au taux de 3,45%. Calculer le montant de l'annuité constante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emprunt de 5000 euros est remboursé par annuités constantes au taux de 2,78%. Calculer le montant de l'annuité constante si le remboursement se fait sur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6 mois ?  12 mois ? 18 mois ?</a:t>
                </a:r>
              </a:p>
              <a:p>
                <a:pPr marL="108000">
                  <a:spcAft>
                    <a:spcPts val="1060"/>
                  </a:spcAft>
                  <a:buClr>
                    <a:srgbClr val="000000"/>
                  </a:buClr>
                  <a:buSzPct val="45000"/>
                </a:pPr>
                <a:endParaRPr lang="fr-FR" sz="2400" spc="-1" baseline="30000"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1A807047-EDB1-9A51-DAE4-349434D5E652}"/>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1778"/>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B846093-F449-F70C-81BA-2455EF0858F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74711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FCC5-FE8B-1007-0D2B-FD9E4D94A713}"/>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CFA7E520-230B-FF4C-C8FB-10C8A0F4F006}"/>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d'amortissement – annuités constantes:</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C9F3AA6F-A917-9A68-5F1F-D11FB74F3C18}"/>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tableau d'amortissement permet de prévoir le remboursement d'un prêt période par période.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chaque période nous connaissons le montant de la dette restante.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annuités sont calculées de la manière suivante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annuités = intérêt + amortissement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Chaque annuité permet de rembourser une partie du capital et intègre les intérêts du prêt.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notre cas, les annuités sont constantes, le montant remboursé chaque période est donc le même. Cependant, la proportion d'intérêt et d'amortissement varie</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26B2B4C-AEA9-D076-6D91-3DBA9A00B2F4}"/>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459216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BC86-14FF-FF12-224B-F1EBE564268D}"/>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3E35978-4427-5CFE-D247-CFFA76025CD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d'amortissement – annuités constantes: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18BB558C-B937-A29F-AC42-3D40C81F3F1E}"/>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amortissements sont habituellement représentés sous forme de tableau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Mettre en place un tableau d'amortissement d'un prêt à 7% sur un montant de 50 000 EUR et d'une durée de 5 ans en commençant par calculer l'annuité constante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t>
                </a:r>
                <a:r>
                  <a:rPr lang="fr-FR" sz="2400" spc="-1" dirty="0">
                    <a:solidFill>
                      <a:srgbClr val="376092"/>
                    </a:solidFill>
                  </a:rPr>
                  <a:t>a = C</a:t>
                </a:r>
                <a:r>
                  <a:rPr lang="fr-FR" sz="2400" spc="-1" baseline="-25000" dirty="0">
                    <a:solidFill>
                      <a:srgbClr val="376092"/>
                    </a:solidFill>
                  </a:rPr>
                  <a:t>0 </a:t>
                </a:r>
                <a:r>
                  <a:rPr lang="fr-FR" sz="2400" spc="-1" dirty="0">
                    <a:solidFill>
                      <a:srgbClr val="376092"/>
                    </a:solidFill>
                  </a:rPr>
                  <a:t>. </a:t>
                </a:r>
                <a14:m>
                  <m:oMath xmlns:m="http://schemas.openxmlformats.org/officeDocument/2006/math">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t</m:t>
                        </m:r>
                        <m:r>
                          <m:rPr>
                            <m:nor/>
                          </m:rPr>
                          <a:rPr lang="fr-FR" sz="2400" spc="-1" baseline="30000" dirty="0">
                            <a:solidFill>
                              <a:srgbClr val="376092"/>
                            </a:solidFill>
                          </a:rPr>
                          <m:t> </m:t>
                        </m:r>
                      </m:num>
                      <m:den>
                        <m:r>
                          <m:rPr>
                            <m:nor/>
                          </m:rPr>
                          <a:rPr lang="fr-FR" sz="2400" spc="-1" dirty="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den>
                    </m:f>
                  </m:oMath>
                </a14:m>
                <a:r>
                  <a:rPr lang="fr-FR" sz="2400" spc="-1" dirty="0">
                    <a:solidFill>
                      <a:srgbClr val="376092"/>
                    </a:solidFill>
                  </a:rPr>
                  <a:t> </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18BB558C-B937-A29F-AC42-3D40C81F3F1E}"/>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9446"/>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A2185B41-DA33-51B6-94E9-403B8695A02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3DF8895C-5F77-A60F-C1ED-CCA6422B60F6}"/>
              </a:ext>
            </a:extLst>
          </p:cNvPr>
          <p:cNvGraphicFramePr>
            <a:graphicFrameLocks noGrp="1"/>
          </p:cNvGraphicFramePr>
          <p:nvPr>
            <p:extLst>
              <p:ext uri="{D42A27DB-BD31-4B8C-83A1-F6EECF244321}">
                <p14:modId xmlns:p14="http://schemas.microsoft.com/office/powerpoint/2010/main" val="70426036"/>
              </p:ext>
            </p:extLst>
          </p:nvPr>
        </p:nvGraphicFramePr>
        <p:xfrm>
          <a:off x="383557" y="2204658"/>
          <a:ext cx="8229600" cy="2143884"/>
        </p:xfrm>
        <a:graphic>
          <a:graphicData uri="http://schemas.openxmlformats.org/drawingml/2006/table">
            <a:tbl>
              <a:tblPr/>
              <a:tblGrid>
                <a:gridCol w="636720">
                  <a:extLst>
                    <a:ext uri="{9D8B030D-6E8A-4147-A177-3AD203B41FA5}">
                      <a16:colId xmlns:a16="http://schemas.microsoft.com/office/drawing/2014/main" val="573871748"/>
                    </a:ext>
                  </a:extLst>
                </a:gridCol>
                <a:gridCol w="1337111">
                  <a:extLst>
                    <a:ext uri="{9D8B030D-6E8A-4147-A177-3AD203B41FA5}">
                      <a16:colId xmlns:a16="http://schemas.microsoft.com/office/drawing/2014/main" val="2932559255"/>
                    </a:ext>
                  </a:extLst>
                </a:gridCol>
                <a:gridCol w="920969">
                  <a:extLst>
                    <a:ext uri="{9D8B030D-6E8A-4147-A177-3AD203B41FA5}">
                      <a16:colId xmlns:a16="http://schemas.microsoft.com/office/drawing/2014/main" val="3522579848"/>
                    </a:ext>
                  </a:extLst>
                </a:gridCol>
                <a:gridCol w="1118807">
                  <a:extLst>
                    <a:ext uri="{9D8B030D-6E8A-4147-A177-3AD203B41FA5}">
                      <a16:colId xmlns:a16="http://schemas.microsoft.com/office/drawing/2014/main" val="3580905961"/>
                    </a:ext>
                  </a:extLst>
                </a:gridCol>
                <a:gridCol w="2039777">
                  <a:extLst>
                    <a:ext uri="{9D8B030D-6E8A-4147-A177-3AD203B41FA5}">
                      <a16:colId xmlns:a16="http://schemas.microsoft.com/office/drawing/2014/main" val="2791752325"/>
                    </a:ext>
                  </a:extLst>
                </a:gridCol>
                <a:gridCol w="2176216">
                  <a:extLst>
                    <a:ext uri="{9D8B030D-6E8A-4147-A177-3AD203B41FA5}">
                      <a16:colId xmlns:a16="http://schemas.microsoft.com/office/drawing/2014/main" val="4268051522"/>
                    </a:ext>
                  </a:extLst>
                </a:gridCol>
              </a:tblGrid>
              <a:tr h="471108">
                <a:tc>
                  <a:txBody>
                    <a:bodyPr/>
                    <a:lstStyle/>
                    <a:p>
                      <a:pPr algn="ctr" fontAlgn="t"/>
                      <a:r>
                        <a:rPr lang="fr-FR" sz="1400" b="0" i="0" u="none" strike="noStrike">
                          <a:solidFill>
                            <a:srgbClr val="FFFFFF"/>
                          </a:solidFill>
                          <a:effectLst/>
                          <a:latin typeface="Aptos Narrow" panose="020B0004020202020204" pitchFamily="34" charset="0"/>
                        </a:rPr>
                        <a:t>Période</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fr-FR" sz="1400" b="0" i="0" u="none" strike="noStrike">
                          <a:solidFill>
                            <a:srgbClr val="FFFFFF"/>
                          </a:solidFill>
                          <a:effectLst/>
                          <a:latin typeface="Aptos Narrow" panose="020B0004020202020204" pitchFamily="34" charset="0"/>
                        </a:rPr>
                        <a:t>Dette en début</a:t>
                      </a:r>
                      <a:br>
                        <a:rPr lang="fr-FR" sz="1400" b="0" i="0" u="none" strike="noStrike">
                          <a:solidFill>
                            <a:srgbClr val="FFFFFF"/>
                          </a:solidFill>
                          <a:effectLst/>
                          <a:latin typeface="Aptos Narrow" panose="020B0004020202020204" pitchFamily="34" charset="0"/>
                        </a:rPr>
                      </a:br>
                      <a:r>
                        <a:rPr lang="fr-FR" sz="1400" b="0" i="0" u="none" strike="noStrike">
                          <a:solidFill>
                            <a:srgbClr val="FFFFFF"/>
                          </a:solidFill>
                          <a:effectLst/>
                          <a:latin typeface="Aptos Narrow" panose="020B0004020202020204" pitchFamily="34" charset="0"/>
                        </a:rPr>
                        <a:t> de période</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fr-FR" sz="1400" b="0" i="0" u="none" strike="noStrike">
                          <a:solidFill>
                            <a:srgbClr val="FFFFFF"/>
                          </a:solidFill>
                          <a:effectLst/>
                          <a:latin typeface="Aptos Narrow" panose="020B0004020202020204" pitchFamily="34" charset="0"/>
                        </a:rPr>
                        <a:t>Intérêts</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fr-FR" sz="1400" b="0" i="0" u="none" strike="noStrike">
                          <a:solidFill>
                            <a:srgbClr val="FFFFFF"/>
                          </a:solidFill>
                          <a:effectLst/>
                          <a:latin typeface="Aptos Narrow" panose="020B0004020202020204" pitchFamily="34" charset="0"/>
                        </a:rPr>
                        <a:t>Amortissment</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fr-FR" sz="1400" b="0" i="0" u="none" strike="noStrike">
                          <a:solidFill>
                            <a:srgbClr val="FFFFFF"/>
                          </a:solidFill>
                          <a:effectLst/>
                          <a:latin typeface="Aptos Narrow" panose="020B0004020202020204" pitchFamily="34" charset="0"/>
                        </a:rPr>
                        <a:t>Annuités</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ctr" fontAlgn="t"/>
                      <a:r>
                        <a:rPr lang="fr-FR" sz="1400" b="0" i="0" u="none" strike="noStrike">
                          <a:solidFill>
                            <a:srgbClr val="FFFFFF"/>
                          </a:solidFill>
                          <a:effectLst/>
                          <a:latin typeface="Aptos Narrow" panose="020B0004020202020204" pitchFamily="34" charset="0"/>
                        </a:rPr>
                        <a:t>Dette de fin </a:t>
                      </a:r>
                      <a:br>
                        <a:rPr lang="fr-FR" sz="1400" b="0" i="0" u="none" strike="noStrike">
                          <a:solidFill>
                            <a:srgbClr val="FFFFFF"/>
                          </a:solidFill>
                          <a:effectLst/>
                          <a:latin typeface="Aptos Narrow" panose="020B0004020202020204" pitchFamily="34" charset="0"/>
                        </a:rPr>
                      </a:br>
                      <a:r>
                        <a:rPr lang="fr-FR" sz="1400" b="0" i="0" u="none" strike="noStrike">
                          <a:solidFill>
                            <a:srgbClr val="FFFFFF"/>
                          </a:solidFill>
                          <a:effectLst/>
                          <a:latin typeface="Aptos Narrow" panose="020B0004020202020204" pitchFamily="34" charset="0"/>
                        </a:rPr>
                        <a:t>de période</a:t>
                      </a:r>
                    </a:p>
                  </a:txBody>
                  <a:tcPr marL="6828" marR="6828" marT="6828" marB="0">
                    <a:lnL>
                      <a:noFill/>
                    </a:lnL>
                    <a:lnR>
                      <a:noFill/>
                    </a:lnR>
                    <a:lnT>
                      <a:noFill/>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408533133"/>
                  </a:ext>
                </a:extLst>
              </a:tr>
              <a:tr h="238968">
                <a:tc>
                  <a:txBody>
                    <a:bodyPr/>
                    <a:lstStyle/>
                    <a:p>
                      <a:pPr algn="ctr" fontAlgn="b"/>
                      <a:r>
                        <a:rPr lang="fr-FR" sz="1400" b="0" i="0" u="none" strike="noStrike">
                          <a:solidFill>
                            <a:srgbClr val="000000"/>
                          </a:solidFill>
                          <a:effectLst/>
                          <a:latin typeface="Aptos Narrow" panose="020B0004020202020204" pitchFamily="34" charset="0"/>
                        </a:rPr>
                        <a:t>1</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C0</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C0 X taux</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 - Intérêts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C1 = C0 - Amortissements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642672073"/>
                  </a:ext>
                </a:extLst>
              </a:tr>
              <a:tr h="238968">
                <a:tc>
                  <a:txBody>
                    <a:bodyPr/>
                    <a:lstStyle/>
                    <a:p>
                      <a:pPr algn="ctr" fontAlgn="b"/>
                      <a:r>
                        <a:rPr lang="fr-FR" sz="1400" b="0" i="0" u="none" strike="noStrike">
                          <a:solidFill>
                            <a:srgbClr val="000000"/>
                          </a:solidFill>
                          <a:effectLst/>
                          <a:latin typeface="Aptos Narrow" panose="020B0004020202020204" pitchFamily="34" charset="0"/>
                        </a:rPr>
                        <a:t>2</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C1</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400" b="0" i="0" u="none" strike="noStrike">
                          <a:solidFill>
                            <a:srgbClr val="000000"/>
                          </a:solidFill>
                          <a:effectLst/>
                          <a:latin typeface="Aptos Narrow" panose="020B0004020202020204" pitchFamily="34" charset="0"/>
                        </a:rPr>
                        <a:t>C1 X taux</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 - Intérêts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C2 = C1 - Amortissements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960710168"/>
                  </a:ext>
                </a:extLst>
              </a:tr>
              <a:tr h="238968">
                <a:tc>
                  <a:txBody>
                    <a:bodyPr/>
                    <a:lstStyle/>
                    <a:p>
                      <a:pPr algn="ctr" fontAlgn="b"/>
                      <a:r>
                        <a:rPr lang="fr-FR" sz="1400" b="0" i="0" u="none" strike="noStrike">
                          <a:solidFill>
                            <a:srgbClr val="000000"/>
                          </a:solidFill>
                          <a:effectLst/>
                          <a:latin typeface="Aptos Narrow" panose="020B0004020202020204" pitchFamily="34" charset="0"/>
                        </a:rPr>
                        <a:t>3</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C2</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r>
                        <a:rPr lang="fr-FR" sz="1400" b="0" i="0" u="none" strike="noStrike">
                          <a:solidFill>
                            <a:srgbClr val="000000"/>
                          </a:solidFill>
                          <a:effectLst/>
                          <a:latin typeface="Aptos Narrow" panose="020B0004020202020204" pitchFamily="34" charset="0"/>
                        </a:rPr>
                        <a:t>C2 X taux</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 - Intérêts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C3 = C2 - Amortissements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1524707"/>
                  </a:ext>
                </a:extLst>
              </a:tr>
              <a:tr h="238968">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2114375"/>
                  </a:ext>
                </a:extLst>
              </a:tr>
              <a:tr h="238968">
                <a:tc>
                  <a:txBody>
                    <a:bodyPr/>
                    <a:lstStyle/>
                    <a:p>
                      <a:pPr algn="ctr" fontAlgn="b"/>
                      <a:r>
                        <a:rPr lang="fr-FR" sz="1400" b="0" i="0" u="none" strike="noStrike">
                          <a:solidFill>
                            <a:srgbClr val="000000"/>
                          </a:solidFill>
                          <a:effectLst/>
                          <a:latin typeface="Aptos Narrow" panose="020B0004020202020204" pitchFamily="34" charset="0"/>
                        </a:rPr>
                        <a:t>n-1</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Cn-1</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Cn-1 X taux</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 - Intérêts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a</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Cn = Cn-1 - Amortissements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712096728"/>
                  </a:ext>
                </a:extLst>
              </a:tr>
              <a:tr h="238968">
                <a:tc>
                  <a:txBody>
                    <a:bodyPr/>
                    <a:lstStyle/>
                    <a:p>
                      <a:pPr algn="ctr" fontAlgn="b"/>
                      <a:r>
                        <a:rPr lang="fr-FR" sz="1400" b="0" i="0" u="none" strike="noStrike">
                          <a:solidFill>
                            <a:srgbClr val="000000"/>
                          </a:solidFill>
                          <a:effectLst/>
                          <a:latin typeface="Aptos Narrow" panose="020B0004020202020204" pitchFamily="34" charset="0"/>
                        </a:rPr>
                        <a:t>n</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Cn</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fr-FR" sz="1400" b="0" i="0" u="none" strike="noStrike">
                          <a:solidFill>
                            <a:srgbClr val="000000"/>
                          </a:solidFill>
                          <a:effectLst/>
                          <a:latin typeface="Aptos Narrow" panose="020B0004020202020204" pitchFamily="34" charset="0"/>
                        </a:rPr>
                        <a:t>Cn X taux</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Cn</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Intérets + amortissements</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400" b="0" i="0" u="none" strike="noStrike">
                          <a:solidFill>
                            <a:srgbClr val="000000"/>
                          </a:solidFill>
                          <a:effectLst/>
                          <a:latin typeface="Aptos Narrow" panose="020B0004020202020204" pitchFamily="34" charset="0"/>
                        </a:rPr>
                        <a:t>0</a:t>
                      </a:r>
                    </a:p>
                  </a:txBody>
                  <a:tcPr marL="6828" marR="6828" marT="68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1152270"/>
                  </a:ext>
                </a:extLst>
              </a:tr>
              <a:tr h="238968">
                <a:tc>
                  <a:txBody>
                    <a:bodyPr/>
                    <a:lstStyle/>
                    <a:p>
                      <a:pPr algn="l" fontAlgn="b"/>
                      <a:r>
                        <a:rPr lang="fr-FR" sz="1400" b="0" i="0" u="none" strike="noStrike">
                          <a:solidFill>
                            <a:srgbClr val="FFFFFF"/>
                          </a:solidFill>
                          <a:effectLst/>
                          <a:latin typeface="Aptos Narrow" panose="020B0004020202020204" pitchFamily="34" charset="0"/>
                        </a:rPr>
                        <a:t>Total</a:t>
                      </a:r>
                    </a:p>
                  </a:txBody>
                  <a:tcPr marL="6828" marR="6828" marT="6828"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lang="fr-FR" sz="1400" b="0" i="0" u="none" strike="noStrike">
                        <a:solidFill>
                          <a:srgbClr val="000000"/>
                        </a:solidFill>
                        <a:effectLst/>
                        <a:latin typeface="Aptos Narrow" panose="020B0004020202020204" pitchFamily="34" charset="0"/>
                      </a:endParaRPr>
                    </a:p>
                  </a:txBody>
                  <a:tcPr marL="6828" marR="6828" marT="6828" marB="0" anchor="b">
                    <a:lnL>
                      <a:noFill/>
                    </a:lnL>
                    <a:lnR w="635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r>
                        <a:rPr lang="fr-FR" sz="1400" b="0" i="0" u="none" strike="noStrike">
                          <a:solidFill>
                            <a:srgbClr val="000000"/>
                          </a:solidFill>
                          <a:effectLst/>
                          <a:latin typeface="Aptos Narrow" panose="020B0004020202020204" pitchFamily="34" charset="0"/>
                        </a:rPr>
                        <a:t> </a:t>
                      </a:r>
                    </a:p>
                  </a:txBody>
                  <a:tcPr marL="6828" marR="6828" marT="6828"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b"/>
                      <a:r>
                        <a:rPr lang="fr-FR" sz="1400" b="0" i="0" u="none" strike="noStrike">
                          <a:solidFill>
                            <a:srgbClr val="000000"/>
                          </a:solidFill>
                          <a:effectLst/>
                          <a:latin typeface="Aptos Narrow" panose="020B0004020202020204" pitchFamily="34" charset="0"/>
                        </a:rPr>
                        <a:t> </a:t>
                      </a:r>
                    </a:p>
                  </a:txBody>
                  <a:tcPr marL="6828" marR="6828" marT="6828"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b"/>
                      <a:r>
                        <a:rPr lang="fr-FR" sz="1400" b="0" i="0" u="none" strike="noStrike">
                          <a:solidFill>
                            <a:srgbClr val="000000"/>
                          </a:solidFill>
                          <a:effectLst/>
                          <a:latin typeface="Aptos Narrow" panose="020B0004020202020204" pitchFamily="34" charset="0"/>
                        </a:rPr>
                        <a:t> </a:t>
                      </a:r>
                    </a:p>
                  </a:txBody>
                  <a:tcPr marL="6828" marR="6828" marT="6828"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b"/>
                      <a:endParaRPr lang="fr-FR" sz="1400" b="0" i="0" u="none" strike="noStrike" dirty="0">
                        <a:solidFill>
                          <a:srgbClr val="000000"/>
                        </a:solidFill>
                        <a:effectLst/>
                        <a:latin typeface="Aptos Narrow" panose="020B0004020202020204" pitchFamily="34" charset="0"/>
                      </a:endParaRPr>
                    </a:p>
                  </a:txBody>
                  <a:tcPr marL="6828" marR="6828" marT="6828" marB="0" anchor="b">
                    <a:lnL w="6350" cap="flat" cmpd="sng" algn="ctr">
                      <a:solidFill>
                        <a:srgbClr val="FF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621213855"/>
                  </a:ext>
                </a:extLst>
              </a:tr>
            </a:tbl>
          </a:graphicData>
        </a:graphic>
      </p:graphicFrame>
    </p:spTree>
    <p:extLst>
      <p:ext uri="{BB962C8B-B14F-4D97-AF65-F5344CB8AC3E}">
        <p14:creationId xmlns:p14="http://schemas.microsoft.com/office/powerpoint/2010/main" val="378579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F4DB-80CC-9BB5-C67E-8D9A30245344}"/>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3740A3B7-BE4D-9668-4095-A4D7D7F6483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d'amortissement – annuités constantes: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E252973F-F16C-EFED-8E78-118AB2217947}"/>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l'exercice précédent avec cette fois un remboursement mensuel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fois la période de référence n'est plus l'année mais le mois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par calculer le taux mensuel proportionnel au taux annuel : t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𝑟𝑖𝑜𝑑𝑒𝑠</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𝑑𝑎𝑛𝑠</m:t>
                        </m:r>
                        <m:r>
                          <a:rPr lang="fr-FR" sz="2400" b="0" i="1" spc="-1" dirty="0" smtClean="0">
                            <a:solidFill>
                              <a:srgbClr val="376092"/>
                            </a:solidFill>
                            <a:latin typeface="Cambria Math" panose="02040503050406030204" pitchFamily="18" charset="0"/>
                          </a:rPr>
                          <m:t> </m:t>
                        </m:r>
                        <m:sSup>
                          <m:sSupPr>
                            <m:ctrlPr>
                              <a:rPr lang="fr-FR" sz="2400" b="0" i="1" spc="-1" dirty="0" smtClean="0">
                                <a:solidFill>
                                  <a:srgbClr val="376092"/>
                                </a:solidFill>
                                <a:latin typeface="Cambria Math" panose="02040503050406030204" pitchFamily="18" charset="0"/>
                              </a:rPr>
                            </m:ctrlPr>
                          </m:sSupPr>
                          <m:e>
                            <m:r>
                              <a:rPr lang="fr-FR" sz="2400" b="0" i="1" spc="-1" dirty="0" smtClean="0">
                                <a:solidFill>
                                  <a:srgbClr val="376092"/>
                                </a:solidFill>
                                <a:latin typeface="Cambria Math" panose="02040503050406030204" pitchFamily="18" charset="0"/>
                              </a:rPr>
                              <m:t>𝑙</m:t>
                            </m:r>
                          </m:e>
                          <m:sup>
                            <m:r>
                              <a:rPr lang="fr-FR" sz="2400" b="0" i="1" spc="-1" dirty="0" smtClean="0">
                                <a:solidFill>
                                  <a:srgbClr val="376092"/>
                                </a:solidFill>
                                <a:latin typeface="Cambria Math" panose="02040503050406030204" pitchFamily="18" charset="0"/>
                              </a:rPr>
                              <m:t>′</m:t>
                            </m:r>
                          </m:sup>
                        </m:sSup>
                        <m:r>
                          <a:rPr lang="fr-FR" sz="2400" b="0" i="1" spc="-1" dirty="0" smtClean="0">
                            <a:solidFill>
                              <a:srgbClr val="376092"/>
                            </a:solidFill>
                            <a:latin typeface="Cambria Math" panose="02040503050406030204" pitchFamily="18" charset="0"/>
                          </a:rPr>
                          <m:t>𝑎𝑛𝑛</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𝑒</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Mettre en place le tableau d'amortissement mensuel du prêt à 7% sur un montant de 50 000 EUR et d'une durée de 5 ans en commençant par calculer l'annuité constante: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t>
                </a:r>
                <a:r>
                  <a:rPr lang="fr-FR" sz="2400" spc="-1" dirty="0">
                    <a:solidFill>
                      <a:srgbClr val="376092"/>
                    </a:solidFill>
                  </a:rPr>
                  <a:t>a = C</a:t>
                </a:r>
                <a:r>
                  <a:rPr lang="fr-FR" sz="2400" spc="-1" baseline="-25000" dirty="0">
                    <a:solidFill>
                      <a:srgbClr val="376092"/>
                    </a:solidFill>
                  </a:rPr>
                  <a:t>0 </a:t>
                </a:r>
                <a:r>
                  <a:rPr lang="fr-FR" sz="2400" spc="-1" dirty="0">
                    <a:solidFill>
                      <a:srgbClr val="376092"/>
                    </a:solidFill>
                  </a:rPr>
                  <a:t>. </a:t>
                </a:r>
                <a14:m>
                  <m:oMath xmlns:m="http://schemas.openxmlformats.org/officeDocument/2006/math">
                    <m:f>
                      <m:fPr>
                        <m:ctrlPr>
                          <a:rPr lang="fr-FR" sz="2400" i="1" spc="-1" dirty="0">
                            <a:solidFill>
                              <a:srgbClr val="376092"/>
                            </a:solidFill>
                            <a:latin typeface="Cambria Math" panose="02040503050406030204" pitchFamily="18" charset="0"/>
                          </a:rPr>
                        </m:ctrlPr>
                      </m:fPr>
                      <m:num>
                        <m:r>
                          <m:rPr>
                            <m:nor/>
                          </m:rPr>
                          <a:rPr lang="fr-FR" sz="2400" b="0" i="0" spc="-1" dirty="0" smtClean="0">
                            <a:solidFill>
                              <a:srgbClr val="376092"/>
                            </a:solidFill>
                            <a:latin typeface="Cambria Math" panose="02040503050406030204" pitchFamily="18" charset="0"/>
                          </a:rPr>
                          <m:t>t</m:t>
                        </m:r>
                        <m:r>
                          <m:rPr>
                            <m:nor/>
                          </m:rPr>
                          <a:rPr lang="fr-FR" sz="2400" spc="-1" baseline="30000" dirty="0">
                            <a:solidFill>
                              <a:srgbClr val="376092"/>
                            </a:solidFill>
                          </a:rPr>
                          <m:t> </m:t>
                        </m:r>
                      </m:num>
                      <m:den>
                        <m:r>
                          <m:rPr>
                            <m:nor/>
                          </m:rPr>
                          <a:rPr lang="fr-FR" sz="2400" spc="-1" dirty="0">
                            <a:solidFill>
                              <a:srgbClr val="376092"/>
                            </a:solidFill>
                            <a:latin typeface="Cambria Math" panose="02040503050406030204" pitchFamily="18" charset="0"/>
                          </a:rPr>
                          <m:t>1 − </m:t>
                        </m:r>
                        <m:r>
                          <m:rPr>
                            <m:nor/>
                          </m:rPr>
                          <a:rPr lang="fr-FR" sz="2400" spc="-1" dirty="0">
                            <a:solidFill>
                              <a:srgbClr val="376092"/>
                            </a:solidFill>
                          </a:rPr>
                          <m:t>(1+</m:t>
                        </m:r>
                        <m:r>
                          <m:rPr>
                            <m:nor/>
                          </m:rPr>
                          <a:rPr lang="fr-FR" sz="2400" spc="-1" dirty="0">
                            <a:solidFill>
                              <a:srgbClr val="376092"/>
                            </a:solidFill>
                          </a:rPr>
                          <m:t>t</m:t>
                        </m:r>
                        <m:r>
                          <m:rPr>
                            <m:nor/>
                          </m:rPr>
                          <a:rPr lang="fr-FR" sz="2400" spc="-1" dirty="0">
                            <a:solidFill>
                              <a:srgbClr val="376092"/>
                            </a:solidFill>
                          </a:rPr>
                          <m:t>)−</m:t>
                        </m:r>
                        <m:r>
                          <m:rPr>
                            <m:nor/>
                          </m:rPr>
                          <a:rPr lang="fr-FR" sz="2400" b="0" i="0" spc="-1" baseline="30000" dirty="0" smtClean="0">
                            <a:solidFill>
                              <a:srgbClr val="376092"/>
                            </a:solidFill>
                          </a:rPr>
                          <m:t>n</m:t>
                        </m:r>
                      </m:den>
                    </m:f>
                  </m:oMath>
                </a14:m>
                <a:r>
                  <a:rPr lang="fr-FR" sz="2400" spc="-1" dirty="0">
                    <a:solidFill>
                      <a:srgbClr val="376092"/>
                    </a:solidFill>
                  </a:rPr>
                  <a:t>  </a:t>
                </a:r>
              </a:p>
              <a:p>
                <a:pPr marL="432000" indent="-324000">
                  <a:spcAft>
                    <a:spcPts val="1060"/>
                  </a:spcAft>
                  <a:buClr>
                    <a:srgbClr val="000000"/>
                  </a:buClr>
                  <a:buSzPct val="45000"/>
                  <a:buFont typeface="Wingdings" charset="2"/>
                  <a:buChar char=""/>
                </a:pPr>
                <a:r>
                  <a:rPr lang="fr-FR" sz="2400" spc="-1" dirty="0">
                    <a:solidFill>
                      <a:srgbClr val="376092"/>
                    </a:solidFill>
                  </a:rPr>
                  <a:t>Attention, cette fois la période est le mois et pas l'année</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E252973F-F16C-EFED-8E78-118AB2217947}"/>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r="-2148" b="-1120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C97C923-8B66-86F3-F982-E6A314D915C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11855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6CF73-7565-25F5-9634-CDF835674A33}"/>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08B9962-45C3-713C-1473-E5E608AD72F3}"/>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équivalent Vs Taux proportionnels:</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D33FCE25-F7E8-8BF6-F8C6-F7C68FAE2190}"/>
                  </a:ext>
                </a:extLst>
              </p:cNvPr>
              <p:cNvSpPr txBox="1"/>
              <p:nvPr/>
            </p:nvSpPr>
            <p:spPr>
              <a:xfrm>
                <a:off x="457200" y="1287262"/>
                <a:ext cx="8229240" cy="4838498"/>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cas des intérêts composés nous avons calculé un taux équivalent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t1 = </a:t>
                </a:r>
                <a14:m>
                  <m:oMath xmlns:m="http://schemas.openxmlformats.org/officeDocument/2006/math">
                    <m:sSup>
                      <m:sSupPr>
                        <m:ctrlPr>
                          <a:rPr lang="fr-FR" sz="2400" i="1" spc="-1" dirty="0" smtClean="0">
                            <a:solidFill>
                              <a:srgbClr val="376092"/>
                            </a:solidFill>
                            <a:latin typeface="Cambria Math" panose="02040503050406030204" pitchFamily="18" charset="0"/>
                          </a:rPr>
                        </m:ctrlPr>
                      </m:sSupPr>
                      <m:e>
                        <m:d>
                          <m:dPr>
                            <m:ctrlPr>
                              <a:rPr lang="fr-FR" sz="2400" i="1" spc="-1" dirty="0" smtClean="0">
                                <a:solidFill>
                                  <a:srgbClr val="376092"/>
                                </a:solidFill>
                                <a:latin typeface="Cambria Math" panose="02040503050406030204" pitchFamily="18" charset="0"/>
                              </a:rPr>
                            </m:ctrlPr>
                          </m:dPr>
                          <m:e>
                            <m:r>
                              <a:rPr lang="fr-FR" sz="2400" spc="-1" dirty="0"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e>
                        </m:d>
                      </m:e>
                      <m:sup>
                        <m:f>
                          <m:fPr>
                            <m:ctrlPr>
                              <a:rPr lang="fr-FR" sz="2400" i="1" spc="-1" dirty="0" smtClean="0">
                                <a:solidFill>
                                  <a:srgbClr val="376092"/>
                                </a:solidFill>
                                <a:latin typeface="Cambria Math" panose="02040503050406030204" pitchFamily="18" charset="0"/>
                              </a:rPr>
                            </m:ctrlPr>
                          </m:fPr>
                          <m:num>
                            <m:r>
                              <a:rPr lang="fr-FR" sz="2400" i="0" spc="-1" dirty="0" smtClean="0">
                                <a:solidFill>
                                  <a:srgbClr val="376092"/>
                                </a:solidFill>
                                <a:latin typeface="Cambria Math" panose="02040503050406030204" pitchFamily="18" charset="0"/>
                              </a:rPr>
                              <m:t>1</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riodes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dans</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une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ann</m:t>
                            </m:r>
                            <m:r>
                              <a:rPr lang="fr-FR" sz="2400" b="0" i="0" spc="-1" dirty="0" smtClean="0">
                                <a:solidFill>
                                  <a:srgbClr val="376092"/>
                                </a:solidFill>
                                <a:latin typeface="Cambria Math" panose="02040503050406030204" pitchFamily="18" charset="0"/>
                              </a:rPr>
                              <m:t>é</m:t>
                            </m:r>
                            <m:r>
                              <m:rPr>
                                <m:sty m:val="p"/>
                              </m:rPr>
                              <a:rPr lang="fr-FR" sz="2400" b="0" i="0" spc="-1" dirty="0" smtClean="0">
                                <a:solidFill>
                                  <a:srgbClr val="376092"/>
                                </a:solidFill>
                                <a:latin typeface="Cambria Math" panose="02040503050406030204" pitchFamily="18" charset="0"/>
                              </a:rPr>
                              <m:t>e</m:t>
                            </m:r>
                          </m:den>
                        </m:f>
                      </m:sup>
                    </m:sSup>
                    <m:r>
                      <a:rPr lang="fr-FR" sz="2400" b="0" i="1" spc="-1" dirty="0" smtClean="0">
                        <a:solidFill>
                          <a:srgbClr val="376092"/>
                        </a:solidFill>
                        <a:latin typeface="Cambria Math" panose="02040503050406030204" pitchFamily="18" charset="0"/>
                      </a:rPr>
                      <m:t> −1</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cas du tableau d'amortissement, nous avons calculé un taux proportionnel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t2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𝑡𝑎𝑢𝑥</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𝑎𝑛𝑛𝑢𝑒𝑙</m:t>
                        </m:r>
                      </m:num>
                      <m:den>
                        <m:r>
                          <m:rPr>
                            <m:sty m:val="p"/>
                          </m:rPr>
                          <a:rPr lang="fr-FR" sz="2400" b="0" i="0" spc="-1" dirty="0" smtClean="0">
                            <a:solidFill>
                              <a:srgbClr val="376092"/>
                            </a:solidFill>
                            <a:latin typeface="Cambria Math" panose="02040503050406030204" pitchFamily="18" charset="0"/>
                          </a:rPr>
                          <m:t>nombre</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𝑟𝑖𝑜𝑑𝑒𝑠</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𝑑𝑎𝑛𝑠</m:t>
                        </m:r>
                        <m:r>
                          <a:rPr lang="fr-FR" sz="2400" b="0" i="1" spc="-1" dirty="0" smtClean="0">
                            <a:solidFill>
                              <a:srgbClr val="376092"/>
                            </a:solidFill>
                            <a:latin typeface="Cambria Math" panose="02040503050406030204" pitchFamily="18" charset="0"/>
                          </a:rPr>
                          <m:t> </m:t>
                        </m:r>
                        <m:sSup>
                          <m:sSupPr>
                            <m:ctrlPr>
                              <a:rPr lang="fr-FR" sz="2400" b="0" i="1" spc="-1" dirty="0" smtClean="0">
                                <a:solidFill>
                                  <a:srgbClr val="376092"/>
                                </a:solidFill>
                                <a:latin typeface="Cambria Math" panose="02040503050406030204" pitchFamily="18" charset="0"/>
                              </a:rPr>
                            </m:ctrlPr>
                          </m:sSupPr>
                          <m:e>
                            <m:r>
                              <a:rPr lang="fr-FR" sz="2400" b="0" i="1" spc="-1" dirty="0" smtClean="0">
                                <a:solidFill>
                                  <a:srgbClr val="376092"/>
                                </a:solidFill>
                                <a:latin typeface="Cambria Math" panose="02040503050406030204" pitchFamily="18" charset="0"/>
                              </a:rPr>
                              <m:t>𝑙</m:t>
                            </m:r>
                          </m:e>
                          <m:sup>
                            <m:r>
                              <a:rPr lang="fr-FR" sz="2400" b="0" i="1" spc="-1" dirty="0" smtClean="0">
                                <a:solidFill>
                                  <a:srgbClr val="376092"/>
                                </a:solidFill>
                                <a:latin typeface="Cambria Math" panose="02040503050406030204" pitchFamily="18" charset="0"/>
                              </a:rPr>
                              <m:t>′</m:t>
                            </m:r>
                          </m:sup>
                        </m:sSup>
                        <m:r>
                          <a:rPr lang="fr-FR" sz="2400" b="0" i="1" spc="-1" dirty="0" smtClean="0">
                            <a:solidFill>
                              <a:srgbClr val="376092"/>
                            </a:solidFill>
                            <a:latin typeface="Cambria Math" panose="02040503050406030204" pitchFamily="18" charset="0"/>
                          </a:rPr>
                          <m:t>𝑎𝑛𝑛</m:t>
                        </m:r>
                        <m:r>
                          <a:rPr lang="fr-FR" sz="2400" b="0" i="1" spc="-1" dirty="0" smtClean="0">
                            <a:solidFill>
                              <a:srgbClr val="376092"/>
                            </a:solidFill>
                            <a:latin typeface="Cambria Math" panose="02040503050406030204" pitchFamily="18" charset="0"/>
                          </a:rPr>
                          <m:t>é</m:t>
                        </m:r>
                        <m:r>
                          <a:rPr lang="fr-FR" sz="2400" b="0" i="1" spc="-1" dirty="0" smtClean="0">
                            <a:solidFill>
                              <a:srgbClr val="376092"/>
                            </a:solidFill>
                            <a:latin typeface="Cambria Math" panose="02040503050406030204" pitchFamily="18" charset="0"/>
                          </a:rPr>
                          <m:t>𝑒</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Attention a bien faire la différence entre les deux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les intérêts sont simples (ils ne s'ajoutent pas au capital) alors le taux est proportionnel (t2)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les intérêts sont composés alors le taux est équivalent (t1)</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FF0000"/>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D33FCE25-F7E8-8BF6-F8C6-F7C68FAE2190}"/>
                  </a:ext>
                </a:extLst>
              </p:cNvPr>
              <p:cNvSpPr txBox="1">
                <a:spLocks noRot="1" noChangeAspect="1" noMove="1" noResize="1" noEditPoints="1" noAdjustHandles="1" noChangeArrowheads="1" noChangeShapeType="1" noTextEdit="1"/>
              </p:cNvSpPr>
              <p:nvPr/>
            </p:nvSpPr>
            <p:spPr>
              <a:xfrm>
                <a:off x="457200" y="1287262"/>
                <a:ext cx="8229240" cy="4838498"/>
              </a:xfrm>
              <a:prstGeom prst="rect">
                <a:avLst/>
              </a:prstGeom>
              <a:blipFill>
                <a:blip r:embed="rId2"/>
                <a:stretch>
                  <a:fillRect t="-1763" b="-1209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9B4EE556-B86A-0418-B77B-BA93C29A428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25490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6371</TotalTime>
  <Words>2143</Words>
  <Application>Microsoft Office PowerPoint</Application>
  <PresentationFormat>Affichage à l'écran (4:3)</PresentationFormat>
  <Paragraphs>572</Paragraphs>
  <Slides>27</Slides>
  <Notes>0</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27</vt:i4>
      </vt:variant>
    </vt:vector>
  </HeadingPairs>
  <TitlesOfParts>
    <vt:vector size="37" baseType="lpstr">
      <vt:lpstr>Aptos Narrow</vt: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273</cp:revision>
  <dcterms:created xsi:type="dcterms:W3CDTF">2012-01-17T22:15:29Z</dcterms:created>
  <dcterms:modified xsi:type="dcterms:W3CDTF">2025-06-16T12:35:31Z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