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17"/>
  </p:notesMasterIdLst>
  <p:sldIdLst>
    <p:sldId id="256" r:id="rId4"/>
    <p:sldId id="257" r:id="rId5"/>
    <p:sldId id="361" r:id="rId6"/>
    <p:sldId id="343" r:id="rId7"/>
    <p:sldId id="344" r:id="rId8"/>
    <p:sldId id="346" r:id="rId9"/>
    <p:sldId id="362" r:id="rId10"/>
    <p:sldId id="363" r:id="rId11"/>
    <p:sldId id="345" r:id="rId12"/>
    <p:sldId id="347" r:id="rId13"/>
    <p:sldId id="364" r:id="rId14"/>
    <p:sldId id="365" r:id="rId15"/>
    <p:sldId id="281" r:id="rId16"/>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4712" autoAdjust="0"/>
  </p:normalViewPr>
  <p:slideViewPr>
    <p:cSldViewPr snapToGrid="0">
      <p:cViewPr varScale="1">
        <p:scale>
          <a:sx n="106" d="100"/>
          <a:sy n="106" d="100"/>
        </p:scale>
        <p:origin x="1776" y="96"/>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04/04/2025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Suites arithmétiques</a:t>
            </a:r>
            <a:br>
              <a:rPr dirty="0"/>
            </a:br>
            <a:r>
              <a:rPr lang="fr-FR" sz="4400" b="0" strike="noStrike" spc="-1" dirty="0">
                <a:solidFill>
                  <a:srgbClr val="376092"/>
                </a:solidFill>
                <a:latin typeface="Arial"/>
              </a:rPr>
              <a:t> </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Suites arithmétiques</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Généralités</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un terme d'une suite arithmétique</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Montrer qu'une suite est arithmétique</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Calculer une suite de termes consécutifs</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Cas concrets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Questions et ressentis.</a:t>
            </a:r>
            <a:endParaRPr lang="en-US" sz="2400" b="0" strike="noStrike" spc="-1" dirty="0">
              <a:solidFill>
                <a:srgbClr val="376092"/>
              </a:solidFill>
              <a:latin typeface="Calibri"/>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Généralités – aborder les suites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utilisons les suites numériques depuis longtemps en donnant par exemple le prochain terme d'une suite logique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2, 3,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2, 4, 6</a:t>
            </a:r>
            <a:r>
              <a:rPr lang="fr-FR" sz="2400" spc="-1">
                <a:solidFill>
                  <a:srgbClr val="376092"/>
                </a:solidFill>
                <a:latin typeface="Arial"/>
              </a:rPr>
              <a:t>, 8, </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1, 2, 3, 5, 8, 13,…</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ces exemples, il y a toujours une logique pour trouver le terme suivant.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Ces premiers exemples nous indiquent donc qu'il y une façon mathématique de définir ces suites.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suffit de trouver la règle qui permet de calculer un terme bien précis de la suite.</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296506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Généralités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Une suite numérique U</a:t>
                </a:r>
                <a:r>
                  <a:rPr lang="fr-FR" sz="2400" b="0" strike="noStrike" spc="-1" baseline="-25000" dirty="0">
                    <a:solidFill>
                      <a:srgbClr val="376092"/>
                    </a:solidFill>
                    <a:latin typeface="Arial"/>
                  </a:rPr>
                  <a:t>n</a:t>
                </a:r>
                <a:r>
                  <a:rPr lang="fr-FR" sz="2400" b="0" strike="noStrike" spc="-1" dirty="0">
                    <a:solidFill>
                      <a:srgbClr val="376092"/>
                    </a:solidFill>
                    <a:latin typeface="Arial"/>
                  </a:rPr>
                  <a:t> est une liste de réel (u</a:t>
                </a:r>
                <a:r>
                  <a:rPr lang="fr-FR" sz="2400" b="0" strike="noStrike" spc="-1" baseline="-25000" dirty="0">
                    <a:solidFill>
                      <a:srgbClr val="376092"/>
                    </a:solidFill>
                    <a:latin typeface="Arial"/>
                  </a:rPr>
                  <a:t>0</a:t>
                </a:r>
                <a:r>
                  <a:rPr lang="fr-FR" sz="2400" b="0" strike="noStrike" spc="-1" dirty="0">
                    <a:solidFill>
                      <a:srgbClr val="376092"/>
                    </a:solidFill>
                    <a:latin typeface="Arial"/>
                  </a:rPr>
                  <a:t>, u</a:t>
                </a:r>
                <a:r>
                  <a:rPr lang="fr-FR" sz="2400" b="0" strike="noStrike" spc="-1" baseline="-25000" dirty="0">
                    <a:solidFill>
                      <a:srgbClr val="376092"/>
                    </a:solidFill>
                    <a:latin typeface="Arial"/>
                  </a:rPr>
                  <a:t>1</a:t>
                </a:r>
                <a:r>
                  <a:rPr lang="fr-FR" sz="2400" b="0" strike="noStrike" spc="-1" dirty="0">
                    <a:solidFill>
                      <a:srgbClr val="376092"/>
                    </a:solidFill>
                    <a:latin typeface="Arial"/>
                  </a:rPr>
                  <a:t>, u</a:t>
                </a:r>
                <a:r>
                  <a:rPr lang="fr-FR" sz="2400" b="0" strike="noStrike" spc="-1" baseline="-25000" dirty="0">
                    <a:solidFill>
                      <a:srgbClr val="376092"/>
                    </a:solidFill>
                    <a:latin typeface="Arial"/>
                  </a:rPr>
                  <a:t>2</a:t>
                </a:r>
                <a:r>
                  <a:rPr lang="fr-FR" sz="2400" b="0" strike="noStrike"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Les éléments de la liste</a:t>
                </a:r>
                <a:r>
                  <a:rPr lang="fr-FR" sz="2400" b="0" strike="noStrike" spc="-1" dirty="0">
                    <a:solidFill>
                      <a:srgbClr val="376092"/>
                    </a:solidFill>
                    <a:latin typeface="Arial"/>
                  </a:rPr>
                  <a:t> sont appelés termes de la suite.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suite peut être définie par une fonction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U</a:t>
                </a:r>
                <a:r>
                  <a:rPr lang="fr-FR" sz="2000" b="0" strike="noStrike" spc="-1" baseline="-25000" dirty="0">
                    <a:solidFill>
                      <a:srgbClr val="376092"/>
                    </a:solidFill>
                    <a:latin typeface="Arial"/>
                  </a:rPr>
                  <a:t>n</a:t>
                </a:r>
                <a:r>
                  <a:rPr lang="fr-FR" sz="2400" b="0" strike="noStrike" spc="-1" dirty="0">
                    <a:solidFill>
                      <a:srgbClr val="376092"/>
                    </a:solidFill>
                    <a:latin typeface="Arial"/>
                  </a:rPr>
                  <a:t> = f(n)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ce cas-là, on dit que f(n) est le terme général de la suite et que la suite est définie explicitement.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les premiers termes des suites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a:t>
                </a:r>
                <a:r>
                  <a:rPr lang="fr-FR" sz="2400" spc="-1" dirty="0">
                    <a:solidFill>
                      <a:srgbClr val="376092"/>
                    </a:solidFill>
                    <a:latin typeface="Arial"/>
                  </a:rPr>
                  <a:t> = 3.n + 5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a:t>
                </a:r>
                <a:r>
                  <a:rPr lang="fr-FR" sz="2400" spc="-1" dirty="0">
                    <a:solidFill>
                      <a:srgbClr val="376092"/>
                    </a:solidFill>
                    <a:latin typeface="Arial"/>
                  </a:rPr>
                  <a:t> = 2.n² + n + 3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a:t>
                </a:r>
                <a:r>
                  <a:rPr lang="fr-FR" sz="2400" spc="-1" dirty="0">
                    <a:solidFill>
                      <a:srgbClr val="376092"/>
                    </a:solidFill>
                    <a:latin typeface="Arial"/>
                  </a:rPr>
                  <a:t>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a:rPr lang="fr-FR" sz="2400" spc="-1" dirty="0" smtClean="0">
                            <a:solidFill>
                              <a:srgbClr val="376092"/>
                            </a:solidFill>
                            <a:latin typeface="Cambria Math" panose="02040503050406030204" pitchFamily="18" charset="0"/>
                          </a:rPr>
                          <m:t>1</m:t>
                        </m:r>
                      </m:num>
                      <m:den>
                        <m:r>
                          <m:rPr>
                            <m:sty m:val="p"/>
                          </m:rPr>
                          <a:rPr lang="fr-FR" sz="2400" b="0" i="0" spc="-1" dirty="0" smtClean="0">
                            <a:solidFill>
                              <a:srgbClr val="376092"/>
                            </a:solidFill>
                            <a:latin typeface="Cambria Math" panose="02040503050406030204" pitchFamily="18" charset="0"/>
                          </a:rPr>
                          <m:t>n</m:t>
                        </m:r>
                        <m:r>
                          <a:rPr lang="fr-FR" sz="2400" i="0" spc="-1" dirty="0" smtClean="0">
                            <a:solidFill>
                              <a:srgbClr val="376092"/>
                            </a:solidFill>
                            <a:latin typeface="Cambria Math" panose="02040503050406030204" pitchFamily="18" charset="0"/>
                          </a:rPr>
                          <m:t>+1</m:t>
                        </m:r>
                      </m:den>
                    </m:f>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1407"/>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Généralités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Il est possible de définir une suite par récurrence, sans connaître son terme général.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cela, il faut définir 2 choses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Le premier terme de la suite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 relation entre deux termes consécutifs.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 d'une suite définie par récurrence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Soit (U</a:t>
            </a:r>
            <a:r>
              <a:rPr lang="fr-FR" sz="2400" spc="-1" baseline="-25000" dirty="0">
                <a:solidFill>
                  <a:srgbClr val="376092"/>
                </a:solidFill>
                <a:latin typeface="Arial"/>
              </a:rPr>
              <a:t>n</a:t>
            </a:r>
            <a:r>
              <a:rPr lang="fr-FR" sz="2400" spc="-1" dirty="0">
                <a:solidFill>
                  <a:srgbClr val="376092"/>
                </a:solidFill>
                <a:latin typeface="Arial"/>
              </a:rPr>
              <a:t>) la suite définie par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0</a:t>
            </a:r>
            <a:r>
              <a:rPr lang="fr-FR" sz="2400" spc="-1" dirty="0">
                <a:solidFill>
                  <a:srgbClr val="376092"/>
                </a:solidFill>
                <a:latin typeface="Arial"/>
              </a:rPr>
              <a:t> = 3</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n+1 </a:t>
            </a:r>
            <a:r>
              <a:rPr lang="fr-FR" sz="2400" spc="-1" dirty="0">
                <a:solidFill>
                  <a:srgbClr val="376092"/>
                </a:solidFill>
                <a:latin typeface="Arial"/>
              </a:rPr>
              <a:t>= 3.U</a:t>
            </a:r>
            <a:r>
              <a:rPr lang="fr-FR" sz="2400" spc="-1" baseline="-25000" dirty="0">
                <a:solidFill>
                  <a:srgbClr val="376092"/>
                </a:solidFill>
                <a:latin typeface="Arial"/>
              </a:rPr>
              <a:t>n</a:t>
            </a:r>
            <a:r>
              <a:rPr lang="fr-FR" sz="2400" spc="-1" dirty="0">
                <a:solidFill>
                  <a:srgbClr val="376092"/>
                </a:solidFill>
                <a:latin typeface="Arial"/>
              </a:rPr>
              <a:t> + 4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Donner les premiers termes de U</a:t>
            </a:r>
            <a:r>
              <a:rPr lang="fr-FR" sz="2400" spc="-1" baseline="-25000" dirty="0">
                <a:solidFill>
                  <a:srgbClr val="376092"/>
                </a:solidFill>
                <a:latin typeface="Arial"/>
              </a:rPr>
              <a:t>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Représenter U</a:t>
            </a:r>
            <a:r>
              <a:rPr lang="fr-FR" sz="2400" spc="-1" baseline="-25000" dirty="0">
                <a:solidFill>
                  <a:srgbClr val="376092"/>
                </a:solidFill>
                <a:latin typeface="Arial"/>
              </a:rPr>
              <a:t>n</a:t>
            </a:r>
            <a:r>
              <a:rPr lang="fr-FR" sz="2400" spc="-1" dirty="0">
                <a:solidFill>
                  <a:srgbClr val="376092"/>
                </a:solidFill>
                <a:latin typeface="Arial"/>
              </a:rPr>
              <a:t> à l'aide d'un tableur.</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91655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arithmétiques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Une suite Un est dite arithmétique lorsque l'on passe d'un terme au suivant en ajoutant toujours la même valeur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n+1 </a:t>
            </a:r>
            <a:r>
              <a:rPr lang="fr-FR" sz="2400" spc="-1" dirty="0">
                <a:solidFill>
                  <a:srgbClr val="376092"/>
                </a:solidFill>
                <a:latin typeface="Arial"/>
              </a:rPr>
              <a:t>= U</a:t>
            </a:r>
            <a:r>
              <a:rPr lang="fr-FR" sz="2400" spc="-1" baseline="-25000" dirty="0">
                <a:solidFill>
                  <a:srgbClr val="376092"/>
                </a:solidFill>
                <a:latin typeface="Arial"/>
              </a:rPr>
              <a:t>n</a:t>
            </a:r>
            <a:r>
              <a:rPr lang="fr-FR" sz="2400" spc="-1" dirty="0">
                <a:solidFill>
                  <a:srgbClr val="376092"/>
                </a:solidFill>
                <a:latin typeface="Arial"/>
              </a:rPr>
              <a:t> + r</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nombre r est la raison de la suite.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Exprimons U</a:t>
            </a:r>
            <a:r>
              <a:rPr lang="fr-FR" sz="2400" spc="-1" baseline="-25000" dirty="0">
                <a:solidFill>
                  <a:srgbClr val="376092"/>
                </a:solidFill>
                <a:latin typeface="Arial"/>
              </a:rPr>
              <a:t>1</a:t>
            </a:r>
            <a:r>
              <a:rPr lang="fr-FR" sz="2400" spc="-1" dirty="0">
                <a:solidFill>
                  <a:srgbClr val="376092"/>
                </a:solidFill>
                <a:latin typeface="Arial"/>
              </a:rPr>
              <a:t> en fonction de U</a:t>
            </a:r>
            <a:r>
              <a:rPr lang="fr-FR" sz="2400" spc="-1" baseline="-25000" dirty="0">
                <a:solidFill>
                  <a:srgbClr val="376092"/>
                </a:solidFill>
                <a:latin typeface="Arial"/>
              </a:rPr>
              <a:t>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Exprimons U</a:t>
            </a:r>
            <a:r>
              <a:rPr lang="fr-FR" sz="2400" spc="-1" baseline="-25000" dirty="0">
                <a:solidFill>
                  <a:srgbClr val="376092"/>
                </a:solidFill>
                <a:latin typeface="Arial"/>
              </a:rPr>
              <a:t>2</a:t>
            </a:r>
            <a:r>
              <a:rPr lang="fr-FR" sz="2400" spc="-1" dirty="0">
                <a:solidFill>
                  <a:srgbClr val="376092"/>
                </a:solidFill>
                <a:latin typeface="Arial"/>
              </a:rPr>
              <a:t> en fonction de U</a:t>
            </a:r>
            <a:r>
              <a:rPr lang="fr-FR" sz="2400" spc="-1" baseline="-25000" dirty="0">
                <a:solidFill>
                  <a:srgbClr val="376092"/>
                </a:solidFill>
                <a:latin typeface="Arial"/>
              </a:rPr>
              <a:t>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Exprimons U</a:t>
            </a:r>
            <a:r>
              <a:rPr lang="fr-FR" sz="2400" spc="-1" baseline="-25000" dirty="0">
                <a:solidFill>
                  <a:srgbClr val="376092"/>
                </a:solidFill>
                <a:latin typeface="Arial"/>
              </a:rPr>
              <a:t>3</a:t>
            </a:r>
            <a:r>
              <a:rPr lang="fr-FR" sz="2400" spc="-1" dirty="0">
                <a:solidFill>
                  <a:srgbClr val="376092"/>
                </a:solidFill>
                <a:latin typeface="Arial"/>
              </a:rPr>
              <a:t> en fonction de U</a:t>
            </a:r>
            <a:r>
              <a:rPr lang="fr-FR" sz="2400" spc="-1" baseline="-25000" dirty="0">
                <a:solidFill>
                  <a:srgbClr val="376092"/>
                </a:solidFill>
                <a:latin typeface="Arial"/>
              </a:rPr>
              <a:t>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en conclure que pour une suite arithmétique U</a:t>
            </a:r>
            <a:r>
              <a:rPr lang="fr-FR" sz="2400" spc="-1" baseline="-25000" dirty="0">
                <a:solidFill>
                  <a:srgbClr val="376092"/>
                </a:solidFill>
                <a:latin typeface="Arial"/>
              </a:rPr>
              <a:t>n+1 </a:t>
            </a:r>
            <a:r>
              <a:rPr lang="fr-FR" sz="2400" spc="-1" dirty="0">
                <a:solidFill>
                  <a:srgbClr val="376092"/>
                </a:solidFill>
                <a:latin typeface="Arial"/>
              </a:rPr>
              <a:t>= U</a:t>
            </a:r>
            <a:r>
              <a:rPr lang="fr-FR" sz="2400" spc="-1" baseline="-25000" dirty="0">
                <a:solidFill>
                  <a:srgbClr val="376092"/>
                </a:solidFill>
                <a:latin typeface="Arial"/>
              </a:rPr>
              <a:t>n</a:t>
            </a:r>
            <a:r>
              <a:rPr lang="fr-FR" sz="2400" spc="-1" dirty="0">
                <a:solidFill>
                  <a:srgbClr val="376092"/>
                </a:solidFill>
                <a:latin typeface="Arial"/>
              </a:rPr>
              <a:t> + 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a:t>
            </a:r>
            <a:r>
              <a:rPr lang="fr-FR" sz="2400" spc="-1" dirty="0">
                <a:solidFill>
                  <a:srgbClr val="376092"/>
                </a:solidFill>
                <a:latin typeface="Arial"/>
              </a:rPr>
              <a:t> = U</a:t>
            </a:r>
            <a:r>
              <a:rPr lang="fr-FR" sz="2400" spc="-1" baseline="-25000" dirty="0">
                <a:solidFill>
                  <a:srgbClr val="376092"/>
                </a:solidFill>
                <a:latin typeface="Arial"/>
              </a:rPr>
              <a:t>0</a:t>
            </a:r>
            <a:r>
              <a:rPr lang="fr-FR" sz="2400" spc="-1" dirty="0">
                <a:solidFill>
                  <a:srgbClr val="376092"/>
                </a:solidFill>
                <a:latin typeface="Arial"/>
              </a:rPr>
              <a:t> + n*r</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0585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3BA34-00DF-224D-2FB8-724F46E2201A}"/>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FBFC06EC-1099-518B-EBF8-659DBFE62A0F}"/>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arithmétiques – exercice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9F9EDA82-C765-3ED6-BD11-BF91B56900C4}"/>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Soit une suite U</a:t>
            </a:r>
            <a:r>
              <a:rPr lang="fr-FR" sz="2400" b="0" strike="noStrike" spc="-1" baseline="-25000" dirty="0">
                <a:solidFill>
                  <a:srgbClr val="376092"/>
                </a:solidFill>
                <a:latin typeface="Arial"/>
              </a:rPr>
              <a:t>n</a:t>
            </a:r>
            <a:r>
              <a:rPr lang="fr-FR" sz="2400" b="0" strike="noStrike" spc="-1" dirty="0">
                <a:solidFill>
                  <a:srgbClr val="376092"/>
                </a:solidFill>
                <a:latin typeface="Arial"/>
              </a:rPr>
              <a:t> de raison 2 et U</a:t>
            </a:r>
            <a:r>
              <a:rPr lang="fr-FR" sz="2400" b="0" strike="noStrike" spc="-1" baseline="-25000" dirty="0">
                <a:solidFill>
                  <a:srgbClr val="376092"/>
                </a:solidFill>
                <a:latin typeface="Arial"/>
              </a:rPr>
              <a:t>7 </a:t>
            </a:r>
            <a:r>
              <a:rPr lang="fr-FR" sz="2400" b="0" strike="noStrike" spc="-1" dirty="0">
                <a:solidFill>
                  <a:srgbClr val="376092"/>
                </a:solidFill>
                <a:latin typeface="Arial"/>
              </a:rPr>
              <a:t>= 18, quelle est la valeur de U</a:t>
            </a:r>
            <a:r>
              <a:rPr lang="fr-FR" sz="2400" b="0" strike="noStrike" spc="-1" baseline="-25000" dirty="0">
                <a:solidFill>
                  <a:srgbClr val="376092"/>
                </a:solidFill>
                <a:latin typeface="Arial"/>
              </a:rPr>
              <a:t>9</a:t>
            </a:r>
            <a:r>
              <a:rPr lang="fr-FR" sz="2400" b="0" strike="noStrike" spc="-1" dirty="0">
                <a:solidFill>
                  <a:srgbClr val="376092"/>
                </a:solidFill>
                <a:latin typeface="Arial"/>
              </a:rPr>
              <a:t> ?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Soit une suite U</a:t>
            </a:r>
            <a:r>
              <a:rPr lang="fr-FR" sz="2400" b="0" strike="noStrike" spc="-1" baseline="-25000" dirty="0">
                <a:solidFill>
                  <a:srgbClr val="376092"/>
                </a:solidFill>
                <a:latin typeface="Arial"/>
              </a:rPr>
              <a:t>n</a:t>
            </a:r>
            <a:r>
              <a:rPr lang="fr-FR" sz="2400" b="0" strike="noStrike" spc="-1" dirty="0">
                <a:solidFill>
                  <a:srgbClr val="376092"/>
                </a:solidFill>
                <a:latin typeface="Arial"/>
              </a:rPr>
              <a:t> de raison -2 et U</a:t>
            </a:r>
            <a:r>
              <a:rPr lang="fr-FR" sz="2400" b="0" strike="noStrike" spc="-1" baseline="-25000" dirty="0">
                <a:solidFill>
                  <a:srgbClr val="376092"/>
                </a:solidFill>
                <a:latin typeface="Arial"/>
              </a:rPr>
              <a:t>7 </a:t>
            </a:r>
            <a:r>
              <a:rPr lang="fr-FR" sz="2400" b="0" strike="noStrike" spc="-1" dirty="0">
                <a:solidFill>
                  <a:srgbClr val="376092"/>
                </a:solidFill>
                <a:latin typeface="Arial"/>
              </a:rPr>
              <a:t>= 18, quelle est la valeur de U</a:t>
            </a:r>
            <a:r>
              <a:rPr lang="fr-FR" sz="2400" b="0" strike="noStrike" spc="-1" baseline="-25000" dirty="0">
                <a:solidFill>
                  <a:srgbClr val="376092"/>
                </a:solidFill>
                <a:latin typeface="Arial"/>
              </a:rPr>
              <a:t>9</a:t>
            </a:r>
            <a:r>
              <a:rPr lang="fr-FR" sz="2400" b="0" strike="noStrike" spc="-1" dirty="0">
                <a:solidFill>
                  <a:srgbClr val="376092"/>
                </a:solidFill>
                <a:latin typeface="Arial"/>
              </a:rPr>
              <a:t> ? </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définit le premier terme d'une suite arithmétique U</a:t>
            </a:r>
            <a:r>
              <a:rPr lang="fr-FR" sz="2400" spc="-1" baseline="-25000" dirty="0">
                <a:solidFill>
                  <a:srgbClr val="376092"/>
                </a:solidFill>
                <a:latin typeface="Arial"/>
              </a:rPr>
              <a:t>0</a:t>
            </a:r>
            <a:r>
              <a:rPr lang="fr-FR" sz="2400" spc="-1" dirty="0">
                <a:solidFill>
                  <a:srgbClr val="376092"/>
                </a:solidFill>
                <a:latin typeface="Arial"/>
              </a:rPr>
              <a:t> = 3 et sa raison = 7.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Donnez le terme général de cette suite U</a:t>
            </a:r>
            <a:r>
              <a:rPr lang="fr-FR" sz="2400" spc="-1" baseline="-25000" dirty="0">
                <a:solidFill>
                  <a:srgbClr val="376092"/>
                </a:solidFill>
                <a:latin typeface="Arial"/>
              </a:rPr>
              <a:t>n </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Calculez les termes de U</a:t>
            </a:r>
            <a:r>
              <a:rPr lang="fr-FR" sz="2400" spc="-1" baseline="-25000" dirty="0">
                <a:solidFill>
                  <a:srgbClr val="376092"/>
                </a:solidFill>
                <a:latin typeface="Arial"/>
              </a:rPr>
              <a:t>1</a:t>
            </a:r>
            <a:r>
              <a:rPr lang="fr-FR" sz="2400" spc="-1" dirty="0">
                <a:solidFill>
                  <a:srgbClr val="376092"/>
                </a:solidFill>
                <a:latin typeface="Arial"/>
              </a:rPr>
              <a:t> à U</a:t>
            </a:r>
            <a:r>
              <a:rPr lang="fr-FR" sz="2400" spc="-1" baseline="-25000" dirty="0">
                <a:solidFill>
                  <a:srgbClr val="376092"/>
                </a:solidFill>
                <a:latin typeface="Arial"/>
              </a:rPr>
              <a:t>6</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Utilisons maintenant un tableur pour calculer les termes de cette suite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Par récurrence</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Par son terme général</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4597BE77-6C1D-27A5-87DF-FD8C3698959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736868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CF715-2EAA-C82D-12D3-9DAA5E348245}"/>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A1E382DD-E5FE-958A-E3E5-5D554D40B8BC}"/>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arithmétiques – exercice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4FC76892-5706-035E-0F6D-F2B6CF67AB42}"/>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On vous propose de démarrer avec un salaire de 30 000 euros annuel et on vous propose une augmentation de 500 euros tous les ans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Montrer que la suite U</a:t>
            </a:r>
            <a:r>
              <a:rPr lang="fr-FR" sz="2400" spc="-1" baseline="-25000" dirty="0">
                <a:solidFill>
                  <a:srgbClr val="376092"/>
                </a:solidFill>
                <a:latin typeface="Arial"/>
              </a:rPr>
              <a:t>n</a:t>
            </a:r>
            <a:r>
              <a:rPr lang="fr-FR" sz="2400" spc="-1" dirty="0">
                <a:solidFill>
                  <a:srgbClr val="376092"/>
                </a:solidFill>
                <a:latin typeface="Arial"/>
              </a:rPr>
              <a:t> qui définit votre salaire et une suite arithmétique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Donnez sa raison et son terme initial U</a:t>
            </a:r>
            <a:r>
              <a:rPr lang="fr-FR" sz="2400" spc="-1" baseline="-25000" dirty="0">
                <a:solidFill>
                  <a:srgbClr val="376092"/>
                </a:solidFill>
                <a:latin typeface="Arial"/>
              </a:rPr>
              <a:t>0</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Exprimez-là par récurrence et par son terme général</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Quels sera votre salaire dans 10 ans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3F8C269D-C8B6-76B9-9FA2-70E3E9B1073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50157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arithmétiques -  somme de termes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mettre en lumière une propriété sur la somme des termes d'une suite arithmétique.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Commençons par considérer la suite suivante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0</a:t>
            </a:r>
            <a:r>
              <a:rPr lang="fr-FR" sz="2400" spc="-1" dirty="0">
                <a:solidFill>
                  <a:srgbClr val="376092"/>
                </a:solidFill>
                <a:latin typeface="Arial"/>
              </a:rPr>
              <a:t> =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n+1 </a:t>
            </a:r>
            <a:r>
              <a:rPr lang="fr-FR" sz="2400" spc="-1" dirty="0">
                <a:solidFill>
                  <a:srgbClr val="376092"/>
                </a:solidFill>
                <a:latin typeface="Arial"/>
              </a:rPr>
              <a:t>= U</a:t>
            </a:r>
            <a:r>
              <a:rPr lang="fr-FR" sz="2400" spc="-1" baseline="-25000" dirty="0">
                <a:solidFill>
                  <a:srgbClr val="376092"/>
                </a:solidFill>
                <a:latin typeface="Arial"/>
              </a:rPr>
              <a:t>n</a:t>
            </a:r>
            <a:r>
              <a:rPr lang="fr-FR" sz="2400" spc="-1" dirty="0">
                <a:solidFill>
                  <a:srgbClr val="376092"/>
                </a:solidFill>
                <a:latin typeface="Arial"/>
              </a:rPr>
              <a:t> + 1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les premiers termes pour bien comprendre cette suite.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Ecrivons les premiers termes de cette suite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Ecrivons ensuite cette suite à l'envers.</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73375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arithmétiques – somme de termes :</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trouver que la somme des n premiers nombres est :</a:t>
                </a:r>
              </a:p>
              <a:p>
                <a:pPr marL="889200" lvl="1" indent="-324000">
                  <a:spcAft>
                    <a:spcPts val="1060"/>
                  </a:spcAft>
                  <a:buClr>
                    <a:srgbClr val="000000"/>
                  </a:buClr>
                  <a:buSzPct val="45000"/>
                  <a:buFont typeface="Wingdings" charset="2"/>
                  <a:buChar char=""/>
                </a:pPr>
                <a:r>
                  <a:rPr lang="fr-FR" sz="2400" spc="-1" dirty="0">
                    <a:solidFill>
                      <a:srgbClr val="376092"/>
                    </a:solidFill>
                  </a:rPr>
                  <a:t>Somme de 1 à n : </a:t>
                </a:r>
                <a14:m>
                  <m:oMath xmlns:m="http://schemas.openxmlformats.org/officeDocument/2006/math">
                    <m:f>
                      <m:fPr>
                        <m:ctrlPr>
                          <a:rPr lang="fr-FR" sz="2400" i="1" spc="-1" smtClean="0">
                            <a:solidFill>
                              <a:srgbClr val="376092"/>
                            </a:solidFill>
                            <a:latin typeface="Cambria Math" panose="02040503050406030204" pitchFamily="18" charset="0"/>
                          </a:rPr>
                        </m:ctrlPr>
                      </m:fPr>
                      <m:num>
                        <m:r>
                          <a:rPr lang="fr-FR" sz="2400" i="1" spc="-1" smtClean="0">
                            <a:solidFill>
                              <a:srgbClr val="FF0000"/>
                            </a:solidFill>
                            <a:latin typeface="Cambria Math" panose="02040503050406030204" pitchFamily="18" charset="0"/>
                          </a:rPr>
                          <m:t>𝑛</m:t>
                        </m:r>
                        <m:d>
                          <m:dPr>
                            <m:ctrlPr>
                              <a:rPr lang="fr-FR" sz="2400" i="1" spc="-1" smtClean="0">
                                <a:solidFill>
                                  <a:srgbClr val="00B050"/>
                                </a:solidFill>
                                <a:latin typeface="Cambria Math" panose="02040503050406030204" pitchFamily="18" charset="0"/>
                              </a:rPr>
                            </m:ctrlPr>
                          </m:dPr>
                          <m:e>
                            <m:r>
                              <m:rPr>
                                <m:sty m:val="p"/>
                              </m:rPr>
                              <a:rPr lang="fr-FR" sz="2400" b="0" i="0" spc="-1" smtClean="0">
                                <a:solidFill>
                                  <a:srgbClr val="00B050"/>
                                </a:solidFill>
                                <a:latin typeface="Cambria Math" panose="02040503050406030204" pitchFamily="18" charset="0"/>
                              </a:rPr>
                              <m:t>n</m:t>
                            </m:r>
                            <m:r>
                              <a:rPr lang="fr-FR" sz="2400" i="0" spc="-1">
                                <a:solidFill>
                                  <a:srgbClr val="00B050"/>
                                </a:solidFill>
                                <a:latin typeface="Cambria Math" panose="02040503050406030204" pitchFamily="18" charset="0"/>
                              </a:rPr>
                              <m:t>+1</m:t>
                            </m:r>
                          </m:e>
                        </m:d>
                      </m:num>
                      <m:den>
                        <m:r>
                          <a:rPr lang="fr-FR" sz="2400" i="0" spc="-1">
                            <a:solidFill>
                              <a:srgbClr val="376092"/>
                            </a:solidFill>
                            <a:latin typeface="Cambria Math" panose="02040503050406030204" pitchFamily="18" charset="0"/>
                          </a:rPr>
                          <m:t>2</m:t>
                        </m:r>
                      </m:den>
                    </m:f>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Cette formule n'est vraie que pour une suite arithmétique de raison 1, nous allons la généraliser.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Par construction, </a:t>
                </a:r>
                <a:r>
                  <a:rPr lang="fr-FR" sz="2400" spc="-1" dirty="0">
                    <a:solidFill>
                      <a:srgbClr val="FF0000"/>
                    </a:solidFill>
                    <a:latin typeface="Arial"/>
                  </a:rPr>
                  <a:t>n </a:t>
                </a:r>
                <a:r>
                  <a:rPr lang="fr-FR" sz="2400" spc="-1" dirty="0">
                    <a:solidFill>
                      <a:srgbClr val="376092"/>
                    </a:solidFill>
                    <a:latin typeface="Arial"/>
                  </a:rPr>
                  <a:t>est le nombre de terme alors que </a:t>
                </a:r>
                <a:r>
                  <a:rPr lang="fr-FR" sz="2400" spc="-1" dirty="0">
                    <a:solidFill>
                      <a:srgbClr val="00B050"/>
                    </a:solidFill>
                    <a:latin typeface="Arial"/>
                  </a:rPr>
                  <a:t>(n+1)</a:t>
                </a:r>
                <a:r>
                  <a:rPr lang="fr-FR" sz="2400" spc="-1" dirty="0">
                    <a:solidFill>
                      <a:srgbClr val="376092"/>
                    </a:solidFill>
                    <a:latin typeface="Arial"/>
                  </a:rPr>
                  <a:t> est le premier terme ajouter du dernier. En généralisant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Nombre de termes x </a:t>
                </a:r>
                <a14:m>
                  <m:oMath xmlns:m="http://schemas.openxmlformats.org/officeDocument/2006/math">
                    <m:d>
                      <m:dPr>
                        <m:ctrlPr>
                          <a:rPr lang="fr-FR" sz="2400" i="1" spc="-1" dirty="0" smtClean="0">
                            <a:solidFill>
                              <a:srgbClr val="376092"/>
                            </a:solidFill>
                            <a:latin typeface="Cambria Math" panose="02040503050406030204" pitchFamily="18" charset="0"/>
                          </a:rPr>
                        </m:ctrlPr>
                      </m:dPr>
                      <m:e>
                        <m:f>
                          <m:fPr>
                            <m:ctrlPr>
                              <a:rPr lang="fr-FR" sz="2400" i="1" spc="-1" dirty="0" smtClean="0">
                                <a:solidFill>
                                  <a:srgbClr val="376092"/>
                                </a:solidFill>
                                <a:latin typeface="Cambria Math" panose="02040503050406030204" pitchFamily="18" charset="0"/>
                              </a:rPr>
                            </m:ctrlPr>
                          </m:fPr>
                          <m:num>
                            <m:r>
                              <a:rPr lang="fr-FR" sz="2400" b="0" i="1" spc="-1" dirty="0" smtClean="0">
                                <a:solidFill>
                                  <a:srgbClr val="376092"/>
                                </a:solidFill>
                                <a:latin typeface="Cambria Math" panose="02040503050406030204" pitchFamily="18" charset="0"/>
                              </a:rPr>
                              <m:t>𝑃𝑟𝑒𝑚𝑖𝑒𝑟</m:t>
                            </m:r>
                            <m:r>
                              <a:rPr lang="fr-FR" sz="2400" b="0" i="1" spc="-1" dirty="0" smtClean="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𝐷𝑒𝑟𝑛𝑖𝑒𝑟</m:t>
                            </m:r>
                          </m:num>
                          <m:den>
                            <m:r>
                              <a:rPr lang="fr-FR" sz="2400" i="0" spc="-1" dirty="0" smtClean="0">
                                <a:solidFill>
                                  <a:srgbClr val="376092"/>
                                </a:solidFill>
                                <a:latin typeface="Cambria Math" panose="02040503050406030204" pitchFamily="18" charset="0"/>
                              </a:rPr>
                              <m:t>2</m:t>
                            </m:r>
                          </m:den>
                        </m:f>
                      </m:e>
                    </m:d>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1630"/>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487037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F994-21E9-3CF5-A9D4-E11EF29D9D4C}"/>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04645A83-BB24-6F00-ACE3-10991482195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arithmétiques – somme de termes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60FD8982-FA46-BF9B-9D96-9E898082D7BD}"/>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une fois de plus un tableur pour vérifier la propriété sur la somme que nous venons de mettre en place.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une suite arithmétique quelconque et calculons les premiers termes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Vérifions que la somme des termes est bien identique à la somme calculée avec la formule.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Profitons-en pour vérifier également la formule de la somme des premiers nombres entiers.</a:t>
            </a: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2DC70FDD-B96B-B1BB-4449-48E44C23865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953476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1B952-E22D-F563-B14C-A8DB69568362}"/>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9A049B4C-6D83-4064-A392-C12B568E9EB0}"/>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arithmétiques – exercices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AECC3E04-E597-AA2B-2AE0-B24356E2CB44}"/>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Soit la suite U</a:t>
            </a:r>
            <a:r>
              <a:rPr lang="fr-FR" sz="2400" spc="-1" baseline="-25000" dirty="0">
                <a:solidFill>
                  <a:srgbClr val="376092"/>
                </a:solidFill>
                <a:latin typeface="Arial"/>
              </a:rPr>
              <a:t>n </a:t>
            </a:r>
            <a:r>
              <a:rPr lang="fr-FR" sz="2400" spc="-1" dirty="0">
                <a:solidFill>
                  <a:srgbClr val="376092"/>
                </a:solidFill>
                <a:latin typeface="Arial"/>
              </a:rPr>
              <a:t> de premier terme U</a:t>
            </a:r>
            <a:r>
              <a:rPr lang="fr-FR" sz="2400" spc="-1" baseline="-25000" dirty="0">
                <a:solidFill>
                  <a:srgbClr val="376092"/>
                </a:solidFill>
                <a:latin typeface="Arial"/>
              </a:rPr>
              <a:t>0</a:t>
            </a:r>
            <a:r>
              <a:rPr lang="fr-FR" sz="2400" spc="-1" dirty="0">
                <a:solidFill>
                  <a:srgbClr val="376092"/>
                </a:solidFill>
                <a:latin typeface="Arial"/>
              </a:rPr>
              <a:t> = 5 et de raison 2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Calculer la somme des termes U</a:t>
            </a:r>
            <a:r>
              <a:rPr lang="fr-FR" sz="2400" spc="-1" baseline="-25000" dirty="0">
                <a:solidFill>
                  <a:srgbClr val="376092"/>
                </a:solidFill>
                <a:latin typeface="Arial"/>
              </a:rPr>
              <a:t>0</a:t>
            </a:r>
            <a:r>
              <a:rPr lang="fr-FR" sz="2400" spc="-1" dirty="0">
                <a:solidFill>
                  <a:srgbClr val="376092"/>
                </a:solidFill>
                <a:latin typeface="Arial"/>
              </a:rPr>
              <a:t> à U</a:t>
            </a:r>
            <a:r>
              <a:rPr lang="fr-FR" sz="2400" spc="-1" baseline="-25000" dirty="0">
                <a:solidFill>
                  <a:srgbClr val="376092"/>
                </a:solidFill>
                <a:latin typeface="Arial"/>
              </a:rPr>
              <a:t>15</a:t>
            </a:r>
            <a:r>
              <a:rPr lang="fr-FR" sz="2400" spc="-1" dirty="0">
                <a:solidFill>
                  <a:srgbClr val="376092"/>
                </a:solidFill>
                <a:latin typeface="Arial"/>
              </a:rPr>
              <a:t> et vérifier avec un tableur</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Calculer la somme des termes U</a:t>
            </a:r>
            <a:r>
              <a:rPr lang="fr-FR" sz="2400" spc="-1" baseline="-25000" dirty="0">
                <a:solidFill>
                  <a:srgbClr val="376092"/>
                </a:solidFill>
                <a:latin typeface="Arial"/>
              </a:rPr>
              <a:t>16</a:t>
            </a:r>
            <a:r>
              <a:rPr lang="fr-FR" sz="2400" spc="-1" dirty="0">
                <a:solidFill>
                  <a:srgbClr val="376092"/>
                </a:solidFill>
                <a:latin typeface="Arial"/>
              </a:rPr>
              <a:t> à U</a:t>
            </a:r>
            <a:r>
              <a:rPr lang="fr-FR" sz="2400" spc="-1" baseline="-25000" dirty="0">
                <a:solidFill>
                  <a:srgbClr val="376092"/>
                </a:solidFill>
                <a:latin typeface="Arial"/>
              </a:rPr>
              <a:t>30</a:t>
            </a:r>
            <a:r>
              <a:rPr lang="fr-FR" sz="2400" spc="-1" dirty="0">
                <a:solidFill>
                  <a:srgbClr val="376092"/>
                </a:solidFill>
                <a:latin typeface="Arial"/>
              </a:rPr>
              <a:t> et vérifier avec un tableur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mine d'or a extrait 1 tonne lors de sa première année mais chaque année elle a extrait 50 kg de moins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Quelle quantité d'or a été extraite 10 ans après la première année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Quelle quantité d'or a été extraite sur les 10 premières années d'exploitation ? (avec la formule et avec Excel)</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47C34646-FD41-7650-401C-7A92CA6B3F9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857142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a:solidFill>
                  <a:srgbClr val="376092"/>
                </a:solidFill>
                <a:latin typeface="Arial"/>
              </a:rPr>
              <a:t>Bilan de la journée</a:t>
            </a:r>
            <a:endParaRPr lang="en-US" sz="3200" b="0" strike="noStrike" spc="-1">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5781</TotalTime>
  <Words>890</Words>
  <Application>Microsoft Office PowerPoint</Application>
  <PresentationFormat>Affichage à l'écran (4:3)</PresentationFormat>
  <Paragraphs>167</Paragraphs>
  <Slides>13</Slides>
  <Notes>0</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13</vt:i4>
      </vt:variant>
    </vt:vector>
  </HeadingPairs>
  <TitlesOfParts>
    <vt:vector size="22" baseType="lpstr">
      <vt:lpstr>Arial</vt:lpstr>
      <vt:lpstr>Calibri</vt:lpstr>
      <vt:lpstr>Cambria Math</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253</cp:revision>
  <dcterms:created xsi:type="dcterms:W3CDTF">2012-01-17T22:15:29Z</dcterms:created>
  <dcterms:modified xsi:type="dcterms:W3CDTF">2025-04-04T08:35:08Z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